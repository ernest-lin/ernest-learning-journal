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3"/>
    <p:sldId id="257" r:id="rId4"/>
    <p:sldId id="261" r:id="rId5"/>
    <p:sldId id="262" r:id="rId6"/>
    <p:sldId id="278" r:id="rId7"/>
    <p:sldId id="279" r:id="rId8"/>
    <p:sldId id="259" r:id="rId9"/>
    <p:sldId id="260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80" r:id="rId20"/>
    <p:sldId id="272" r:id="rId21"/>
    <p:sldId id="275" r:id="rId22"/>
    <p:sldId id="274" r:id="rId23"/>
    <p:sldId id="277" r:id="rId24"/>
    <p:sldId id="258" r:id="rId25"/>
  </p:sldIdLst>
  <p:sldSz cx="12192000" cy="6858000"/>
  <p:notesSz cx="7102475" cy="102330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2" autoAdjust="0"/>
    <p:restoredTop sz="85824" autoAdjust="0"/>
  </p:normalViewPr>
  <p:slideViewPr>
    <p:cSldViewPr snapToGrid="0">
      <p:cViewPr varScale="1">
        <p:scale>
          <a:sx n="95" d="100"/>
          <a:sy n="95" d="100"/>
        </p:scale>
        <p:origin x="11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420663-FA26-4D85-BC2F-219E369447F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263"/>
            <a:ext cx="3078163" cy="512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725" y="9720263"/>
            <a:ext cx="3078163" cy="512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A9A5A2-6F35-4A2C-B940-817BDC4DD7C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65B44515-AB57-46D7-9376-F2FE5A9B278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12571E92-F6F3-43D5-9401-A83B97298AA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665163"/>
            <a:ext cx="9144000" cy="2154848"/>
          </a:xfrm>
        </p:spPr>
        <p:txBody>
          <a:bodyPr anchor="b"/>
          <a:lstStyle>
            <a:lvl1pPr algn="l">
              <a:defRPr sz="60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996708"/>
            <a:ext cx="9144000" cy="692760"/>
          </a:xfrm>
        </p:spPr>
        <p:txBody>
          <a:bodyPr>
            <a:normAutofit/>
          </a:bodyPr>
          <a:lstStyle>
            <a:lvl1pPr marL="0" indent="0" algn="l">
              <a:buNone/>
              <a:defRPr sz="36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824725"/>
            <a:ext cx="4222886" cy="8967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9466684" y="6273100"/>
            <a:ext cx="2177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85B5F92-075B-4129-B685-2F4B8F62A5A3}" type="datetime4">
              <a:rPr lang="en-GB" smtClean="0">
                <a:solidFill>
                  <a:schemeClr val="bg2">
                    <a:lumMod val="50000"/>
                  </a:schemeClr>
                </a:solidFill>
              </a:rPr>
            </a:fld>
            <a:endParaRPr lang="en-GB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838200" y="3978275"/>
            <a:ext cx="3768725" cy="1211263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86B0A-B314-48A5-B3C0-94B2C167728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9" name="Picture 8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16B3-BBE0-48CB-91BD-D2545D8B00F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8" name="Picture 7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12934-2077-4197-9290-F79D29C90BF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9" name="Picture 8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ECF6-1A9F-4A2C-911E-0CD7E859B32F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11" name="Picture 10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89767-8210-4795-B615-69066A24F0E9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7" name="Picture 6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B108-1A06-4F59-B8A1-E31718B9CFFE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6" name="Picture 5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5F75-7C1F-422F-B6C2-158C294983D3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9" name="Picture 8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155DC-CDE3-4882-B495-812D8FF33F3A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9" name="Picture 8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B30BC-1354-41B4-ABC9-13F6105FBF9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8" name="Picture 7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1AF97-58D2-43AB-AF70-F108AA4123F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8" name="Picture 7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79715-9745-46F7-92BA-1C89704A612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D0367-918D-436A-A165-E28226D594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87457-ED34-4DE2-B7FC-3E1A6355CAC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 rot="10800000">
            <a:off x="-50800" y="6672412"/>
            <a:ext cx="12242799" cy="283957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0206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38200" y="767715"/>
            <a:ext cx="9144000" cy="1725295"/>
          </a:xfrm>
        </p:spPr>
        <p:txBody>
          <a:bodyPr/>
          <a:lstStyle/>
          <a:p>
            <a:r>
              <a:rPr lang="en-US" altLang="zh-CN" sz="4800" dirty="0">
                <a:latin typeface="+mj-lt"/>
                <a:cs typeface="+mj-lt"/>
              </a:rPr>
              <a:t>CPT202 Software Engineering Group Project</a:t>
            </a:r>
            <a:endParaRPr lang="en-US" altLang="zh-CN" sz="4800" dirty="0">
              <a:latin typeface="+mj-lt"/>
              <a:cs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803910" y="2736358"/>
            <a:ext cx="9144000" cy="69276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Project C: An online meeting booking system</a:t>
            </a:r>
            <a:endParaRPr lang="en-US" altLang="zh-CN" b="1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838200" y="3672205"/>
            <a:ext cx="8682990" cy="1798955"/>
          </a:xfrm>
        </p:spPr>
        <p:txBody>
          <a:bodyPr/>
          <a:lstStyle/>
          <a:p>
            <a:pPr algn="ctr"/>
            <a:r>
              <a:rPr lang="en-US" b="1" dirty="0"/>
              <a:t>  </a:t>
            </a:r>
            <a:r>
              <a:rPr lang="en-US" sz="2400" b="1" dirty="0"/>
              <a:t>     Group 17</a:t>
            </a:r>
            <a:endParaRPr lang="en-US" b="1" dirty="0"/>
          </a:p>
          <a:p>
            <a:pPr algn="ctr"/>
            <a:r>
              <a:rPr lang="en-US" b="1" i="1" dirty="0"/>
              <a:t>  Xiangyi Zhu                          Xinrong Shi                         Xiaoya Li</a:t>
            </a:r>
            <a:endParaRPr lang="en-US" b="1" i="1" dirty="0"/>
          </a:p>
          <a:p>
            <a:pPr algn="ctr"/>
            <a:r>
              <a:rPr lang="en-US" b="1" i="1" dirty="0"/>
              <a:t>     Xinyuan Zhang                     Zimo Zheng                        Jiayi Wang</a:t>
            </a:r>
            <a:endParaRPr lang="en-US" b="1" i="1" dirty="0"/>
          </a:p>
          <a:p>
            <a:pPr algn="ctr"/>
            <a:r>
              <a:rPr lang="en-US" b="1" i="1" dirty="0"/>
              <a:t>Hanqiu Zhang                       Ziwei Zhou                          Nan Lin</a:t>
            </a:r>
            <a:endParaRPr lang="en-US" b="1" i="1" dirty="0"/>
          </a:p>
        </p:txBody>
      </p:sp>
      <p:sp>
        <p:nvSpPr>
          <p:cNvPr id="2" name="TextBox 1"/>
          <p:cNvSpPr txBox="1"/>
          <p:nvPr/>
        </p:nvSpPr>
        <p:spPr>
          <a:xfrm flipH="1">
            <a:off x="9766998" y="6310366"/>
            <a:ext cx="1959428" cy="2788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73735"/>
          </a:xfrm>
        </p:spPr>
        <p:txBody>
          <a:bodyPr>
            <a:normAutofit/>
          </a:bodyPr>
          <a:lstStyle/>
          <a:p>
            <a:r>
              <a:rPr lang="en-US" sz="3200" dirty="0"/>
              <a:t>Content：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70865"/>
            <a:ext cx="10515600" cy="6021070"/>
          </a:xfrm>
        </p:spPr>
        <p:txBody>
          <a:bodyPr>
            <a:normAutofit lnSpcReduction="20000"/>
          </a:bodyPr>
          <a:lstStyle/>
          <a:p>
            <a:r>
              <a:rPr lang="en-US" sz="2000" b="1" dirty="0"/>
              <a:t>Project I</a:t>
            </a:r>
            <a:r>
              <a:rPr lang="en-US" sz="2000" b="1" dirty="0"/>
              <a:t>ntroduction</a:t>
            </a:r>
            <a:endParaRPr lang="en-US" sz="2000" b="1" dirty="0"/>
          </a:p>
          <a:p>
            <a:pPr lvl="1"/>
            <a:r>
              <a:rPr lang="en-US" altLang="zh-CN" sz="1600" dirty="0"/>
              <a:t>Background and Requirements</a:t>
            </a:r>
            <a:endParaRPr lang="en-US" altLang="zh-CN" sz="1600" dirty="0"/>
          </a:p>
          <a:p>
            <a:pPr lvl="1"/>
            <a:r>
              <a:rPr lang="en-US" altLang="zh-CN" sz="1600" dirty="0"/>
              <a:t>User Characteristics and Project Scope</a:t>
            </a:r>
            <a:endParaRPr lang="en-US" altLang="zh-CN" sz="1600" dirty="0"/>
          </a:p>
          <a:p>
            <a:pPr lvl="1"/>
            <a:r>
              <a:rPr lang="en-US" altLang="zh-CN" sz="1600" dirty="0">
                <a:sym typeface="+mn-ea"/>
              </a:rPr>
              <a:t>Key Business Processes Flow</a:t>
            </a:r>
            <a:endParaRPr lang="en-US" altLang="zh-CN" sz="1600" dirty="0">
              <a:sym typeface="+mn-ea"/>
            </a:endParaRPr>
          </a:p>
          <a:p>
            <a:pPr lvl="1"/>
            <a:r>
              <a:rPr lang="en-US" altLang="zh-CN" sz="1600">
                <a:sym typeface="+mn-ea"/>
              </a:rPr>
              <a:t>Unique advantages</a:t>
            </a:r>
            <a:endParaRPr lang="en-US" altLang="zh-CN" sz="1600" dirty="0">
              <a:sym typeface="+mn-ea"/>
            </a:endParaRPr>
          </a:p>
          <a:p>
            <a:pPr lvl="1"/>
            <a:r>
              <a:rPr lang="en-US" altLang="zh-CN" sz="1600" dirty="0"/>
              <a:t>Project Risks</a:t>
            </a:r>
            <a:endParaRPr lang="en-US" altLang="zh-CN" sz="1600" dirty="0"/>
          </a:p>
          <a:p>
            <a:pPr lvl="0"/>
            <a:r>
              <a:rPr lang="en-US" altLang="zh-CN" sz="2000" b="1" dirty="0"/>
              <a:t>Architectural Design</a:t>
            </a:r>
            <a:endParaRPr lang="en-US" altLang="zh-CN" sz="2000" b="1" dirty="0"/>
          </a:p>
          <a:p>
            <a:pPr lvl="1"/>
            <a:r>
              <a:rPr lang="en-US" altLang="zh-CN" sz="1600" dirty="0"/>
              <a:t>System Architecture</a:t>
            </a:r>
            <a:endParaRPr lang="en-US" altLang="zh-CN" sz="1600" dirty="0"/>
          </a:p>
          <a:p>
            <a:pPr lvl="1"/>
            <a:r>
              <a:rPr lang="en-US" altLang="zh-CN" sz="1600" dirty="0"/>
              <a:t>Frontend System</a:t>
            </a:r>
            <a:endParaRPr lang="en-US" altLang="zh-CN" sz="1600" dirty="0"/>
          </a:p>
          <a:p>
            <a:pPr lvl="1"/>
            <a:r>
              <a:rPr lang="en-US" altLang="zh-CN" sz="1600" dirty="0"/>
              <a:t>Backend System</a:t>
            </a:r>
            <a:endParaRPr lang="en-US" altLang="zh-CN" sz="1600" dirty="0"/>
          </a:p>
          <a:p>
            <a:pPr lvl="1"/>
            <a:r>
              <a:rPr lang="en-US" altLang="zh-CN" sz="1600" dirty="0"/>
              <a:t>Database Design</a:t>
            </a:r>
            <a:endParaRPr lang="en-US" altLang="zh-CN" sz="1600" dirty="0"/>
          </a:p>
          <a:p>
            <a:pPr lvl="0"/>
            <a:r>
              <a:rPr lang="en-US" altLang="zh-CN" sz="2000" b="1" dirty="0"/>
              <a:t>Software Design</a:t>
            </a:r>
            <a:endParaRPr lang="en-US" altLang="zh-CN" sz="2000" b="1" dirty="0"/>
          </a:p>
          <a:p>
            <a:pPr lvl="1"/>
            <a:r>
              <a:rPr lang="en-US" altLang="zh-CN" sz="1600" dirty="0"/>
              <a:t>Software Modules</a:t>
            </a:r>
            <a:endParaRPr lang="en-US" altLang="zh-CN" sz="1600" dirty="0"/>
          </a:p>
          <a:p>
            <a:pPr lvl="1"/>
            <a:r>
              <a:rPr lang="en-US" altLang="zh-CN" sz="1600" dirty="0"/>
              <a:t>High-level Process Flow</a:t>
            </a:r>
            <a:endParaRPr lang="en-US" altLang="zh-CN" sz="1600" dirty="0"/>
          </a:p>
          <a:p>
            <a:pPr lvl="1"/>
            <a:r>
              <a:rPr lang="en-US" altLang="zh-CN" sz="1600" dirty="0"/>
              <a:t>Software Support Service</a:t>
            </a:r>
            <a:endParaRPr lang="en-US" altLang="zh-CN" sz="1600" dirty="0"/>
          </a:p>
          <a:p>
            <a:pPr lvl="1"/>
            <a:r>
              <a:rPr lang="en-US" altLang="zh-CN" sz="1600" dirty="0"/>
              <a:t>Coding Structure and Convention</a:t>
            </a:r>
            <a:endParaRPr lang="en-US" altLang="zh-CN" sz="1600" dirty="0"/>
          </a:p>
          <a:p>
            <a:pPr lvl="1"/>
            <a:r>
              <a:rPr lang="en-US" altLang="zh-CN" sz="1600" dirty="0"/>
              <a:t>Software Configuration and Production Environmen </a:t>
            </a:r>
            <a:endParaRPr lang="en-US" altLang="zh-CN" sz="1600" dirty="0"/>
          </a:p>
          <a:p>
            <a:pPr lvl="0"/>
            <a:r>
              <a:rPr lang="en-US" altLang="zh-CN" sz="1865" b="1" dirty="0"/>
              <a:t>Software Testing</a:t>
            </a:r>
            <a:endParaRPr lang="en-US" altLang="zh-CN" sz="1865" b="1" dirty="0"/>
          </a:p>
          <a:p>
            <a:pPr lvl="1"/>
            <a:r>
              <a:rPr lang="en-US" altLang="zh-CN" sz="1595" dirty="0"/>
              <a:t>Unit Testing</a:t>
            </a:r>
            <a:endParaRPr lang="en-US" altLang="zh-CN" sz="1595" dirty="0"/>
          </a:p>
          <a:p>
            <a:pPr lvl="1"/>
            <a:r>
              <a:rPr lang="en-US" altLang="zh-CN" sz="1595" dirty="0"/>
              <a:t>Integration Testing</a:t>
            </a:r>
            <a:endParaRPr lang="en-US" altLang="zh-CN" sz="1595" dirty="0"/>
          </a:p>
          <a:p>
            <a:pPr lvl="1"/>
            <a:r>
              <a:rPr lang="en-US" altLang="zh-CN" sz="1595" dirty="0"/>
              <a:t>Acceptance Testing</a:t>
            </a:r>
            <a:endParaRPr lang="en-US" altLang="zh-CN" sz="159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0367-918D-436A-A165-E28226D5945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r>
              <a:rPr lang="en-US" sz="3600" dirty="0">
                <a:sym typeface="+mn-ea"/>
              </a:rPr>
              <a:t>Project Background</a:t>
            </a:r>
            <a:endParaRPr lang="en-US" sz="3600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27125"/>
            <a:ext cx="10515600" cy="561975"/>
          </a:xfrm>
        </p:spPr>
        <p:txBody>
          <a:bodyPr/>
          <a:p>
            <a:r>
              <a:rPr lang="en-US" altLang="zh-CN"/>
              <a:t>Background and Requirements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D71D0367-918D-436A-A165-E28226D59459}" type="slidenum">
              <a:rPr lang="en-US" smtClean="0"/>
            </a:fld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345440" y="168910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1: Academic and administrative tasks are becoming more complex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345440" y="2506980"/>
            <a:ext cx="4138930" cy="804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/>
              <a:t>2: Schools face increasing scheduling and coordination challenges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45440" y="5749925"/>
            <a:ext cx="42684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4: Demand grows for a digital meeting room booking system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356235" y="3429000"/>
            <a:ext cx="41395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3. Traditional booking methods are no longer efficient</a:t>
            </a:r>
            <a:endParaRPr lang="en-US" altLang="zh-CN"/>
          </a:p>
        </p:txBody>
      </p:sp>
      <p:sp>
        <p:nvSpPr>
          <p:cNvPr id="9" name="双大括号 8"/>
          <p:cNvSpPr/>
          <p:nvPr/>
        </p:nvSpPr>
        <p:spPr>
          <a:xfrm rot="5400000">
            <a:off x="1812290" y="3009265"/>
            <a:ext cx="1525905" cy="3668395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38810" y="4361815"/>
            <a:ext cx="1654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/>
              <a:t>1. Complicated Interface</a:t>
            </a:r>
            <a:endParaRPr lang="en-US" altLang="zh-CN" sz="1400" b="1"/>
          </a:p>
        </p:txBody>
      </p:sp>
      <p:sp>
        <p:nvSpPr>
          <p:cNvPr id="11" name="文本框 10"/>
          <p:cNvSpPr txBox="1"/>
          <p:nvPr/>
        </p:nvSpPr>
        <p:spPr>
          <a:xfrm>
            <a:off x="2567940" y="4349750"/>
            <a:ext cx="15011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/>
              <a:t>2. Inefficient Process</a:t>
            </a:r>
            <a:endParaRPr lang="en-US" altLang="zh-CN" sz="1400" b="1"/>
          </a:p>
        </p:txBody>
      </p:sp>
      <p:sp>
        <p:nvSpPr>
          <p:cNvPr id="12" name="文本框 11"/>
          <p:cNvSpPr txBox="1"/>
          <p:nvPr/>
        </p:nvSpPr>
        <p:spPr>
          <a:xfrm>
            <a:off x="502920" y="4883785"/>
            <a:ext cx="19265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/>
              <a:t>3. Weak Conflict Management</a:t>
            </a:r>
            <a:endParaRPr lang="en-US" altLang="zh-CN" sz="1400" b="1"/>
          </a:p>
        </p:txBody>
      </p:sp>
      <p:sp>
        <p:nvSpPr>
          <p:cNvPr id="13" name="文本框 12"/>
          <p:cNvSpPr txBox="1"/>
          <p:nvPr/>
        </p:nvSpPr>
        <p:spPr>
          <a:xfrm>
            <a:off x="2567940" y="4883785"/>
            <a:ext cx="17633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/>
              <a:t>4. Lack of Real-Time Notifications</a:t>
            </a:r>
            <a:endParaRPr lang="en-US" altLang="zh-CN" sz="1400" b="1"/>
          </a:p>
        </p:txBody>
      </p:sp>
      <p:sp>
        <p:nvSpPr>
          <p:cNvPr id="14" name="右箭头 13"/>
          <p:cNvSpPr/>
          <p:nvPr/>
        </p:nvSpPr>
        <p:spPr>
          <a:xfrm rot="5400000">
            <a:off x="2401570" y="2269490"/>
            <a:ext cx="248285" cy="3543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 rot="5400000">
            <a:off x="2401570" y="3108960"/>
            <a:ext cx="248285" cy="3543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 rot="5400000">
            <a:off x="2401570" y="5506720"/>
            <a:ext cx="248285" cy="3543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右大括号 16"/>
          <p:cNvSpPr/>
          <p:nvPr/>
        </p:nvSpPr>
        <p:spPr>
          <a:xfrm>
            <a:off x="4483100" y="1700530"/>
            <a:ext cx="260350" cy="469455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" name="直接箭头连接符 17"/>
          <p:cNvCxnSpPr>
            <a:stCxn id="17" idx="1"/>
          </p:cNvCxnSpPr>
          <p:nvPr/>
        </p:nvCxnSpPr>
        <p:spPr>
          <a:xfrm>
            <a:off x="4743450" y="4048125"/>
            <a:ext cx="6032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648835" y="3699510"/>
            <a:ext cx="779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/>
              <a:t>Aims</a:t>
            </a:r>
            <a:endParaRPr lang="en-US" altLang="zh-CN" b="1" i="1"/>
          </a:p>
        </p:txBody>
      </p:sp>
      <p:sp>
        <p:nvSpPr>
          <p:cNvPr id="20" name="矩形 19"/>
          <p:cNvSpPr/>
          <p:nvPr/>
        </p:nvSpPr>
        <p:spPr>
          <a:xfrm>
            <a:off x="5401945" y="3533775"/>
            <a:ext cx="2055495" cy="1028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A robust and user-friendly booking system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1" name="左中括号 20"/>
          <p:cNvSpPr/>
          <p:nvPr/>
        </p:nvSpPr>
        <p:spPr>
          <a:xfrm>
            <a:off x="8742045" y="1593850"/>
            <a:ext cx="283845" cy="4872355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>
            <a:stCxn id="20" idx="3"/>
          </p:cNvCxnSpPr>
          <p:nvPr/>
        </p:nvCxnSpPr>
        <p:spPr>
          <a:xfrm>
            <a:off x="7457440" y="4048125"/>
            <a:ext cx="1283335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8980170" y="1504950"/>
            <a:ext cx="22561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1. User-Centered Design</a:t>
            </a:r>
            <a:endParaRPr lang="en-US" altLang="zh-CN" b="1"/>
          </a:p>
        </p:txBody>
      </p:sp>
      <p:sp>
        <p:nvSpPr>
          <p:cNvPr id="24" name="文本框 23"/>
          <p:cNvSpPr txBox="1"/>
          <p:nvPr/>
        </p:nvSpPr>
        <p:spPr>
          <a:xfrm>
            <a:off x="8980170" y="2211705"/>
            <a:ext cx="25425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2. Intuitive Interface &amp; Simple Booking</a:t>
            </a:r>
            <a:endParaRPr lang="en-US" altLang="zh-CN" b="1"/>
          </a:p>
        </p:txBody>
      </p:sp>
      <p:sp>
        <p:nvSpPr>
          <p:cNvPr id="25" name="文本框 24"/>
          <p:cNvSpPr txBox="1"/>
          <p:nvPr/>
        </p:nvSpPr>
        <p:spPr>
          <a:xfrm>
            <a:off x="8848725" y="2966085"/>
            <a:ext cx="27438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3. Real-Time Availability Updates</a:t>
            </a:r>
            <a:endParaRPr lang="en-US" altLang="zh-CN" b="1"/>
          </a:p>
        </p:txBody>
      </p:sp>
      <p:sp>
        <p:nvSpPr>
          <p:cNvPr id="26" name="文本框 25"/>
          <p:cNvSpPr txBox="1"/>
          <p:nvPr/>
        </p:nvSpPr>
        <p:spPr>
          <a:xfrm>
            <a:off x="8766175" y="3697605"/>
            <a:ext cx="30060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4. Automated Notifications</a:t>
            </a:r>
            <a:endParaRPr lang="en-US" altLang="zh-CN" b="1"/>
          </a:p>
        </p:txBody>
      </p:sp>
      <p:sp>
        <p:nvSpPr>
          <p:cNvPr id="27" name="文本框 26"/>
          <p:cNvSpPr txBox="1"/>
          <p:nvPr/>
        </p:nvSpPr>
        <p:spPr>
          <a:xfrm>
            <a:off x="8980170" y="4443730"/>
            <a:ext cx="25425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5. Integration with Calendars, Payments, Permissions</a:t>
            </a:r>
            <a:endParaRPr lang="en-US" altLang="zh-CN" b="1"/>
          </a:p>
        </p:txBody>
      </p:sp>
      <p:sp>
        <p:nvSpPr>
          <p:cNvPr id="28" name="文本框 27"/>
          <p:cNvSpPr txBox="1"/>
          <p:nvPr/>
        </p:nvSpPr>
        <p:spPr>
          <a:xfrm>
            <a:off x="9025890" y="5484495"/>
            <a:ext cx="22567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6. Enhanced Administrative Efficiency</a:t>
            </a:r>
            <a:endParaRPr lang="en-US" altLang="zh-CN" b="1"/>
          </a:p>
        </p:txBody>
      </p:sp>
      <p:sp>
        <p:nvSpPr>
          <p:cNvPr id="29" name="文本框 28"/>
          <p:cNvSpPr txBox="1"/>
          <p:nvPr/>
        </p:nvSpPr>
        <p:spPr>
          <a:xfrm>
            <a:off x="7481570" y="3402965"/>
            <a:ext cx="12604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i="1"/>
              <a:t>Key Features</a:t>
            </a:r>
            <a:endParaRPr lang="en-US" altLang="zh-CN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r>
              <a:rPr lang="en-US" sz="3600" dirty="0">
                <a:sym typeface="+mn-ea"/>
              </a:rPr>
              <a:t>Project Background</a:t>
            </a:r>
            <a:endParaRPr lang="en-US" altLang="en-US" sz="3600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21715"/>
            <a:ext cx="10515600" cy="520065"/>
          </a:xfrm>
        </p:spPr>
        <p:txBody>
          <a:bodyPr/>
          <a:p>
            <a:pPr marL="0" lvl="1"/>
            <a:r>
              <a:rPr lang="en-US" altLang="zh-CN" sz="2800" dirty="0">
                <a:sym typeface="+mn-ea"/>
              </a:rPr>
              <a:t>User Characteristics and Project Scope</a:t>
            </a:r>
            <a:endParaRPr lang="en-US" altLang="zh-CN" sz="2800" dirty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5" name="图片 4" descr="用例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35" y="1541780"/>
            <a:ext cx="6870700" cy="48088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289800" y="2092325"/>
            <a:ext cx="1012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User</a:t>
            </a:r>
            <a:endParaRPr lang="en-US" altLang="zh-CN" b="1"/>
          </a:p>
        </p:txBody>
      </p:sp>
      <p:sp>
        <p:nvSpPr>
          <p:cNvPr id="7" name="左大括号 6"/>
          <p:cNvSpPr/>
          <p:nvPr/>
        </p:nvSpPr>
        <p:spPr>
          <a:xfrm>
            <a:off x="8228330" y="1541780"/>
            <a:ext cx="147955" cy="146939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302625" y="1796415"/>
            <a:ext cx="3556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view rooms, book/cancel meetings, check history, submit repairs, receive notifications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7215505" y="3667125"/>
            <a:ext cx="1012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Admin</a:t>
            </a:r>
            <a:endParaRPr lang="en-US" altLang="zh-CN" b="1"/>
          </a:p>
        </p:txBody>
      </p:sp>
      <p:sp>
        <p:nvSpPr>
          <p:cNvPr id="10" name="左大括号 9"/>
          <p:cNvSpPr/>
          <p:nvPr/>
        </p:nvSpPr>
        <p:spPr>
          <a:xfrm>
            <a:off x="8228330" y="3227070"/>
            <a:ext cx="147955" cy="146939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459470" y="3376295"/>
            <a:ext cx="3187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approve bookings, monitor room usage, manage repairs, update room status, post internal notices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7215505" y="5241290"/>
            <a:ext cx="9296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Super</a:t>
            </a:r>
            <a:endParaRPr lang="en-US" altLang="zh-CN" b="1"/>
          </a:p>
          <a:p>
            <a:r>
              <a:rPr lang="en-US" altLang="zh-CN" b="1"/>
              <a:t>Admin</a:t>
            </a:r>
            <a:endParaRPr lang="en-US" altLang="zh-CN" b="1"/>
          </a:p>
        </p:txBody>
      </p:sp>
      <p:sp>
        <p:nvSpPr>
          <p:cNvPr id="13" name="左大括号 12"/>
          <p:cNvSpPr/>
          <p:nvPr/>
        </p:nvSpPr>
        <p:spPr>
          <a:xfrm>
            <a:off x="8228330" y="4881245"/>
            <a:ext cx="147955" cy="146939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459470" y="4881245"/>
            <a:ext cx="305117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manage users/roles, configure room categories, add/edit/deactivate rooms, maintain permissions, review system logs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8783955" y="1376680"/>
            <a:ext cx="2925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 dirty="0">
                <a:sym typeface="+mn-ea"/>
              </a:rPr>
              <a:t>User Characteristics</a:t>
            </a:r>
            <a:endParaRPr lang="zh-CN" altLang="en-US" b="1"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ym typeface="+mn-ea"/>
              </a:rPr>
              <a:t>Project Background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62025"/>
            <a:ext cx="4967605" cy="568960"/>
          </a:xfrm>
        </p:spPr>
        <p:txBody>
          <a:bodyPr>
            <a:normAutofit fontScale="90000"/>
          </a:bodyPr>
          <a:lstStyle/>
          <a:p>
            <a:pPr marL="0" lvl="1" algn="l">
              <a:buClrTx/>
              <a:buSzTx/>
            </a:pPr>
            <a:r>
              <a:rPr lang="en-US" altLang="zh-CN" sz="2800" dirty="0">
                <a:sym typeface="+mn-ea"/>
              </a:rPr>
              <a:t>Key Business Processes Flow</a:t>
            </a:r>
            <a:endParaRPr lang="en-US" altLang="zh-CN" sz="2800" dirty="0">
              <a:sym typeface="+mn-e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0367-918D-436A-A165-E28226D59459}" type="slidenum">
              <a:rPr lang="en-US" smtClean="0"/>
            </a:fld>
            <a:endParaRPr lang="en-US"/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939165" y="1530350"/>
            <a:ext cx="5796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i="1"/>
              <a:t>1.User registration and login process</a:t>
            </a:r>
            <a:endParaRPr lang="zh-CN" altLang="en-US" sz="2400" b="1" i="1"/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939165" y="1990725"/>
            <a:ext cx="90678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User submits registration information </a:t>
            </a:r>
            <a:r>
              <a:rPr lang="en-US" altLang="en-US" sz="2000"/>
              <a:t>➝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C00000"/>
                </a:solidFill>
              </a:rPr>
              <a:t>System sends verification email </a:t>
            </a:r>
            <a:endParaRPr lang="en-US" altLang="zh-CN" sz="2000">
              <a:solidFill>
                <a:srgbClr val="C00000"/>
              </a:solidFill>
            </a:endParaRPr>
          </a:p>
          <a:p>
            <a:r>
              <a:rPr lang="en-US" altLang="en-US" sz="2000"/>
              <a:t>➝</a:t>
            </a:r>
            <a:r>
              <a:rPr lang="en-US" altLang="zh-CN" sz="2000"/>
              <a:t> User clicks activation link </a:t>
            </a:r>
            <a:r>
              <a:rPr lang="en-US" altLang="en-US" sz="2000"/>
              <a:t>➝</a:t>
            </a:r>
            <a:r>
              <a:rPr lang="en-US" altLang="zh-CN" sz="2000"/>
              <a:t> Account activated </a:t>
            </a:r>
            <a:r>
              <a:rPr lang="en-US" altLang="en-US" sz="2000"/>
              <a:t>➝</a:t>
            </a:r>
            <a:r>
              <a:rPr lang="en-US" altLang="zh-CN" sz="2000"/>
              <a:t> User logs into the system</a:t>
            </a:r>
            <a:endParaRPr lang="zh-CN" altLang="en-US" sz="2000"/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905510" y="2941320"/>
            <a:ext cx="5829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i="1"/>
              <a:t>2.Meeting room booking process</a:t>
            </a:r>
            <a:endParaRPr lang="en-US" altLang="zh-CN" sz="2400" b="1" i="1"/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939165" y="3400425"/>
            <a:ext cx="101574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User browses meeting room </a:t>
            </a:r>
            <a:r>
              <a:rPr lang="en-US" altLang="en-US" sz="2000"/>
              <a:t>➝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C00000"/>
                </a:solidFill>
              </a:rPr>
              <a:t>Select 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meeting</a:t>
            </a:r>
            <a:r>
              <a:rPr lang="en-US" altLang="zh-CN" sz="2000">
                <a:solidFill>
                  <a:srgbClr val="C00000"/>
                </a:solidFill>
              </a:rPr>
              <a:t> room and time</a:t>
            </a:r>
            <a:r>
              <a:rPr lang="en-US" altLang="zh-CN" sz="2000"/>
              <a:t> </a:t>
            </a:r>
            <a:r>
              <a:rPr lang="en-US" altLang="en-US" sz="2000"/>
              <a:t>➝</a:t>
            </a:r>
            <a:r>
              <a:rPr lang="en-US" altLang="zh-CN" sz="2000"/>
              <a:t> Fill in booking reason </a:t>
            </a:r>
            <a:r>
              <a:rPr lang="en-US" altLang="en-US" sz="2000"/>
              <a:t>➝</a:t>
            </a:r>
            <a:r>
              <a:rPr lang="en-US" altLang="zh-CN" sz="2000"/>
              <a:t> Submit booking request </a:t>
            </a:r>
            <a:r>
              <a:rPr lang="en-US" altLang="en-US" sz="2000"/>
              <a:t>➝</a:t>
            </a:r>
            <a:r>
              <a:rPr lang="en-US" altLang="zh-CN" sz="2000"/>
              <a:t> Administrator reviews </a:t>
            </a:r>
            <a:r>
              <a:rPr lang="en-US" altLang="en-US" sz="2000"/>
              <a:t>➝</a:t>
            </a:r>
            <a:r>
              <a:rPr lang="en-US" altLang="zh-CN" sz="2000"/>
              <a:t> Booking successful</a:t>
            </a:r>
            <a:endParaRPr lang="en-US" altLang="zh-CN" sz="2000"/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905510" y="4473575"/>
            <a:ext cx="83000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i="1"/>
              <a:t>3.Meeting room management process (administrator)</a:t>
            </a:r>
            <a:endParaRPr lang="en-US" altLang="zh-CN" sz="2400" b="1" i="1"/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939165" y="4933950"/>
            <a:ext cx="9203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Administrator adds </a:t>
            </a:r>
            <a:r>
              <a:rPr lang="en-US" altLang="zh-CN" sz="2000">
                <a:sym typeface="+mn-ea"/>
              </a:rPr>
              <a:t>meeting</a:t>
            </a:r>
            <a:r>
              <a:rPr lang="en-US" altLang="zh-CN" sz="2000"/>
              <a:t> room information </a:t>
            </a:r>
            <a:r>
              <a:rPr lang="en-US" altLang="en-US" sz="2000"/>
              <a:t>➝</a:t>
            </a:r>
            <a:r>
              <a:rPr lang="en-US" altLang="zh-CN" sz="2000"/>
              <a:t> Maintain </a:t>
            </a:r>
            <a:r>
              <a:rPr lang="en-US" altLang="zh-CN" sz="2000">
                <a:sym typeface="+mn-ea"/>
              </a:rPr>
              <a:t>meeting</a:t>
            </a:r>
            <a:r>
              <a:rPr lang="en-US" altLang="zh-CN" sz="2000"/>
              <a:t> room status </a:t>
            </a:r>
            <a:r>
              <a:rPr lang="en-US" altLang="en-US" sz="2000"/>
              <a:t>➝</a:t>
            </a:r>
            <a:r>
              <a:rPr lang="en-US" altLang="zh-CN" sz="2000"/>
              <a:t> Review booking </a:t>
            </a:r>
            <a:r>
              <a:rPr lang="en-US" altLang="en-US" sz="2000"/>
              <a:t>➝</a:t>
            </a:r>
            <a:r>
              <a:rPr lang="en-US" altLang="zh-CN" sz="2000"/>
              <a:t> Update booking status </a:t>
            </a:r>
            <a:r>
              <a:rPr lang="en-US" altLang="en-US" sz="2000"/>
              <a:t>➝</a:t>
            </a:r>
            <a:r>
              <a:rPr lang="en-US" altLang="zh-CN" sz="2000"/>
              <a:t> Handle illegal booking</a:t>
            </a:r>
            <a:endParaRPr lang="en-US" altLang="zh-CN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Unique advantages</a:t>
            </a:r>
            <a:endParaRPr lang="en-US" altLang="zh-CN"/>
          </a:p>
        </p:txBody>
      </p:sp>
      <p:pic>
        <p:nvPicPr>
          <p:cNvPr id="5" name="内容占位符 4" descr="日历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72605" y="3061335"/>
            <a:ext cx="4184650" cy="260096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6" name="图片 5" descr="verification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290" y="854075"/>
            <a:ext cx="4037965" cy="17259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72605" y="2580005"/>
            <a:ext cx="4937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/>
              <a:t>Figure 2:Verification code in real emailbox</a:t>
            </a:r>
            <a:endParaRPr lang="en-US" altLang="zh-CN" b="1" i="1"/>
          </a:p>
        </p:txBody>
      </p:sp>
      <p:sp>
        <p:nvSpPr>
          <p:cNvPr id="9" name="文本框 8"/>
          <p:cNvSpPr txBox="1"/>
          <p:nvPr/>
        </p:nvSpPr>
        <p:spPr>
          <a:xfrm>
            <a:off x="6654800" y="5662295"/>
            <a:ext cx="5009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/>
              <a:t>Figure 3:Calendar in the booking interface</a:t>
            </a:r>
            <a:endParaRPr lang="en-US" altLang="zh-CN" b="1" i="1"/>
          </a:p>
        </p:txBody>
      </p:sp>
      <p:pic>
        <p:nvPicPr>
          <p:cNvPr id="10" name="图片 9" descr="固定窗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35" y="1778000"/>
            <a:ext cx="5972175" cy="342773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204085" y="5205730"/>
            <a:ext cx="25812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 i="1">
                <a:sym typeface="+mn-ea"/>
              </a:rPr>
              <a:t>Figure 1:F</a:t>
            </a:r>
            <a:r>
              <a:rPr lang="en-US" altLang="zh-CN" b="1" i="1">
                <a:sym typeface="+mn-ea"/>
              </a:rPr>
              <a:t>ixed pane</a:t>
            </a:r>
            <a:endParaRPr lang="en-US" altLang="zh-CN" b="1" i="1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ym typeface="+mn-ea"/>
              </a:rPr>
              <a:t>Project Background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1400"/>
            <a:ext cx="2533015" cy="568960"/>
          </a:xfrm>
        </p:spPr>
        <p:txBody>
          <a:bodyPr/>
          <a:lstStyle/>
          <a:p>
            <a:pPr marL="0" lvl="1"/>
            <a:r>
              <a:rPr lang="en-US" altLang="zh-CN" sz="2800" dirty="0">
                <a:sym typeface="+mn-ea"/>
              </a:rPr>
              <a:t>Project Risks</a:t>
            </a:r>
            <a:endParaRPr lang="en-US" altLang="zh-CN" sz="2800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4" name="图片 3" descr="ris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4180" y="1041400"/>
            <a:ext cx="4747260" cy="47472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61085" y="1882140"/>
            <a:ext cx="43605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1: Uneven resource allocation</a:t>
            </a:r>
            <a:endParaRPr lang="en-US" altLang="zh-CN" sz="2000" b="1"/>
          </a:p>
        </p:txBody>
      </p:sp>
      <p:sp>
        <p:nvSpPr>
          <p:cNvPr id="7" name="文本框 6"/>
          <p:cNvSpPr txBox="1"/>
          <p:nvPr/>
        </p:nvSpPr>
        <p:spPr>
          <a:xfrm>
            <a:off x="1061085" y="2470150"/>
            <a:ext cx="52997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2: </a:t>
            </a:r>
            <a:r>
              <a:rPr lang="en-US" altLang="zh-CN" sz="2000" b="1"/>
              <a:t>Technical challenges (e.g., integration, data handling)</a:t>
            </a:r>
            <a:endParaRPr lang="en-US" altLang="zh-CN" sz="2000" b="1"/>
          </a:p>
        </p:txBody>
      </p:sp>
      <p:sp>
        <p:nvSpPr>
          <p:cNvPr id="9" name="文本框 8"/>
          <p:cNvSpPr txBox="1"/>
          <p:nvPr/>
        </p:nvSpPr>
        <p:spPr>
          <a:xfrm>
            <a:off x="1061085" y="3366135"/>
            <a:ext cx="42926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3: </a:t>
            </a:r>
            <a:r>
              <a:rPr lang="en-US" altLang="zh-CN" sz="2000" b="1"/>
              <a:t>Potential security vulnerabilities</a:t>
            </a:r>
            <a:endParaRPr lang="en-US" altLang="zh-CN" sz="2000" b="1"/>
          </a:p>
        </p:txBody>
      </p:sp>
      <p:sp>
        <p:nvSpPr>
          <p:cNvPr id="10" name="文本框 9"/>
          <p:cNvSpPr txBox="1"/>
          <p:nvPr/>
        </p:nvSpPr>
        <p:spPr>
          <a:xfrm>
            <a:off x="1061085" y="4181475"/>
            <a:ext cx="46780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4: Testing needs for stability and performance</a:t>
            </a:r>
            <a:endParaRPr lang="en-US" altLang="zh-CN" sz="2000" b="1"/>
          </a:p>
        </p:txBody>
      </p:sp>
      <p:sp>
        <p:nvSpPr>
          <p:cNvPr id="11" name="文本框 10"/>
          <p:cNvSpPr txBox="1"/>
          <p:nvPr/>
        </p:nvSpPr>
        <p:spPr>
          <a:xfrm>
            <a:off x="1061085" y="5068570"/>
            <a:ext cx="46107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5: Dependence on team collaboration, resources, and third-party service stability</a:t>
            </a:r>
            <a:endParaRPr lang="en-US" altLang="zh-CN" sz="2000" b="1"/>
          </a:p>
        </p:txBody>
      </p:sp>
      <p:sp>
        <p:nvSpPr>
          <p:cNvPr id="12" name="右大括号 11"/>
          <p:cNvSpPr/>
          <p:nvPr/>
        </p:nvSpPr>
        <p:spPr>
          <a:xfrm>
            <a:off x="5772150" y="1463675"/>
            <a:ext cx="1050925" cy="472313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4742180" cy="1325880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sym typeface="+mn-ea"/>
              </a:rPr>
              <a:t>Architectural Design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885" y="975360"/>
            <a:ext cx="3837940" cy="555625"/>
          </a:xfrm>
        </p:spPr>
        <p:txBody>
          <a:bodyPr>
            <a:normAutofit fontScale="90000"/>
          </a:bodyPr>
          <a:lstStyle/>
          <a:p>
            <a:pPr lvl="1"/>
            <a:r>
              <a:rPr lang="en-US" altLang="zh-CN" sz="2800" dirty="0">
                <a:sym typeface="+mn-ea"/>
              </a:rPr>
              <a:t>System Architecture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4" name="图片 3" descr="MV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" y="1530985"/>
            <a:ext cx="8511540" cy="44678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869045" y="1711960"/>
            <a:ext cx="25869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Advantages of MVC</a:t>
            </a:r>
            <a:endParaRPr lang="en-US" altLang="zh-CN" sz="2000" b="1"/>
          </a:p>
        </p:txBody>
      </p:sp>
      <p:sp>
        <p:nvSpPr>
          <p:cNvPr id="7" name="文本框 6"/>
          <p:cNvSpPr txBox="1"/>
          <p:nvPr/>
        </p:nvSpPr>
        <p:spPr>
          <a:xfrm>
            <a:off x="8789670" y="2297430"/>
            <a:ext cx="3175635" cy="2935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1: Clear separation of concerns</a:t>
            </a:r>
            <a:endParaRPr lang="en-US" altLang="zh-CN"/>
          </a:p>
          <a:p>
            <a:r>
              <a:rPr lang="en-US" altLang="zh-CN"/>
              <a:t>2: Modular system design</a:t>
            </a:r>
            <a:endParaRPr lang="en-US" altLang="zh-CN"/>
          </a:p>
          <a:p>
            <a:r>
              <a:rPr lang="en-US" altLang="zh-CN"/>
              <a:t>3: Easy to maintain</a:t>
            </a:r>
            <a:endParaRPr lang="en-US" altLang="zh-CN"/>
          </a:p>
          <a:p>
            <a:r>
              <a:rPr lang="en-US" altLang="zh-CN"/>
              <a:t>4: Better testability</a:t>
            </a:r>
            <a:endParaRPr lang="en-US" altLang="zh-CN"/>
          </a:p>
          <a:p>
            <a:r>
              <a:rPr lang="en-US" altLang="zh-CN"/>
              <a:t>5: Improved team collaboration</a:t>
            </a:r>
            <a:endParaRPr lang="en-US" altLang="zh-CN"/>
          </a:p>
          <a:p>
            <a:r>
              <a:rPr lang="en-US" altLang="zh-CN"/>
              <a:t>6: Scalable development</a:t>
            </a:r>
            <a:endParaRPr lang="en-US" altLang="zh-CN"/>
          </a:p>
          <a:p>
            <a:r>
              <a:rPr lang="en-US" altLang="zh-CN"/>
              <a:t>7: Parallel frontend &amp; backend work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r>
              <a:rPr lang="en-US" altLang="zh-CN" sz="3600" dirty="0">
                <a:sym typeface="+mn-ea"/>
              </a:rPr>
              <a:t>Architectural Design</a:t>
            </a:r>
            <a:endParaRPr lang="en-US" altLang="zh-CN" sz="3600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34415"/>
            <a:ext cx="3329940" cy="577850"/>
          </a:xfrm>
        </p:spPr>
        <p:txBody>
          <a:bodyPr/>
          <a:p>
            <a:pPr marL="0" lvl="1"/>
            <a:r>
              <a:rPr lang="en-US" altLang="zh-CN" sz="2800" dirty="0">
                <a:sym typeface="+mn-ea"/>
              </a:rPr>
              <a:t>Frontend System</a:t>
            </a:r>
            <a:endParaRPr lang="en-US" altLang="zh-CN" sz="2800" dirty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5" name="图片 4" descr="前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810" y="1577340"/>
            <a:ext cx="4959350" cy="4959350"/>
          </a:xfrm>
          <a:prstGeom prst="rect">
            <a:avLst/>
          </a:prstGeom>
        </p:spPr>
      </p:pic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5558790" y="1034415"/>
          <a:ext cx="6252210" cy="5062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970"/>
                <a:gridCol w="3952240"/>
              </a:tblGrid>
              <a:tr h="4349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Frame</a:t>
                      </a:r>
                      <a:r>
                        <a:rPr lang="en-US" altLang="zh-CN"/>
                        <a:t>work/Tools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Description</a:t>
                      </a:r>
                      <a:endParaRPr lang="en-US" altLang="zh-CN"/>
                    </a:p>
                  </a:txBody>
                  <a:tcPr/>
                </a:tc>
              </a:tr>
              <a:tr h="5359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1"/>
                        <a:t>Vue.js 3</a:t>
                      </a:r>
                      <a:endParaRPr lang="en-US" altLang="zh-CN" sz="14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/>
                        <a:t>Core framework for SPA and component-based development</a:t>
                      </a:r>
                      <a:endParaRPr lang="en-US" altLang="zh-CN" sz="1400" b="0"/>
                    </a:p>
                  </a:txBody>
                  <a:tcPr/>
                </a:tc>
              </a:tr>
              <a:tr h="5480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1"/>
                        <a:t>TypeScript</a:t>
                      </a:r>
                      <a:endParaRPr lang="en-US" altLang="zh-CN" sz="1400" b="1"/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US" altLang="zh-CN" sz="1400" b="0"/>
                        <a:t> Strong typing for safer and more maintainable   code</a:t>
                      </a:r>
                      <a:endParaRPr lang="en-US" altLang="zh-CN" sz="1400" b="0"/>
                    </a:p>
                  </a:txBody>
                  <a:tcPr marL="0" marR="0" marT="0" marB="0" anchor="ctr" anchorCtr="0"/>
                </a:tc>
              </a:tr>
              <a:tr h="4349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1"/>
                        <a:t>Vite</a:t>
                      </a:r>
                      <a:endParaRPr lang="en-US" altLang="zh-CN" sz="14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/>
                        <a:t>Build tool with fast dev and hot module replacement</a:t>
                      </a:r>
                      <a:endParaRPr lang="en-US" altLang="zh-CN" sz="1400" b="0"/>
                    </a:p>
                  </a:txBody>
                  <a:tcPr/>
                </a:tc>
              </a:tr>
              <a:tr h="4343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1"/>
                        <a:t>Vue Router</a:t>
                      </a:r>
                      <a:endParaRPr lang="en-US" altLang="zh-CN" sz="14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/>
                        <a:t>Routing system with dynamic and role-based navigation</a:t>
                      </a:r>
                      <a:endParaRPr lang="en-US" altLang="zh-CN" sz="1400" b="0"/>
                    </a:p>
                  </a:txBody>
                  <a:tcPr/>
                </a:tc>
              </a:tr>
              <a:tr h="4356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1"/>
                        <a:t>Element Plus</a:t>
                      </a:r>
                      <a:endParaRPr lang="en-US" altLang="zh-CN" sz="14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/>
                        <a:t>UI library with forms, calendars, modals, tables, etc.</a:t>
                      </a:r>
                      <a:endParaRPr lang="en-US" altLang="zh-CN" sz="1400" b="0"/>
                    </a:p>
                  </a:txBody>
                  <a:tcPr/>
                </a:tc>
              </a:tr>
              <a:tr h="4349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1"/>
                        <a:t>Axios</a:t>
                      </a:r>
                      <a:endParaRPr lang="en-US" altLang="zh-CN" sz="14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/>
                        <a:t>HTTP client for frontend-backend communication</a:t>
                      </a:r>
                      <a:endParaRPr lang="en-US" altLang="zh-CN" sz="1400" b="0"/>
                    </a:p>
                  </a:txBody>
                  <a:tcPr/>
                </a:tc>
              </a:tr>
              <a:tr h="4349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1"/>
                        <a:t>FullCalendar</a:t>
                      </a:r>
                      <a:endParaRPr lang="en-US" altLang="zh-CN" sz="14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/>
                        <a:t>Drag-and-drop scheduler for meeting room booking</a:t>
                      </a:r>
                      <a:endParaRPr lang="en-US" altLang="zh-CN" sz="1400" b="0"/>
                    </a:p>
                  </a:txBody>
                  <a:tcPr/>
                </a:tc>
              </a:tr>
              <a:tr h="4349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1"/>
                        <a:t>ECharts</a:t>
                      </a:r>
                      <a:endParaRPr lang="en-US" altLang="zh-CN" sz="14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/>
                        <a:t>Data visualization with bar, line, and pie charts</a:t>
                      </a:r>
                      <a:endParaRPr lang="en-US" altLang="zh-CN" sz="1400" b="0"/>
                    </a:p>
                  </a:txBody>
                  <a:tcPr/>
                </a:tc>
              </a:tr>
              <a:tr h="4349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1"/>
                        <a:t>Vue-Tippy</a:t>
                      </a:r>
                      <a:endParaRPr lang="en-US" altLang="zh-CN" sz="14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/>
                        <a:t>Tooltips and guides to enhance user experience</a:t>
                      </a:r>
                      <a:endParaRPr lang="en-US" altLang="zh-CN" sz="1400" b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r>
              <a:rPr lang="en-US" altLang="zh-CN" sz="3600" dirty="0">
                <a:sym typeface="+mn-ea"/>
              </a:rPr>
              <a:t>Architectural Design</a:t>
            </a:r>
            <a:endParaRPr lang="en-US" altLang="zh-CN" sz="3600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77900"/>
            <a:ext cx="3204845" cy="532765"/>
          </a:xfrm>
        </p:spPr>
        <p:txBody>
          <a:bodyPr/>
          <a:p>
            <a:pPr marL="0" lvl="1"/>
            <a:r>
              <a:rPr lang="en-US" altLang="zh-CN" sz="2800" dirty="0">
                <a:sym typeface="+mn-ea"/>
              </a:rPr>
              <a:t>Backend System</a:t>
            </a:r>
            <a:endParaRPr lang="en-US" altLang="zh-CN" sz="2800" dirty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D71D0367-918D-436A-A165-E28226D59459}" type="slidenum">
              <a:rPr lang="en-US" smtClean="0"/>
            </a:fld>
            <a:endParaRPr lang="en-US"/>
          </a:p>
        </p:txBody>
      </p:sp>
      <p:sp>
        <p:nvSpPr>
          <p:cNvPr id="6" name="矩形 5"/>
          <p:cNvSpPr/>
          <p:nvPr/>
        </p:nvSpPr>
        <p:spPr>
          <a:xfrm>
            <a:off x="185420" y="1510665"/>
            <a:ext cx="3652520" cy="2562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Controller Layer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en-US" altLang="zh-CN" sz="1400" i="1">
                <a:solidFill>
                  <a:schemeClr val="tx1"/>
                </a:solidFill>
              </a:rPr>
              <a:t>1: /api/bookings for managing meetngroom reservations</a:t>
            </a:r>
            <a:endParaRPr lang="en-US" altLang="zh-CN" sz="1400" i="1">
              <a:solidFill>
                <a:schemeClr val="tx1"/>
              </a:solidFill>
            </a:endParaRPr>
          </a:p>
          <a:p>
            <a:pPr algn="ctr"/>
            <a:r>
              <a:rPr lang="en-US" altLang="zh-CN" sz="1400" i="1">
                <a:solidFill>
                  <a:schemeClr val="tx1"/>
                </a:solidFill>
              </a:rPr>
              <a:t>2: /api/rooms for retrieving availableroom lists and metadata</a:t>
            </a:r>
            <a:endParaRPr lang="en-US" altLang="zh-CN" sz="1400" i="1">
              <a:solidFill>
                <a:schemeClr val="tx1"/>
              </a:solidFill>
            </a:endParaRPr>
          </a:p>
          <a:p>
            <a:pPr algn="ctr"/>
            <a:r>
              <a:rPr lang="en-US" altLang="zh-CN" sz="1400" i="1">
                <a:solidFill>
                  <a:schemeClr val="tx1"/>
                </a:solidFill>
              </a:rPr>
              <a:t>3: /api/users for role-based user</a:t>
            </a:r>
            <a:endParaRPr lang="en-US" altLang="zh-CN" sz="1400" i="1">
              <a:solidFill>
                <a:schemeClr val="tx1"/>
              </a:solidFill>
            </a:endParaRPr>
          </a:p>
          <a:p>
            <a:pPr algn="ctr"/>
            <a:r>
              <a:rPr lang="en-US" altLang="zh-CN" sz="1400" i="1">
                <a:solidFill>
                  <a:schemeClr val="tx1"/>
                </a:solidFill>
              </a:rPr>
              <a:t>management</a:t>
            </a:r>
            <a:endParaRPr lang="en-US" altLang="zh-CN" sz="1400" i="1">
              <a:solidFill>
                <a:schemeClr val="tx1"/>
              </a:solidFill>
            </a:endParaRPr>
          </a:p>
          <a:p>
            <a:pPr algn="ctr"/>
            <a:r>
              <a:rPr lang="en-US" altLang="zh-CN" sz="1400" i="1">
                <a:solidFill>
                  <a:schemeClr val="tx1"/>
                </a:solidFill>
              </a:rPr>
              <a:t>4: /api/repair for repair requet submission and resolution</a:t>
            </a:r>
            <a:endParaRPr lang="en-US" altLang="zh-CN" sz="1400" i="1">
              <a:solidFill>
                <a:schemeClr val="tx1"/>
              </a:solidFill>
            </a:endParaRPr>
          </a:p>
          <a:p>
            <a:pPr algn="ctr"/>
            <a:r>
              <a:rPr lang="en-US" altLang="zh-CN" sz="1400" i="1">
                <a:solidFill>
                  <a:schemeClr val="tx1"/>
                </a:solidFill>
              </a:rPr>
              <a:t>5: /api/statistics for returning roomusage and booking distribution data</a:t>
            </a:r>
            <a:endParaRPr lang="en-US" altLang="zh-CN" sz="1400" i="1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08170" y="1510665"/>
            <a:ext cx="3507740" cy="2560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Service Layer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1:Checking room availability before bookin</a:t>
            </a:r>
            <a:r>
              <a:rPr lang="en-US" altLang="zh-CN" sz="1400">
                <a:solidFill>
                  <a:schemeClr val="tx1"/>
                </a:solidFill>
              </a:rPr>
              <a:t>g</a:t>
            </a:r>
            <a:endParaRPr lang="en-US" altLang="zh-CN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2: Coordinating approval </a:t>
            </a:r>
            <a:r>
              <a:rPr lang="en-US" altLang="zh-CN" sz="1400">
                <a:solidFill>
                  <a:schemeClr val="tx1"/>
                </a:solidFill>
              </a:rPr>
              <a:t>flows for MRC roles</a:t>
            </a:r>
            <a:endParaRPr lang="en-US" altLang="zh-CN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3: User login, session management, andpermission control</a:t>
            </a:r>
            <a:endParaRPr lang="en-US" altLang="zh-CN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4: Generating data for charts using EChartscompatible formats</a:t>
            </a:r>
            <a:endParaRPr lang="en-US" altLang="zh-CN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5: Sending notifications or processing!</a:t>
            </a:r>
            <a:endParaRPr lang="en-US" altLang="zh-CN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repair updates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485505" y="1513205"/>
            <a:ext cx="2868295" cy="25622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DAO Layer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1: Defines Java classes correspondling</a:t>
            </a:r>
            <a:endParaRPr lang="en-US" altLang="zh-CN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to database tables</a:t>
            </a:r>
            <a:endParaRPr lang="en-US" altLang="zh-CN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(meeting_category, meeting room, mele!ting book, sys dept, sys _user, sys role and so on)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3916045" y="2623185"/>
            <a:ext cx="394970" cy="28829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8002905" y="2623185"/>
            <a:ext cx="394970" cy="28829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420" y="4258310"/>
            <a:ext cx="1622425" cy="173228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530" y="4408805"/>
            <a:ext cx="1878965" cy="158178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010" y="4222750"/>
            <a:ext cx="1795780" cy="179578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735" y="4295140"/>
            <a:ext cx="1308735" cy="1591310"/>
          </a:xfrm>
          <a:prstGeom prst="rect">
            <a:avLst/>
          </a:prstGeom>
        </p:spPr>
      </p:pic>
      <p:sp>
        <p:nvSpPr>
          <p:cNvPr id="17" name="双大括号 16"/>
          <p:cNvSpPr/>
          <p:nvPr/>
        </p:nvSpPr>
        <p:spPr>
          <a:xfrm>
            <a:off x="0" y="4258310"/>
            <a:ext cx="3953510" cy="1877060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双大括号 17"/>
          <p:cNvSpPr/>
          <p:nvPr/>
        </p:nvSpPr>
        <p:spPr>
          <a:xfrm>
            <a:off x="4252595" y="4203700"/>
            <a:ext cx="3820795" cy="1960245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5715" y="4286885"/>
            <a:ext cx="2320925" cy="1734820"/>
          </a:xfrm>
          <a:prstGeom prst="rect">
            <a:avLst/>
          </a:prstGeom>
        </p:spPr>
      </p:pic>
      <p:sp>
        <p:nvSpPr>
          <p:cNvPr id="20" name="双大括号 19"/>
          <p:cNvSpPr/>
          <p:nvPr/>
        </p:nvSpPr>
        <p:spPr>
          <a:xfrm>
            <a:off x="8571865" y="4286885"/>
            <a:ext cx="2891155" cy="1827530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r>
              <a:rPr lang="en-US" altLang="zh-CN" sz="3600" dirty="0">
                <a:sym typeface="+mn-ea"/>
              </a:rPr>
              <a:t>Architectural Design</a:t>
            </a:r>
            <a:endParaRPr lang="en-US" altLang="zh-CN" sz="3600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11555"/>
            <a:ext cx="3770630" cy="596900"/>
          </a:xfrm>
        </p:spPr>
        <p:txBody>
          <a:bodyPr/>
          <a:p>
            <a:pPr lvl="1"/>
            <a:r>
              <a:rPr lang="en-US" altLang="zh-CN" sz="2800" dirty="0">
                <a:sym typeface="+mn-ea"/>
              </a:rPr>
              <a:t>Database Design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245" y="1496060"/>
            <a:ext cx="4173220" cy="49796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583930" y="2540000"/>
            <a:ext cx="3035300" cy="28917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/>
              <a:t>Unified ERD Design</a:t>
            </a:r>
            <a:endParaRPr lang="en-US" altLang="zh-CN" sz="2000" b="1"/>
          </a:p>
          <a:p>
            <a:r>
              <a:rPr lang="en-US" altLang="zh-CN"/>
              <a:t>1: Team adopted a shared schema structure</a:t>
            </a:r>
            <a:endParaRPr lang="en-US" altLang="zh-CN"/>
          </a:p>
          <a:p>
            <a:r>
              <a:rPr lang="en-US" altLang="zh-CN"/>
              <a:t>2: Follows 3NF to reduce redundancy</a:t>
            </a:r>
            <a:endParaRPr lang="en-US" altLang="zh-CN"/>
          </a:p>
          <a:p>
            <a:r>
              <a:rPr lang="en-US" altLang="zh-CN"/>
              <a:t>3: Ensures data integrity and modular scalability</a:t>
            </a:r>
            <a:endParaRPr lang="en-US" altLang="zh-CN"/>
          </a:p>
          <a:p>
            <a:r>
              <a:rPr lang="en-US" altLang="zh-CN"/>
              <a:t>4: Aligned with service endpoints for smooth system evolution</a:t>
            </a:r>
            <a:endParaRPr lang="zh-CN" altLang="en-US"/>
          </a:p>
        </p:txBody>
      </p:sp>
      <p:pic>
        <p:nvPicPr>
          <p:cNvPr id="9" name="图片 8" descr="Datab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540" y="1496060"/>
            <a:ext cx="3735705" cy="5019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r>
              <a:rPr lang="en-US" altLang="zh-CN" sz="3600" dirty="0">
                <a:sym typeface="+mn-ea"/>
              </a:rPr>
              <a:t>Software Design</a:t>
            </a:r>
            <a:endParaRPr lang="en-US" altLang="zh-CN" sz="3600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43305"/>
            <a:ext cx="3416935" cy="499110"/>
          </a:xfrm>
        </p:spPr>
        <p:txBody>
          <a:bodyPr>
            <a:normAutofit lnSpcReduction="10000"/>
          </a:bodyPr>
          <a:p>
            <a:pPr marL="0" lvl="1"/>
            <a:r>
              <a:rPr lang="en-US" altLang="zh-CN" sz="2800" dirty="0">
                <a:sym typeface="+mn-ea"/>
              </a:rPr>
              <a:t>Software Modules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2490" y="1606550"/>
            <a:ext cx="4933315" cy="50241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43635" y="1609090"/>
            <a:ext cx="41929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Role-Based Module Function Diagram</a:t>
            </a:r>
            <a:endParaRPr lang="en-US" altLang="zh-CN" sz="1600" b="1"/>
          </a:p>
        </p:txBody>
      </p:sp>
      <p:sp>
        <p:nvSpPr>
          <p:cNvPr id="8" name="文本框 7"/>
          <p:cNvSpPr txBox="1"/>
          <p:nvPr/>
        </p:nvSpPr>
        <p:spPr>
          <a:xfrm>
            <a:off x="7719695" y="1660525"/>
            <a:ext cx="40913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Role-Based Login Process Diagram</a:t>
            </a:r>
            <a:endParaRPr lang="en-US" altLang="zh-CN" sz="1600" b="1"/>
          </a:p>
        </p:txBody>
      </p:sp>
      <p:pic>
        <p:nvPicPr>
          <p:cNvPr id="9" name="图片 8" descr="softwa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75" y="1606550"/>
            <a:ext cx="5367655" cy="45167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r>
              <a:rPr lang="en-US" altLang="zh-CN" sz="3600" dirty="0">
                <a:sym typeface="+mn-ea"/>
              </a:rPr>
              <a:t>Software Design</a:t>
            </a:r>
            <a:endParaRPr lang="en-US" altLang="zh-CN" sz="3600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73455"/>
            <a:ext cx="4297680" cy="535305"/>
          </a:xfrm>
        </p:spPr>
        <p:txBody>
          <a:bodyPr/>
          <a:p>
            <a:pPr marL="0" lvl="1"/>
            <a:r>
              <a:rPr lang="en-US" altLang="zh-CN" sz="2800" dirty="0">
                <a:sym typeface="+mn-ea"/>
              </a:rPr>
              <a:t>High-level Process Flow</a:t>
            </a:r>
            <a:endParaRPr lang="en-US" altLang="zh-CN" sz="2800" dirty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825" y="1588135"/>
            <a:ext cx="8689975" cy="43116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084820" y="1405890"/>
            <a:ext cx="410718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1.User enters the mainpage</a:t>
            </a:r>
            <a:endParaRPr lang="en-US" altLang="zh-CN"/>
          </a:p>
          <a:p>
            <a:r>
              <a:rPr lang="en-US" altLang="zh-CN"/>
              <a:t>2.Login in or </a:t>
            </a:r>
            <a:r>
              <a:rPr lang="en-US" altLang="zh-CN"/>
              <a:t>register</a:t>
            </a:r>
            <a:endParaRPr lang="en-US" altLang="zh-CN"/>
          </a:p>
          <a:p>
            <a:r>
              <a:rPr lang="en-US" altLang="zh-CN"/>
              <a:t>3.Access to  functions according to roles</a:t>
            </a:r>
            <a:endParaRPr lang="en-US" altLang="zh-CN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i="1"/>
              <a:t>Student</a:t>
            </a:r>
            <a:endParaRPr lang="en-US" altLang="zh-CN" i="1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i="1"/>
              <a:t>MRC(Conference Coordinator)</a:t>
            </a:r>
            <a:endParaRPr lang="en-US" altLang="zh-CN" i="1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i="1"/>
              <a:t>Repair Staff</a:t>
            </a:r>
            <a:endParaRPr lang="en-US" altLang="zh-CN" i="1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i="1"/>
              <a:t>Tset Admin</a:t>
            </a:r>
            <a:endParaRPr lang="en-US" altLang="zh-CN" i="1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i="1"/>
              <a:t>Teacher</a:t>
            </a:r>
            <a:endParaRPr lang="en-US" altLang="zh-CN" i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r>
              <a:rPr lang="en-US" altLang="zh-CN" sz="3600" dirty="0">
                <a:sym typeface="+mn-ea"/>
              </a:rPr>
              <a:t>Software Design</a:t>
            </a:r>
            <a:endParaRPr lang="en-US" altLang="zh-CN" sz="3600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81710"/>
            <a:ext cx="4752975" cy="568960"/>
          </a:xfrm>
        </p:spPr>
        <p:txBody>
          <a:bodyPr/>
          <a:p>
            <a:pPr marL="0" lvl="1"/>
            <a:r>
              <a:rPr lang="en-US" altLang="zh-CN" sz="2800" dirty="0">
                <a:sym typeface="+mn-ea"/>
              </a:rPr>
              <a:t>Software Support Service</a:t>
            </a:r>
            <a:endParaRPr lang="en-US" altLang="zh-CN" sz="2800" dirty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D71D0367-918D-436A-A165-E28226D59459}" type="slidenum">
              <a:rPr lang="en-US" smtClean="0"/>
            </a:fld>
            <a:endParaRPr lang="en-US"/>
          </a:p>
        </p:txBody>
      </p:sp>
      <p:sp>
        <p:nvSpPr>
          <p:cNvPr id="5" name="矩形 4"/>
          <p:cNvSpPr/>
          <p:nvPr/>
        </p:nvSpPr>
        <p:spPr>
          <a:xfrm>
            <a:off x="4662170" y="1412875"/>
            <a:ext cx="2670175" cy="3651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Software Tools and Services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65555" y="2222500"/>
            <a:ext cx="1938020" cy="671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Database-Related Services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028565" y="2222500"/>
            <a:ext cx="1937385" cy="568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Web Navigation Services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9154795" y="2222500"/>
            <a:ext cx="1938020" cy="671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Other Supporting Services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91135" y="3197860"/>
            <a:ext cx="1938020" cy="4629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M</a:t>
            </a:r>
            <a:r>
              <a:rPr lang="en-US" altLang="zh-CN" sz="1400" b="1">
                <a:solidFill>
                  <a:schemeClr val="tx1"/>
                </a:solidFill>
              </a:rPr>
              <a:t>ySQL V5.7.27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27605" y="3197860"/>
            <a:ext cx="1938020" cy="4629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MyBatis-Plus+J</a:t>
            </a:r>
            <a:r>
              <a:rPr lang="en-US" altLang="zh-CN" sz="1400" b="1">
                <a:solidFill>
                  <a:schemeClr val="tx1"/>
                </a:solidFill>
              </a:rPr>
              <a:t>oin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378585" y="3869690"/>
            <a:ext cx="1938020" cy="462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Na</a:t>
            </a:r>
            <a:r>
              <a:rPr lang="en-US" altLang="zh-CN" sz="1400" b="1">
                <a:solidFill>
                  <a:schemeClr val="tx1"/>
                </a:solidFill>
              </a:rPr>
              <a:t>vicat V11.1.13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027930" y="3168650"/>
            <a:ext cx="1938020" cy="568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V</a:t>
            </a:r>
            <a:r>
              <a:rPr lang="en-US" altLang="zh-CN" sz="1400" b="1">
                <a:solidFill>
                  <a:schemeClr val="tx1"/>
                </a:solidFill>
              </a:rPr>
              <a:t>ue.js 3+Element Plus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027930" y="3869690"/>
            <a:ext cx="1938020" cy="462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Vue Router+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726680" y="3168650"/>
            <a:ext cx="1938020" cy="462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Spring B</a:t>
            </a:r>
            <a:r>
              <a:rPr lang="en-US" altLang="zh-CN" sz="1400" b="1">
                <a:solidFill>
                  <a:schemeClr val="tx1"/>
                </a:solidFill>
              </a:rPr>
              <a:t>oot Mail Service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060940" y="3168650"/>
            <a:ext cx="1938020" cy="492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Git+Coding.net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154795" y="3905885"/>
            <a:ext cx="1938020" cy="462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Maven V3.8.1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9" name="双大括号 18"/>
          <p:cNvSpPr/>
          <p:nvPr/>
        </p:nvSpPr>
        <p:spPr>
          <a:xfrm>
            <a:off x="0" y="2908935"/>
            <a:ext cx="4525645" cy="1594485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双大括号 19"/>
          <p:cNvSpPr/>
          <p:nvPr/>
        </p:nvSpPr>
        <p:spPr>
          <a:xfrm>
            <a:off x="4753610" y="2973070"/>
            <a:ext cx="2528570" cy="1513840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双大括号 20"/>
          <p:cNvSpPr/>
          <p:nvPr/>
        </p:nvSpPr>
        <p:spPr>
          <a:xfrm>
            <a:off x="7572375" y="2989580"/>
            <a:ext cx="4573905" cy="1304290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箭头连接符 22"/>
          <p:cNvCxnSpPr>
            <a:stCxn id="5" idx="2"/>
            <a:endCxn id="8" idx="0"/>
          </p:cNvCxnSpPr>
          <p:nvPr/>
        </p:nvCxnSpPr>
        <p:spPr>
          <a:xfrm>
            <a:off x="5997575" y="1778000"/>
            <a:ext cx="4126230" cy="4445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5" idx="2"/>
            <a:endCxn id="7" idx="0"/>
          </p:cNvCxnSpPr>
          <p:nvPr/>
        </p:nvCxnSpPr>
        <p:spPr>
          <a:xfrm>
            <a:off x="5997575" y="1778000"/>
            <a:ext cx="0" cy="4445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endCxn id="6" idx="0"/>
          </p:cNvCxnSpPr>
          <p:nvPr/>
        </p:nvCxnSpPr>
        <p:spPr>
          <a:xfrm flipH="1">
            <a:off x="2234565" y="1781175"/>
            <a:ext cx="3774440" cy="4413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4670" y="5307965"/>
            <a:ext cx="1115060" cy="116776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" y="4331970"/>
            <a:ext cx="1788795" cy="133731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465" y="4368165"/>
            <a:ext cx="1337310" cy="133731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4700" y="5513705"/>
            <a:ext cx="1345565" cy="100838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1670" y="4486910"/>
            <a:ext cx="1177290" cy="117729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535" y="4544695"/>
            <a:ext cx="2160270" cy="117157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6005" y="4602480"/>
            <a:ext cx="2304415" cy="67564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3225" y="5480685"/>
            <a:ext cx="1165225" cy="988695"/>
          </a:xfrm>
          <a:prstGeom prst="rect">
            <a:avLst/>
          </a:prstGeom>
        </p:spPr>
      </p:pic>
      <p:sp>
        <p:nvSpPr>
          <p:cNvPr id="34" name="双括号 33"/>
          <p:cNvSpPr/>
          <p:nvPr/>
        </p:nvSpPr>
        <p:spPr>
          <a:xfrm>
            <a:off x="77470" y="4390390"/>
            <a:ext cx="4088765" cy="219456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双括号 34"/>
          <p:cNvSpPr/>
          <p:nvPr/>
        </p:nvSpPr>
        <p:spPr>
          <a:xfrm>
            <a:off x="7766050" y="4465320"/>
            <a:ext cx="4339590" cy="2107565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双括号 35"/>
          <p:cNvSpPr/>
          <p:nvPr/>
        </p:nvSpPr>
        <p:spPr>
          <a:xfrm>
            <a:off x="4479925" y="4490720"/>
            <a:ext cx="3072765" cy="2082165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3981450" cy="1050925"/>
          </a:xfrm>
        </p:spPr>
        <p:txBody>
          <a:bodyPr/>
          <a:p>
            <a:r>
              <a:rPr lang="en-US" altLang="zh-CN" sz="3600" dirty="0">
                <a:sym typeface="+mn-ea"/>
              </a:rPr>
              <a:t>Software Design</a:t>
            </a:r>
            <a:endParaRPr lang="en-US" altLang="zh-CN" sz="3600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835025"/>
            <a:ext cx="7391400" cy="539750"/>
          </a:xfrm>
        </p:spPr>
        <p:txBody>
          <a:bodyPr/>
          <a:p>
            <a:pPr marL="0" lvl="1"/>
            <a:r>
              <a:rPr lang="en-US" altLang="zh-CN" sz="2800" dirty="0">
                <a:sym typeface="+mn-ea"/>
              </a:rPr>
              <a:t>Coding Structure and Convention--Part 1</a:t>
            </a:r>
            <a:endParaRPr lang="en-US" altLang="zh-CN" sz="2800" dirty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D71D0367-918D-436A-A165-E28226D59459}" type="slidenum">
              <a:rPr lang="en-US" smtClean="0"/>
            </a:fld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574040" y="1454785"/>
            <a:ext cx="3736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1: Project Directory Structure</a:t>
            </a:r>
            <a:endParaRPr lang="en-US" altLang="zh-CN" b="1"/>
          </a:p>
        </p:txBody>
      </p:sp>
      <p:sp>
        <p:nvSpPr>
          <p:cNvPr id="6" name="折角形 5"/>
          <p:cNvSpPr/>
          <p:nvPr/>
        </p:nvSpPr>
        <p:spPr>
          <a:xfrm>
            <a:off x="574040" y="2032000"/>
            <a:ext cx="2332990" cy="4013200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507490" y="2359025"/>
            <a:ext cx="13042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Backend</a:t>
            </a:r>
            <a:endParaRPr lang="en-US" altLang="zh-CN" sz="2000" b="1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305" y="2107565"/>
            <a:ext cx="845185" cy="902335"/>
          </a:xfrm>
          <a:prstGeom prst="rect">
            <a:avLst/>
          </a:prstGeom>
        </p:spPr>
      </p:pic>
      <p:sp>
        <p:nvSpPr>
          <p:cNvPr id="9" name="五边形 8"/>
          <p:cNvSpPr/>
          <p:nvPr/>
        </p:nvSpPr>
        <p:spPr>
          <a:xfrm>
            <a:off x="662305" y="3173730"/>
            <a:ext cx="1040765" cy="464185"/>
          </a:xfrm>
          <a:prstGeom prst="homePlat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controller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1" name="五边形 10"/>
          <p:cNvSpPr/>
          <p:nvPr/>
        </p:nvSpPr>
        <p:spPr>
          <a:xfrm>
            <a:off x="662305" y="3952875"/>
            <a:ext cx="1040765" cy="464185"/>
          </a:xfrm>
          <a:prstGeom prst="homePlat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service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3" name="五边形 12"/>
          <p:cNvSpPr/>
          <p:nvPr/>
        </p:nvSpPr>
        <p:spPr>
          <a:xfrm>
            <a:off x="662305" y="4732020"/>
            <a:ext cx="1040765" cy="464185"/>
          </a:xfrm>
          <a:prstGeom prst="homePlat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mapper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4" name="燕尾形 13"/>
          <p:cNvSpPr/>
          <p:nvPr/>
        </p:nvSpPr>
        <p:spPr>
          <a:xfrm>
            <a:off x="1753235" y="3173730"/>
            <a:ext cx="1098550" cy="476250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entity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6" name="燕尾形 15"/>
          <p:cNvSpPr/>
          <p:nvPr/>
        </p:nvSpPr>
        <p:spPr>
          <a:xfrm>
            <a:off x="1808480" y="3952875"/>
            <a:ext cx="1098550" cy="476250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config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7" name="燕尾形 16"/>
          <p:cNvSpPr/>
          <p:nvPr/>
        </p:nvSpPr>
        <p:spPr>
          <a:xfrm>
            <a:off x="1808480" y="4742815"/>
            <a:ext cx="1098550" cy="476250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utils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8" name="折角形 17"/>
          <p:cNvSpPr/>
          <p:nvPr/>
        </p:nvSpPr>
        <p:spPr>
          <a:xfrm>
            <a:off x="3155950" y="2032000"/>
            <a:ext cx="2332990" cy="4013200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089400" y="2359025"/>
            <a:ext cx="13042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Fronte</a:t>
            </a:r>
            <a:r>
              <a:rPr lang="en-US" altLang="zh-CN" sz="2000" b="1"/>
              <a:t>nd</a:t>
            </a:r>
            <a:endParaRPr lang="en-US" altLang="zh-CN" sz="2000" b="1"/>
          </a:p>
        </p:txBody>
      </p:sp>
      <p:sp>
        <p:nvSpPr>
          <p:cNvPr id="21" name="五边形 20"/>
          <p:cNvSpPr/>
          <p:nvPr/>
        </p:nvSpPr>
        <p:spPr>
          <a:xfrm>
            <a:off x="3244215" y="3173730"/>
            <a:ext cx="1040765" cy="464185"/>
          </a:xfrm>
          <a:prstGeom prst="homePlat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views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2" name="五边形 21"/>
          <p:cNvSpPr/>
          <p:nvPr/>
        </p:nvSpPr>
        <p:spPr>
          <a:xfrm>
            <a:off x="3203575" y="3952875"/>
            <a:ext cx="1187450" cy="464185"/>
          </a:xfrm>
          <a:prstGeom prst="homePlat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components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3" name="五边形 22"/>
          <p:cNvSpPr/>
          <p:nvPr/>
        </p:nvSpPr>
        <p:spPr>
          <a:xfrm>
            <a:off x="3244215" y="4732020"/>
            <a:ext cx="1040765" cy="464185"/>
          </a:xfrm>
          <a:prstGeom prst="homePlat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router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4" name="燕尾形 23"/>
          <p:cNvSpPr/>
          <p:nvPr/>
        </p:nvSpPr>
        <p:spPr>
          <a:xfrm>
            <a:off x="4246880" y="3173730"/>
            <a:ext cx="1186815" cy="476250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assest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5" name="燕尾形 24"/>
          <p:cNvSpPr/>
          <p:nvPr/>
        </p:nvSpPr>
        <p:spPr>
          <a:xfrm>
            <a:off x="4390390" y="3952875"/>
            <a:ext cx="1098550" cy="476250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store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6" name="燕尾形 25"/>
          <p:cNvSpPr/>
          <p:nvPr/>
        </p:nvSpPr>
        <p:spPr>
          <a:xfrm>
            <a:off x="4390390" y="4742815"/>
            <a:ext cx="1098550" cy="476250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api</a:t>
            </a:r>
            <a:endParaRPr lang="en-US" altLang="zh-CN" sz="1200">
              <a:solidFill>
                <a:schemeClr val="tx1"/>
              </a:solidFill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210" y="2169795"/>
            <a:ext cx="885190" cy="751205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5679440" y="1518285"/>
            <a:ext cx="3863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2: Method Invocation Convention</a:t>
            </a:r>
            <a:endParaRPr lang="en-US" altLang="zh-CN" b="1"/>
          </a:p>
        </p:txBody>
      </p:sp>
      <p:sp>
        <p:nvSpPr>
          <p:cNvPr id="29" name="文本框 28"/>
          <p:cNvSpPr txBox="1"/>
          <p:nvPr/>
        </p:nvSpPr>
        <p:spPr>
          <a:xfrm>
            <a:off x="5741670" y="1886585"/>
            <a:ext cx="399732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To promote loose coupling and enhance maintainability, the Controller layer invokes business logic strictly through Service interfaces.</a:t>
            </a:r>
            <a:endParaRPr lang="en-US" altLang="zh-CN" sz="1600"/>
          </a:p>
        </p:txBody>
      </p:sp>
      <p:cxnSp>
        <p:nvCxnSpPr>
          <p:cNvPr id="30" name="直接连接符 29"/>
          <p:cNvCxnSpPr/>
          <p:nvPr/>
        </p:nvCxnSpPr>
        <p:spPr>
          <a:xfrm>
            <a:off x="5628640" y="1405255"/>
            <a:ext cx="0" cy="49041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741035" y="3018790"/>
            <a:ext cx="3499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3: Naming Convention</a:t>
            </a:r>
            <a:endParaRPr lang="en-US" altLang="zh-CN" b="1"/>
          </a:p>
        </p:txBody>
      </p:sp>
      <p:sp>
        <p:nvSpPr>
          <p:cNvPr id="32" name="文本框 31"/>
          <p:cNvSpPr txBox="1"/>
          <p:nvPr/>
        </p:nvSpPr>
        <p:spPr>
          <a:xfrm>
            <a:off x="5741670" y="3442970"/>
            <a:ext cx="420179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</a:t>
            </a:r>
            <a:r>
              <a:rPr lang="zh-CN" altLang="en-US" sz="1600"/>
              <a:t>．</a:t>
            </a:r>
            <a:r>
              <a:rPr lang="en-US" altLang="zh-CN" sz="1600"/>
              <a:t>Methods and variables: camelCase (e.g., createBookingRequest)</a:t>
            </a:r>
            <a:endParaRPr lang="en-US" altLang="zh-CN" sz="1600"/>
          </a:p>
          <a:p>
            <a:r>
              <a:rPr lang="en-US" altLang="zh-CN" sz="1600"/>
              <a:t>2</a:t>
            </a:r>
            <a:r>
              <a:rPr lang="zh-CN" altLang="en-US" sz="1600"/>
              <a:t>．</a:t>
            </a:r>
            <a:r>
              <a:rPr lang="en-US" altLang="zh-CN" sz="1600"/>
              <a:t>Class names: PascalCase (e.g., BookingController)</a:t>
            </a:r>
            <a:endParaRPr lang="en-US" altLang="zh-CN" sz="1600"/>
          </a:p>
          <a:p>
            <a:r>
              <a:rPr lang="en-US" altLang="zh-CN" sz="1600"/>
              <a:t>3</a:t>
            </a:r>
            <a:r>
              <a:rPr lang="zh-CN" altLang="en-US" sz="1600"/>
              <a:t>．</a:t>
            </a:r>
            <a:r>
              <a:rPr lang="en-US" altLang="zh-CN" sz="1600"/>
              <a:t>Constants: UPPER_CASE with underscores (e.g., MAX_ROOM_CAPACITY)</a:t>
            </a:r>
            <a:endParaRPr lang="en-US" altLang="zh-CN" sz="1600"/>
          </a:p>
          <a:p>
            <a:r>
              <a:rPr lang="en-US" altLang="zh-CN" sz="1600"/>
              <a:t>4</a:t>
            </a:r>
            <a:r>
              <a:rPr lang="zh-CN" altLang="en-US" sz="1600"/>
              <a:t>．</a:t>
            </a:r>
            <a:r>
              <a:rPr lang="en-US" altLang="zh-CN" sz="1600"/>
              <a:t>Naming principle: all names are semantically meaningful and follow the "entity + action" pattern when applicable (e.g., getUserPermissionList)</a:t>
            </a:r>
            <a:endParaRPr lang="en-US" altLang="zh-CN" sz="1600"/>
          </a:p>
          <a:p>
            <a:r>
              <a:rPr lang="en-US" altLang="zh-CN" sz="1600"/>
              <a:t>5</a:t>
            </a:r>
            <a:r>
              <a:rPr lang="zh-CN" altLang="en-US" sz="1600"/>
              <a:t>．</a:t>
            </a:r>
            <a:r>
              <a:rPr lang="en-US" altLang="zh-CN" sz="1600"/>
              <a:t>Interface implementation classes: suffixed with Impl (e.g., RoomServiceImpl)</a:t>
            </a:r>
            <a:endParaRPr lang="en-US" altLang="zh-CN" sz="1600"/>
          </a:p>
        </p:txBody>
      </p:sp>
      <p:cxnSp>
        <p:nvCxnSpPr>
          <p:cNvPr id="35" name="直接连接符 34"/>
          <p:cNvCxnSpPr/>
          <p:nvPr/>
        </p:nvCxnSpPr>
        <p:spPr>
          <a:xfrm>
            <a:off x="5691505" y="2960370"/>
            <a:ext cx="47409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r>
              <a:rPr lang="en-US" altLang="zh-CN" sz="3600" dirty="0">
                <a:sym typeface="+mn-ea"/>
              </a:rPr>
              <a:t>Software Design</a:t>
            </a:r>
            <a:endParaRPr lang="en-US" altLang="zh-CN" sz="3600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60450"/>
            <a:ext cx="10515600" cy="565150"/>
          </a:xfrm>
        </p:spPr>
        <p:txBody>
          <a:bodyPr/>
          <a:p>
            <a:pPr marL="0" lvl="1"/>
            <a:r>
              <a:rPr lang="en-US" altLang="zh-CN" sz="2800" dirty="0">
                <a:sym typeface="+mn-ea"/>
              </a:rPr>
              <a:t>Coding Structure and Convention--Part 2</a:t>
            </a:r>
            <a:endParaRPr lang="en-US" altLang="zh-CN" sz="2800" dirty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D71D0367-918D-436A-A165-E28226D59459}" type="slidenum">
              <a:rPr lang="en-US" smtClean="0"/>
            </a:fld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0" y="1795145"/>
            <a:ext cx="4051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4: Code Maintenance Standards</a:t>
            </a:r>
            <a:endParaRPr lang="en-US" altLang="zh-CN" b="1"/>
          </a:p>
        </p:txBody>
      </p:sp>
      <p:sp>
        <p:nvSpPr>
          <p:cNvPr id="6" name="文本框 5"/>
          <p:cNvSpPr txBox="1"/>
          <p:nvPr/>
        </p:nvSpPr>
        <p:spPr>
          <a:xfrm>
            <a:off x="838200" y="2333625"/>
            <a:ext cx="4051300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</a:t>
            </a:r>
            <a:r>
              <a:rPr lang="zh-CN" altLang="en-US" sz="1600"/>
              <a:t>．</a:t>
            </a:r>
            <a:r>
              <a:rPr lang="en-US" altLang="zh-CN" sz="1600"/>
              <a:t>Developers are expected to write self-documenting code with concise and relevant inline comments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/>
              <a:t>2</a:t>
            </a:r>
            <a:r>
              <a:rPr lang="zh-CN" altLang="en-US" sz="1600"/>
              <a:t>．</a:t>
            </a:r>
            <a:r>
              <a:rPr lang="en-US" altLang="zh-CN" sz="1600"/>
              <a:t>Prior to any Git commits, unused code segments and outdated comments are cleaned up to preserve repository hygiene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/>
              <a:t>3</a:t>
            </a:r>
            <a:r>
              <a:rPr lang="zh-CN" altLang="en-US" sz="1600"/>
              <a:t>．</a:t>
            </a:r>
            <a:r>
              <a:rPr lang="en-US" altLang="zh-CN" sz="1600"/>
              <a:t>Code formatting follows IDE-configured style guides across the team to maintain structural consistency</a:t>
            </a:r>
            <a:endParaRPr lang="en-US" altLang="zh-CN" sz="1600"/>
          </a:p>
        </p:txBody>
      </p:sp>
      <p:sp>
        <p:nvSpPr>
          <p:cNvPr id="7" name="文本框 6"/>
          <p:cNvSpPr txBox="1"/>
          <p:nvPr/>
        </p:nvSpPr>
        <p:spPr>
          <a:xfrm>
            <a:off x="5516245" y="1795145"/>
            <a:ext cx="5003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5: Task Management and Code Completion</a:t>
            </a:r>
            <a:endParaRPr lang="en-US" altLang="zh-CN" b="1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6580" y="2343150"/>
            <a:ext cx="5300980" cy="19799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656580" y="4502785"/>
            <a:ext cx="487934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Unfinished features and pending implementations are not marked with inline TODOs. Instead, we adopted a structured task-tracking workflow using Coding.net’s Scrum board and Wiki documentation. </a:t>
            </a:r>
            <a:endParaRPr lang="en-US" altLang="zh-CN" sz="1600"/>
          </a:p>
        </p:txBody>
      </p:sp>
      <p:cxnSp>
        <p:nvCxnSpPr>
          <p:cNvPr id="10" name="直接连接符 9"/>
          <p:cNvCxnSpPr/>
          <p:nvPr/>
        </p:nvCxnSpPr>
        <p:spPr>
          <a:xfrm>
            <a:off x="5104765" y="1706245"/>
            <a:ext cx="0" cy="41929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r>
              <a:rPr lang="en-US" altLang="zh-CN" sz="3600" dirty="0">
                <a:sym typeface="+mn-ea"/>
              </a:rPr>
              <a:t>Software Design</a:t>
            </a:r>
            <a:endParaRPr lang="en-US" altLang="zh-CN" sz="3600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91870"/>
            <a:ext cx="8681085" cy="593090"/>
          </a:xfrm>
        </p:spPr>
        <p:txBody>
          <a:bodyPr/>
          <a:p>
            <a:pPr marL="0" lvl="1"/>
            <a:r>
              <a:rPr lang="en-US" altLang="zh-CN" sz="2800" dirty="0">
                <a:sym typeface="+mn-ea"/>
              </a:rPr>
              <a:t>Software Configuration and Production Environmen </a:t>
            </a:r>
            <a:endParaRPr lang="en-US" altLang="zh-CN" sz="2800" dirty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415" y="1402715"/>
            <a:ext cx="3430905" cy="51473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084320" y="1847215"/>
            <a:ext cx="3430905" cy="4874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Development Environment</a:t>
            </a:r>
            <a:endParaRPr lang="en-US" altLang="zh-CN" b="1"/>
          </a:p>
          <a:p>
            <a:r>
              <a:rPr lang="en-US" altLang="zh-CN" sz="1400"/>
              <a:t>1: Local development with Vite hot reload and Maven build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zh-CN" b="1"/>
              <a:t>Server Deployment</a:t>
            </a:r>
            <a:endParaRPr lang="en-US" altLang="zh-CN" b="1"/>
          </a:p>
          <a:p>
            <a:r>
              <a:rPr lang="en-US" altLang="zh-CN" sz="1400"/>
              <a:t>1: Cloud server (Alibaba Cloud)</a:t>
            </a:r>
            <a:endParaRPr lang="en-US" altLang="zh-CN" sz="1400"/>
          </a:p>
          <a:p>
            <a:r>
              <a:rPr lang="en-US" altLang="zh-CN" sz="1400"/>
              <a:t>2: Nginx reverse proxy</a:t>
            </a:r>
            <a:endParaRPr lang="en-US" altLang="zh-CN" sz="1400"/>
          </a:p>
          <a:p>
            <a:r>
              <a:rPr lang="en-US" altLang="zh-CN" sz="1400"/>
              <a:t>3: Node.js version: 18.20.8</a:t>
            </a:r>
            <a:endParaRPr lang="en-US" altLang="zh-CN" sz="1400"/>
          </a:p>
          <a:p>
            <a:endParaRPr lang="en-US" altLang="zh-CN"/>
          </a:p>
          <a:p>
            <a:r>
              <a:rPr lang="en-US" altLang="zh-CN" b="1"/>
              <a:t>Frontend Deployment</a:t>
            </a:r>
            <a:endParaRPr lang="en-US" altLang="zh-CN" b="1"/>
          </a:p>
          <a:p>
            <a:r>
              <a:rPr lang="en-US" altLang="zh-CN" sz="1400"/>
              <a:t>1: Deployed to the dist directory on the cloud server</a:t>
            </a:r>
            <a:endParaRPr lang="en-US" altLang="zh-CN" sz="1400"/>
          </a:p>
          <a:p>
            <a:endParaRPr lang="en-US" altLang="zh-CN" sz="1400" b="1"/>
          </a:p>
          <a:p>
            <a:r>
              <a:rPr lang="en-US" altLang="zh-CN" b="1"/>
              <a:t>Backend Deployment</a:t>
            </a:r>
            <a:endParaRPr lang="en-US" altLang="zh-CN" b="1"/>
          </a:p>
          <a:p>
            <a:r>
              <a:rPr lang="en-US" altLang="zh-CN" sz="1400"/>
              <a:t>1: Packaged as a JAR file and run as an independent Spring Boot application</a:t>
            </a:r>
            <a:endParaRPr lang="en-US" altLang="zh-CN" sz="1400"/>
          </a:p>
        </p:txBody>
      </p:sp>
      <p:sp>
        <p:nvSpPr>
          <p:cNvPr id="7" name="文本框 6"/>
          <p:cNvSpPr txBox="1"/>
          <p:nvPr/>
        </p:nvSpPr>
        <p:spPr>
          <a:xfrm>
            <a:off x="7654290" y="1847215"/>
            <a:ext cx="387032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Frontend L</a:t>
            </a:r>
            <a:r>
              <a:rPr lang="en-US" altLang="zh-CN" b="1"/>
              <a:t>anguage</a:t>
            </a:r>
            <a:endParaRPr lang="en-US" altLang="zh-CN" b="1"/>
          </a:p>
          <a:p>
            <a:r>
              <a:rPr lang="en-US" altLang="zh-CN" sz="1400"/>
              <a:t>1: HTML &amp; CSS – Basic page structure and styling</a:t>
            </a:r>
            <a:endParaRPr lang="en-US" altLang="zh-CN" sz="1400"/>
          </a:p>
          <a:p>
            <a:r>
              <a:rPr lang="en-US" altLang="zh-CN" sz="1400"/>
              <a:t>2: JavaScript – Interactive functionality</a:t>
            </a:r>
            <a:endParaRPr lang="en-US" altLang="zh-CN" sz="1400"/>
          </a:p>
          <a:p>
            <a:r>
              <a:rPr lang="en-US" altLang="zh-CN" sz="1400"/>
              <a:t>3: TypeScript – Enhances code robustness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zh-CN" b="1"/>
              <a:t>Backend L</a:t>
            </a:r>
            <a:r>
              <a:rPr lang="en-US" altLang="zh-CN" b="1"/>
              <a:t>anguage</a:t>
            </a:r>
            <a:endParaRPr lang="en-US" altLang="zh-CN" b="1"/>
          </a:p>
          <a:p>
            <a:r>
              <a:rPr lang="en-US" altLang="zh-CN" sz="1400"/>
              <a:t>1: Java 17 (v17.0.14)</a:t>
            </a:r>
            <a:endParaRPr lang="en-US" altLang="zh-CN"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226060"/>
            <a:ext cx="10515600" cy="1325563"/>
          </a:xfrm>
        </p:spPr>
        <p:txBody>
          <a:bodyPr/>
          <a:p>
            <a:r>
              <a:rPr lang="en-US" altLang="zh-CN" dirty="0">
                <a:sym typeface="+mn-ea"/>
              </a:rPr>
              <a:t>Software Testing-</a:t>
            </a:r>
            <a:r>
              <a:rPr lang="en-US" altLang="zh-CN">
                <a:sym typeface="+mn-ea"/>
              </a:rPr>
              <a:t>Overview</a:t>
            </a:r>
            <a:endParaRPr lang="zh-CN" altLang="en-US" b="0"/>
          </a:p>
        </p:txBody>
      </p:sp>
      <p:pic>
        <p:nvPicPr>
          <p:cNvPr id="5" name="内容占位符 4" descr="Test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28090" y="708025"/>
            <a:ext cx="2967355" cy="555942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7" name="图片 6" descr="Test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085" y="680720"/>
            <a:ext cx="3826510" cy="55867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446145" y="617982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>
                <a:sym typeface="+mn-ea"/>
              </a:rPr>
              <a:t>Test Results : Pass</a:t>
            </a:r>
            <a:endParaRPr lang="en-US" altLang="zh-CN" sz="2800" b="1"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r>
              <a:rPr lang="en-US" altLang="zh-CN" sz="3600" dirty="0">
                <a:sym typeface="+mn-ea"/>
              </a:rPr>
              <a:t>Software Testing-</a:t>
            </a:r>
            <a:r>
              <a:rPr lang="en-US" altLang="zh-CN" sz="3600">
                <a:sym typeface="+mn-ea"/>
              </a:rPr>
              <a:t>Unit Testing-Register</a:t>
            </a:r>
            <a:endParaRPr lang="en-US" altLang="zh-CN" sz="3600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D71D0367-918D-436A-A165-E28226D59459}" type="slidenum">
              <a:rPr lang="en-US" smtClean="0"/>
            </a:fld>
            <a:endParaRPr lang="en-US"/>
          </a:p>
        </p:txBody>
      </p:sp>
      <p:sp>
        <p:nvSpPr>
          <p:cNvPr id="8" name="文本框 7"/>
          <p:cNvSpPr txBox="1"/>
          <p:nvPr/>
        </p:nvSpPr>
        <p:spPr>
          <a:xfrm>
            <a:off x="7533005" y="2593340"/>
            <a:ext cx="3211830" cy="7194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b="1">
                <a:sym typeface="+mn-ea"/>
              </a:rPr>
              <a:t>Framework: </a:t>
            </a:r>
            <a:r>
              <a:rPr lang="en-US" altLang="zh-CN">
                <a:sym typeface="+mn-ea"/>
              </a:rPr>
              <a:t>Junit</a:t>
            </a:r>
            <a:endParaRPr lang="en-US" altLang="zh-CN">
              <a:sym typeface="+mn-ea"/>
            </a:endParaRPr>
          </a:p>
          <a:p>
            <a:r>
              <a:rPr lang="en-US" altLang="zh-CN" b="1">
                <a:sym typeface="+mn-ea"/>
              </a:rPr>
              <a:t>Simulation tool</a:t>
            </a:r>
            <a:r>
              <a:rPr lang="en-US" altLang="zh-CN">
                <a:sym typeface="+mn-ea"/>
              </a:rPr>
              <a:t>: Mockito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32180" y="4678045"/>
            <a:ext cx="31057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ym typeface="+mn-ea"/>
              </a:rPr>
              <a:t>Test Result: </a:t>
            </a:r>
            <a:endParaRPr lang="en-US" altLang="zh-CN">
              <a:sym typeface="+mn-ea"/>
            </a:endParaRPr>
          </a:p>
        </p:txBody>
      </p:sp>
      <p:pic>
        <p:nvPicPr>
          <p:cNvPr id="5" name="图片 4" descr="Test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305" y="1325880"/>
            <a:ext cx="5521325" cy="3419475"/>
          </a:xfrm>
          <a:prstGeom prst="rect">
            <a:avLst/>
          </a:prstGeom>
        </p:spPr>
      </p:pic>
      <p:pic>
        <p:nvPicPr>
          <p:cNvPr id="6" name="图片 5" descr="Unit test 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55" y="5046345"/>
            <a:ext cx="10915015" cy="9328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32180" y="957580"/>
            <a:ext cx="13093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ym typeface="+mn-ea"/>
              </a:rPr>
              <a:t>Test C</a:t>
            </a:r>
            <a:r>
              <a:rPr lang="en-US" altLang="zh-CN" b="1">
                <a:sym typeface="+mn-ea"/>
              </a:rPr>
              <a:t>ode: 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1229340" cy="1325880"/>
          </a:xfrm>
        </p:spPr>
        <p:txBody>
          <a:bodyPr/>
          <a:p>
            <a:r>
              <a:rPr lang="en-US" altLang="zh-CN" sz="3600" dirty="0">
                <a:sym typeface="+mn-ea"/>
              </a:rPr>
              <a:t>Software Testing-</a:t>
            </a:r>
            <a:r>
              <a:rPr lang="en-US" altLang="zh-CN" sz="3600" dirty="0">
                <a:sym typeface="+mn-ea"/>
              </a:rPr>
              <a:t>Integration Testing-Create new booking</a:t>
            </a:r>
            <a:endParaRPr lang="en-US" altLang="zh-CN" sz="3600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46480"/>
            <a:ext cx="1700530" cy="42799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sz="1800" b="1">
                <a:sym typeface="+mn-ea"/>
              </a:rPr>
              <a:t>Test Code:</a:t>
            </a:r>
            <a:endParaRPr lang="en-US" altLang="zh-CN" sz="1800" b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D71D0367-918D-436A-A165-E28226D59459}" type="slidenum">
              <a:rPr lang="en-US" smtClean="0"/>
            </a:fld>
            <a:endParaRPr lang="en-US"/>
          </a:p>
        </p:txBody>
      </p:sp>
      <p:sp>
        <p:nvSpPr>
          <p:cNvPr id="10" name="文本框 9"/>
          <p:cNvSpPr txBox="1"/>
          <p:nvPr/>
        </p:nvSpPr>
        <p:spPr>
          <a:xfrm>
            <a:off x="9507855" y="29857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38200" y="4323080"/>
            <a:ext cx="37268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ym typeface="+mn-ea"/>
              </a:rPr>
              <a:t>Test Result: </a:t>
            </a:r>
            <a:endParaRPr lang="en-US" altLang="zh-CN"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09690" y="2500630"/>
            <a:ext cx="55657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 Framework:  </a:t>
            </a:r>
            <a:r>
              <a:rPr lang="en-US" altLang="zh-CN"/>
              <a:t>JUni</a:t>
            </a:r>
            <a:r>
              <a:rPr lang="en-US" altLang="zh-CN"/>
              <a:t>t, Spring Test </a:t>
            </a:r>
            <a:endParaRPr lang="en-US" altLang="zh-CN"/>
          </a:p>
          <a:p>
            <a:r>
              <a:rPr lang="en-US" altLang="zh-CN" b="1">
                <a:sym typeface="+mn-ea"/>
              </a:rPr>
              <a:t> Simulation tool:  </a:t>
            </a:r>
            <a:r>
              <a:rPr lang="en-US" altLang="zh-CN"/>
              <a:t>MockMvc, ObjectMapper</a:t>
            </a:r>
            <a:endParaRPr lang="zh-CN" altLang="en-US"/>
          </a:p>
        </p:txBody>
      </p:sp>
      <p:pic>
        <p:nvPicPr>
          <p:cNvPr id="6" name="图片 5" descr="Test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505" y="1407160"/>
            <a:ext cx="4145915" cy="2994660"/>
          </a:xfrm>
          <a:prstGeom prst="rect">
            <a:avLst/>
          </a:prstGeom>
        </p:spPr>
      </p:pic>
      <p:pic>
        <p:nvPicPr>
          <p:cNvPr id="5" name="图片 4" descr="Integration test 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505" y="4691380"/>
            <a:ext cx="8083550" cy="188531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r>
              <a:rPr lang="en-US" altLang="zh-CN" sz="3600" dirty="0">
                <a:sym typeface="+mn-ea"/>
              </a:rPr>
              <a:t>Software Testing</a:t>
            </a:r>
            <a:endParaRPr lang="en-US" altLang="zh-CN" sz="3600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89965"/>
            <a:ext cx="3829050" cy="515620"/>
          </a:xfrm>
        </p:spPr>
        <p:txBody>
          <a:bodyPr/>
          <a:p>
            <a:pPr marL="0" lvl="1"/>
            <a:r>
              <a:rPr lang="en-US" altLang="zh-CN" sz="2800" dirty="0">
                <a:sym typeface="+mn-ea"/>
              </a:rPr>
              <a:t>Acceptance Testing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7" name="图片 6" descr="U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230" y="3301365"/>
            <a:ext cx="10043795" cy="3029585"/>
          </a:xfrm>
          <a:prstGeom prst="rect">
            <a:avLst/>
          </a:prstGeom>
        </p:spPr>
      </p:pic>
      <p:sp>
        <p:nvSpPr>
          <p:cNvPr id="8" name="内容占位符 2"/>
          <p:cNvSpPr>
            <a:spLocks noGrp="1"/>
          </p:cNvSpPr>
          <p:nvPr/>
        </p:nvSpPr>
        <p:spPr>
          <a:xfrm>
            <a:off x="902970" y="2908935"/>
            <a:ext cx="5048885" cy="3670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US" altLang="zh-CN" sz="2000" b="1"/>
              <a:t>User Interface</a:t>
            </a:r>
            <a:endParaRPr lang="en-US" altLang="zh-CN" sz="2000" b="1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902970" y="1449070"/>
            <a:ext cx="8164195" cy="3409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buClrTx/>
              <a:buSzTx/>
              <a:buNone/>
            </a:pPr>
            <a:r>
              <a:rPr lang="en-US" altLang="zh-CN" sz="2000" b="1"/>
              <a:t>PBI-032 Users cannot book for more than 8 hours</a:t>
            </a:r>
            <a:endParaRPr lang="en-US" altLang="zh-CN" sz="2000" b="1"/>
          </a:p>
        </p:txBody>
      </p:sp>
      <p:pic>
        <p:nvPicPr>
          <p:cNvPr id="11" name="图片 10" descr="屏幕截图 2025-04-24 0329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1913255"/>
            <a:ext cx="10092055" cy="8407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URL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96385" y="3042285"/>
            <a:ext cx="4720590" cy="629285"/>
          </a:xfrm>
        </p:spPr>
        <p:txBody>
          <a:bodyPr/>
          <a:p>
            <a:pPr marL="0" indent="0">
              <a:buNone/>
            </a:pPr>
            <a:r>
              <a:rPr lang="en-US" altLang="zh-CN"/>
              <a:t>http://121.43.36.102/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D71D0367-918D-436A-A165-E28226D5945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2209800" y="233621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6000" b="1" cap="all" dirty="0">
                <a:solidFill>
                  <a:srgbClr val="000044"/>
                </a:solidFill>
                <a:latin typeface="Calibri" panose="020F0502020204030204"/>
                <a:cs typeface="Calibri" panose="020F0502020204030204"/>
              </a:rPr>
              <a:t>THANK YOU</a:t>
            </a:r>
            <a:endParaRPr lang="en-GB" sz="6000" b="1" cap="all" spc="300" dirty="0">
              <a:solidFill>
                <a:srgbClr val="000044"/>
              </a:solidFill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7628" y="5296887"/>
            <a:ext cx="4736744" cy="100587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0367-918D-436A-A165-E28226D5945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7.25,&quot;left&quot;:68.1,&quot;top&quot;:132.1,&quot;width&quot;:784.25}"/>
</p:tagLst>
</file>

<file path=ppt/tags/tag2.xml><?xml version="1.0" encoding="utf-8"?>
<p:tagLst xmlns:p="http://schemas.openxmlformats.org/presentationml/2006/main">
  <p:tag name="KSO_WM_DIAGRAM_VIRTUALLY_FRAME" val="{&quot;height&quot;:377.25,&quot;left&quot;:68.1,&quot;top&quot;:132.1,&quot;width&quot;:784.25}"/>
</p:tagLst>
</file>

<file path=ppt/tags/tag3.xml><?xml version="1.0" encoding="utf-8"?>
<p:tagLst xmlns:p="http://schemas.openxmlformats.org/presentationml/2006/main">
  <p:tag name="KSO_WM_DIAGRAM_VIRTUALLY_FRAME" val="{&quot;height&quot;:377.25,&quot;left&quot;:68.1,&quot;top&quot;:132.1,&quot;width&quot;:784.25}"/>
</p:tagLst>
</file>

<file path=ppt/tags/tag4.xml><?xml version="1.0" encoding="utf-8"?>
<p:tagLst xmlns:p="http://schemas.openxmlformats.org/presentationml/2006/main">
  <p:tag name="KSO_WM_DIAGRAM_VIRTUALLY_FRAME" val="{&quot;height&quot;:377.25,&quot;left&quot;:68.1,&quot;top&quot;:132.1,&quot;width&quot;:784.25}"/>
</p:tagLst>
</file>

<file path=ppt/tags/tag5.xml><?xml version="1.0" encoding="utf-8"?>
<p:tagLst xmlns:p="http://schemas.openxmlformats.org/presentationml/2006/main">
  <p:tag name="KSO_WM_DIAGRAM_VIRTUALLY_FRAME" val="{&quot;height&quot;:377.25,&quot;left&quot;:68.1,&quot;top&quot;:132.1,&quot;width&quot;:784.25}"/>
</p:tagLst>
</file>

<file path=ppt/tags/tag6.xml><?xml version="1.0" encoding="utf-8"?>
<p:tagLst xmlns:p="http://schemas.openxmlformats.org/presentationml/2006/main">
  <p:tag name="KSO_WM_DIAGRAM_VIRTUALLY_FRAME" val="{&quot;height&quot;:377.25,&quot;left&quot;:68.1,&quot;top&quot;:132.1,&quot;width&quot;:784.25}"/>
</p:tagLst>
</file>

<file path=ppt/tags/tag7.xml><?xml version="1.0" encoding="utf-8"?>
<p:tagLst xmlns:p="http://schemas.openxmlformats.org/presentationml/2006/main">
  <p:tag name="TABLE_ENDDRAG_ORIGIN_RECT" val="492*390"/>
  <p:tag name="TABLE_ENDDRAG_RECT" val="437*81*492*390"/>
</p:tagLst>
</file>

<file path=ppt/theme/theme1.xml><?xml version="1.0" encoding="utf-8"?>
<a:theme xmlns:a="http://schemas.openxmlformats.org/drawingml/2006/main" name="XJTLU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XJTLU THEME</Template>
  <TotalTime>0</TotalTime>
  <Words>7665</Words>
  <Application>WPS 文字</Application>
  <PresentationFormat>Widescreen</PresentationFormat>
  <Paragraphs>453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9" baseType="lpstr">
      <vt:lpstr>Arial</vt:lpstr>
      <vt:lpstr>宋体</vt:lpstr>
      <vt:lpstr>Wingdings</vt:lpstr>
      <vt:lpstr>Calibri</vt:lpstr>
      <vt:lpstr>Helvetica Neue</vt:lpstr>
      <vt:lpstr>Calibri Light</vt:lpstr>
      <vt:lpstr>微软雅黑</vt:lpstr>
      <vt:lpstr>汉仪旗黑</vt:lpstr>
      <vt:lpstr>宋体</vt:lpstr>
      <vt:lpstr>Arial Unicode MS</vt:lpstr>
      <vt:lpstr>等线</vt:lpstr>
      <vt:lpstr>汉仪中等线KW</vt:lpstr>
      <vt:lpstr>汉仪书宋二KW</vt:lpstr>
      <vt:lpstr>Calibri</vt:lpstr>
      <vt:lpstr>等线 Light</vt:lpstr>
      <vt:lpstr>XJTLU THEME</vt:lpstr>
      <vt:lpstr>CPT202 Software Engineering Group Project</vt:lpstr>
      <vt:lpstr>Content：</vt:lpstr>
      <vt:lpstr>Project Background</vt:lpstr>
      <vt:lpstr>Project Background</vt:lpstr>
      <vt:lpstr>Project Background</vt:lpstr>
      <vt:lpstr>Unique advantages</vt:lpstr>
      <vt:lpstr>Project Background</vt:lpstr>
      <vt:lpstr>Architectural Design</vt:lpstr>
      <vt:lpstr>Architectural Design</vt:lpstr>
      <vt:lpstr>Architectural Design</vt:lpstr>
      <vt:lpstr>Architectural Design</vt:lpstr>
      <vt:lpstr>Software Design</vt:lpstr>
      <vt:lpstr>Software Design</vt:lpstr>
      <vt:lpstr>Software Design</vt:lpstr>
      <vt:lpstr>Software Design</vt:lpstr>
      <vt:lpstr>Software Design</vt:lpstr>
      <vt:lpstr>Software Design</vt:lpstr>
      <vt:lpstr>PowerPoint 演示文稿</vt:lpstr>
      <vt:lpstr>Software Testing-Unit Testing-Register</vt:lpstr>
      <vt:lpstr>Software Testing-Integration Testing-Create new booking</vt:lpstr>
      <vt:lpstr>Software Testing</vt:lpstr>
      <vt:lpstr>URL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Feng Cao</dc:creator>
  <cp:lastModifiedBy>果果</cp:lastModifiedBy>
  <cp:revision>68</cp:revision>
  <dcterms:created xsi:type="dcterms:W3CDTF">2025-04-29T23:29:10Z</dcterms:created>
  <dcterms:modified xsi:type="dcterms:W3CDTF">2025-04-29T23:29:10Z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0x01010077258419C7884242A287075DD4CBA53F</vt:lpwstr>
  </property>
  <property fmtid="{D5CDD505-2E9C-101B-9397-08002B2CF9AE}" pid="3" name="Category">
    <vt:lpwstr/>
  </property>
  <property fmtid="{D5CDD505-2E9C-101B-9397-08002B2CF9AE}" pid="4" name="ICV">
    <vt:lpwstr>8467737751CC9DED1F961068E93EC9C7_43</vt:lpwstr>
  </property>
  <property fmtid="{D5CDD505-2E9C-101B-9397-08002B2CF9AE}" pid="5" name="KSOProductBuildVer">
    <vt:lpwstr>2052-7.3.1.8967</vt:lpwstr>
  </property>
</Properties>
</file>