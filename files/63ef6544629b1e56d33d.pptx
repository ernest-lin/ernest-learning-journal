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1966" r:id="rId3"/>
    <p:sldId id="1974" r:id="rId4"/>
    <p:sldId id="1973" r:id="rId5"/>
    <p:sldId id="1763" r:id="rId6"/>
    <p:sldId id="1960" r:id="rId7"/>
    <p:sldId id="1967" r:id="rId8"/>
    <p:sldId id="1979" r:id="rId9"/>
    <p:sldId id="1980" r:id="rId10"/>
    <p:sldId id="1981" r:id="rId11"/>
    <p:sldId id="1975" r:id="rId12"/>
    <p:sldId id="410" r:id="rId13"/>
    <p:sldId id="341" r:id="rId15"/>
    <p:sldId id="1976" r:id="rId16"/>
    <p:sldId id="313" r:id="rId17"/>
    <p:sldId id="1961" r:id="rId18"/>
    <p:sldId id="1969" r:id="rId19"/>
    <p:sldId id="1956" r:id="rId20"/>
    <p:sldId id="1957" r:id="rId21"/>
    <p:sldId id="1959" r:id="rId22"/>
    <p:sldId id="1970" r:id="rId23"/>
    <p:sldId id="1977" r:id="rId24"/>
    <p:sldId id="1978" r:id="rId25"/>
    <p:sldId id="1972" r:id="rId26"/>
    <p:sldId id="1971" r:id="rId2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9B19D"/>
    <a:srgbClr val="A50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70B415-187B-4CBF-8BD2-D9F86FBCB7E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26199A-B557-4304-9E05-7EAD19D9EB2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6739c040-1f6f-4cf9-848f-b325fa6fe4c5.source.5.zh-Hans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A1269-16D5-4FEC-A584-9E06A187EC8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cc37e974-8798-4f84-92a8-11158047d1af.source.3.zh-Hans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1E3519-AA41-4C8F-81B1-98F81BDCD1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6e146302-a49b-48b3-8c20-c2378a3245fc.source.3.zh-Hans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21BD0-176A-467E-9108-55B29045887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56C16-7096-4360-8E09-162FB3C3AD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21BD0-176A-467E-9108-55B29045887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56C16-7096-4360-8E09-162FB3C3AD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21BD0-176A-467E-9108-55B29045887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56C16-7096-4360-8E09-162FB3C3AD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21BD0-176A-467E-9108-55B29045887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56C16-7096-4360-8E09-162FB3C3AD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21BD0-176A-467E-9108-55B29045887B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56C16-7096-4360-8E09-162FB3C3AD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21BD0-176A-467E-9108-55B29045887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56C16-7096-4360-8E09-162FB3C3AD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21BD0-176A-467E-9108-55B29045887B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56C16-7096-4360-8E09-162FB3C3AD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21BD0-176A-467E-9108-55B29045887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56C16-7096-4360-8E09-162FB3C3AD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21BD0-176A-467E-9108-55B29045887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56C16-7096-4360-8E09-162FB3C3AD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21BD0-176A-467E-9108-55B29045887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56C16-7096-4360-8E09-162FB3C3AD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21BD0-176A-467E-9108-55B29045887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56C16-7096-4360-8E09-162FB3C3AD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C21BD0-176A-467E-9108-55B29045887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856C16-7096-4360-8E09-162FB3C3AD8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themeOverride" Target="../theme/themeOverride1.xml"/><Relationship Id="rId5" Type="http://schemas.openxmlformats.org/officeDocument/2006/relationships/image" Target="../media/image8.png"/><Relationship Id="rId4" Type="http://schemas.openxmlformats.org/officeDocument/2006/relationships/image" Target="../media/image3.png"/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3" Type="http://schemas.openxmlformats.org/officeDocument/2006/relationships/slideLayout" Target="../slideLayouts/slideLayout7.xml"/><Relationship Id="rId22" Type="http://schemas.openxmlformats.org/officeDocument/2006/relationships/image" Target="../media/image12.png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30.xml"/><Relationship Id="rId8" Type="http://schemas.openxmlformats.org/officeDocument/2006/relationships/tags" Target="../tags/tag29.xml"/><Relationship Id="rId7" Type="http://schemas.openxmlformats.org/officeDocument/2006/relationships/tags" Target="../tags/tag28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2" Type="http://schemas.openxmlformats.org/officeDocument/2006/relationships/slideLayout" Target="../slideLayouts/slideLayout6.xml"/><Relationship Id="rId11" Type="http://schemas.openxmlformats.org/officeDocument/2006/relationships/tags" Target="../tags/tag32.xml"/><Relationship Id="rId10" Type="http://schemas.openxmlformats.org/officeDocument/2006/relationships/tags" Target="../tags/tag31.xml"/><Relationship Id="rId1" Type="http://schemas.openxmlformats.org/officeDocument/2006/relationships/tags" Target="../tags/tag2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.xml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hemeOverride" Target="../theme/themeOverride3.xml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tags" Target="../tags/tag3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tags" Target="../tags/tag38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tags" Target="../tags/tag42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tags" Target="../tags/tag4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2192000" cy="6858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100000">
                  <a:srgbClr val="FAF5DB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</p:grpSp>
      <p:sp>
        <p:nvSpPr>
          <p:cNvPr id="4" name="Freeform 4"/>
          <p:cNvSpPr/>
          <p:nvPr/>
        </p:nvSpPr>
        <p:spPr>
          <a:xfrm>
            <a:off x="-1794567" y="4276601"/>
            <a:ext cx="4352921" cy="4346825"/>
          </a:xfrm>
          <a:custGeom>
            <a:avLst/>
            <a:gdLst/>
            <a:ahLst/>
            <a:cxnLst/>
            <a:rect l="l" t="t" r="r" b="b"/>
            <a:pathLst>
              <a:path w="6529382" h="6520237">
                <a:moveTo>
                  <a:pt x="0" y="0"/>
                </a:moveTo>
                <a:lnTo>
                  <a:pt x="6529382" y="0"/>
                </a:lnTo>
                <a:lnTo>
                  <a:pt x="6529382" y="6520237"/>
                </a:lnTo>
                <a:lnTo>
                  <a:pt x="0" y="6520237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795490" y="-1216540"/>
            <a:ext cx="3505504" cy="3511600"/>
          </a:xfrm>
          <a:custGeom>
            <a:avLst/>
            <a:gdLst/>
            <a:ahLst/>
            <a:cxnLst/>
            <a:rect l="l" t="t" r="r" b="b"/>
            <a:pathLst>
              <a:path w="5258256" h="5267400">
                <a:moveTo>
                  <a:pt x="0" y="0"/>
                </a:moveTo>
                <a:lnTo>
                  <a:pt x="5258255" y="0"/>
                </a:lnTo>
                <a:lnTo>
                  <a:pt x="5258255" y="5267400"/>
                </a:lnTo>
                <a:lnTo>
                  <a:pt x="0" y="526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0" name="Title 1"/>
          <p:cNvSpPr txBox="1"/>
          <p:nvPr/>
        </p:nvSpPr>
        <p:spPr>
          <a:xfrm>
            <a:off x="1593949" y="1274731"/>
            <a:ext cx="10858500" cy="198793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E-business analysis of Amazon</a:t>
            </a:r>
            <a:endParaRPr lang="en-US" sz="54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1" name="Subtitle 2"/>
          <p:cNvSpPr txBox="1"/>
          <p:nvPr/>
        </p:nvSpPr>
        <p:spPr>
          <a:xfrm>
            <a:off x="1396853" y="3604611"/>
            <a:ext cx="10858500" cy="280389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Shuxia.Zhong</a:t>
            </a:r>
            <a:r>
              <a:rPr lang="en-US" sz="24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(2254853)</a:t>
            </a:r>
            <a:endParaRPr lang="en-US" sz="24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2400" b="1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Yunqiu.Li</a:t>
            </a:r>
            <a:r>
              <a:rPr lang="en-US" sz="24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(2253494)</a:t>
            </a:r>
            <a:endParaRPr lang="en-US" sz="24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2400" b="1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Yihang.Xu</a:t>
            </a:r>
            <a:r>
              <a:rPr lang="en-US" sz="24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(2253841)</a:t>
            </a:r>
            <a:endParaRPr lang="en-US" sz="24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2400" b="1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Xinyuan.Zhang</a:t>
            </a:r>
            <a:r>
              <a:rPr lang="en-US" sz="24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(2255403)</a:t>
            </a:r>
            <a:endParaRPr lang="en-US" sz="24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2400" b="1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Nan.Lin</a:t>
            </a:r>
            <a:r>
              <a:rPr lang="en-US" sz="24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(2252173)</a:t>
            </a:r>
            <a:endParaRPr lang="en-US" sz="24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2400" b="1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Yida.Liu</a:t>
            </a:r>
            <a:r>
              <a:rPr lang="en-US" sz="24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(2251062)</a:t>
            </a:r>
            <a:endParaRPr lang="en-US" sz="24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endParaRPr lang="en-US" dirty="0"/>
          </a:p>
        </p:txBody>
      </p:sp>
      <p:sp>
        <p:nvSpPr>
          <p:cNvPr id="12" name="Title 1"/>
          <p:cNvSpPr txBox="1"/>
          <p:nvPr/>
        </p:nvSpPr>
        <p:spPr>
          <a:xfrm>
            <a:off x="1109473" y="2676146"/>
            <a:ext cx="2559898" cy="65100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Group 9</a:t>
            </a:r>
            <a:endParaRPr 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2045" y="2849396"/>
            <a:ext cx="3582728" cy="112109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5778" y="4312434"/>
            <a:ext cx="3582729" cy="201664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2192000" cy="6858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100000">
                  <a:srgbClr val="FAF5DB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</p:grpSp>
      <p:sp>
        <p:nvSpPr>
          <p:cNvPr id="4" name="Freeform 4"/>
          <p:cNvSpPr/>
          <p:nvPr/>
        </p:nvSpPr>
        <p:spPr>
          <a:xfrm>
            <a:off x="-1682137" y="4224527"/>
            <a:ext cx="4352921" cy="4346825"/>
          </a:xfrm>
          <a:custGeom>
            <a:avLst/>
            <a:gdLst/>
            <a:ahLst/>
            <a:cxnLst/>
            <a:rect l="l" t="t" r="r" b="b"/>
            <a:pathLst>
              <a:path w="6529382" h="6520237">
                <a:moveTo>
                  <a:pt x="0" y="0"/>
                </a:moveTo>
                <a:lnTo>
                  <a:pt x="6529382" y="0"/>
                </a:lnTo>
                <a:lnTo>
                  <a:pt x="6529382" y="6520237"/>
                </a:lnTo>
                <a:lnTo>
                  <a:pt x="0" y="6520237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834283" y="-1440367"/>
            <a:ext cx="3505504" cy="3511600"/>
          </a:xfrm>
          <a:custGeom>
            <a:avLst/>
            <a:gdLst/>
            <a:ahLst/>
            <a:cxnLst/>
            <a:rect l="l" t="t" r="r" b="b"/>
            <a:pathLst>
              <a:path w="5258256" h="5267400">
                <a:moveTo>
                  <a:pt x="0" y="0"/>
                </a:moveTo>
                <a:lnTo>
                  <a:pt x="5258255" y="0"/>
                </a:lnTo>
                <a:lnTo>
                  <a:pt x="5258255" y="5267400"/>
                </a:lnTo>
                <a:lnTo>
                  <a:pt x="0" y="526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文本框 6"/>
          <p:cNvSpPr txBox="1"/>
          <p:nvPr/>
        </p:nvSpPr>
        <p:spPr>
          <a:xfrm>
            <a:off x="324113" y="405046"/>
            <a:ext cx="24616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Content</a:t>
            </a:r>
            <a:endParaRPr lang="zh-CN" altLang="en-US" sz="40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5834" y="1305341"/>
            <a:ext cx="911350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zh-CN" sz="24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Case Description — Rufus</a:t>
            </a:r>
            <a:endParaRPr lang="en-US" altLang="zh-CN" sz="24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zh-CN" sz="24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Rufus Critical Analysis</a:t>
            </a:r>
            <a:endParaRPr lang="en-US" altLang="zh-CN" sz="24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zh-CN" sz="2400" b="1" dirty="0">
                <a:latin typeface="Times New Roman" panose="02020503050405090304" pitchFamily="18" charset="0"/>
                <a:ea typeface="等线" panose="02010600030101010101" pitchFamily="2" charset="-122"/>
                <a:cs typeface="Times New Roman" panose="02020503050405090304" pitchFamily="18" charset="0"/>
              </a:rPr>
              <a:t>Application of Rufus in HR of Amazon — </a:t>
            </a:r>
            <a:r>
              <a:rPr lang="en-US" altLang="zh-CN" sz="2400" b="1" dirty="0" err="1">
                <a:latin typeface="Times New Roman" panose="02020503050405090304" pitchFamily="18" charset="0"/>
                <a:ea typeface="等线" panose="02010600030101010101" pitchFamily="2" charset="-122"/>
                <a:cs typeface="Times New Roman" panose="02020503050405090304" pitchFamily="18" charset="0"/>
              </a:rPr>
              <a:t>Rufusy</a:t>
            </a:r>
            <a:endParaRPr lang="en-US" altLang="zh-CN" sz="2400" b="1" dirty="0">
              <a:latin typeface="Times New Roman" panose="02020503050405090304" pitchFamily="18" charset="0"/>
              <a:ea typeface="等线" panose="02010600030101010101" pitchFamily="2" charset="-122"/>
              <a:cs typeface="Times New Roman" panose="02020503050405090304" pitchFamily="18" charset="0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zh-CN" sz="2400" b="1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Rufusy</a:t>
            </a:r>
            <a:r>
              <a:rPr lang="en-US" altLang="zh-CN" sz="24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Critical Analysis</a:t>
            </a:r>
            <a:endParaRPr lang="en-US" altLang="zh-CN" sz="24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zh-CN" sz="24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Conclusion</a:t>
            </a:r>
            <a:endParaRPr lang="en-US" altLang="zh-CN" sz="24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endParaRPr lang="en-US" altLang="zh-CN" sz="1800" b="1" dirty="0">
              <a:latin typeface="Times New Roman Bold" panose="02020503050405090304" charset="0"/>
              <a:cs typeface="Times New Roman Bold" panose="02020503050405090304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CN" sz="1800" b="1" dirty="0">
              <a:latin typeface="Times New Roman" panose="02020503050405090304" pitchFamily="18" charset="0"/>
              <a:ea typeface="等线" panose="02010600030101010101" pitchFamily="2" charset="-122"/>
              <a:cs typeface="Times New Roman" panose="02020503050405090304" pitchFamily="18" charset="0"/>
            </a:endParaRPr>
          </a:p>
          <a:p>
            <a:endParaRPr lang="en-US" altLang="zh-CN" sz="18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endParaRPr lang="zh-CN" altLang="en-US" sz="18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2192000" cy="6858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100000">
                  <a:srgbClr val="FAF5DB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</p:grpSp>
      <p:sp>
        <p:nvSpPr>
          <p:cNvPr id="4" name="Freeform 4"/>
          <p:cNvSpPr/>
          <p:nvPr/>
        </p:nvSpPr>
        <p:spPr>
          <a:xfrm>
            <a:off x="-1682137" y="4224527"/>
            <a:ext cx="4352921" cy="4346825"/>
          </a:xfrm>
          <a:custGeom>
            <a:avLst/>
            <a:gdLst/>
            <a:ahLst/>
            <a:cxnLst/>
            <a:rect l="l" t="t" r="r" b="b"/>
            <a:pathLst>
              <a:path w="6529382" h="6520237">
                <a:moveTo>
                  <a:pt x="0" y="0"/>
                </a:moveTo>
                <a:lnTo>
                  <a:pt x="6529382" y="0"/>
                </a:lnTo>
                <a:lnTo>
                  <a:pt x="6529382" y="6520237"/>
                </a:lnTo>
                <a:lnTo>
                  <a:pt x="0" y="6520237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834283" y="-1440367"/>
            <a:ext cx="3505504" cy="3511600"/>
          </a:xfrm>
          <a:custGeom>
            <a:avLst/>
            <a:gdLst/>
            <a:ahLst/>
            <a:cxnLst/>
            <a:rect l="l" t="t" r="r" b="b"/>
            <a:pathLst>
              <a:path w="5258256" h="5267400">
                <a:moveTo>
                  <a:pt x="0" y="0"/>
                </a:moveTo>
                <a:lnTo>
                  <a:pt x="5258255" y="0"/>
                </a:lnTo>
                <a:lnTo>
                  <a:pt x="5258255" y="5267400"/>
                </a:lnTo>
                <a:lnTo>
                  <a:pt x="0" y="526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文本框 6"/>
          <p:cNvSpPr txBox="1"/>
          <p:nvPr/>
        </p:nvSpPr>
        <p:spPr>
          <a:xfrm>
            <a:off x="2195443" y="2644972"/>
            <a:ext cx="800431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6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Case Description</a:t>
            </a:r>
            <a:endParaRPr lang="zh-CN" altLang="en-US" sz="66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11729" y="2301036"/>
            <a:ext cx="2952062" cy="1078610"/>
            <a:chOff x="0" y="-38100"/>
            <a:chExt cx="1163798" cy="426117"/>
          </a:xfrm>
        </p:grpSpPr>
        <p:sp>
          <p:nvSpPr>
            <p:cNvPr id="3" name="Freeform 3"/>
            <p:cNvSpPr/>
            <p:nvPr/>
          </p:nvSpPr>
          <p:spPr>
            <a:xfrm>
              <a:off x="2445" y="0"/>
              <a:ext cx="1148687" cy="388017"/>
            </a:xfrm>
            <a:custGeom>
              <a:avLst/>
              <a:gdLst/>
              <a:ahLst/>
              <a:cxnLst/>
              <a:rect l="l" t="t" r="r" b="b"/>
              <a:pathLst>
                <a:path w="1163798" h="388017">
                  <a:moveTo>
                    <a:pt x="35041" y="0"/>
                  </a:moveTo>
                  <a:lnTo>
                    <a:pt x="1128757" y="0"/>
                  </a:lnTo>
                  <a:cubicBezTo>
                    <a:pt x="1138050" y="0"/>
                    <a:pt x="1146963" y="3692"/>
                    <a:pt x="1153534" y="10263"/>
                  </a:cubicBezTo>
                  <a:cubicBezTo>
                    <a:pt x="1160106" y="16835"/>
                    <a:pt x="1163798" y="25747"/>
                    <a:pt x="1163798" y="35041"/>
                  </a:cubicBezTo>
                  <a:lnTo>
                    <a:pt x="1163798" y="352976"/>
                  </a:lnTo>
                  <a:cubicBezTo>
                    <a:pt x="1163798" y="362270"/>
                    <a:pt x="1160106" y="371183"/>
                    <a:pt x="1153534" y="377754"/>
                  </a:cubicBezTo>
                  <a:cubicBezTo>
                    <a:pt x="1146963" y="384325"/>
                    <a:pt x="1138050" y="388017"/>
                    <a:pt x="1128757" y="388017"/>
                  </a:cubicBezTo>
                  <a:lnTo>
                    <a:pt x="35041" y="388017"/>
                  </a:lnTo>
                  <a:cubicBezTo>
                    <a:pt x="25747" y="388017"/>
                    <a:pt x="16835" y="384325"/>
                    <a:pt x="10263" y="377754"/>
                  </a:cubicBezTo>
                  <a:cubicBezTo>
                    <a:pt x="3692" y="371183"/>
                    <a:pt x="0" y="362270"/>
                    <a:pt x="0" y="352976"/>
                  </a:cubicBezTo>
                  <a:lnTo>
                    <a:pt x="0" y="35041"/>
                  </a:lnTo>
                  <a:cubicBezTo>
                    <a:pt x="0" y="25747"/>
                    <a:pt x="3692" y="16835"/>
                    <a:pt x="10263" y="10263"/>
                  </a:cubicBezTo>
                  <a:cubicBezTo>
                    <a:pt x="16835" y="3692"/>
                    <a:pt x="25747" y="0"/>
                    <a:pt x="3504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9F2C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163798" cy="42611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865"/>
                </a:lnSpc>
                <a:spcBef>
                  <a:spcPct val="0"/>
                </a:spcBef>
              </a:pPr>
              <a:endParaRPr sz="1200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07772" y="3533379"/>
            <a:ext cx="2945863" cy="1301405"/>
            <a:chOff x="0" y="-47625"/>
            <a:chExt cx="1208839" cy="473514"/>
          </a:xfrm>
        </p:grpSpPr>
        <p:sp>
          <p:nvSpPr>
            <p:cNvPr id="6" name="Freeform 6"/>
            <p:cNvSpPr/>
            <p:nvPr/>
          </p:nvSpPr>
          <p:spPr>
            <a:xfrm>
              <a:off x="8337" y="0"/>
              <a:ext cx="1200501" cy="425889"/>
            </a:xfrm>
            <a:custGeom>
              <a:avLst/>
              <a:gdLst/>
              <a:ahLst/>
              <a:cxnLst/>
              <a:rect l="l" t="t" r="r" b="b"/>
              <a:pathLst>
                <a:path w="1208839" h="425889">
                  <a:moveTo>
                    <a:pt x="33735" y="0"/>
                  </a:moveTo>
                  <a:lnTo>
                    <a:pt x="1175104" y="0"/>
                  </a:lnTo>
                  <a:cubicBezTo>
                    <a:pt x="1193735" y="0"/>
                    <a:pt x="1208839" y="15104"/>
                    <a:pt x="1208839" y="33735"/>
                  </a:cubicBezTo>
                  <a:lnTo>
                    <a:pt x="1208839" y="392153"/>
                  </a:lnTo>
                  <a:cubicBezTo>
                    <a:pt x="1208839" y="410785"/>
                    <a:pt x="1193735" y="425889"/>
                    <a:pt x="1175104" y="425889"/>
                  </a:cubicBezTo>
                  <a:lnTo>
                    <a:pt x="33735" y="425889"/>
                  </a:lnTo>
                  <a:cubicBezTo>
                    <a:pt x="24788" y="425889"/>
                    <a:pt x="16207" y="422334"/>
                    <a:pt x="9881" y="416008"/>
                  </a:cubicBezTo>
                  <a:cubicBezTo>
                    <a:pt x="3554" y="409681"/>
                    <a:pt x="0" y="401100"/>
                    <a:pt x="0" y="392153"/>
                  </a:cubicBezTo>
                  <a:lnTo>
                    <a:pt x="0" y="33735"/>
                  </a:lnTo>
                  <a:cubicBezTo>
                    <a:pt x="0" y="24788"/>
                    <a:pt x="3554" y="16207"/>
                    <a:pt x="9881" y="9881"/>
                  </a:cubicBezTo>
                  <a:cubicBezTo>
                    <a:pt x="16207" y="3554"/>
                    <a:pt x="24788" y="0"/>
                    <a:pt x="3373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9F2C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208839" cy="47351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5"/>
                </a:lnSpc>
                <a:spcBef>
                  <a:spcPct val="0"/>
                </a:spcBef>
              </a:pPr>
              <a:endParaRPr sz="1200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85800" y="1314281"/>
            <a:ext cx="2945863" cy="741551"/>
            <a:chOff x="0" y="0"/>
            <a:chExt cx="1163798" cy="29295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63798" cy="292958"/>
            </a:xfrm>
            <a:custGeom>
              <a:avLst/>
              <a:gdLst/>
              <a:ahLst/>
              <a:cxnLst/>
              <a:rect l="l" t="t" r="r" b="b"/>
              <a:pathLst>
                <a:path w="1163798" h="292958">
                  <a:moveTo>
                    <a:pt x="35041" y="0"/>
                  </a:moveTo>
                  <a:lnTo>
                    <a:pt x="1128757" y="0"/>
                  </a:lnTo>
                  <a:cubicBezTo>
                    <a:pt x="1138050" y="0"/>
                    <a:pt x="1146963" y="3692"/>
                    <a:pt x="1153534" y="10263"/>
                  </a:cubicBezTo>
                  <a:cubicBezTo>
                    <a:pt x="1160106" y="16835"/>
                    <a:pt x="1163798" y="25747"/>
                    <a:pt x="1163798" y="35041"/>
                  </a:cubicBezTo>
                  <a:lnTo>
                    <a:pt x="1163798" y="257917"/>
                  </a:lnTo>
                  <a:cubicBezTo>
                    <a:pt x="1163798" y="267211"/>
                    <a:pt x="1160106" y="276124"/>
                    <a:pt x="1153534" y="282695"/>
                  </a:cubicBezTo>
                  <a:cubicBezTo>
                    <a:pt x="1146963" y="289267"/>
                    <a:pt x="1138050" y="292958"/>
                    <a:pt x="1128757" y="292958"/>
                  </a:cubicBezTo>
                  <a:lnTo>
                    <a:pt x="35041" y="292958"/>
                  </a:lnTo>
                  <a:cubicBezTo>
                    <a:pt x="25747" y="292958"/>
                    <a:pt x="16835" y="289267"/>
                    <a:pt x="10263" y="282695"/>
                  </a:cubicBezTo>
                  <a:cubicBezTo>
                    <a:pt x="3692" y="276124"/>
                    <a:pt x="0" y="267211"/>
                    <a:pt x="0" y="257917"/>
                  </a:cubicBezTo>
                  <a:lnTo>
                    <a:pt x="0" y="35041"/>
                  </a:lnTo>
                  <a:cubicBezTo>
                    <a:pt x="0" y="25747"/>
                    <a:pt x="3692" y="16835"/>
                    <a:pt x="10263" y="10263"/>
                  </a:cubicBezTo>
                  <a:cubicBezTo>
                    <a:pt x="16835" y="3692"/>
                    <a:pt x="25747" y="0"/>
                    <a:pt x="35041" y="0"/>
                  </a:cubicBez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 w="190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 sz="1200" dirty="0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163798" cy="331058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865"/>
                </a:lnSpc>
                <a:spcBef>
                  <a:spcPct val="0"/>
                </a:spcBef>
              </a:pPr>
              <a:endParaRPr sz="1200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623069" y="1329056"/>
            <a:ext cx="2945863" cy="741551"/>
            <a:chOff x="0" y="0"/>
            <a:chExt cx="1163798" cy="29295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63798" cy="292958"/>
            </a:xfrm>
            <a:custGeom>
              <a:avLst/>
              <a:gdLst/>
              <a:ahLst/>
              <a:cxnLst/>
              <a:rect l="l" t="t" r="r" b="b"/>
              <a:pathLst>
                <a:path w="1163798" h="292958">
                  <a:moveTo>
                    <a:pt x="35041" y="0"/>
                  </a:moveTo>
                  <a:lnTo>
                    <a:pt x="1128757" y="0"/>
                  </a:lnTo>
                  <a:cubicBezTo>
                    <a:pt x="1138050" y="0"/>
                    <a:pt x="1146963" y="3692"/>
                    <a:pt x="1153534" y="10263"/>
                  </a:cubicBezTo>
                  <a:cubicBezTo>
                    <a:pt x="1160106" y="16835"/>
                    <a:pt x="1163798" y="25747"/>
                    <a:pt x="1163798" y="35041"/>
                  </a:cubicBezTo>
                  <a:lnTo>
                    <a:pt x="1163798" y="257917"/>
                  </a:lnTo>
                  <a:cubicBezTo>
                    <a:pt x="1163798" y="267211"/>
                    <a:pt x="1160106" y="276124"/>
                    <a:pt x="1153534" y="282695"/>
                  </a:cubicBezTo>
                  <a:cubicBezTo>
                    <a:pt x="1146963" y="289267"/>
                    <a:pt x="1138050" y="292958"/>
                    <a:pt x="1128757" y="292958"/>
                  </a:cubicBezTo>
                  <a:lnTo>
                    <a:pt x="35041" y="292958"/>
                  </a:lnTo>
                  <a:cubicBezTo>
                    <a:pt x="25747" y="292958"/>
                    <a:pt x="16835" y="289267"/>
                    <a:pt x="10263" y="282695"/>
                  </a:cubicBezTo>
                  <a:cubicBezTo>
                    <a:pt x="3692" y="276124"/>
                    <a:pt x="0" y="267211"/>
                    <a:pt x="0" y="257917"/>
                  </a:cubicBezTo>
                  <a:lnTo>
                    <a:pt x="0" y="35041"/>
                  </a:lnTo>
                  <a:cubicBezTo>
                    <a:pt x="0" y="25747"/>
                    <a:pt x="3692" y="16835"/>
                    <a:pt x="10263" y="10263"/>
                  </a:cubicBezTo>
                  <a:cubicBezTo>
                    <a:pt x="16835" y="3692"/>
                    <a:pt x="25747" y="0"/>
                    <a:pt x="35041" y="0"/>
                  </a:cubicBez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163798" cy="331058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865"/>
                </a:lnSpc>
                <a:spcBef>
                  <a:spcPct val="0"/>
                </a:spcBef>
              </a:pPr>
              <a:endParaRPr sz="1200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527211" y="1193881"/>
            <a:ext cx="2945863" cy="899309"/>
            <a:chOff x="0" y="-38100"/>
            <a:chExt cx="1163798" cy="355282"/>
          </a:xfrm>
        </p:grpSpPr>
        <p:sp>
          <p:nvSpPr>
            <p:cNvPr id="15" name="Freeform 15"/>
            <p:cNvSpPr/>
            <p:nvPr/>
          </p:nvSpPr>
          <p:spPr>
            <a:xfrm>
              <a:off x="0" y="24224"/>
              <a:ext cx="1163798" cy="292958"/>
            </a:xfrm>
            <a:custGeom>
              <a:avLst/>
              <a:gdLst/>
              <a:ahLst/>
              <a:cxnLst/>
              <a:rect l="l" t="t" r="r" b="b"/>
              <a:pathLst>
                <a:path w="1163798" h="292958">
                  <a:moveTo>
                    <a:pt x="35041" y="0"/>
                  </a:moveTo>
                  <a:lnTo>
                    <a:pt x="1128757" y="0"/>
                  </a:lnTo>
                  <a:cubicBezTo>
                    <a:pt x="1138050" y="0"/>
                    <a:pt x="1146963" y="3692"/>
                    <a:pt x="1153534" y="10263"/>
                  </a:cubicBezTo>
                  <a:cubicBezTo>
                    <a:pt x="1160106" y="16835"/>
                    <a:pt x="1163798" y="25747"/>
                    <a:pt x="1163798" y="35041"/>
                  </a:cubicBezTo>
                  <a:lnTo>
                    <a:pt x="1163798" y="257917"/>
                  </a:lnTo>
                  <a:cubicBezTo>
                    <a:pt x="1163798" y="267211"/>
                    <a:pt x="1160106" y="276124"/>
                    <a:pt x="1153534" y="282695"/>
                  </a:cubicBezTo>
                  <a:cubicBezTo>
                    <a:pt x="1146963" y="289267"/>
                    <a:pt x="1138050" y="292958"/>
                    <a:pt x="1128757" y="292958"/>
                  </a:cubicBezTo>
                  <a:lnTo>
                    <a:pt x="35041" y="292958"/>
                  </a:lnTo>
                  <a:cubicBezTo>
                    <a:pt x="25747" y="292958"/>
                    <a:pt x="16835" y="289267"/>
                    <a:pt x="10263" y="282695"/>
                  </a:cubicBezTo>
                  <a:cubicBezTo>
                    <a:pt x="3692" y="276124"/>
                    <a:pt x="0" y="267211"/>
                    <a:pt x="0" y="257917"/>
                  </a:cubicBezTo>
                  <a:lnTo>
                    <a:pt x="0" y="35041"/>
                  </a:lnTo>
                  <a:cubicBezTo>
                    <a:pt x="0" y="25747"/>
                    <a:pt x="3692" y="16835"/>
                    <a:pt x="10263" y="10263"/>
                  </a:cubicBezTo>
                  <a:cubicBezTo>
                    <a:pt x="16835" y="3692"/>
                    <a:pt x="25747" y="0"/>
                    <a:pt x="35041" y="0"/>
                  </a:cubicBez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 w="190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 sz="1200" dirty="0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163798" cy="331058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865"/>
                </a:lnSpc>
                <a:spcBef>
                  <a:spcPct val="0"/>
                </a:spcBef>
              </a:pPr>
              <a:endParaRPr sz="1200"/>
            </a:p>
          </p:txBody>
        </p:sp>
      </p:grpSp>
      <p:grpSp>
        <p:nvGrpSpPr>
          <p:cNvPr id="17" name="Group 17"/>
          <p:cNvGrpSpPr/>
          <p:nvPr/>
        </p:nvGrpSpPr>
        <p:grpSpPr>
          <a:xfrm rot="5228255">
            <a:off x="4012834" y="1556649"/>
            <a:ext cx="286553" cy="250733"/>
            <a:chOff x="0" y="0"/>
            <a:chExt cx="812800" cy="7112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9F2C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5"/>
                </a:lnSpc>
              </a:pPr>
              <a:endParaRPr sz="1200"/>
            </a:p>
          </p:txBody>
        </p:sp>
      </p:grpSp>
      <p:grpSp>
        <p:nvGrpSpPr>
          <p:cNvPr id="20" name="Group 20"/>
          <p:cNvGrpSpPr/>
          <p:nvPr/>
        </p:nvGrpSpPr>
        <p:grpSpPr>
          <a:xfrm rot="5228255">
            <a:off x="7918583" y="1556648"/>
            <a:ext cx="286553" cy="250733"/>
            <a:chOff x="0" y="0"/>
            <a:chExt cx="812800" cy="7112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9F2C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5"/>
                </a:lnSpc>
              </a:pPr>
              <a:endParaRPr sz="1200"/>
            </a:p>
          </p:txBody>
        </p:sp>
      </p:grpSp>
      <p:sp>
        <p:nvSpPr>
          <p:cNvPr id="25" name="Freeform 25"/>
          <p:cNvSpPr/>
          <p:nvPr/>
        </p:nvSpPr>
        <p:spPr>
          <a:xfrm>
            <a:off x="6393895" y="4664506"/>
            <a:ext cx="989256" cy="837993"/>
          </a:xfrm>
          <a:custGeom>
            <a:avLst/>
            <a:gdLst/>
            <a:ahLst/>
            <a:cxnLst/>
            <a:rect l="l" t="t" r="r" b="b"/>
            <a:pathLst>
              <a:path w="1618189" h="1383536">
                <a:moveTo>
                  <a:pt x="0" y="0"/>
                </a:moveTo>
                <a:lnTo>
                  <a:pt x="1618189" y="0"/>
                </a:lnTo>
                <a:lnTo>
                  <a:pt x="1618189" y="1383536"/>
                </a:lnTo>
                <a:lnTo>
                  <a:pt x="0" y="1383536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8480" b="-8480"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514546" y="432217"/>
            <a:ext cx="3937269" cy="4489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3600" b="1" dirty="0">
                <a:solidFill>
                  <a:srgbClr val="000000"/>
                </a:solidFill>
                <a:latin typeface="Times New Roman" panose="02020503050405090304" pitchFamily="18" charset="0"/>
                <a:ea typeface="Calibri" panose="020F0502020204030204" pitchFamily="34" charset="0"/>
                <a:cs typeface="Times New Roman" panose="02020503050405090304" pitchFamily="18" charset="0"/>
                <a:sym typeface="Cambria Bold"/>
              </a:rPr>
              <a:t>Case Description</a:t>
            </a:r>
            <a:endParaRPr lang="en-US" sz="3600" b="1" dirty="0">
              <a:solidFill>
                <a:srgbClr val="000000"/>
              </a:solidFill>
              <a:latin typeface="Times New Roman" panose="02020503050405090304" pitchFamily="18" charset="0"/>
              <a:ea typeface="Calibri" panose="020F0502020204030204" pitchFamily="34" charset="0"/>
              <a:cs typeface="Times New Roman" panose="02020503050405090304" pitchFamily="18" charset="0"/>
              <a:sym typeface="Cambria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813700" y="2538273"/>
            <a:ext cx="2673876" cy="700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mbria Bold"/>
              </a:rPr>
              <a:t>Generative AI Development</a:t>
            </a:r>
            <a:endParaRPr lang="en-US" sz="2000" b="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mbria Bold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587854" y="3676801"/>
            <a:ext cx="3173885" cy="1055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mbria Bold"/>
              </a:rPr>
              <a:t>Growing Demand for</a:t>
            </a:r>
            <a:endParaRPr lang="en-US" sz="2000" b="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mbria Bold"/>
            </a:endParaRP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mbria Bold"/>
              </a:rPr>
              <a:t> Intelligent Services</a:t>
            </a:r>
            <a:endParaRPr lang="en-US" sz="2000" b="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mbria Bold"/>
            </a:endParaRP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zh-CN" altLang="en-US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mbria Bold"/>
              </a:rPr>
              <a:t>         </a:t>
            </a:r>
            <a:r>
              <a:rPr lang="zh-CN" altLang="en-US" sz="16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mbria Bold"/>
              </a:rPr>
              <a:t>（</a:t>
            </a:r>
            <a:r>
              <a:rPr lang="en-US" altLang="zh-CN" sz="16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mbria Bold"/>
              </a:rPr>
              <a:t>Zaczkiewicz</a:t>
            </a:r>
            <a:r>
              <a:rPr lang="en-US" altLang="zh-CN" sz="16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mbria Bold"/>
              </a:rPr>
              <a:t>, 2024</a:t>
            </a:r>
            <a:r>
              <a:rPr lang="zh-CN" altLang="en-US" sz="16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mbria Bold"/>
              </a:rPr>
              <a:t>）</a:t>
            </a:r>
            <a:endParaRPr lang="en-US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mbria Bold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514546" y="1536819"/>
            <a:ext cx="3341902" cy="368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altLang="zh-C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思源黑体 Bold"/>
              </a:rPr>
              <a:t>Generative AI </a:t>
            </a:r>
            <a:endParaRPr lang="en-US" altLang="zh-CN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思源黑体 Bold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4950125" y="1536819"/>
            <a:ext cx="2276675" cy="368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思源黑体 Bold"/>
              </a:rPr>
              <a:t>E-</a:t>
            </a:r>
            <a:r>
              <a:rPr lang="en-US" altLang="zh-C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思源黑体 Bold"/>
              </a:rPr>
              <a:t>business</a:t>
            </a:r>
            <a:endParaRPr lang="en-US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思源黑体 Bold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8564854" y="1556394"/>
            <a:ext cx="2945863" cy="364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altLang="zh-C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思源黑体 Bold"/>
              </a:rPr>
              <a:t>Rufus 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思源黑体 Bold"/>
              </a:rPr>
              <a:t>Functions</a:t>
            </a:r>
            <a:endParaRPr lang="en-US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思源黑体 Bold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4899152" y="4697428"/>
            <a:ext cx="1503821" cy="6619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75"/>
              </a:lnSpc>
              <a:spcBef>
                <a:spcPct val="0"/>
              </a:spcBef>
            </a:pPr>
            <a:r>
              <a:rPr lang="en-US" sz="4055" dirty="0">
                <a:solidFill>
                  <a:srgbClr val="000000"/>
                </a:solidFill>
                <a:latin typeface="Berlin Sans FB Demi" panose="020E0802020502020306" pitchFamily="34" charset="0"/>
                <a:ea typeface="CAT Neuzeit"/>
                <a:cs typeface="CAT Neuzeit"/>
                <a:sym typeface="CAT Neuzeit"/>
              </a:rPr>
              <a:t>Rufus</a:t>
            </a:r>
            <a:endParaRPr lang="en-US" sz="4055" dirty="0">
              <a:solidFill>
                <a:srgbClr val="000000"/>
              </a:solidFill>
              <a:latin typeface="Berlin Sans FB Demi" panose="020E0802020502020306" pitchFamily="34" charset="0"/>
              <a:ea typeface="CAT Neuzeit"/>
              <a:cs typeface="CAT Neuzeit"/>
              <a:sym typeface="CAT Neuzeit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4704804" y="4132671"/>
            <a:ext cx="2755507" cy="58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5"/>
              </a:lnSpc>
              <a:spcBef>
                <a:spcPct val="0"/>
              </a:spcBef>
            </a:pPr>
            <a:r>
              <a:rPr lang="en-US" sz="2135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思源黑体 Bold"/>
              </a:rPr>
              <a:t>Generative AI </a:t>
            </a:r>
            <a:endParaRPr lang="en-US" sz="2135" b="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思源黑体 Bold"/>
            </a:endParaRPr>
          </a:p>
          <a:p>
            <a:pPr algn="ctr">
              <a:lnSpc>
                <a:spcPts val="2335"/>
              </a:lnSpc>
              <a:spcBef>
                <a:spcPct val="0"/>
              </a:spcBef>
            </a:pPr>
            <a:r>
              <a:rPr lang="en-US" sz="2135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思源黑体 Bold"/>
              </a:rPr>
              <a:t>Shopping Assistant</a:t>
            </a:r>
            <a:endParaRPr lang="en-US" sz="2135" b="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思源黑体 Bold"/>
            </a:endParaRPr>
          </a:p>
        </p:txBody>
      </p:sp>
      <p:sp>
        <p:nvSpPr>
          <p:cNvPr id="34" name="Freeform 34"/>
          <p:cNvSpPr/>
          <p:nvPr/>
        </p:nvSpPr>
        <p:spPr>
          <a:xfrm flipH="1">
            <a:off x="8584240" y="2268299"/>
            <a:ext cx="1435289" cy="1075161"/>
          </a:xfrm>
          <a:custGeom>
            <a:avLst/>
            <a:gdLst/>
            <a:ahLst/>
            <a:cxnLst/>
            <a:rect l="l" t="t" r="r" b="b"/>
            <a:pathLst>
              <a:path w="2152933" h="1612742">
                <a:moveTo>
                  <a:pt x="2152933" y="0"/>
                </a:moveTo>
                <a:lnTo>
                  <a:pt x="0" y="0"/>
                </a:lnTo>
                <a:lnTo>
                  <a:pt x="0" y="1612743"/>
                </a:lnTo>
                <a:lnTo>
                  <a:pt x="2152933" y="1612743"/>
                </a:lnTo>
                <a:lnTo>
                  <a:pt x="215293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5" name="AutoShape 35"/>
          <p:cNvSpPr/>
          <p:nvPr/>
        </p:nvSpPr>
        <p:spPr>
          <a:xfrm flipH="1">
            <a:off x="10545636" y="3068865"/>
            <a:ext cx="0" cy="929030"/>
          </a:xfrm>
          <a:prstGeom prst="line">
            <a:avLst/>
          </a:prstGeom>
          <a:ln w="114300" cap="flat">
            <a:solidFill>
              <a:srgbClr val="2AA5BB"/>
            </a:solidFill>
            <a:prstDash val="sysDot"/>
            <a:headEnd type="none" w="sm" len="sm"/>
            <a:tailEnd type="arrow" w="med" len="sm"/>
          </a:ln>
        </p:spPr>
      </p:sp>
      <p:grpSp>
        <p:nvGrpSpPr>
          <p:cNvPr id="37" name="Group 37"/>
          <p:cNvGrpSpPr/>
          <p:nvPr/>
        </p:nvGrpSpPr>
        <p:grpSpPr>
          <a:xfrm>
            <a:off x="8679469" y="4108002"/>
            <a:ext cx="3529026" cy="726783"/>
            <a:chOff x="0" y="-13876"/>
            <a:chExt cx="1561387" cy="287124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289640" cy="249024"/>
            </a:xfrm>
            <a:custGeom>
              <a:avLst/>
              <a:gdLst/>
              <a:ahLst/>
              <a:cxnLst/>
              <a:rect l="l" t="t" r="r" b="b"/>
              <a:pathLst>
                <a:path w="1282155" h="249024">
                  <a:moveTo>
                    <a:pt x="31806" y="0"/>
                  </a:moveTo>
                  <a:lnTo>
                    <a:pt x="1250349" y="0"/>
                  </a:lnTo>
                  <a:cubicBezTo>
                    <a:pt x="1258784" y="0"/>
                    <a:pt x="1266874" y="3351"/>
                    <a:pt x="1272839" y="9316"/>
                  </a:cubicBezTo>
                  <a:cubicBezTo>
                    <a:pt x="1278804" y="15281"/>
                    <a:pt x="1282155" y="23371"/>
                    <a:pt x="1282155" y="31806"/>
                  </a:cubicBezTo>
                  <a:lnTo>
                    <a:pt x="1282155" y="217218"/>
                  </a:lnTo>
                  <a:cubicBezTo>
                    <a:pt x="1282155" y="234784"/>
                    <a:pt x="1267915" y="249024"/>
                    <a:pt x="1250349" y="249024"/>
                  </a:cubicBezTo>
                  <a:lnTo>
                    <a:pt x="31806" y="249024"/>
                  </a:lnTo>
                  <a:cubicBezTo>
                    <a:pt x="23371" y="249024"/>
                    <a:pt x="15281" y="245673"/>
                    <a:pt x="9316" y="239708"/>
                  </a:cubicBezTo>
                  <a:cubicBezTo>
                    <a:pt x="3351" y="233744"/>
                    <a:pt x="0" y="225654"/>
                    <a:pt x="0" y="217218"/>
                  </a:cubicBezTo>
                  <a:lnTo>
                    <a:pt x="0" y="31806"/>
                  </a:lnTo>
                  <a:cubicBezTo>
                    <a:pt x="0" y="23371"/>
                    <a:pt x="3351" y="15281"/>
                    <a:pt x="9316" y="9316"/>
                  </a:cubicBezTo>
                  <a:cubicBezTo>
                    <a:pt x="15281" y="3351"/>
                    <a:pt x="23371" y="0"/>
                    <a:pt x="3180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9F2C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279232" y="-13876"/>
              <a:ext cx="1282155" cy="28712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marL="144145" lvl="1">
                <a:lnSpc>
                  <a:spcPts val="1865"/>
                </a:lnSpc>
              </a:pPr>
              <a:r>
                <a:rPr lang="en-US" sz="2000" b="1" dirty="0"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思源黑体 Bold"/>
                </a:rPr>
                <a:t>Find Products</a:t>
              </a:r>
              <a:endParaRPr lang="en-US" sz="20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思源黑体 Bold"/>
              </a:endParaRP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8584240" y="4896102"/>
            <a:ext cx="3014000" cy="768017"/>
            <a:chOff x="-52503" y="-5488"/>
            <a:chExt cx="1324335" cy="303414"/>
          </a:xfrm>
        </p:grpSpPr>
        <p:sp>
          <p:nvSpPr>
            <p:cNvPr id="41" name="Freeform 41"/>
            <p:cNvSpPr/>
            <p:nvPr/>
          </p:nvSpPr>
          <p:spPr>
            <a:xfrm>
              <a:off x="-8926" y="0"/>
              <a:ext cx="1280758" cy="265314"/>
            </a:xfrm>
            <a:custGeom>
              <a:avLst/>
              <a:gdLst/>
              <a:ahLst/>
              <a:cxnLst/>
              <a:rect l="l" t="t" r="r" b="b"/>
              <a:pathLst>
                <a:path w="1280759" h="265314">
                  <a:moveTo>
                    <a:pt x="31841" y="0"/>
                  </a:moveTo>
                  <a:lnTo>
                    <a:pt x="1248918" y="0"/>
                  </a:lnTo>
                  <a:cubicBezTo>
                    <a:pt x="1266504" y="0"/>
                    <a:pt x="1280759" y="14256"/>
                    <a:pt x="1280759" y="31841"/>
                  </a:cubicBezTo>
                  <a:lnTo>
                    <a:pt x="1280759" y="233473"/>
                  </a:lnTo>
                  <a:cubicBezTo>
                    <a:pt x="1280759" y="251059"/>
                    <a:pt x="1266504" y="265314"/>
                    <a:pt x="1248918" y="265314"/>
                  </a:cubicBezTo>
                  <a:lnTo>
                    <a:pt x="31841" y="265314"/>
                  </a:lnTo>
                  <a:cubicBezTo>
                    <a:pt x="14256" y="265314"/>
                    <a:pt x="0" y="251059"/>
                    <a:pt x="0" y="233473"/>
                  </a:cubicBezTo>
                  <a:lnTo>
                    <a:pt x="0" y="31841"/>
                  </a:lnTo>
                  <a:cubicBezTo>
                    <a:pt x="0" y="14256"/>
                    <a:pt x="14256" y="0"/>
                    <a:pt x="3184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9F2C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-52503" y="-5488"/>
              <a:ext cx="1280759" cy="30341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marL="144145" lvl="1" algn="ctr">
                <a:lnSpc>
                  <a:spcPts val="1865"/>
                </a:lnSpc>
              </a:pPr>
              <a:r>
                <a:rPr lang="en-US" sz="2000" b="1" dirty="0"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思源黑体 Bold"/>
                </a:rPr>
                <a:t>Compare Product Information</a:t>
              </a:r>
              <a:endParaRPr lang="en-US" sz="20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思源黑体 Bold"/>
              </a:endParaRP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8679469" y="5702283"/>
            <a:ext cx="2914824" cy="768017"/>
            <a:chOff x="-14054" y="-7347"/>
            <a:chExt cx="1285849" cy="303414"/>
          </a:xfrm>
        </p:grpSpPr>
        <p:sp>
          <p:nvSpPr>
            <p:cNvPr id="44" name="Freeform 44"/>
            <p:cNvSpPr/>
            <p:nvPr/>
          </p:nvSpPr>
          <p:spPr>
            <a:xfrm>
              <a:off x="-14054" y="0"/>
              <a:ext cx="1285849" cy="265314"/>
            </a:xfrm>
            <a:custGeom>
              <a:avLst/>
              <a:gdLst/>
              <a:ahLst/>
              <a:cxnLst/>
              <a:rect l="l" t="t" r="r" b="b"/>
              <a:pathLst>
                <a:path w="1280759" h="265314">
                  <a:moveTo>
                    <a:pt x="31841" y="0"/>
                  </a:moveTo>
                  <a:lnTo>
                    <a:pt x="1248918" y="0"/>
                  </a:lnTo>
                  <a:cubicBezTo>
                    <a:pt x="1266504" y="0"/>
                    <a:pt x="1280759" y="14256"/>
                    <a:pt x="1280759" y="31841"/>
                  </a:cubicBezTo>
                  <a:lnTo>
                    <a:pt x="1280759" y="233473"/>
                  </a:lnTo>
                  <a:cubicBezTo>
                    <a:pt x="1280759" y="251059"/>
                    <a:pt x="1266504" y="265314"/>
                    <a:pt x="1248918" y="265314"/>
                  </a:cubicBezTo>
                  <a:lnTo>
                    <a:pt x="31841" y="265314"/>
                  </a:lnTo>
                  <a:cubicBezTo>
                    <a:pt x="14256" y="265314"/>
                    <a:pt x="0" y="251059"/>
                    <a:pt x="0" y="233473"/>
                  </a:cubicBezTo>
                  <a:lnTo>
                    <a:pt x="0" y="31841"/>
                  </a:lnTo>
                  <a:cubicBezTo>
                    <a:pt x="0" y="14256"/>
                    <a:pt x="14256" y="0"/>
                    <a:pt x="3184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9F2C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-14054" y="-7347"/>
              <a:ext cx="1280759" cy="30341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marL="144145" lvl="1" algn="ctr">
                <a:lnSpc>
                  <a:spcPts val="1865"/>
                </a:lnSpc>
              </a:pPr>
              <a:r>
                <a:rPr lang="en-US" sz="2000" b="1" dirty="0"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思源黑体 Bold"/>
                </a:rPr>
                <a:t>Personalized Recommendations</a:t>
              </a:r>
              <a:endParaRPr lang="en-US" sz="20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思源黑体 Bold"/>
              </a:endParaRPr>
            </a:p>
          </p:txBody>
        </p:sp>
      </p:grpSp>
      <p:sp>
        <p:nvSpPr>
          <p:cNvPr id="46" name="AutoShape 35"/>
          <p:cNvSpPr/>
          <p:nvPr/>
        </p:nvSpPr>
        <p:spPr>
          <a:xfrm flipH="1">
            <a:off x="6103961" y="3068865"/>
            <a:ext cx="0" cy="929030"/>
          </a:xfrm>
          <a:prstGeom prst="line">
            <a:avLst/>
          </a:prstGeom>
          <a:ln w="114300" cap="flat">
            <a:solidFill>
              <a:srgbClr val="2AA5BB"/>
            </a:solidFill>
            <a:prstDash val="sysDot"/>
            <a:headEnd type="none" w="sm" len="sm"/>
            <a:tailEnd type="arrow" w="med" len="sm"/>
          </a:ln>
        </p:spPr>
      </p:sp>
      <p:pic>
        <p:nvPicPr>
          <p:cNvPr id="36" name="图片 3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3598" y="2252969"/>
            <a:ext cx="1861448" cy="60645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9" name="图片 4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1849" y="2211538"/>
            <a:ext cx="2018422" cy="61344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940416" y="1743479"/>
            <a:ext cx="2632484" cy="3604576"/>
            <a:chOff x="0" y="0"/>
            <a:chExt cx="3663950" cy="4923790"/>
          </a:xfrm>
        </p:grpSpPr>
        <p:sp>
          <p:nvSpPr>
            <p:cNvPr id="3" name="Freeform 3"/>
            <p:cNvSpPr/>
            <p:nvPr/>
          </p:nvSpPr>
          <p:spPr>
            <a:xfrm>
              <a:off x="31750" y="31750"/>
              <a:ext cx="3600450" cy="4859020"/>
            </a:xfrm>
            <a:custGeom>
              <a:avLst/>
              <a:gdLst/>
              <a:ahLst/>
              <a:cxnLst/>
              <a:rect l="l" t="t" r="r" b="b"/>
              <a:pathLst>
                <a:path w="3600450" h="4859020">
                  <a:moveTo>
                    <a:pt x="3600450" y="4499610"/>
                  </a:moveTo>
                  <a:cubicBezTo>
                    <a:pt x="3600450" y="4699000"/>
                    <a:pt x="3439160" y="4859020"/>
                    <a:pt x="3241040" y="4859020"/>
                  </a:cubicBezTo>
                  <a:lnTo>
                    <a:pt x="359410" y="4859020"/>
                  </a:lnTo>
                  <a:cubicBezTo>
                    <a:pt x="160020" y="4859020"/>
                    <a:pt x="0" y="4697730"/>
                    <a:pt x="0" y="4499610"/>
                  </a:cubicBezTo>
                  <a:lnTo>
                    <a:pt x="0" y="359410"/>
                  </a:lnTo>
                  <a:cubicBezTo>
                    <a:pt x="0" y="160020"/>
                    <a:pt x="161290" y="0"/>
                    <a:pt x="359410" y="0"/>
                  </a:cubicBezTo>
                  <a:lnTo>
                    <a:pt x="3239770" y="0"/>
                  </a:lnTo>
                  <a:cubicBezTo>
                    <a:pt x="3439160" y="0"/>
                    <a:pt x="3599180" y="161290"/>
                    <a:pt x="3599180" y="359410"/>
                  </a:cubicBezTo>
                  <a:lnTo>
                    <a:pt x="3600450" y="4499610"/>
                  </a:lnTo>
                  <a:close/>
                </a:path>
              </a:pathLst>
            </a:custGeom>
            <a:blipFill>
              <a:blip r:embed="rId1"/>
              <a:stretch>
                <a:fillRect t="-2611" b="-32072"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3663950" cy="4923790"/>
            </a:xfrm>
            <a:custGeom>
              <a:avLst/>
              <a:gdLst/>
              <a:ahLst/>
              <a:cxnLst/>
              <a:rect l="l" t="t" r="r" b="b"/>
              <a:pathLst>
                <a:path w="3663950" h="4923790">
                  <a:moveTo>
                    <a:pt x="3271520" y="4923790"/>
                  </a:moveTo>
                  <a:lnTo>
                    <a:pt x="391160" y="4923790"/>
                  </a:lnTo>
                  <a:cubicBezTo>
                    <a:pt x="175260" y="4923790"/>
                    <a:pt x="0" y="4748530"/>
                    <a:pt x="0" y="4532630"/>
                  </a:cubicBezTo>
                  <a:lnTo>
                    <a:pt x="0" y="392430"/>
                  </a:lnTo>
                  <a:cubicBezTo>
                    <a:pt x="0" y="175260"/>
                    <a:pt x="175260" y="0"/>
                    <a:pt x="391160" y="0"/>
                  </a:cubicBezTo>
                  <a:lnTo>
                    <a:pt x="3271520" y="0"/>
                  </a:lnTo>
                  <a:cubicBezTo>
                    <a:pt x="3487420" y="0"/>
                    <a:pt x="3662680" y="175260"/>
                    <a:pt x="3662680" y="391160"/>
                  </a:cubicBezTo>
                  <a:lnTo>
                    <a:pt x="3662680" y="4531360"/>
                  </a:lnTo>
                  <a:cubicBezTo>
                    <a:pt x="3663950" y="4747260"/>
                    <a:pt x="3487420" y="4923790"/>
                    <a:pt x="3271520" y="4923790"/>
                  </a:cubicBezTo>
                  <a:close/>
                  <a:moveTo>
                    <a:pt x="391160" y="63500"/>
                  </a:moveTo>
                  <a:cubicBezTo>
                    <a:pt x="210820" y="63500"/>
                    <a:pt x="63500" y="210820"/>
                    <a:pt x="63500" y="391160"/>
                  </a:cubicBezTo>
                  <a:lnTo>
                    <a:pt x="63500" y="4531360"/>
                  </a:lnTo>
                  <a:cubicBezTo>
                    <a:pt x="63500" y="4712970"/>
                    <a:pt x="210820" y="4859020"/>
                    <a:pt x="391160" y="4859020"/>
                  </a:cubicBezTo>
                  <a:lnTo>
                    <a:pt x="3271520" y="4859020"/>
                  </a:lnTo>
                  <a:cubicBezTo>
                    <a:pt x="3453130" y="4859020"/>
                    <a:pt x="3599180" y="4711700"/>
                    <a:pt x="3599180" y="4531360"/>
                  </a:cubicBezTo>
                  <a:lnTo>
                    <a:pt x="3599180" y="391160"/>
                  </a:lnTo>
                  <a:cubicBezTo>
                    <a:pt x="3599180" y="209550"/>
                    <a:pt x="3451860" y="63500"/>
                    <a:pt x="3271520" y="63500"/>
                  </a:cubicBezTo>
                  <a:lnTo>
                    <a:pt x="391160" y="63500"/>
                  </a:lnTo>
                  <a:close/>
                </a:path>
              </a:pathLst>
            </a:custGeom>
            <a:solidFill>
              <a:srgbClr val="0D543E"/>
            </a:solidFill>
          </p:spPr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4658998" y="1743479"/>
            <a:ext cx="2735981" cy="3580404"/>
            <a:chOff x="0" y="0"/>
            <a:chExt cx="3663950" cy="4923790"/>
          </a:xfrm>
        </p:grpSpPr>
        <p:sp>
          <p:nvSpPr>
            <p:cNvPr id="6" name="Freeform 6"/>
            <p:cNvSpPr/>
            <p:nvPr/>
          </p:nvSpPr>
          <p:spPr>
            <a:xfrm>
              <a:off x="31750" y="31750"/>
              <a:ext cx="3600450" cy="4859020"/>
            </a:xfrm>
            <a:custGeom>
              <a:avLst/>
              <a:gdLst/>
              <a:ahLst/>
              <a:cxnLst/>
              <a:rect l="l" t="t" r="r" b="b"/>
              <a:pathLst>
                <a:path w="3600450" h="4859020">
                  <a:moveTo>
                    <a:pt x="3600450" y="4499610"/>
                  </a:moveTo>
                  <a:cubicBezTo>
                    <a:pt x="3600450" y="4699000"/>
                    <a:pt x="3439160" y="4859020"/>
                    <a:pt x="3241040" y="4859020"/>
                  </a:cubicBezTo>
                  <a:lnTo>
                    <a:pt x="359410" y="4859020"/>
                  </a:lnTo>
                  <a:cubicBezTo>
                    <a:pt x="160020" y="4859020"/>
                    <a:pt x="0" y="4697730"/>
                    <a:pt x="0" y="4499610"/>
                  </a:cubicBezTo>
                  <a:lnTo>
                    <a:pt x="0" y="359410"/>
                  </a:lnTo>
                  <a:cubicBezTo>
                    <a:pt x="0" y="160020"/>
                    <a:pt x="161290" y="0"/>
                    <a:pt x="359410" y="0"/>
                  </a:cubicBezTo>
                  <a:lnTo>
                    <a:pt x="3239770" y="0"/>
                  </a:lnTo>
                  <a:cubicBezTo>
                    <a:pt x="3439160" y="0"/>
                    <a:pt x="3599180" y="161290"/>
                    <a:pt x="3599180" y="359410"/>
                  </a:cubicBezTo>
                  <a:lnTo>
                    <a:pt x="3600450" y="4499610"/>
                  </a:lnTo>
                  <a:close/>
                </a:path>
              </a:pathLst>
            </a:custGeom>
            <a:blipFill>
              <a:blip r:embed="rId2"/>
              <a:stretch>
                <a:fillRect t="-16292" b="-20403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3663950" cy="4923790"/>
            </a:xfrm>
            <a:custGeom>
              <a:avLst/>
              <a:gdLst/>
              <a:ahLst/>
              <a:cxnLst/>
              <a:rect l="l" t="t" r="r" b="b"/>
              <a:pathLst>
                <a:path w="3663950" h="4923790">
                  <a:moveTo>
                    <a:pt x="3271520" y="4923790"/>
                  </a:moveTo>
                  <a:lnTo>
                    <a:pt x="391160" y="4923790"/>
                  </a:lnTo>
                  <a:cubicBezTo>
                    <a:pt x="175260" y="4923790"/>
                    <a:pt x="0" y="4748530"/>
                    <a:pt x="0" y="4532630"/>
                  </a:cubicBezTo>
                  <a:lnTo>
                    <a:pt x="0" y="392430"/>
                  </a:lnTo>
                  <a:cubicBezTo>
                    <a:pt x="0" y="175260"/>
                    <a:pt x="175260" y="0"/>
                    <a:pt x="391160" y="0"/>
                  </a:cubicBezTo>
                  <a:lnTo>
                    <a:pt x="3271520" y="0"/>
                  </a:lnTo>
                  <a:cubicBezTo>
                    <a:pt x="3487420" y="0"/>
                    <a:pt x="3662680" y="175260"/>
                    <a:pt x="3662680" y="391160"/>
                  </a:cubicBezTo>
                  <a:lnTo>
                    <a:pt x="3662680" y="4531360"/>
                  </a:lnTo>
                  <a:cubicBezTo>
                    <a:pt x="3663950" y="4747260"/>
                    <a:pt x="3487420" y="4923790"/>
                    <a:pt x="3271520" y="4923790"/>
                  </a:cubicBezTo>
                  <a:close/>
                  <a:moveTo>
                    <a:pt x="391160" y="63500"/>
                  </a:moveTo>
                  <a:cubicBezTo>
                    <a:pt x="210820" y="63500"/>
                    <a:pt x="63500" y="210820"/>
                    <a:pt x="63500" y="391160"/>
                  </a:cubicBezTo>
                  <a:lnTo>
                    <a:pt x="63500" y="4531360"/>
                  </a:lnTo>
                  <a:cubicBezTo>
                    <a:pt x="63500" y="4712970"/>
                    <a:pt x="210820" y="4859020"/>
                    <a:pt x="391160" y="4859020"/>
                  </a:cubicBezTo>
                  <a:lnTo>
                    <a:pt x="3271520" y="4859020"/>
                  </a:lnTo>
                  <a:cubicBezTo>
                    <a:pt x="3453130" y="4859020"/>
                    <a:pt x="3599180" y="4711700"/>
                    <a:pt x="3599180" y="4531360"/>
                  </a:cubicBezTo>
                  <a:lnTo>
                    <a:pt x="3599180" y="391160"/>
                  </a:lnTo>
                  <a:cubicBezTo>
                    <a:pt x="3599180" y="209550"/>
                    <a:pt x="3451860" y="63500"/>
                    <a:pt x="3271520" y="63500"/>
                  </a:cubicBezTo>
                  <a:lnTo>
                    <a:pt x="391160" y="63500"/>
                  </a:lnTo>
                  <a:close/>
                </a:path>
              </a:pathLst>
            </a:custGeom>
            <a:solidFill>
              <a:srgbClr val="0D543E"/>
            </a:solidFill>
          </p:spPr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8481077" y="1743479"/>
            <a:ext cx="2735981" cy="3556393"/>
            <a:chOff x="0" y="0"/>
            <a:chExt cx="3663950" cy="4923790"/>
          </a:xfrm>
        </p:grpSpPr>
        <p:sp>
          <p:nvSpPr>
            <p:cNvPr id="9" name="Freeform 9"/>
            <p:cNvSpPr/>
            <p:nvPr/>
          </p:nvSpPr>
          <p:spPr>
            <a:xfrm>
              <a:off x="31750" y="31750"/>
              <a:ext cx="3600450" cy="4859020"/>
            </a:xfrm>
            <a:custGeom>
              <a:avLst/>
              <a:gdLst/>
              <a:ahLst/>
              <a:cxnLst/>
              <a:rect l="l" t="t" r="r" b="b"/>
              <a:pathLst>
                <a:path w="3600450" h="4859020">
                  <a:moveTo>
                    <a:pt x="3600450" y="4499610"/>
                  </a:moveTo>
                  <a:cubicBezTo>
                    <a:pt x="3600450" y="4699000"/>
                    <a:pt x="3439160" y="4859020"/>
                    <a:pt x="3241040" y="4859020"/>
                  </a:cubicBezTo>
                  <a:lnTo>
                    <a:pt x="359410" y="4859020"/>
                  </a:lnTo>
                  <a:cubicBezTo>
                    <a:pt x="160020" y="4859020"/>
                    <a:pt x="0" y="4697730"/>
                    <a:pt x="0" y="4499610"/>
                  </a:cubicBezTo>
                  <a:lnTo>
                    <a:pt x="0" y="359410"/>
                  </a:lnTo>
                  <a:cubicBezTo>
                    <a:pt x="0" y="160020"/>
                    <a:pt x="161290" y="0"/>
                    <a:pt x="359410" y="0"/>
                  </a:cubicBezTo>
                  <a:lnTo>
                    <a:pt x="3239770" y="0"/>
                  </a:lnTo>
                  <a:cubicBezTo>
                    <a:pt x="3439160" y="0"/>
                    <a:pt x="3599180" y="161290"/>
                    <a:pt x="3599180" y="359410"/>
                  </a:cubicBezTo>
                  <a:lnTo>
                    <a:pt x="3600450" y="4499610"/>
                  </a:lnTo>
                  <a:close/>
                </a:path>
              </a:pathLst>
            </a:custGeom>
            <a:blipFill>
              <a:blip r:embed="rId3"/>
              <a:stretch>
                <a:fillRect t="-1370" b="-11756"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3663950" cy="4923790"/>
            </a:xfrm>
            <a:custGeom>
              <a:avLst/>
              <a:gdLst/>
              <a:ahLst/>
              <a:cxnLst/>
              <a:rect l="l" t="t" r="r" b="b"/>
              <a:pathLst>
                <a:path w="3663950" h="4923790">
                  <a:moveTo>
                    <a:pt x="3271520" y="4923790"/>
                  </a:moveTo>
                  <a:lnTo>
                    <a:pt x="391160" y="4923790"/>
                  </a:lnTo>
                  <a:cubicBezTo>
                    <a:pt x="175260" y="4923790"/>
                    <a:pt x="0" y="4748530"/>
                    <a:pt x="0" y="4532630"/>
                  </a:cubicBezTo>
                  <a:lnTo>
                    <a:pt x="0" y="392430"/>
                  </a:lnTo>
                  <a:cubicBezTo>
                    <a:pt x="0" y="175260"/>
                    <a:pt x="175260" y="0"/>
                    <a:pt x="391160" y="0"/>
                  </a:cubicBezTo>
                  <a:lnTo>
                    <a:pt x="3271520" y="0"/>
                  </a:lnTo>
                  <a:cubicBezTo>
                    <a:pt x="3487420" y="0"/>
                    <a:pt x="3662680" y="175260"/>
                    <a:pt x="3662680" y="391160"/>
                  </a:cubicBezTo>
                  <a:lnTo>
                    <a:pt x="3662680" y="4531360"/>
                  </a:lnTo>
                  <a:cubicBezTo>
                    <a:pt x="3663950" y="4747260"/>
                    <a:pt x="3487420" y="4923790"/>
                    <a:pt x="3271520" y="4923790"/>
                  </a:cubicBezTo>
                  <a:close/>
                  <a:moveTo>
                    <a:pt x="391160" y="63500"/>
                  </a:moveTo>
                  <a:cubicBezTo>
                    <a:pt x="210820" y="63500"/>
                    <a:pt x="63500" y="210820"/>
                    <a:pt x="63500" y="391160"/>
                  </a:cubicBezTo>
                  <a:lnTo>
                    <a:pt x="63500" y="4531360"/>
                  </a:lnTo>
                  <a:cubicBezTo>
                    <a:pt x="63500" y="4712970"/>
                    <a:pt x="210820" y="4859020"/>
                    <a:pt x="391160" y="4859020"/>
                  </a:cubicBezTo>
                  <a:lnTo>
                    <a:pt x="3271520" y="4859020"/>
                  </a:lnTo>
                  <a:cubicBezTo>
                    <a:pt x="3453130" y="4859020"/>
                    <a:pt x="3599180" y="4711700"/>
                    <a:pt x="3599180" y="4531360"/>
                  </a:cubicBezTo>
                  <a:lnTo>
                    <a:pt x="3599180" y="391160"/>
                  </a:lnTo>
                  <a:cubicBezTo>
                    <a:pt x="3599180" y="209550"/>
                    <a:pt x="3451860" y="63500"/>
                    <a:pt x="3271520" y="63500"/>
                  </a:cubicBezTo>
                  <a:lnTo>
                    <a:pt x="391160" y="63500"/>
                  </a:lnTo>
                  <a:close/>
                </a:path>
              </a:pathLst>
            </a:custGeom>
            <a:solidFill>
              <a:srgbClr val="0D543E"/>
            </a:solidFill>
          </p:spPr>
        </p:sp>
      </p:grpSp>
      <p:sp>
        <p:nvSpPr>
          <p:cNvPr id="11" name="TextBox 11"/>
          <p:cNvSpPr txBox="1"/>
          <p:nvPr/>
        </p:nvSpPr>
        <p:spPr>
          <a:xfrm>
            <a:off x="4349260" y="791869"/>
            <a:ext cx="3339342" cy="820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5"/>
              </a:lnSpc>
            </a:pPr>
            <a:r>
              <a:rPr lang="en-US" sz="2400" b="1" dirty="0">
                <a:solidFill>
                  <a:srgbClr val="000000"/>
                </a:solidFill>
                <a:latin typeface="Times New Roman" panose="02020503050405090304" pitchFamily="18" charset="0"/>
                <a:ea typeface="字由点字典黑"/>
                <a:cs typeface="Times New Roman" panose="02020503050405090304" pitchFamily="18" charset="0"/>
                <a:sym typeface="字由点字典黑"/>
              </a:rPr>
              <a:t>Compare Product</a:t>
            </a:r>
            <a:endParaRPr lang="en-US" sz="2400" b="1" dirty="0">
              <a:solidFill>
                <a:srgbClr val="000000"/>
              </a:solidFill>
              <a:latin typeface="Times New Roman" panose="02020503050405090304" pitchFamily="18" charset="0"/>
              <a:ea typeface="字由点字典黑"/>
              <a:cs typeface="Times New Roman" panose="02020503050405090304" pitchFamily="18" charset="0"/>
              <a:sym typeface="字由点字典黑"/>
            </a:endParaRPr>
          </a:p>
          <a:p>
            <a:pPr algn="ctr">
              <a:lnSpc>
                <a:spcPts val="3175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000000"/>
                </a:solidFill>
                <a:latin typeface="Times New Roman" panose="02020503050405090304" pitchFamily="18" charset="0"/>
                <a:ea typeface="字由点字典黑"/>
                <a:cs typeface="Times New Roman" panose="02020503050405090304" pitchFamily="18" charset="0"/>
                <a:sym typeface="字由点字典黑"/>
              </a:rPr>
              <a:t>Information</a:t>
            </a:r>
            <a:endParaRPr lang="en-US" sz="2400" b="1" dirty="0">
              <a:solidFill>
                <a:srgbClr val="000000"/>
              </a:solidFill>
              <a:latin typeface="Times New Roman" panose="02020503050405090304" pitchFamily="18" charset="0"/>
              <a:ea typeface="字由点字典黑"/>
              <a:cs typeface="Times New Roman" panose="02020503050405090304" pitchFamily="18" charset="0"/>
              <a:sym typeface="字由点字典黑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06186" y="1056908"/>
            <a:ext cx="2346783" cy="3799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5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000000"/>
                </a:solidFill>
                <a:latin typeface="Times New Roman" panose="02020503050405090304" pitchFamily="18" charset="0"/>
                <a:ea typeface="字由点字典黑"/>
                <a:cs typeface="Times New Roman" panose="02020503050405090304" pitchFamily="18" charset="0"/>
                <a:sym typeface="字由点字典黑"/>
              </a:rPr>
              <a:t>Find Products</a:t>
            </a:r>
            <a:endParaRPr lang="en-US" sz="2400" b="1" dirty="0">
              <a:solidFill>
                <a:srgbClr val="000000"/>
              </a:solidFill>
              <a:latin typeface="Times New Roman" panose="02020503050405090304" pitchFamily="18" charset="0"/>
              <a:ea typeface="字由点字典黑"/>
              <a:cs typeface="Times New Roman" panose="02020503050405090304" pitchFamily="18" charset="0"/>
              <a:sym typeface="字由点字典黑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8012140" y="791869"/>
            <a:ext cx="3339342" cy="820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5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000000"/>
                </a:solidFill>
                <a:latin typeface="Times New Roman" panose="02020503050405090304" pitchFamily="18" charset="0"/>
                <a:ea typeface="字由点字典黑"/>
                <a:cs typeface="Times New Roman" panose="02020503050405090304" pitchFamily="18" charset="0"/>
                <a:sym typeface="字由点字典黑"/>
              </a:rPr>
              <a:t>Personalized Recommendation</a:t>
            </a:r>
            <a:endParaRPr lang="en-US" sz="2400" b="1" dirty="0">
              <a:solidFill>
                <a:srgbClr val="000000"/>
              </a:solidFill>
              <a:latin typeface="Times New Roman" panose="02020503050405090304" pitchFamily="18" charset="0"/>
              <a:ea typeface="字由点字典黑"/>
              <a:cs typeface="Times New Roman" panose="02020503050405090304" pitchFamily="18" charset="0"/>
              <a:sym typeface="字由点字典黑"/>
            </a:endParaRPr>
          </a:p>
        </p:txBody>
      </p:sp>
      <p:sp>
        <p:nvSpPr>
          <p:cNvPr id="14" name="TextBox 26"/>
          <p:cNvSpPr txBox="1"/>
          <p:nvPr/>
        </p:nvSpPr>
        <p:spPr>
          <a:xfrm>
            <a:off x="514546" y="432217"/>
            <a:ext cx="3937269" cy="4489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3600" b="1" dirty="0">
                <a:solidFill>
                  <a:srgbClr val="000000"/>
                </a:solidFill>
                <a:latin typeface="Times New Roman" panose="02020503050405090304" pitchFamily="18" charset="0"/>
                <a:ea typeface="Calibri" panose="020F0502020204030204" pitchFamily="34" charset="0"/>
                <a:cs typeface="Times New Roman" panose="02020503050405090304" pitchFamily="18" charset="0"/>
                <a:sym typeface="Cambria Bold"/>
              </a:rPr>
              <a:t>Case Description</a:t>
            </a:r>
            <a:endParaRPr lang="en-US" sz="3600" b="1" dirty="0">
              <a:solidFill>
                <a:srgbClr val="000000"/>
              </a:solidFill>
              <a:latin typeface="Times New Roman" panose="02020503050405090304" pitchFamily="18" charset="0"/>
              <a:ea typeface="Calibri" panose="020F0502020204030204" pitchFamily="34" charset="0"/>
              <a:cs typeface="Times New Roman" panose="02020503050405090304" pitchFamily="18" charset="0"/>
              <a:sym typeface="Cambria Bold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903700" y="5554014"/>
            <a:ext cx="12025827" cy="723604"/>
            <a:chOff x="903700" y="5554014"/>
            <a:chExt cx="12025827" cy="723604"/>
          </a:xfrm>
        </p:grpSpPr>
        <p:sp>
          <p:nvSpPr>
            <p:cNvPr id="47" name="文本框 46"/>
            <p:cNvSpPr txBox="1"/>
            <p:nvPr/>
          </p:nvSpPr>
          <p:spPr>
            <a:xfrm>
              <a:off x="8382352" y="5569732"/>
              <a:ext cx="454717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000" b="1" dirty="0">
                  <a:solidFill>
                    <a:srgbClr val="C00000"/>
                  </a:solidFill>
                  <a:latin typeface="Times New Roman" panose="02020503050405090304" pitchFamily="18" charset="0"/>
                  <a:ea typeface="Calibri" panose="020F0502020204030204" pitchFamily="34" charset="0"/>
                  <a:cs typeface="Times New Roman" panose="02020503050405090304" pitchFamily="18" charset="0"/>
                </a:rPr>
                <a:t>CRM Strategy</a:t>
              </a:r>
              <a:endParaRPr lang="zh-CN" altLang="en-US" sz="4000" b="1" dirty="0">
                <a:solidFill>
                  <a:srgbClr val="C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903700" y="5618425"/>
              <a:ext cx="15755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b="1" dirty="0" err="1">
                  <a:solidFill>
                    <a:srgbClr val="C00000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rPr>
                <a:t>GenAI</a:t>
              </a:r>
              <a:endParaRPr lang="zh-CN" altLang="en-US" sz="3600" b="1" dirty="0">
                <a:solidFill>
                  <a:srgbClr val="C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sp>
          <p:nvSpPr>
            <p:cNvPr id="17" name="addition-thick-symbol_20183"/>
            <p:cNvSpPr/>
            <p:nvPr/>
          </p:nvSpPr>
          <p:spPr>
            <a:xfrm>
              <a:off x="2631266" y="5801092"/>
              <a:ext cx="274789" cy="306723"/>
            </a:xfrm>
            <a:custGeom>
              <a:avLst/>
              <a:gdLst>
                <a:gd name="T0" fmla="*/ 1803 w 3606"/>
                <a:gd name="T1" fmla="*/ 0 h 3606"/>
                <a:gd name="T2" fmla="*/ 1465 w 3606"/>
                <a:gd name="T3" fmla="*/ 338 h 3606"/>
                <a:gd name="T4" fmla="*/ 1465 w 3606"/>
                <a:gd name="T5" fmla="*/ 1465 h 3606"/>
                <a:gd name="T6" fmla="*/ 338 w 3606"/>
                <a:gd name="T7" fmla="*/ 1465 h 3606"/>
                <a:gd name="T8" fmla="*/ 0 w 3606"/>
                <a:gd name="T9" fmla="*/ 1803 h 3606"/>
                <a:gd name="T10" fmla="*/ 338 w 3606"/>
                <a:gd name="T11" fmla="*/ 2141 h 3606"/>
                <a:gd name="T12" fmla="*/ 1465 w 3606"/>
                <a:gd name="T13" fmla="*/ 2141 h 3606"/>
                <a:gd name="T14" fmla="*/ 1465 w 3606"/>
                <a:gd name="T15" fmla="*/ 3268 h 3606"/>
                <a:gd name="T16" fmla="*/ 1803 w 3606"/>
                <a:gd name="T17" fmla="*/ 3606 h 3606"/>
                <a:gd name="T18" fmla="*/ 2141 w 3606"/>
                <a:gd name="T19" fmla="*/ 3268 h 3606"/>
                <a:gd name="T20" fmla="*/ 2141 w 3606"/>
                <a:gd name="T21" fmla="*/ 2141 h 3606"/>
                <a:gd name="T22" fmla="*/ 3268 w 3606"/>
                <a:gd name="T23" fmla="*/ 2141 h 3606"/>
                <a:gd name="T24" fmla="*/ 3606 w 3606"/>
                <a:gd name="T25" fmla="*/ 1803 h 3606"/>
                <a:gd name="T26" fmla="*/ 3268 w 3606"/>
                <a:gd name="T27" fmla="*/ 1465 h 3606"/>
                <a:gd name="T28" fmla="*/ 2141 w 3606"/>
                <a:gd name="T29" fmla="*/ 1465 h 3606"/>
                <a:gd name="T30" fmla="*/ 2141 w 3606"/>
                <a:gd name="T31" fmla="*/ 338 h 3606"/>
                <a:gd name="T32" fmla="*/ 1803 w 3606"/>
                <a:gd name="T33" fmla="*/ 0 h 36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606" h="3606">
                  <a:moveTo>
                    <a:pt x="1803" y="0"/>
                  </a:moveTo>
                  <a:cubicBezTo>
                    <a:pt x="1616" y="0"/>
                    <a:pt x="1465" y="151"/>
                    <a:pt x="1465" y="338"/>
                  </a:cubicBezTo>
                  <a:lnTo>
                    <a:pt x="1465" y="1465"/>
                  </a:lnTo>
                  <a:lnTo>
                    <a:pt x="338" y="1465"/>
                  </a:lnTo>
                  <a:cubicBezTo>
                    <a:pt x="151" y="1465"/>
                    <a:pt x="0" y="1616"/>
                    <a:pt x="0" y="1803"/>
                  </a:cubicBezTo>
                  <a:cubicBezTo>
                    <a:pt x="0" y="1990"/>
                    <a:pt x="151" y="2141"/>
                    <a:pt x="338" y="2141"/>
                  </a:cubicBezTo>
                  <a:lnTo>
                    <a:pt x="1465" y="2141"/>
                  </a:lnTo>
                  <a:lnTo>
                    <a:pt x="1465" y="3268"/>
                  </a:lnTo>
                  <a:cubicBezTo>
                    <a:pt x="1465" y="3455"/>
                    <a:pt x="1616" y="3606"/>
                    <a:pt x="1803" y="3606"/>
                  </a:cubicBezTo>
                  <a:cubicBezTo>
                    <a:pt x="1990" y="3606"/>
                    <a:pt x="2141" y="3455"/>
                    <a:pt x="2141" y="3268"/>
                  </a:cubicBezTo>
                  <a:lnTo>
                    <a:pt x="2141" y="2141"/>
                  </a:lnTo>
                  <a:lnTo>
                    <a:pt x="3268" y="2141"/>
                  </a:lnTo>
                  <a:cubicBezTo>
                    <a:pt x="3455" y="2141"/>
                    <a:pt x="3606" y="1990"/>
                    <a:pt x="3606" y="1803"/>
                  </a:cubicBezTo>
                  <a:cubicBezTo>
                    <a:pt x="3606" y="1616"/>
                    <a:pt x="3455" y="1465"/>
                    <a:pt x="3268" y="1465"/>
                  </a:cubicBezTo>
                  <a:lnTo>
                    <a:pt x="2141" y="1465"/>
                  </a:lnTo>
                  <a:lnTo>
                    <a:pt x="2141" y="338"/>
                  </a:lnTo>
                  <a:cubicBezTo>
                    <a:pt x="2141" y="151"/>
                    <a:pt x="1990" y="0"/>
                    <a:pt x="1803" y="0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ight-arrow_154631"/>
            <p:cNvSpPr/>
            <p:nvPr/>
          </p:nvSpPr>
          <p:spPr>
            <a:xfrm>
              <a:off x="5730657" y="5807609"/>
              <a:ext cx="457200" cy="326709"/>
            </a:xfrm>
            <a:custGeom>
              <a:avLst/>
              <a:gdLst>
                <a:gd name="T0" fmla="*/ 200 w 4420"/>
                <a:gd name="T1" fmla="*/ 1420 h 2420"/>
                <a:gd name="T2" fmla="*/ 3717 w 4420"/>
                <a:gd name="T3" fmla="*/ 1420 h 2420"/>
                <a:gd name="T4" fmla="*/ 3059 w 4420"/>
                <a:gd name="T5" fmla="*/ 2079 h 2420"/>
                <a:gd name="T6" fmla="*/ 3059 w 4420"/>
                <a:gd name="T7" fmla="*/ 2361 h 2420"/>
                <a:gd name="T8" fmla="*/ 3200 w 4420"/>
                <a:gd name="T9" fmla="*/ 2420 h 2420"/>
                <a:gd name="T10" fmla="*/ 3341 w 4420"/>
                <a:gd name="T11" fmla="*/ 2361 h 2420"/>
                <a:gd name="T12" fmla="*/ 4341 w 4420"/>
                <a:gd name="T13" fmla="*/ 1361 h 2420"/>
                <a:gd name="T14" fmla="*/ 4341 w 4420"/>
                <a:gd name="T15" fmla="*/ 1079 h 2420"/>
                <a:gd name="T16" fmla="*/ 3341 w 4420"/>
                <a:gd name="T17" fmla="*/ 79 h 2420"/>
                <a:gd name="T18" fmla="*/ 3059 w 4420"/>
                <a:gd name="T19" fmla="*/ 79 h 2420"/>
                <a:gd name="T20" fmla="*/ 3059 w 4420"/>
                <a:gd name="T21" fmla="*/ 361 h 2420"/>
                <a:gd name="T22" fmla="*/ 3717 w 4420"/>
                <a:gd name="T23" fmla="*/ 1020 h 2420"/>
                <a:gd name="T24" fmla="*/ 200 w 4420"/>
                <a:gd name="T25" fmla="*/ 1020 h 2420"/>
                <a:gd name="T26" fmla="*/ 0 w 4420"/>
                <a:gd name="T27" fmla="*/ 1220 h 2420"/>
                <a:gd name="T28" fmla="*/ 200 w 4420"/>
                <a:gd name="T29" fmla="*/ 1420 h 2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420" h="2420">
                  <a:moveTo>
                    <a:pt x="200" y="1420"/>
                  </a:moveTo>
                  <a:lnTo>
                    <a:pt x="3717" y="1420"/>
                  </a:lnTo>
                  <a:lnTo>
                    <a:pt x="3059" y="2079"/>
                  </a:lnTo>
                  <a:cubicBezTo>
                    <a:pt x="2980" y="2157"/>
                    <a:pt x="2980" y="2283"/>
                    <a:pt x="3059" y="2361"/>
                  </a:cubicBezTo>
                  <a:cubicBezTo>
                    <a:pt x="3098" y="2400"/>
                    <a:pt x="3149" y="2420"/>
                    <a:pt x="3200" y="2420"/>
                  </a:cubicBezTo>
                  <a:cubicBezTo>
                    <a:pt x="3251" y="2420"/>
                    <a:pt x="3302" y="2400"/>
                    <a:pt x="3341" y="2361"/>
                  </a:cubicBezTo>
                  <a:lnTo>
                    <a:pt x="4341" y="1361"/>
                  </a:lnTo>
                  <a:cubicBezTo>
                    <a:pt x="4420" y="1283"/>
                    <a:pt x="4420" y="1157"/>
                    <a:pt x="4341" y="1079"/>
                  </a:cubicBezTo>
                  <a:lnTo>
                    <a:pt x="3341" y="79"/>
                  </a:lnTo>
                  <a:cubicBezTo>
                    <a:pt x="3263" y="0"/>
                    <a:pt x="3137" y="0"/>
                    <a:pt x="3059" y="79"/>
                  </a:cubicBezTo>
                  <a:cubicBezTo>
                    <a:pt x="2980" y="157"/>
                    <a:pt x="2980" y="283"/>
                    <a:pt x="3059" y="361"/>
                  </a:cubicBezTo>
                  <a:lnTo>
                    <a:pt x="3717" y="1020"/>
                  </a:lnTo>
                  <a:lnTo>
                    <a:pt x="200" y="1020"/>
                  </a:lnTo>
                  <a:cubicBezTo>
                    <a:pt x="90" y="1020"/>
                    <a:pt x="0" y="1110"/>
                    <a:pt x="0" y="1220"/>
                  </a:cubicBezTo>
                  <a:cubicBezTo>
                    <a:pt x="0" y="1330"/>
                    <a:pt x="90" y="1420"/>
                    <a:pt x="200" y="1420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32"/>
            <p:cNvSpPr txBox="1"/>
            <p:nvPr/>
          </p:nvSpPr>
          <p:spPr>
            <a:xfrm>
              <a:off x="6294468" y="5586244"/>
              <a:ext cx="1503821" cy="6701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675"/>
                </a:lnSpc>
                <a:spcBef>
                  <a:spcPct val="0"/>
                </a:spcBef>
              </a:pPr>
              <a:r>
                <a:rPr lang="en-US" sz="4055" b="1" dirty="0">
                  <a:solidFill>
                    <a:srgbClr val="C00000"/>
                  </a:solidFill>
                  <a:latin typeface="Times New Roman" panose="02020503050405090304" pitchFamily="18" charset="0"/>
                  <a:ea typeface="CAT Neuzeit"/>
                  <a:cs typeface="Times New Roman" panose="02020503050405090304" pitchFamily="18" charset="0"/>
                  <a:sym typeface="CAT Neuzeit"/>
                </a:rPr>
                <a:t>Rufus</a:t>
              </a:r>
              <a:endParaRPr lang="en-US" sz="4055" b="1" dirty="0">
                <a:solidFill>
                  <a:srgbClr val="C00000"/>
                </a:solidFill>
                <a:latin typeface="Times New Roman" panose="02020503050405090304" pitchFamily="18" charset="0"/>
                <a:ea typeface="CAT Neuzeit"/>
                <a:cs typeface="Times New Roman" panose="02020503050405090304" pitchFamily="18" charset="0"/>
                <a:sym typeface="CAT Neuzeit"/>
              </a:endParaRPr>
            </a:p>
          </p:txBody>
        </p:sp>
        <p:sp>
          <p:nvSpPr>
            <p:cNvPr id="21" name="TextBox 32"/>
            <p:cNvSpPr txBox="1"/>
            <p:nvPr/>
          </p:nvSpPr>
          <p:spPr>
            <a:xfrm>
              <a:off x="2404052" y="5554014"/>
              <a:ext cx="3890416" cy="65639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675"/>
                </a:lnSpc>
                <a:spcBef>
                  <a:spcPct val="0"/>
                </a:spcBef>
              </a:pPr>
              <a:r>
                <a:rPr lang="en-US" altLang="zh-CN" sz="3600" b="1" dirty="0">
                  <a:solidFill>
                    <a:srgbClr val="C00000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rPr>
                <a:t>E-business</a:t>
              </a:r>
              <a:endParaRPr lang="en-US" sz="3600" b="1" dirty="0">
                <a:solidFill>
                  <a:srgbClr val="C00000"/>
                </a:solidFill>
                <a:latin typeface="Times New Roman" panose="02020503050405090304" pitchFamily="18" charset="0"/>
                <a:ea typeface="CAT Neuzeit"/>
                <a:cs typeface="Times New Roman" panose="02020503050405090304" pitchFamily="18" charset="0"/>
                <a:sym typeface="CAT Neuzeit"/>
              </a:endParaRPr>
            </a:p>
          </p:txBody>
        </p:sp>
        <p:sp>
          <p:nvSpPr>
            <p:cNvPr id="22" name="right-arrow_154631"/>
            <p:cNvSpPr/>
            <p:nvPr/>
          </p:nvSpPr>
          <p:spPr>
            <a:xfrm>
              <a:off x="7842490" y="5807609"/>
              <a:ext cx="457200" cy="326709"/>
            </a:xfrm>
            <a:custGeom>
              <a:avLst/>
              <a:gdLst>
                <a:gd name="T0" fmla="*/ 200 w 4420"/>
                <a:gd name="T1" fmla="*/ 1420 h 2420"/>
                <a:gd name="T2" fmla="*/ 3717 w 4420"/>
                <a:gd name="T3" fmla="*/ 1420 h 2420"/>
                <a:gd name="T4" fmla="*/ 3059 w 4420"/>
                <a:gd name="T5" fmla="*/ 2079 h 2420"/>
                <a:gd name="T6" fmla="*/ 3059 w 4420"/>
                <a:gd name="T7" fmla="*/ 2361 h 2420"/>
                <a:gd name="T8" fmla="*/ 3200 w 4420"/>
                <a:gd name="T9" fmla="*/ 2420 h 2420"/>
                <a:gd name="T10" fmla="*/ 3341 w 4420"/>
                <a:gd name="T11" fmla="*/ 2361 h 2420"/>
                <a:gd name="T12" fmla="*/ 4341 w 4420"/>
                <a:gd name="T13" fmla="*/ 1361 h 2420"/>
                <a:gd name="T14" fmla="*/ 4341 w 4420"/>
                <a:gd name="T15" fmla="*/ 1079 h 2420"/>
                <a:gd name="T16" fmla="*/ 3341 w 4420"/>
                <a:gd name="T17" fmla="*/ 79 h 2420"/>
                <a:gd name="T18" fmla="*/ 3059 w 4420"/>
                <a:gd name="T19" fmla="*/ 79 h 2420"/>
                <a:gd name="T20" fmla="*/ 3059 w 4420"/>
                <a:gd name="T21" fmla="*/ 361 h 2420"/>
                <a:gd name="T22" fmla="*/ 3717 w 4420"/>
                <a:gd name="T23" fmla="*/ 1020 h 2420"/>
                <a:gd name="T24" fmla="*/ 200 w 4420"/>
                <a:gd name="T25" fmla="*/ 1020 h 2420"/>
                <a:gd name="T26" fmla="*/ 0 w 4420"/>
                <a:gd name="T27" fmla="*/ 1220 h 2420"/>
                <a:gd name="T28" fmla="*/ 200 w 4420"/>
                <a:gd name="T29" fmla="*/ 1420 h 2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420" h="2420">
                  <a:moveTo>
                    <a:pt x="200" y="1420"/>
                  </a:moveTo>
                  <a:lnTo>
                    <a:pt x="3717" y="1420"/>
                  </a:lnTo>
                  <a:lnTo>
                    <a:pt x="3059" y="2079"/>
                  </a:lnTo>
                  <a:cubicBezTo>
                    <a:pt x="2980" y="2157"/>
                    <a:pt x="2980" y="2283"/>
                    <a:pt x="3059" y="2361"/>
                  </a:cubicBezTo>
                  <a:cubicBezTo>
                    <a:pt x="3098" y="2400"/>
                    <a:pt x="3149" y="2420"/>
                    <a:pt x="3200" y="2420"/>
                  </a:cubicBezTo>
                  <a:cubicBezTo>
                    <a:pt x="3251" y="2420"/>
                    <a:pt x="3302" y="2400"/>
                    <a:pt x="3341" y="2361"/>
                  </a:cubicBezTo>
                  <a:lnTo>
                    <a:pt x="4341" y="1361"/>
                  </a:lnTo>
                  <a:cubicBezTo>
                    <a:pt x="4420" y="1283"/>
                    <a:pt x="4420" y="1157"/>
                    <a:pt x="4341" y="1079"/>
                  </a:cubicBezTo>
                  <a:lnTo>
                    <a:pt x="3341" y="79"/>
                  </a:lnTo>
                  <a:cubicBezTo>
                    <a:pt x="3263" y="0"/>
                    <a:pt x="3137" y="0"/>
                    <a:pt x="3059" y="79"/>
                  </a:cubicBezTo>
                  <a:cubicBezTo>
                    <a:pt x="2980" y="157"/>
                    <a:pt x="2980" y="283"/>
                    <a:pt x="3059" y="361"/>
                  </a:cubicBezTo>
                  <a:lnTo>
                    <a:pt x="3717" y="1020"/>
                  </a:lnTo>
                  <a:lnTo>
                    <a:pt x="200" y="1020"/>
                  </a:lnTo>
                  <a:cubicBezTo>
                    <a:pt x="90" y="1020"/>
                    <a:pt x="0" y="1110"/>
                    <a:pt x="0" y="1220"/>
                  </a:cubicBezTo>
                  <a:cubicBezTo>
                    <a:pt x="0" y="1330"/>
                    <a:pt x="90" y="1420"/>
                    <a:pt x="200" y="1420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2192000" cy="6858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100000">
                  <a:srgbClr val="FAF5DB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</p:grpSp>
      <p:sp>
        <p:nvSpPr>
          <p:cNvPr id="4" name="Freeform 4"/>
          <p:cNvSpPr/>
          <p:nvPr/>
        </p:nvSpPr>
        <p:spPr>
          <a:xfrm>
            <a:off x="-1707538" y="4766650"/>
            <a:ext cx="4352921" cy="4346825"/>
          </a:xfrm>
          <a:custGeom>
            <a:avLst/>
            <a:gdLst/>
            <a:ahLst/>
            <a:cxnLst/>
            <a:rect l="l" t="t" r="r" b="b"/>
            <a:pathLst>
              <a:path w="6529382" h="6520237">
                <a:moveTo>
                  <a:pt x="0" y="0"/>
                </a:moveTo>
                <a:lnTo>
                  <a:pt x="6529382" y="0"/>
                </a:lnTo>
                <a:lnTo>
                  <a:pt x="6529382" y="6520237"/>
                </a:lnTo>
                <a:lnTo>
                  <a:pt x="0" y="6520237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834283" y="-1440367"/>
            <a:ext cx="3505504" cy="3511600"/>
          </a:xfrm>
          <a:custGeom>
            <a:avLst/>
            <a:gdLst/>
            <a:ahLst/>
            <a:cxnLst/>
            <a:rect l="l" t="t" r="r" b="b"/>
            <a:pathLst>
              <a:path w="5258256" h="5267400">
                <a:moveTo>
                  <a:pt x="0" y="0"/>
                </a:moveTo>
                <a:lnTo>
                  <a:pt x="5258255" y="0"/>
                </a:lnTo>
                <a:lnTo>
                  <a:pt x="5258255" y="5267400"/>
                </a:lnTo>
                <a:lnTo>
                  <a:pt x="0" y="526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文本框 6"/>
          <p:cNvSpPr txBox="1"/>
          <p:nvPr/>
        </p:nvSpPr>
        <p:spPr>
          <a:xfrm>
            <a:off x="2093843" y="1957177"/>
            <a:ext cx="865882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6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Rufus Critical Analysis</a:t>
            </a:r>
            <a:endParaRPr lang="zh-CN" altLang="en-US" sz="66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635124" y="3569931"/>
            <a:ext cx="89217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— Personalization and Automation</a:t>
            </a:r>
            <a:endParaRPr lang="zh-CN" altLang="en-US" sz="44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 descr="QQkAAB+LCAAAAAAABADVVE2P2jAQ/S9ue2NRQN1qlVvYlhb1CxXUblVxcJOBuHUc5DgrdlH++46DnTgf7EIv1YoLmXnjee/N2HvyUt1tgfhkkVCp3jK6kTSZKUjIgMwi4ouc8wGZMBExsXkv03ybEf/XvipzMz+Yir9TnoOuFUwxyg+ffgdvYZ+ZYEmeGJg39DBEd05o5B2CLIo4uLCZUCBvqw4jHSv/L5TEBtNUJlRhw71XvCImRfw346FX6OIIdnjQgCwPtCwfQ08b0KtTJ7TMeZoploq6Yk7RN0BKPWJbRTUUaYFULKQ84GwjEhCaMQoAFcaY/ZBKdp8K1cx/grXC5EeArbFvwe6x3ZryDKwJMd3CF2xjtZUBrPoGnCp22wA0YqSoNFUYbUUL5fYhq8rH2hdUiXQb9haDo9YsYafOM1NXuE72jf2YlJJO2bJmbhicR9t68k/r0Cp2xXxdrzNQN3OQIbKZ3DW9Pyx7G+PMA2/I2AJ+HjvEG152Me4hFw7ixtw6gzdf/atmnOzbNOf4R2fT2LHWoLqe981s1TO16pG6Tnkqn36kLKyTRxdYCMsYErCYJRMqEBESj+wLNZFsEysBWaYDr9G8338gVE6Zf6lReRbjmS+m06ur4N00IFapV/S9VLbhqS9VC3/KYpYl3XUMQr0jhrmzDU2dXk3/6QmvOrIaszwEH7l//03c+Jyn5Tlouyg39JTJTWj49xmLOzq56zxTaaJHNzpR3gp/D3cofltBCQAA"/>
          <p:cNvGrpSpPr/>
          <p:nvPr>
            <p:custDataLst>
              <p:tags r:id="rId1"/>
            </p:custDataLst>
          </p:nvPr>
        </p:nvGrpSpPr>
        <p:grpSpPr>
          <a:xfrm>
            <a:off x="3874281" y="655678"/>
            <a:ext cx="7303103" cy="1395096"/>
            <a:chOff x="2120901" y="1376188"/>
            <a:chExt cx="8602519" cy="1592358"/>
          </a:xfrm>
        </p:grpSpPr>
        <p:sp>
          <p:nvSpPr>
            <p:cNvPr id="4" name="AreaShape"/>
            <p:cNvSpPr/>
            <p:nvPr>
              <p:custDataLst>
                <p:tags r:id="rId2"/>
              </p:custDataLst>
            </p:nvPr>
          </p:nvSpPr>
          <p:spPr bwMode="auto">
            <a:xfrm>
              <a:off x="2120901" y="1376188"/>
              <a:ext cx="8602519" cy="1592358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zh-CN" altLang="en-US" dirty="0"/>
            </a:p>
          </p:txBody>
        </p:sp>
        <p:sp>
          <p:nvSpPr>
            <p:cNvPr id="5" name="RelativeShape"/>
            <p:cNvSpPr/>
            <p:nvPr>
              <p:custDataLst>
                <p:tags r:id="rId3"/>
              </p:custDataLst>
            </p:nvPr>
          </p:nvSpPr>
          <p:spPr bwMode="auto">
            <a:xfrm>
              <a:off x="2721343" y="2134765"/>
              <a:ext cx="6196967" cy="569712"/>
            </a:xfrm>
            <a:prstGeom prst="roundRect">
              <a:avLst>
                <a:gd name="adj" fmla="val 29967"/>
              </a:avLst>
            </a:prstGeom>
            <a:noFill/>
            <a:ln>
              <a:solidFill>
                <a:schemeClr val="bg1"/>
              </a:solidFill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zh-CN" altLang="en-US" dirty="0"/>
            </a:p>
          </p:txBody>
        </p:sp>
        <p:sp>
          <p:nvSpPr>
            <p:cNvPr id="6" name="ValueShape"/>
            <p:cNvSpPr/>
            <p:nvPr>
              <p:custDataLst>
                <p:tags r:id="rId4"/>
              </p:custDataLst>
            </p:nvPr>
          </p:nvSpPr>
          <p:spPr bwMode="auto">
            <a:xfrm>
              <a:off x="2448693" y="2156513"/>
              <a:ext cx="6312871" cy="667460"/>
            </a:xfrm>
            <a:prstGeom prst="roundRect">
              <a:avLst>
                <a:gd name="adj" fmla="val 29967"/>
              </a:avLst>
            </a:prstGeom>
            <a:solidFill>
              <a:srgbClr val="5AB49C">
                <a:alpha val="57000"/>
              </a:srgbClr>
            </a:solidFill>
            <a:ln>
              <a:solidFill>
                <a:srgbClr val="CCCCFF"/>
              </a:solidFill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zh-CN" altLang="en-US" dirty="0"/>
            </a:p>
          </p:txBody>
        </p:sp>
        <p:sp>
          <p:nvSpPr>
            <p:cNvPr id="7" name="CustomText1"/>
            <p:cNvSpPr txBox="1"/>
            <p:nvPr>
              <p:custDataLst>
                <p:tags r:id="rId5"/>
              </p:custDataLst>
            </p:nvPr>
          </p:nvSpPr>
          <p:spPr>
            <a:xfrm>
              <a:off x="3211528" y="1439789"/>
              <a:ext cx="1052626" cy="6674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3200" b="1" dirty="0">
                  <a:solidFill>
                    <a:srgbClr val="5AB49C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01</a:t>
              </a:r>
              <a:endParaRPr lang="zh-CN" altLang="en-US" sz="3600" b="1" dirty="0">
                <a:solidFill>
                  <a:srgbClr val="5AB49C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CustomText"/>
            <p:cNvSpPr/>
            <p:nvPr>
              <p:custDataLst>
                <p:tags r:id="rId6"/>
              </p:custDataLst>
            </p:nvPr>
          </p:nvSpPr>
          <p:spPr>
            <a:xfrm>
              <a:off x="2676868" y="2240102"/>
              <a:ext cx="5592463" cy="525471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2400" b="1" dirty="0">
                  <a:latin typeface="Calibri" panose="020F0502020204030204" pitchFamily="34" charset="0"/>
                  <a:cs typeface="Calibri" panose="020F0502020204030204" pitchFamily="34" charset="0"/>
                </a:rPr>
                <a:t>Understand what customers want</a:t>
              </a:r>
              <a:endParaRPr lang="en-US" altLang="zh-CN" sz="24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9" name="组合 8" descr="QQkAAB+LCAAAAAAABADVVE2P2jAQ/S9ue2NRQN1qlVvYlhb1CxXUblVxcJOBuHUc5DgrdlH++46DnTgf7EIv1YoLmXnjee/N2HvyUt1tgfhkkVCp3jK6kTSZKUjIgMwi4ouc8wGZMBExsXkv03ybEf/XvipzMz+Yir9TnoOuFUwxyg+ffgdvYZ+ZYEmeGJg39DBEd05o5B2CLIo4uLCZUCBvqw4jHSv/L5TEBtNUJlRhw71XvCImRfw346FX6OIIdnjQgCwPtCwfQ08b0KtTJ7TMeZoploq6Yk7RN0BKPWJbRTUUaYFULKQ84GwjEhCaMQoAFcaY/ZBKdp8K1cx/grXC5EeArbFvwe6x3ZryDKwJMd3CF2xjtZUBrPoGnCp22wA0YqSoNFUYbUUL5fYhq8rH2hdUiXQb9haDo9YsYafOM1NXuE72jf2YlJJO2bJmbhicR9t68k/r0Cp2xXxdrzNQN3OQIbKZ3DW9Pyx7G+PMA2/I2AJ+HjvEG152Me4hFw7ixtw6gzdf/atmnOzbNOf4R2fT2LHWoLqe981s1TO16pG6Tnkqn36kLKyTRxdYCMsYErCYJRMqEBESj+wLNZFsEysBWaYDr9G8338gVE6Zf6lReRbjmS+m06ur4N00IFapV/S9VLbhqS9VC3/KYpYl3XUMQr0jhrmzDU2dXk3/6QmvOrIaszwEH7l//03c+Jyn5Tlouyg39JTJTWj49xmLOzq56zxTaaJHNzpR3gp/D3cofltBCQAA"/>
          <p:cNvGrpSpPr/>
          <p:nvPr>
            <p:custDataLst>
              <p:tags r:id="rId7"/>
            </p:custDataLst>
          </p:nvPr>
        </p:nvGrpSpPr>
        <p:grpSpPr>
          <a:xfrm>
            <a:off x="3720431" y="3199808"/>
            <a:ext cx="7610804" cy="1389146"/>
            <a:chOff x="2120901" y="1376188"/>
            <a:chExt cx="8602519" cy="1592358"/>
          </a:xfrm>
        </p:grpSpPr>
        <p:sp>
          <p:nvSpPr>
            <p:cNvPr id="10" name="AreaShape"/>
            <p:cNvSpPr/>
            <p:nvPr/>
          </p:nvSpPr>
          <p:spPr bwMode="auto">
            <a:xfrm>
              <a:off x="2120901" y="1376188"/>
              <a:ext cx="8602519" cy="1592358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zh-CN" altLang="en-US" dirty="0"/>
            </a:p>
          </p:txBody>
        </p:sp>
        <p:sp>
          <p:nvSpPr>
            <p:cNvPr id="11" name="RelativeShape"/>
            <p:cNvSpPr/>
            <p:nvPr/>
          </p:nvSpPr>
          <p:spPr bwMode="auto">
            <a:xfrm>
              <a:off x="2721343" y="2134765"/>
              <a:ext cx="6596627" cy="569712"/>
            </a:xfrm>
            <a:prstGeom prst="roundRect">
              <a:avLst>
                <a:gd name="adj" fmla="val 29967"/>
              </a:avLst>
            </a:prstGeom>
            <a:no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zh-CN" altLang="en-US" dirty="0"/>
            </a:p>
          </p:txBody>
        </p:sp>
        <p:sp>
          <p:nvSpPr>
            <p:cNvPr id="12" name="ValueShape"/>
            <p:cNvSpPr/>
            <p:nvPr>
              <p:custDataLst>
                <p:tags r:id="rId8"/>
              </p:custDataLst>
            </p:nvPr>
          </p:nvSpPr>
          <p:spPr bwMode="auto">
            <a:xfrm>
              <a:off x="2608687" y="2242572"/>
              <a:ext cx="6217719" cy="643483"/>
            </a:xfrm>
            <a:prstGeom prst="roundRect">
              <a:avLst>
                <a:gd name="adj" fmla="val 29967"/>
              </a:avLst>
            </a:prstGeom>
            <a:solidFill>
              <a:srgbClr val="5AB49C">
                <a:alpha val="58000"/>
              </a:srgb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zh-CN" altLang="en-US" dirty="0"/>
            </a:p>
          </p:txBody>
        </p:sp>
        <p:sp>
          <p:nvSpPr>
            <p:cNvPr id="13" name="CustomText1"/>
            <p:cNvSpPr txBox="1"/>
            <p:nvPr>
              <p:custDataLst>
                <p:tags r:id="rId9"/>
              </p:custDataLst>
            </p:nvPr>
          </p:nvSpPr>
          <p:spPr>
            <a:xfrm>
              <a:off x="3292548" y="1612403"/>
              <a:ext cx="1141297" cy="6703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3200" b="1" dirty="0">
                  <a:solidFill>
                    <a:srgbClr val="5AB49C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03</a:t>
              </a:r>
              <a:endParaRPr lang="zh-CN" altLang="en-US" sz="3200" b="1" dirty="0">
                <a:solidFill>
                  <a:srgbClr val="5AB49C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" name="CustomText"/>
            <p:cNvSpPr/>
            <p:nvPr/>
          </p:nvSpPr>
          <p:spPr>
            <a:xfrm>
              <a:off x="3171455" y="2244418"/>
              <a:ext cx="1308571" cy="38808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15" name="ValueText"/>
            <p:cNvSpPr txBox="1"/>
            <p:nvPr/>
          </p:nvSpPr>
          <p:spPr>
            <a:xfrm>
              <a:off x="7136847" y="2123611"/>
              <a:ext cx="789359" cy="592019"/>
            </a:xfrm>
            <a:prstGeom prst="rect">
              <a:avLst/>
            </a:prstGeom>
            <a:noFill/>
            <a:ln>
              <a:noFill/>
            </a:ln>
          </p:spPr>
          <p:txBody>
            <a:bodyPr wrap="none" tIns="90000" bIns="90000" anchor="ctr" anchorCtr="0">
              <a:prstTxWarp prst="textPlain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Impact" panose="020B0806030902050204" pitchFamily="34" charset="0"/>
              </a:endParaRPr>
            </a:p>
          </p:txBody>
        </p:sp>
      </p:grpSp>
      <p:grpSp>
        <p:nvGrpSpPr>
          <p:cNvPr id="16" name="组合 15" descr="QQkAAB+LCAAAAAAABADVVE2P2jAQ/S9ue2NRQN1qlVvYlhb1CxXUblVxcJOBuHUc5DgrdlH++46DnTgf7EIv1YoLmXnjee/N2HvyUt1tgfhkkVCp3jK6kTSZKUjIgMwi4ouc8wGZMBExsXkv03ybEf/XvipzMz+Yir9TnoOuFUwxyg+ffgdvYZ+ZYEmeGJg39DBEd05o5B2CLIo4uLCZUCBvqw4jHSv/L5TEBtNUJlRhw71XvCImRfw346FX6OIIdnjQgCwPtCwfQ08b0KtTJ7TMeZoploq6Yk7RN0BKPWJbRTUUaYFULKQ84GwjEhCaMQoAFcaY/ZBKdp8K1cx/grXC5EeArbFvwe6x3ZryDKwJMd3CF2xjtZUBrPoGnCp22wA0YqSoNFUYbUUL5fYhq8rH2hdUiXQb9haDo9YsYafOM1NXuE72jf2YlJJO2bJmbhicR9t68k/r0Cp2xXxdrzNQN3OQIbKZ3DW9Pyx7G+PMA2/I2AJ+HjvEG152Me4hFw7ixtw6gzdf/atmnOzbNOf4R2fT2LHWoLqe981s1TO16pG6Tnkqn36kLKyTRxdYCMsYErCYJRMqEBESj+wLNZFsEysBWaYDr9G8338gVE6Zf6lReRbjmS+m06ur4N00IFapV/S9VLbhqS9VC3/KYpYl3XUMQr0jhrmzDU2dXk3/6QmvOrIaszwEH7l//03c+Jyn5Tlouyg39JTJTWj49xmLOzq56zxTaaJHNzpR3gp/D3cofltBCQAA"/>
          <p:cNvGrpSpPr/>
          <p:nvPr>
            <p:custDataLst>
              <p:tags r:id="rId10"/>
            </p:custDataLst>
          </p:nvPr>
        </p:nvGrpSpPr>
        <p:grpSpPr>
          <a:xfrm>
            <a:off x="3694800" y="4541964"/>
            <a:ext cx="8147670" cy="1395096"/>
            <a:chOff x="2120901" y="1376188"/>
            <a:chExt cx="9092643" cy="1592358"/>
          </a:xfrm>
        </p:grpSpPr>
        <p:sp>
          <p:nvSpPr>
            <p:cNvPr id="17" name="AreaShape"/>
            <p:cNvSpPr/>
            <p:nvPr/>
          </p:nvSpPr>
          <p:spPr bwMode="auto">
            <a:xfrm>
              <a:off x="2120901" y="1376188"/>
              <a:ext cx="8602519" cy="1592358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zh-CN" altLang="en-US" dirty="0"/>
            </a:p>
          </p:txBody>
        </p:sp>
        <p:sp>
          <p:nvSpPr>
            <p:cNvPr id="18" name="RelativeShape"/>
            <p:cNvSpPr/>
            <p:nvPr/>
          </p:nvSpPr>
          <p:spPr bwMode="auto">
            <a:xfrm>
              <a:off x="2721343" y="2134765"/>
              <a:ext cx="6596627" cy="569712"/>
            </a:xfrm>
            <a:prstGeom prst="roundRect">
              <a:avLst>
                <a:gd name="adj" fmla="val 29967"/>
              </a:avLst>
            </a:prstGeom>
            <a:no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zh-CN" altLang="en-US" dirty="0"/>
            </a:p>
          </p:txBody>
        </p:sp>
        <p:sp>
          <p:nvSpPr>
            <p:cNvPr id="19" name="ValueShape"/>
            <p:cNvSpPr/>
            <p:nvPr>
              <p:custDataLst>
                <p:tags r:id="rId11"/>
              </p:custDataLst>
            </p:nvPr>
          </p:nvSpPr>
          <p:spPr bwMode="auto">
            <a:xfrm>
              <a:off x="2631110" y="2101090"/>
              <a:ext cx="8582434" cy="684897"/>
            </a:xfrm>
            <a:prstGeom prst="roundRect">
              <a:avLst>
                <a:gd name="adj" fmla="val 29967"/>
              </a:avLst>
            </a:prstGeom>
            <a:solidFill>
              <a:schemeClr val="accent2">
                <a:alpha val="73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zh-CN" altLang="en-US" dirty="0"/>
            </a:p>
          </p:txBody>
        </p:sp>
        <p:sp>
          <p:nvSpPr>
            <p:cNvPr id="21" name="CustomText1"/>
            <p:cNvSpPr txBox="1"/>
            <p:nvPr>
              <p:custDataLst>
                <p:tags r:id="rId12"/>
              </p:custDataLst>
            </p:nvPr>
          </p:nvSpPr>
          <p:spPr>
            <a:xfrm>
              <a:off x="3236077" y="1493634"/>
              <a:ext cx="1173206" cy="6674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3200" b="1" dirty="0">
                  <a:solidFill>
                    <a:schemeClr val="accent1">
                      <a:lumMod val="84000"/>
                      <a:lumOff val="16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04</a:t>
              </a:r>
              <a:endParaRPr lang="zh-CN" altLang="en-US" sz="3200" b="1" dirty="0">
                <a:solidFill>
                  <a:schemeClr val="accent1">
                    <a:lumMod val="84000"/>
                    <a:lumOff val="16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2" name="CustomText"/>
            <p:cNvSpPr/>
            <p:nvPr>
              <p:custDataLst>
                <p:tags r:id="rId13"/>
              </p:custDataLst>
            </p:nvPr>
          </p:nvSpPr>
          <p:spPr>
            <a:xfrm>
              <a:off x="2889783" y="2227813"/>
              <a:ext cx="6735697" cy="525471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24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Increase sales and loyalty to Amazon</a:t>
              </a:r>
              <a:endParaRPr lang="en-US" altLang="zh-C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23" name="组合 22" descr="QQkAAB+LCAAAAAAABADVVE2P2jAQ/S9ue2NRQN1qlVvYlhb1CxXUblVxcJOBuHUc5DgrdlH++46DnTgf7EIv1YoLmXnjee/N2HvyUt1tgfhkkVCp3jK6kTSZKUjIgMwi4ouc8wGZMBExsXkv03ybEf/XvipzMz+Yir9TnoOuFUwxyg+ffgdvYZ+ZYEmeGJg39DBEd05o5B2CLIo4uLCZUCBvqw4jHSv/L5TEBtNUJlRhw71XvCImRfw346FX6OIIdnjQgCwPtCwfQ08b0KtTJ7TMeZoploq6Yk7RN0BKPWJbRTUUaYFULKQ84GwjEhCaMQoAFcaY/ZBKdp8K1cx/grXC5EeArbFvwe6x3ZryDKwJMd3CF2xjtZUBrPoGnCp22wA0YqSoNFUYbUUL5fYhq8rH2hdUiXQb9haDo9YsYafOM1NXuE72jf2YlJJO2bJmbhicR9t68k/r0Cp2xXxdrzNQN3OQIbKZ3DW9Pyx7G+PMA2/I2AJ+HjvEG152Me4hFw7ixtw6gzdf/atmnOzbNOf4R2fT2LHWoLqe981s1TO16pG6Tnkqn36kLKyTRxdYCMsYErCYJRMqEBESj+wLNZFsEysBWaYDr9G8338gVE6Zf6lReRbjmS+m06ur4N00IFapV/S9VLbhqS9VC3/KYpYl3XUMQr0jhrmzDU2dXk3/6QmvOrIaszwEH7l//03c+Jyn5Tlouyg39JTJTWj49xmLOzq56zxTaaJHNzpR3gp/D3cofltBCQAA"/>
          <p:cNvGrpSpPr/>
          <p:nvPr>
            <p:custDataLst>
              <p:tags r:id="rId14"/>
            </p:custDataLst>
          </p:nvPr>
        </p:nvGrpSpPr>
        <p:grpSpPr>
          <a:xfrm>
            <a:off x="3741820" y="2023320"/>
            <a:ext cx="7935502" cy="1483324"/>
            <a:chOff x="2120901" y="1376188"/>
            <a:chExt cx="8602519" cy="1592358"/>
          </a:xfrm>
        </p:grpSpPr>
        <p:sp>
          <p:nvSpPr>
            <p:cNvPr id="24" name="AreaShape"/>
            <p:cNvSpPr/>
            <p:nvPr/>
          </p:nvSpPr>
          <p:spPr bwMode="auto">
            <a:xfrm>
              <a:off x="2120901" y="1376188"/>
              <a:ext cx="8602519" cy="1592358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zh-CN" altLang="en-US" dirty="0"/>
            </a:p>
          </p:txBody>
        </p:sp>
        <p:sp>
          <p:nvSpPr>
            <p:cNvPr id="25" name="RelativeShape"/>
            <p:cNvSpPr/>
            <p:nvPr/>
          </p:nvSpPr>
          <p:spPr bwMode="auto">
            <a:xfrm>
              <a:off x="2721343" y="2134765"/>
              <a:ext cx="6596627" cy="569712"/>
            </a:xfrm>
            <a:prstGeom prst="roundRect">
              <a:avLst>
                <a:gd name="adj" fmla="val 29967"/>
              </a:avLst>
            </a:prstGeom>
            <a:noFill/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zh-CN" altLang="en-US"/>
            </a:p>
          </p:txBody>
        </p:sp>
        <p:sp>
          <p:nvSpPr>
            <p:cNvPr id="26" name="ValueShape"/>
            <p:cNvSpPr/>
            <p:nvPr>
              <p:custDataLst>
                <p:tags r:id="rId15"/>
              </p:custDataLst>
            </p:nvPr>
          </p:nvSpPr>
          <p:spPr bwMode="auto">
            <a:xfrm>
              <a:off x="2528993" y="2130271"/>
              <a:ext cx="5910333" cy="619642"/>
            </a:xfrm>
            <a:prstGeom prst="roundRect">
              <a:avLst>
                <a:gd name="adj" fmla="val 29967"/>
              </a:avLst>
            </a:prstGeom>
            <a:solidFill>
              <a:schemeClr val="accent2">
                <a:alpha val="73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zh-CN" altLang="en-US" dirty="0"/>
            </a:p>
          </p:txBody>
        </p:sp>
        <p:sp>
          <p:nvSpPr>
            <p:cNvPr id="28" name="CustomText1"/>
            <p:cNvSpPr txBox="1"/>
            <p:nvPr>
              <p:custDataLst>
                <p:tags r:id="rId16"/>
              </p:custDataLst>
            </p:nvPr>
          </p:nvSpPr>
          <p:spPr>
            <a:xfrm>
              <a:off x="3187103" y="1470801"/>
              <a:ext cx="1173206" cy="6277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3200" b="1" dirty="0">
                  <a:solidFill>
                    <a:schemeClr val="accent1">
                      <a:lumMod val="84000"/>
                      <a:lumOff val="16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02</a:t>
              </a:r>
              <a:endParaRPr lang="zh-CN" altLang="en-US" sz="3200" b="1" dirty="0">
                <a:solidFill>
                  <a:schemeClr val="accent1">
                    <a:lumMod val="84000"/>
                    <a:lumOff val="16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9" name="CustomText"/>
            <p:cNvSpPr/>
            <p:nvPr>
              <p:custDataLst>
                <p:tags r:id="rId17"/>
              </p:custDataLst>
            </p:nvPr>
          </p:nvSpPr>
          <p:spPr>
            <a:xfrm>
              <a:off x="2653015" y="2165570"/>
              <a:ext cx="5459501" cy="494216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24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Make tailored advice</a:t>
              </a:r>
              <a:endParaRPr lang="zh-CN" altLang="en-US" sz="24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0" name="ValueText"/>
            <p:cNvSpPr txBox="1"/>
            <p:nvPr/>
          </p:nvSpPr>
          <p:spPr>
            <a:xfrm>
              <a:off x="3447589" y="2219903"/>
              <a:ext cx="789359" cy="592019"/>
            </a:xfrm>
            <a:prstGeom prst="rect">
              <a:avLst/>
            </a:prstGeom>
            <a:noFill/>
            <a:ln>
              <a:noFill/>
            </a:ln>
          </p:spPr>
          <p:txBody>
            <a:bodyPr wrap="none" tIns="90000" bIns="90000" anchor="ctr" anchorCtr="0">
              <a:prstTxWarp prst="textPlain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31" name="箭头: 下 30"/>
          <p:cNvSpPr/>
          <p:nvPr>
            <p:custDataLst>
              <p:tags r:id="rId18"/>
            </p:custDataLst>
          </p:nvPr>
        </p:nvSpPr>
        <p:spPr>
          <a:xfrm flipH="1">
            <a:off x="8637200" y="2034231"/>
            <a:ext cx="457139" cy="530701"/>
          </a:xfrm>
          <a:prstGeom prst="downArrow">
            <a:avLst>
              <a:gd name="adj1" fmla="val 37928"/>
              <a:gd name="adj2" fmla="val 52089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2" name="文本框 31"/>
          <p:cNvSpPr txBox="1"/>
          <p:nvPr>
            <p:custDataLst>
              <p:tags r:id="rId19"/>
            </p:custDataLst>
          </p:nvPr>
        </p:nvSpPr>
        <p:spPr>
          <a:xfrm>
            <a:off x="4890641" y="3967162"/>
            <a:ext cx="39658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 shopping experience</a:t>
            </a:r>
            <a:endParaRPr lang="zh-CN" altLang="en-US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箭头: 下 35"/>
          <p:cNvSpPr/>
          <p:nvPr>
            <p:custDataLst>
              <p:tags r:id="rId20"/>
            </p:custDataLst>
          </p:nvPr>
        </p:nvSpPr>
        <p:spPr>
          <a:xfrm flipH="1">
            <a:off x="8663944" y="3364498"/>
            <a:ext cx="457139" cy="530701"/>
          </a:xfrm>
          <a:prstGeom prst="downArrow">
            <a:avLst>
              <a:gd name="adj1" fmla="val 37928"/>
              <a:gd name="adj2" fmla="val 52089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7" name="箭头: 下 36"/>
          <p:cNvSpPr/>
          <p:nvPr>
            <p:custDataLst>
              <p:tags r:id="rId21"/>
            </p:custDataLst>
          </p:nvPr>
        </p:nvSpPr>
        <p:spPr>
          <a:xfrm flipH="1">
            <a:off x="8663944" y="4638082"/>
            <a:ext cx="457139" cy="530701"/>
          </a:xfrm>
          <a:prstGeom prst="downArrow">
            <a:avLst>
              <a:gd name="adj1" fmla="val 37928"/>
              <a:gd name="adj2" fmla="val 52089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-1340090" y="187350"/>
            <a:ext cx="62307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Personalization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822" y="1150429"/>
            <a:ext cx="2854179" cy="490436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19"/>
          <p:cNvSpPr txBox="1"/>
          <p:nvPr/>
        </p:nvSpPr>
        <p:spPr>
          <a:xfrm>
            <a:off x="2192173" y="2228671"/>
            <a:ext cx="285690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Rely less on human customer service</a:t>
            </a:r>
            <a:endParaRPr lang="zh-CN" altLang="en-US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" name="组合 1"/>
          <p:cNvGrpSpPr/>
          <p:nvPr>
            <p:custDataLst>
              <p:tags r:id="rId1"/>
            </p:custDataLst>
          </p:nvPr>
        </p:nvGrpSpPr>
        <p:grpSpPr>
          <a:xfrm>
            <a:off x="5324686" y="1198901"/>
            <a:ext cx="8600384" cy="4480420"/>
            <a:chOff x="4142841" y="1598620"/>
            <a:chExt cx="8600384" cy="4480420"/>
          </a:xfrm>
        </p:grpSpPr>
        <p:sp>
          <p:nvSpPr>
            <p:cNvPr id="33" name="椭圆 32"/>
            <p:cNvSpPr/>
            <p:nvPr>
              <p:custDataLst>
                <p:tags r:id="rId2"/>
              </p:custDataLst>
            </p:nvPr>
          </p:nvSpPr>
          <p:spPr>
            <a:xfrm>
              <a:off x="4299320" y="3212934"/>
              <a:ext cx="2005943" cy="1332048"/>
            </a:xfrm>
            <a:prstGeom prst="ellipse">
              <a:avLst/>
            </a:prstGeom>
            <a:solidFill>
              <a:schemeClr val="accent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35" name="椭圆 34"/>
            <p:cNvSpPr/>
            <p:nvPr>
              <p:custDataLst>
                <p:tags r:id="rId3"/>
              </p:custDataLst>
            </p:nvPr>
          </p:nvSpPr>
          <p:spPr>
            <a:xfrm>
              <a:off x="4299320" y="4601287"/>
              <a:ext cx="2120089" cy="1477753"/>
            </a:xfrm>
            <a:prstGeom prst="ellipse">
              <a:avLst/>
            </a:prstGeom>
            <a:solidFill>
              <a:srgbClr val="FFC000">
                <a:alpha val="31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36" name="椭圆 35"/>
            <p:cNvSpPr/>
            <p:nvPr>
              <p:custDataLst>
                <p:tags r:id="rId4"/>
              </p:custDataLst>
            </p:nvPr>
          </p:nvSpPr>
          <p:spPr>
            <a:xfrm>
              <a:off x="4299320" y="1598620"/>
              <a:ext cx="2005943" cy="1332048"/>
            </a:xfrm>
            <a:prstGeom prst="ellipse">
              <a:avLst/>
            </a:prstGeom>
            <a:solidFill>
              <a:srgbClr val="5AB49C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13" name="文本框 12"/>
            <p:cNvSpPr txBox="1"/>
            <p:nvPr>
              <p:custDataLst>
                <p:tags r:id="rId5"/>
              </p:custDataLst>
            </p:nvPr>
          </p:nvSpPr>
          <p:spPr>
            <a:xfrm>
              <a:off x="6520809" y="3409162"/>
              <a:ext cx="4540055" cy="5219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8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Reduce Operational Costs</a:t>
              </a:r>
              <a:endParaRPr lang="zh-CN" altLang="en-US" sz="28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" name="文本框 14"/>
            <p:cNvSpPr txBox="1"/>
            <p:nvPr>
              <p:custDataLst>
                <p:tags r:id="rId6"/>
              </p:custDataLst>
            </p:nvPr>
          </p:nvSpPr>
          <p:spPr>
            <a:xfrm>
              <a:off x="6603452" y="1977878"/>
              <a:ext cx="358140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8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Full-time Support</a:t>
              </a:r>
              <a:endParaRPr lang="zh-CN" altLang="en-US" sz="28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3" name="文本框 22"/>
            <p:cNvSpPr txBox="1"/>
            <p:nvPr>
              <p:custDataLst>
                <p:tags r:id="rId7"/>
              </p:custDataLst>
            </p:nvPr>
          </p:nvSpPr>
          <p:spPr>
            <a:xfrm>
              <a:off x="6647225" y="5078554"/>
              <a:ext cx="6096000" cy="5219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800" b="1" dirty="0">
                  <a:latin typeface="Calibri" panose="020F0502020204030204" pitchFamily="34" charset="0"/>
                  <a:cs typeface="Calibri" panose="020F0502020204030204" pitchFamily="34" charset="0"/>
                </a:rPr>
                <a:t>Attract more shoppers</a:t>
              </a:r>
              <a:endParaRPr lang="en-US" altLang="zh-CN" sz="28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5" name="文本框 24"/>
            <p:cNvSpPr txBox="1"/>
            <p:nvPr>
              <p:custDataLst>
                <p:tags r:id="rId8"/>
              </p:custDataLst>
            </p:nvPr>
          </p:nvSpPr>
          <p:spPr>
            <a:xfrm>
              <a:off x="4142841" y="3384927"/>
              <a:ext cx="2318899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800" b="1" i="0" u="none" strike="noStrike" dirty="0">
                  <a:effectLst/>
                  <a:latin typeface="Times New Roman" panose="02020503050405090304" pitchFamily="18" charset="0"/>
                  <a:ea typeface="Calibri" panose="020F0502020204030204" pitchFamily="34" charset="0"/>
                  <a:cs typeface="Times New Roman" panose="02020503050405090304" pitchFamily="18" charset="0"/>
                </a:rPr>
                <a:t>Company Amazon</a:t>
              </a:r>
              <a:endParaRPr lang="zh-CN" altLang="en-US" sz="2000" b="1" dirty="0"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sp>
          <p:nvSpPr>
            <p:cNvPr id="27" name="文本框 26"/>
            <p:cNvSpPr txBox="1"/>
            <p:nvPr>
              <p:custDataLst>
                <p:tags r:id="rId9"/>
              </p:custDataLst>
            </p:nvPr>
          </p:nvSpPr>
          <p:spPr>
            <a:xfrm>
              <a:off x="4466883" y="1984784"/>
              <a:ext cx="205392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800" b="1" dirty="0">
                  <a:latin typeface="Times New Roman" panose="02020503050405090304" pitchFamily="18" charset="0"/>
                  <a:cs typeface="Times New Roman" panose="02020503050405090304" pitchFamily="18" charset="0"/>
                </a:rPr>
                <a:t>Consumer</a:t>
              </a:r>
              <a:endParaRPr lang="zh-CN" altLang="en-US" sz="2800" b="1" dirty="0"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sp>
          <p:nvSpPr>
            <p:cNvPr id="29" name="文本框 28"/>
            <p:cNvSpPr txBox="1"/>
            <p:nvPr>
              <p:custDataLst>
                <p:tags r:id="rId10"/>
              </p:custDataLst>
            </p:nvPr>
          </p:nvSpPr>
          <p:spPr>
            <a:xfrm>
              <a:off x="4780696" y="5065187"/>
              <a:ext cx="142629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3200" b="1" dirty="0">
                  <a:latin typeface="Times New Roman" panose="02020503050405090304" pitchFamily="18" charset="0"/>
                  <a:cs typeface="Times New Roman" panose="02020503050405090304" pitchFamily="18" charset="0"/>
                </a:rPr>
                <a:t>Seller</a:t>
              </a:r>
              <a:endParaRPr lang="zh-CN" altLang="en-US" sz="2400" b="1" dirty="0"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</p:grpSp>
      <p:sp>
        <p:nvSpPr>
          <p:cNvPr id="3" name="right-arrow_44733"/>
          <p:cNvSpPr/>
          <p:nvPr/>
        </p:nvSpPr>
        <p:spPr>
          <a:xfrm rot="20282928">
            <a:off x="4459434" y="1957720"/>
            <a:ext cx="686565" cy="334877"/>
          </a:xfrm>
          <a:custGeom>
            <a:avLst/>
            <a:gdLst>
              <a:gd name="T0" fmla="*/ 4601 w 6926"/>
              <a:gd name="T1" fmla="*/ 0 h 3810"/>
              <a:gd name="T2" fmla="*/ 4598 w 6926"/>
              <a:gd name="T3" fmla="*/ 926 h 3810"/>
              <a:gd name="T4" fmla="*/ 4102 w 6926"/>
              <a:gd name="T5" fmla="*/ 976 h 3810"/>
              <a:gd name="T6" fmla="*/ 3831 w 6926"/>
              <a:gd name="T7" fmla="*/ 1015 h 3810"/>
              <a:gd name="T8" fmla="*/ 3691 w 6926"/>
              <a:gd name="T9" fmla="*/ 1038 h 3810"/>
              <a:gd name="T10" fmla="*/ 3549 w 6926"/>
              <a:gd name="T11" fmla="*/ 1064 h 3810"/>
              <a:gd name="T12" fmla="*/ 2965 w 6926"/>
              <a:gd name="T13" fmla="*/ 1195 h 3810"/>
              <a:gd name="T14" fmla="*/ 2373 w 6926"/>
              <a:gd name="T15" fmla="*/ 1380 h 3810"/>
              <a:gd name="T16" fmla="*/ 2228 w 6926"/>
              <a:gd name="T17" fmla="*/ 1433 h 3810"/>
              <a:gd name="T18" fmla="*/ 2084 w 6926"/>
              <a:gd name="T19" fmla="*/ 1492 h 3810"/>
              <a:gd name="T20" fmla="*/ 1803 w 6926"/>
              <a:gd name="T21" fmla="*/ 1619 h 3810"/>
              <a:gd name="T22" fmla="*/ 1534 w 6926"/>
              <a:gd name="T23" fmla="*/ 1760 h 3810"/>
              <a:gd name="T24" fmla="*/ 1282 w 6926"/>
              <a:gd name="T25" fmla="*/ 1914 h 3810"/>
              <a:gd name="T26" fmla="*/ 841 w 6926"/>
              <a:gd name="T27" fmla="*/ 2252 h 3810"/>
              <a:gd name="T28" fmla="*/ 498 w 6926"/>
              <a:gd name="T29" fmla="*/ 2603 h 3810"/>
              <a:gd name="T30" fmla="*/ 364 w 6926"/>
              <a:gd name="T31" fmla="*/ 2771 h 3810"/>
              <a:gd name="T32" fmla="*/ 257 w 6926"/>
              <a:gd name="T33" fmla="*/ 2932 h 3810"/>
              <a:gd name="T34" fmla="*/ 173 w 6926"/>
              <a:gd name="T35" fmla="*/ 3077 h 3810"/>
              <a:gd name="T36" fmla="*/ 106 w 6926"/>
              <a:gd name="T37" fmla="*/ 3200 h 3810"/>
              <a:gd name="T38" fmla="*/ 0 w 6926"/>
              <a:gd name="T39" fmla="*/ 3443 h 3810"/>
              <a:gd name="T40" fmla="*/ 177 w 6926"/>
              <a:gd name="T41" fmla="*/ 3251 h 3810"/>
              <a:gd name="T42" fmla="*/ 278 w 6926"/>
              <a:gd name="T43" fmla="*/ 3159 h 3810"/>
              <a:gd name="T44" fmla="*/ 398 w 6926"/>
              <a:gd name="T45" fmla="*/ 3056 h 3810"/>
              <a:gd name="T46" fmla="*/ 541 w 6926"/>
              <a:gd name="T47" fmla="*/ 2949 h 3810"/>
              <a:gd name="T48" fmla="*/ 707 w 6926"/>
              <a:gd name="T49" fmla="*/ 2843 h 3810"/>
              <a:gd name="T50" fmla="*/ 1096 w 6926"/>
              <a:gd name="T51" fmla="*/ 2650 h 3810"/>
              <a:gd name="T52" fmla="*/ 1549 w 6926"/>
              <a:gd name="T53" fmla="*/ 2502 h 3810"/>
              <a:gd name="T54" fmla="*/ 1794 w 6926"/>
              <a:gd name="T55" fmla="*/ 2449 h 3810"/>
              <a:gd name="T56" fmla="*/ 2048 w 6926"/>
              <a:gd name="T57" fmla="*/ 2412 h 3810"/>
              <a:gd name="T58" fmla="*/ 2307 w 6926"/>
              <a:gd name="T59" fmla="*/ 2390 h 3810"/>
              <a:gd name="T60" fmla="*/ 2437 w 6926"/>
              <a:gd name="T61" fmla="*/ 2383 h 3810"/>
              <a:gd name="T62" fmla="*/ 2569 w 6926"/>
              <a:gd name="T63" fmla="*/ 2381 h 3810"/>
              <a:gd name="T64" fmla="*/ 3090 w 6926"/>
              <a:gd name="T65" fmla="*/ 2399 h 3810"/>
              <a:gd name="T66" fmla="*/ 3594 w 6926"/>
              <a:gd name="T67" fmla="*/ 2458 h 3810"/>
              <a:gd name="T68" fmla="*/ 3714 w 6926"/>
              <a:gd name="T69" fmla="*/ 2476 h 3810"/>
              <a:gd name="T70" fmla="*/ 3832 w 6926"/>
              <a:gd name="T71" fmla="*/ 2498 h 3810"/>
              <a:gd name="T72" fmla="*/ 4059 w 6926"/>
              <a:gd name="T73" fmla="*/ 2543 h 3810"/>
              <a:gd name="T74" fmla="*/ 4471 w 6926"/>
              <a:gd name="T75" fmla="*/ 2641 h 3810"/>
              <a:gd name="T76" fmla="*/ 4592 w 6926"/>
              <a:gd name="T77" fmla="*/ 2675 h 3810"/>
              <a:gd name="T78" fmla="*/ 4588 w 6926"/>
              <a:gd name="T79" fmla="*/ 3810 h 3810"/>
              <a:gd name="T80" fmla="*/ 6926 w 6926"/>
              <a:gd name="T81" fmla="*/ 1913 h 3810"/>
              <a:gd name="T82" fmla="*/ 4601 w 6926"/>
              <a:gd name="T83" fmla="*/ 0 h 38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6926" h="3810">
                <a:moveTo>
                  <a:pt x="4601" y="0"/>
                </a:moveTo>
                <a:lnTo>
                  <a:pt x="4598" y="926"/>
                </a:lnTo>
                <a:cubicBezTo>
                  <a:pt x="4444" y="937"/>
                  <a:pt x="4277" y="954"/>
                  <a:pt x="4102" y="976"/>
                </a:cubicBezTo>
                <a:cubicBezTo>
                  <a:pt x="4014" y="989"/>
                  <a:pt x="3923" y="1000"/>
                  <a:pt x="3831" y="1015"/>
                </a:cubicBezTo>
                <a:cubicBezTo>
                  <a:pt x="3785" y="1023"/>
                  <a:pt x="3738" y="1030"/>
                  <a:pt x="3691" y="1038"/>
                </a:cubicBezTo>
                <a:cubicBezTo>
                  <a:pt x="3644" y="1046"/>
                  <a:pt x="3597" y="1055"/>
                  <a:pt x="3549" y="1064"/>
                </a:cubicBezTo>
                <a:cubicBezTo>
                  <a:pt x="3358" y="1099"/>
                  <a:pt x="3162" y="1144"/>
                  <a:pt x="2965" y="1195"/>
                </a:cubicBezTo>
                <a:cubicBezTo>
                  <a:pt x="2767" y="1249"/>
                  <a:pt x="2569" y="1307"/>
                  <a:pt x="2373" y="1380"/>
                </a:cubicBezTo>
                <a:cubicBezTo>
                  <a:pt x="2325" y="1398"/>
                  <a:pt x="2276" y="1414"/>
                  <a:pt x="2228" y="1433"/>
                </a:cubicBezTo>
                <a:cubicBezTo>
                  <a:pt x="2180" y="1453"/>
                  <a:pt x="2132" y="1473"/>
                  <a:pt x="2084" y="1492"/>
                </a:cubicBezTo>
                <a:cubicBezTo>
                  <a:pt x="1988" y="1530"/>
                  <a:pt x="1895" y="1577"/>
                  <a:pt x="1803" y="1619"/>
                </a:cubicBezTo>
                <a:cubicBezTo>
                  <a:pt x="1711" y="1664"/>
                  <a:pt x="1622" y="1713"/>
                  <a:pt x="1534" y="1760"/>
                </a:cubicBezTo>
                <a:cubicBezTo>
                  <a:pt x="1448" y="1812"/>
                  <a:pt x="1363" y="1860"/>
                  <a:pt x="1282" y="1914"/>
                </a:cubicBezTo>
                <a:cubicBezTo>
                  <a:pt x="1121" y="2022"/>
                  <a:pt x="972" y="2134"/>
                  <a:pt x="841" y="2252"/>
                </a:cubicBezTo>
                <a:cubicBezTo>
                  <a:pt x="709" y="2367"/>
                  <a:pt x="595" y="2488"/>
                  <a:pt x="498" y="2603"/>
                </a:cubicBezTo>
                <a:cubicBezTo>
                  <a:pt x="451" y="2662"/>
                  <a:pt x="405" y="2717"/>
                  <a:pt x="364" y="2771"/>
                </a:cubicBezTo>
                <a:cubicBezTo>
                  <a:pt x="327" y="2828"/>
                  <a:pt x="291" y="2881"/>
                  <a:pt x="257" y="2932"/>
                </a:cubicBezTo>
                <a:cubicBezTo>
                  <a:pt x="223" y="2980"/>
                  <a:pt x="198" y="3032"/>
                  <a:pt x="173" y="3077"/>
                </a:cubicBezTo>
                <a:cubicBezTo>
                  <a:pt x="148" y="3122"/>
                  <a:pt x="126" y="3163"/>
                  <a:pt x="106" y="3200"/>
                </a:cubicBezTo>
                <a:cubicBezTo>
                  <a:pt x="38" y="3355"/>
                  <a:pt x="0" y="3443"/>
                  <a:pt x="0" y="3443"/>
                </a:cubicBezTo>
                <a:cubicBezTo>
                  <a:pt x="0" y="3443"/>
                  <a:pt x="64" y="3373"/>
                  <a:pt x="177" y="3251"/>
                </a:cubicBezTo>
                <a:cubicBezTo>
                  <a:pt x="207" y="3223"/>
                  <a:pt x="241" y="3193"/>
                  <a:pt x="278" y="3159"/>
                </a:cubicBezTo>
                <a:cubicBezTo>
                  <a:pt x="315" y="3127"/>
                  <a:pt x="351" y="3089"/>
                  <a:pt x="398" y="3056"/>
                </a:cubicBezTo>
                <a:cubicBezTo>
                  <a:pt x="443" y="3023"/>
                  <a:pt x="491" y="2987"/>
                  <a:pt x="541" y="2949"/>
                </a:cubicBezTo>
                <a:cubicBezTo>
                  <a:pt x="593" y="2914"/>
                  <a:pt x="650" y="2880"/>
                  <a:pt x="707" y="2843"/>
                </a:cubicBezTo>
                <a:cubicBezTo>
                  <a:pt x="824" y="2774"/>
                  <a:pt x="954" y="2707"/>
                  <a:pt x="1096" y="2650"/>
                </a:cubicBezTo>
                <a:cubicBezTo>
                  <a:pt x="1237" y="2591"/>
                  <a:pt x="1390" y="2543"/>
                  <a:pt x="1549" y="2502"/>
                </a:cubicBezTo>
                <a:cubicBezTo>
                  <a:pt x="1629" y="2481"/>
                  <a:pt x="1713" y="2467"/>
                  <a:pt x="1794" y="2449"/>
                </a:cubicBezTo>
                <a:cubicBezTo>
                  <a:pt x="1879" y="2436"/>
                  <a:pt x="1962" y="2422"/>
                  <a:pt x="2048" y="2412"/>
                </a:cubicBezTo>
                <a:cubicBezTo>
                  <a:pt x="2135" y="2404"/>
                  <a:pt x="2219" y="2392"/>
                  <a:pt x="2307" y="2390"/>
                </a:cubicBezTo>
                <a:cubicBezTo>
                  <a:pt x="2350" y="2387"/>
                  <a:pt x="2394" y="2385"/>
                  <a:pt x="2437" y="2383"/>
                </a:cubicBezTo>
                <a:cubicBezTo>
                  <a:pt x="2481" y="2381"/>
                  <a:pt x="2525" y="2381"/>
                  <a:pt x="2569" y="2381"/>
                </a:cubicBezTo>
                <a:cubicBezTo>
                  <a:pt x="2743" y="2377"/>
                  <a:pt x="2919" y="2387"/>
                  <a:pt x="3090" y="2399"/>
                </a:cubicBezTo>
                <a:cubicBezTo>
                  <a:pt x="3263" y="2414"/>
                  <a:pt x="3431" y="2432"/>
                  <a:pt x="3594" y="2458"/>
                </a:cubicBezTo>
                <a:cubicBezTo>
                  <a:pt x="3634" y="2464"/>
                  <a:pt x="3674" y="2470"/>
                  <a:pt x="3714" y="2476"/>
                </a:cubicBezTo>
                <a:cubicBezTo>
                  <a:pt x="3754" y="2484"/>
                  <a:pt x="3793" y="2491"/>
                  <a:pt x="3832" y="2498"/>
                </a:cubicBezTo>
                <a:cubicBezTo>
                  <a:pt x="3910" y="2511"/>
                  <a:pt x="3986" y="2528"/>
                  <a:pt x="4059" y="2543"/>
                </a:cubicBezTo>
                <a:cubicBezTo>
                  <a:pt x="4207" y="2574"/>
                  <a:pt x="4345" y="2608"/>
                  <a:pt x="4471" y="2641"/>
                </a:cubicBezTo>
                <a:cubicBezTo>
                  <a:pt x="4513" y="2653"/>
                  <a:pt x="4553" y="2664"/>
                  <a:pt x="4592" y="2675"/>
                </a:cubicBezTo>
                <a:lnTo>
                  <a:pt x="4588" y="3810"/>
                </a:lnTo>
                <a:lnTo>
                  <a:pt x="6926" y="1913"/>
                </a:lnTo>
                <a:lnTo>
                  <a:pt x="4601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ight-arrow_44733"/>
          <p:cNvSpPr/>
          <p:nvPr/>
        </p:nvSpPr>
        <p:spPr>
          <a:xfrm rot="2217564">
            <a:off x="4641935" y="2999589"/>
            <a:ext cx="686565" cy="334877"/>
          </a:xfrm>
          <a:custGeom>
            <a:avLst/>
            <a:gdLst>
              <a:gd name="T0" fmla="*/ 4601 w 6926"/>
              <a:gd name="T1" fmla="*/ 0 h 3810"/>
              <a:gd name="T2" fmla="*/ 4598 w 6926"/>
              <a:gd name="T3" fmla="*/ 926 h 3810"/>
              <a:gd name="T4" fmla="*/ 4102 w 6926"/>
              <a:gd name="T5" fmla="*/ 976 h 3810"/>
              <a:gd name="T6" fmla="*/ 3831 w 6926"/>
              <a:gd name="T7" fmla="*/ 1015 h 3810"/>
              <a:gd name="T8" fmla="*/ 3691 w 6926"/>
              <a:gd name="T9" fmla="*/ 1038 h 3810"/>
              <a:gd name="T10" fmla="*/ 3549 w 6926"/>
              <a:gd name="T11" fmla="*/ 1064 h 3810"/>
              <a:gd name="T12" fmla="*/ 2965 w 6926"/>
              <a:gd name="T13" fmla="*/ 1195 h 3810"/>
              <a:gd name="T14" fmla="*/ 2373 w 6926"/>
              <a:gd name="T15" fmla="*/ 1380 h 3810"/>
              <a:gd name="T16" fmla="*/ 2228 w 6926"/>
              <a:gd name="T17" fmla="*/ 1433 h 3810"/>
              <a:gd name="T18" fmla="*/ 2084 w 6926"/>
              <a:gd name="T19" fmla="*/ 1492 h 3810"/>
              <a:gd name="T20" fmla="*/ 1803 w 6926"/>
              <a:gd name="T21" fmla="*/ 1619 h 3810"/>
              <a:gd name="T22" fmla="*/ 1534 w 6926"/>
              <a:gd name="T23" fmla="*/ 1760 h 3810"/>
              <a:gd name="T24" fmla="*/ 1282 w 6926"/>
              <a:gd name="T25" fmla="*/ 1914 h 3810"/>
              <a:gd name="T26" fmla="*/ 841 w 6926"/>
              <a:gd name="T27" fmla="*/ 2252 h 3810"/>
              <a:gd name="T28" fmla="*/ 498 w 6926"/>
              <a:gd name="T29" fmla="*/ 2603 h 3810"/>
              <a:gd name="T30" fmla="*/ 364 w 6926"/>
              <a:gd name="T31" fmla="*/ 2771 h 3810"/>
              <a:gd name="T32" fmla="*/ 257 w 6926"/>
              <a:gd name="T33" fmla="*/ 2932 h 3810"/>
              <a:gd name="T34" fmla="*/ 173 w 6926"/>
              <a:gd name="T35" fmla="*/ 3077 h 3810"/>
              <a:gd name="T36" fmla="*/ 106 w 6926"/>
              <a:gd name="T37" fmla="*/ 3200 h 3810"/>
              <a:gd name="T38" fmla="*/ 0 w 6926"/>
              <a:gd name="T39" fmla="*/ 3443 h 3810"/>
              <a:gd name="T40" fmla="*/ 177 w 6926"/>
              <a:gd name="T41" fmla="*/ 3251 h 3810"/>
              <a:gd name="T42" fmla="*/ 278 w 6926"/>
              <a:gd name="T43" fmla="*/ 3159 h 3810"/>
              <a:gd name="T44" fmla="*/ 398 w 6926"/>
              <a:gd name="T45" fmla="*/ 3056 h 3810"/>
              <a:gd name="T46" fmla="*/ 541 w 6926"/>
              <a:gd name="T47" fmla="*/ 2949 h 3810"/>
              <a:gd name="T48" fmla="*/ 707 w 6926"/>
              <a:gd name="T49" fmla="*/ 2843 h 3810"/>
              <a:gd name="T50" fmla="*/ 1096 w 6926"/>
              <a:gd name="T51" fmla="*/ 2650 h 3810"/>
              <a:gd name="T52" fmla="*/ 1549 w 6926"/>
              <a:gd name="T53" fmla="*/ 2502 h 3810"/>
              <a:gd name="T54" fmla="*/ 1794 w 6926"/>
              <a:gd name="T55" fmla="*/ 2449 h 3810"/>
              <a:gd name="T56" fmla="*/ 2048 w 6926"/>
              <a:gd name="T57" fmla="*/ 2412 h 3810"/>
              <a:gd name="T58" fmla="*/ 2307 w 6926"/>
              <a:gd name="T59" fmla="*/ 2390 h 3810"/>
              <a:gd name="T60" fmla="*/ 2437 w 6926"/>
              <a:gd name="T61" fmla="*/ 2383 h 3810"/>
              <a:gd name="T62" fmla="*/ 2569 w 6926"/>
              <a:gd name="T63" fmla="*/ 2381 h 3810"/>
              <a:gd name="T64" fmla="*/ 3090 w 6926"/>
              <a:gd name="T65" fmla="*/ 2399 h 3810"/>
              <a:gd name="T66" fmla="*/ 3594 w 6926"/>
              <a:gd name="T67" fmla="*/ 2458 h 3810"/>
              <a:gd name="T68" fmla="*/ 3714 w 6926"/>
              <a:gd name="T69" fmla="*/ 2476 h 3810"/>
              <a:gd name="T70" fmla="*/ 3832 w 6926"/>
              <a:gd name="T71" fmla="*/ 2498 h 3810"/>
              <a:gd name="T72" fmla="*/ 4059 w 6926"/>
              <a:gd name="T73" fmla="*/ 2543 h 3810"/>
              <a:gd name="T74" fmla="*/ 4471 w 6926"/>
              <a:gd name="T75" fmla="*/ 2641 h 3810"/>
              <a:gd name="T76" fmla="*/ 4592 w 6926"/>
              <a:gd name="T77" fmla="*/ 2675 h 3810"/>
              <a:gd name="T78" fmla="*/ 4588 w 6926"/>
              <a:gd name="T79" fmla="*/ 3810 h 3810"/>
              <a:gd name="T80" fmla="*/ 6926 w 6926"/>
              <a:gd name="T81" fmla="*/ 1913 h 3810"/>
              <a:gd name="T82" fmla="*/ 4601 w 6926"/>
              <a:gd name="T83" fmla="*/ 0 h 38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6926" h="3810">
                <a:moveTo>
                  <a:pt x="4601" y="0"/>
                </a:moveTo>
                <a:lnTo>
                  <a:pt x="4598" y="926"/>
                </a:lnTo>
                <a:cubicBezTo>
                  <a:pt x="4444" y="937"/>
                  <a:pt x="4277" y="954"/>
                  <a:pt x="4102" y="976"/>
                </a:cubicBezTo>
                <a:cubicBezTo>
                  <a:pt x="4014" y="989"/>
                  <a:pt x="3923" y="1000"/>
                  <a:pt x="3831" y="1015"/>
                </a:cubicBezTo>
                <a:cubicBezTo>
                  <a:pt x="3785" y="1023"/>
                  <a:pt x="3738" y="1030"/>
                  <a:pt x="3691" y="1038"/>
                </a:cubicBezTo>
                <a:cubicBezTo>
                  <a:pt x="3644" y="1046"/>
                  <a:pt x="3597" y="1055"/>
                  <a:pt x="3549" y="1064"/>
                </a:cubicBezTo>
                <a:cubicBezTo>
                  <a:pt x="3358" y="1099"/>
                  <a:pt x="3162" y="1144"/>
                  <a:pt x="2965" y="1195"/>
                </a:cubicBezTo>
                <a:cubicBezTo>
                  <a:pt x="2767" y="1249"/>
                  <a:pt x="2569" y="1307"/>
                  <a:pt x="2373" y="1380"/>
                </a:cubicBezTo>
                <a:cubicBezTo>
                  <a:pt x="2325" y="1398"/>
                  <a:pt x="2276" y="1414"/>
                  <a:pt x="2228" y="1433"/>
                </a:cubicBezTo>
                <a:cubicBezTo>
                  <a:pt x="2180" y="1453"/>
                  <a:pt x="2132" y="1473"/>
                  <a:pt x="2084" y="1492"/>
                </a:cubicBezTo>
                <a:cubicBezTo>
                  <a:pt x="1988" y="1530"/>
                  <a:pt x="1895" y="1577"/>
                  <a:pt x="1803" y="1619"/>
                </a:cubicBezTo>
                <a:cubicBezTo>
                  <a:pt x="1711" y="1664"/>
                  <a:pt x="1622" y="1713"/>
                  <a:pt x="1534" y="1760"/>
                </a:cubicBezTo>
                <a:cubicBezTo>
                  <a:pt x="1448" y="1812"/>
                  <a:pt x="1363" y="1860"/>
                  <a:pt x="1282" y="1914"/>
                </a:cubicBezTo>
                <a:cubicBezTo>
                  <a:pt x="1121" y="2022"/>
                  <a:pt x="972" y="2134"/>
                  <a:pt x="841" y="2252"/>
                </a:cubicBezTo>
                <a:cubicBezTo>
                  <a:pt x="709" y="2367"/>
                  <a:pt x="595" y="2488"/>
                  <a:pt x="498" y="2603"/>
                </a:cubicBezTo>
                <a:cubicBezTo>
                  <a:pt x="451" y="2662"/>
                  <a:pt x="405" y="2717"/>
                  <a:pt x="364" y="2771"/>
                </a:cubicBezTo>
                <a:cubicBezTo>
                  <a:pt x="327" y="2828"/>
                  <a:pt x="291" y="2881"/>
                  <a:pt x="257" y="2932"/>
                </a:cubicBezTo>
                <a:cubicBezTo>
                  <a:pt x="223" y="2980"/>
                  <a:pt x="198" y="3032"/>
                  <a:pt x="173" y="3077"/>
                </a:cubicBezTo>
                <a:cubicBezTo>
                  <a:pt x="148" y="3122"/>
                  <a:pt x="126" y="3163"/>
                  <a:pt x="106" y="3200"/>
                </a:cubicBezTo>
                <a:cubicBezTo>
                  <a:pt x="38" y="3355"/>
                  <a:pt x="0" y="3443"/>
                  <a:pt x="0" y="3443"/>
                </a:cubicBezTo>
                <a:cubicBezTo>
                  <a:pt x="0" y="3443"/>
                  <a:pt x="64" y="3373"/>
                  <a:pt x="177" y="3251"/>
                </a:cubicBezTo>
                <a:cubicBezTo>
                  <a:pt x="207" y="3223"/>
                  <a:pt x="241" y="3193"/>
                  <a:pt x="278" y="3159"/>
                </a:cubicBezTo>
                <a:cubicBezTo>
                  <a:pt x="315" y="3127"/>
                  <a:pt x="351" y="3089"/>
                  <a:pt x="398" y="3056"/>
                </a:cubicBezTo>
                <a:cubicBezTo>
                  <a:pt x="443" y="3023"/>
                  <a:pt x="491" y="2987"/>
                  <a:pt x="541" y="2949"/>
                </a:cubicBezTo>
                <a:cubicBezTo>
                  <a:pt x="593" y="2914"/>
                  <a:pt x="650" y="2880"/>
                  <a:pt x="707" y="2843"/>
                </a:cubicBezTo>
                <a:cubicBezTo>
                  <a:pt x="824" y="2774"/>
                  <a:pt x="954" y="2707"/>
                  <a:pt x="1096" y="2650"/>
                </a:cubicBezTo>
                <a:cubicBezTo>
                  <a:pt x="1237" y="2591"/>
                  <a:pt x="1390" y="2543"/>
                  <a:pt x="1549" y="2502"/>
                </a:cubicBezTo>
                <a:cubicBezTo>
                  <a:pt x="1629" y="2481"/>
                  <a:pt x="1713" y="2467"/>
                  <a:pt x="1794" y="2449"/>
                </a:cubicBezTo>
                <a:cubicBezTo>
                  <a:pt x="1879" y="2436"/>
                  <a:pt x="1962" y="2422"/>
                  <a:pt x="2048" y="2412"/>
                </a:cubicBezTo>
                <a:cubicBezTo>
                  <a:pt x="2135" y="2404"/>
                  <a:pt x="2219" y="2392"/>
                  <a:pt x="2307" y="2390"/>
                </a:cubicBezTo>
                <a:cubicBezTo>
                  <a:pt x="2350" y="2387"/>
                  <a:pt x="2394" y="2385"/>
                  <a:pt x="2437" y="2383"/>
                </a:cubicBezTo>
                <a:cubicBezTo>
                  <a:pt x="2481" y="2381"/>
                  <a:pt x="2525" y="2381"/>
                  <a:pt x="2569" y="2381"/>
                </a:cubicBezTo>
                <a:cubicBezTo>
                  <a:pt x="2743" y="2377"/>
                  <a:pt x="2919" y="2387"/>
                  <a:pt x="3090" y="2399"/>
                </a:cubicBezTo>
                <a:cubicBezTo>
                  <a:pt x="3263" y="2414"/>
                  <a:pt x="3431" y="2432"/>
                  <a:pt x="3594" y="2458"/>
                </a:cubicBezTo>
                <a:cubicBezTo>
                  <a:pt x="3634" y="2464"/>
                  <a:pt x="3674" y="2470"/>
                  <a:pt x="3714" y="2476"/>
                </a:cubicBezTo>
                <a:cubicBezTo>
                  <a:pt x="3754" y="2484"/>
                  <a:pt x="3793" y="2491"/>
                  <a:pt x="3832" y="2498"/>
                </a:cubicBezTo>
                <a:cubicBezTo>
                  <a:pt x="3910" y="2511"/>
                  <a:pt x="3986" y="2528"/>
                  <a:pt x="4059" y="2543"/>
                </a:cubicBezTo>
                <a:cubicBezTo>
                  <a:pt x="4207" y="2574"/>
                  <a:pt x="4345" y="2608"/>
                  <a:pt x="4471" y="2641"/>
                </a:cubicBezTo>
                <a:cubicBezTo>
                  <a:pt x="4513" y="2653"/>
                  <a:pt x="4553" y="2664"/>
                  <a:pt x="4592" y="2675"/>
                </a:cubicBezTo>
                <a:lnTo>
                  <a:pt x="4588" y="3810"/>
                </a:lnTo>
                <a:lnTo>
                  <a:pt x="6926" y="1913"/>
                </a:lnTo>
                <a:lnTo>
                  <a:pt x="4601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文本框 4"/>
          <p:cNvSpPr txBox="1"/>
          <p:nvPr/>
        </p:nvSpPr>
        <p:spPr>
          <a:xfrm>
            <a:off x="-1854142" y="3939333"/>
            <a:ext cx="8004313" cy="2122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b="1" dirty="0">
                <a:latin typeface="Times New Roman" panose="02020503050405090304" pitchFamily="18" charset="0"/>
                <a:ea typeface="Calibri" panose="020F0502020204030204" pitchFamily="34" charset="0"/>
                <a:cs typeface="Times New Roman" panose="02020503050405090304" pitchFamily="18" charset="0"/>
              </a:rPr>
              <a:t>Automated</a:t>
            </a:r>
            <a:endParaRPr lang="en-US" altLang="zh-CN" sz="4400" b="1" dirty="0">
              <a:latin typeface="Times New Roman" panose="02020503050405090304" pitchFamily="18" charset="0"/>
              <a:ea typeface="Calibri" panose="020F0502020204030204" pitchFamily="34" charset="0"/>
              <a:cs typeface="Times New Roman" panose="02020503050405090304" pitchFamily="18" charset="0"/>
            </a:endParaRPr>
          </a:p>
          <a:p>
            <a:pPr algn="ctr"/>
            <a:r>
              <a:rPr lang="en-US" altLang="zh-CN" sz="4400" b="1" dirty="0">
                <a:latin typeface="Times New Roman" panose="02020503050405090304" pitchFamily="18" charset="0"/>
                <a:ea typeface="Calibri" panose="020F0502020204030204" pitchFamily="34" charset="0"/>
                <a:cs typeface="Times New Roman" panose="02020503050405090304" pitchFamily="18" charset="0"/>
              </a:rPr>
              <a:t>shopping</a:t>
            </a:r>
            <a:endParaRPr lang="en-US" altLang="zh-CN" sz="4400" b="1" dirty="0">
              <a:latin typeface="Times New Roman" panose="02020503050405090304" pitchFamily="18" charset="0"/>
              <a:ea typeface="Calibri" panose="020F0502020204030204" pitchFamily="34" charset="0"/>
              <a:cs typeface="Times New Roman" panose="02020503050405090304" pitchFamily="18" charset="0"/>
            </a:endParaRPr>
          </a:p>
          <a:p>
            <a:pPr algn="ctr"/>
            <a:r>
              <a:rPr lang="en-US" altLang="zh-CN" sz="4400" b="1" dirty="0">
                <a:latin typeface="Times New Roman" panose="02020503050405090304" pitchFamily="18" charset="0"/>
                <a:ea typeface="Calibri" panose="020F0502020204030204" pitchFamily="34" charset="0"/>
                <a:cs typeface="Times New Roman" panose="02020503050405090304" pitchFamily="18" charset="0"/>
              </a:rPr>
              <a:t>assistant</a:t>
            </a:r>
            <a:endParaRPr lang="en-US" altLang="zh-CN" sz="4400" b="1" dirty="0">
              <a:latin typeface="Times New Roman" panose="02020503050405090304" pitchFamily="18" charset="0"/>
              <a:ea typeface="Calibri" panose="020F0502020204030204" pitchFamily="34" charset="0"/>
              <a:cs typeface="Times New Roman" panose="02020503050405090304" pitchFamily="18" charset="0"/>
            </a:endParaRPr>
          </a:p>
        </p:txBody>
      </p:sp>
      <p:cxnSp>
        <p:nvCxnSpPr>
          <p:cNvPr id="6" name="直接箭头连接符 5"/>
          <p:cNvCxnSpPr>
            <a:stCxn id="5" idx="0"/>
            <a:endCxn id="20" idx="2"/>
          </p:cNvCxnSpPr>
          <p:nvPr/>
        </p:nvCxnSpPr>
        <p:spPr>
          <a:xfrm flipV="1">
            <a:off x="2148015" y="3059858"/>
            <a:ext cx="1472565" cy="87947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>
            <a:off x="3474851" y="5094943"/>
            <a:ext cx="170885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-1644890" y="228185"/>
            <a:ext cx="62307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latin typeface="Times New Roman" panose="02020503050405090304" pitchFamily="18" charset="0"/>
                <a:ea typeface="Calibri" panose="020F0502020204030204" pitchFamily="34" charset="0"/>
                <a:cs typeface="Times New Roman" panose="02020503050405090304" pitchFamily="18" charset="0"/>
              </a:rPr>
              <a:t>Automation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  <p:custDataLst>
      <p:tags r:id="rId1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/>
          <p:cNvSpPr/>
          <p:nvPr/>
        </p:nvSpPr>
        <p:spPr>
          <a:xfrm>
            <a:off x="560150" y="1749076"/>
            <a:ext cx="1674518" cy="131295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Calibri" panose="020F0502020204030204" pitchFamily="34" charset="0"/>
                <a:cs typeface="Times New Roman" panose="02020503050405090304" pitchFamily="18" charset="0"/>
              </a:rPr>
              <a:t>Buyer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矩形: 圆角 2"/>
          <p:cNvSpPr/>
          <p:nvPr/>
        </p:nvSpPr>
        <p:spPr>
          <a:xfrm>
            <a:off x="560150" y="4600772"/>
            <a:ext cx="1674518" cy="1312956"/>
          </a:xfrm>
          <a:prstGeom prst="roundRect">
            <a:avLst/>
          </a:prstGeom>
          <a:solidFill>
            <a:srgbClr val="5AB49C">
              <a:alpha val="4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Calibri" panose="020F0502020204030204" pitchFamily="34" charset="0"/>
                <a:cs typeface="Times New Roman" panose="02020503050405090304" pitchFamily="18" charset="0"/>
              </a:rPr>
              <a:t>Seller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8" name="server_247518"/>
          <p:cNvSpPr/>
          <p:nvPr/>
        </p:nvSpPr>
        <p:spPr>
          <a:xfrm>
            <a:off x="2936066" y="1565256"/>
            <a:ext cx="609685" cy="608767"/>
          </a:xfrm>
          <a:custGeom>
            <a:avLst/>
            <a:gdLst>
              <a:gd name="connsiteX0" fmla="*/ 325000 h 606722"/>
              <a:gd name="connsiteY0" fmla="*/ 325000 h 606722"/>
              <a:gd name="connsiteX1" fmla="*/ 325000 h 606722"/>
              <a:gd name="connsiteY1" fmla="*/ 325000 h 606722"/>
              <a:gd name="connsiteX2" fmla="*/ 325000 h 606722"/>
              <a:gd name="connsiteY2" fmla="*/ 325000 h 606722"/>
              <a:gd name="connsiteX3" fmla="*/ 325000 h 606722"/>
              <a:gd name="connsiteY3" fmla="*/ 325000 h 606722"/>
              <a:gd name="connsiteX4" fmla="*/ 325000 h 606722"/>
              <a:gd name="connsiteY4" fmla="*/ 325000 h 606722"/>
              <a:gd name="connsiteX5" fmla="*/ 325000 h 606722"/>
              <a:gd name="connsiteY5" fmla="*/ 325000 h 606722"/>
              <a:gd name="connsiteX6" fmla="*/ 325000 h 606722"/>
              <a:gd name="connsiteY6" fmla="*/ 325000 h 606722"/>
              <a:gd name="connsiteX7" fmla="*/ 325000 h 606722"/>
              <a:gd name="connsiteY7" fmla="*/ 325000 h 606722"/>
              <a:gd name="connsiteX8" fmla="*/ 325000 h 606722"/>
              <a:gd name="connsiteY8" fmla="*/ 325000 h 606722"/>
              <a:gd name="connsiteX9" fmla="*/ 325000 h 606722"/>
              <a:gd name="connsiteY9" fmla="*/ 325000 h 606722"/>
              <a:gd name="connsiteX10" fmla="*/ 325000 h 606722"/>
              <a:gd name="connsiteY10" fmla="*/ 325000 h 606722"/>
              <a:gd name="connsiteX11" fmla="*/ 325000 h 606722"/>
              <a:gd name="connsiteY11" fmla="*/ 325000 h 606722"/>
              <a:gd name="connsiteX12" fmla="*/ 325000 h 606722"/>
              <a:gd name="connsiteY12" fmla="*/ 325000 h 606722"/>
              <a:gd name="connsiteX13" fmla="*/ 325000 h 606722"/>
              <a:gd name="connsiteY13" fmla="*/ 325000 h 606722"/>
              <a:gd name="connsiteX14" fmla="*/ 325000 h 606722"/>
              <a:gd name="connsiteY14" fmla="*/ 325000 h 606722"/>
              <a:gd name="connsiteX15" fmla="*/ 325000 h 606722"/>
              <a:gd name="connsiteY15" fmla="*/ 325000 h 606722"/>
              <a:gd name="connsiteX16" fmla="*/ 325000 h 606722"/>
              <a:gd name="connsiteY16" fmla="*/ 325000 h 606722"/>
              <a:gd name="connsiteX17" fmla="*/ 325000 h 606722"/>
              <a:gd name="connsiteY17" fmla="*/ 325000 h 606722"/>
              <a:gd name="connsiteX18" fmla="*/ 325000 h 606722"/>
              <a:gd name="connsiteY18" fmla="*/ 325000 h 606722"/>
              <a:gd name="connsiteX19" fmla="*/ 325000 h 606722"/>
              <a:gd name="connsiteY19" fmla="*/ 325000 h 606722"/>
              <a:gd name="connsiteX20" fmla="*/ 325000 h 606722"/>
              <a:gd name="connsiteY20" fmla="*/ 325000 h 606722"/>
              <a:gd name="connsiteX21" fmla="*/ 325000 h 606722"/>
              <a:gd name="connsiteY21" fmla="*/ 325000 h 606722"/>
              <a:gd name="connsiteX22" fmla="*/ 325000 h 606722"/>
              <a:gd name="connsiteY22" fmla="*/ 325000 h 606722"/>
              <a:gd name="connsiteX23" fmla="*/ 325000 h 606722"/>
              <a:gd name="connsiteY23" fmla="*/ 325000 h 606722"/>
              <a:gd name="connsiteX24" fmla="*/ 325000 h 606722"/>
              <a:gd name="connsiteY24" fmla="*/ 325000 h 606722"/>
              <a:gd name="connsiteX25" fmla="*/ 325000 h 606722"/>
              <a:gd name="connsiteY25" fmla="*/ 325000 h 606722"/>
              <a:gd name="connsiteX26" fmla="*/ 325000 h 606722"/>
              <a:gd name="connsiteY26" fmla="*/ 325000 h 606722"/>
              <a:gd name="connsiteX27" fmla="*/ 325000 h 606722"/>
              <a:gd name="connsiteY27" fmla="*/ 325000 h 606722"/>
              <a:gd name="connsiteX28" fmla="*/ 325000 h 606722"/>
              <a:gd name="connsiteY28" fmla="*/ 325000 h 606722"/>
              <a:gd name="connsiteX29" fmla="*/ 325000 h 606722"/>
              <a:gd name="connsiteY29" fmla="*/ 325000 h 606722"/>
              <a:gd name="connsiteX30" fmla="*/ 325000 h 606722"/>
              <a:gd name="connsiteY30" fmla="*/ 325000 h 606722"/>
              <a:gd name="connsiteX31" fmla="*/ 325000 h 606722"/>
              <a:gd name="connsiteY31" fmla="*/ 325000 h 606722"/>
              <a:gd name="connsiteX32" fmla="*/ 325000 h 606722"/>
              <a:gd name="connsiteY32" fmla="*/ 325000 h 606722"/>
              <a:gd name="connsiteX33" fmla="*/ 325000 h 606722"/>
              <a:gd name="connsiteY33" fmla="*/ 325000 h 606722"/>
              <a:gd name="connsiteX34" fmla="*/ 325000 h 606722"/>
              <a:gd name="connsiteY34" fmla="*/ 325000 h 606722"/>
              <a:gd name="connsiteX35" fmla="*/ 325000 h 606722"/>
              <a:gd name="connsiteY35" fmla="*/ 325000 h 606722"/>
              <a:gd name="connsiteX36" fmla="*/ 325000 h 606722"/>
              <a:gd name="connsiteY36" fmla="*/ 325000 h 606722"/>
              <a:gd name="connsiteX37" fmla="*/ 325000 h 606722"/>
              <a:gd name="connsiteY37" fmla="*/ 325000 h 606722"/>
              <a:gd name="connsiteX38" fmla="*/ 325000 h 606722"/>
              <a:gd name="connsiteY38" fmla="*/ 325000 h 606722"/>
              <a:gd name="connsiteX39" fmla="*/ 325000 h 606722"/>
              <a:gd name="connsiteY39" fmla="*/ 325000 h 606722"/>
              <a:gd name="connsiteX40" fmla="*/ 325000 h 606722"/>
              <a:gd name="connsiteY40" fmla="*/ 325000 h 606722"/>
              <a:gd name="connsiteX41" fmla="*/ 325000 h 606722"/>
              <a:gd name="connsiteY41" fmla="*/ 325000 h 606722"/>
              <a:gd name="connsiteX42" fmla="*/ 325000 h 606722"/>
              <a:gd name="connsiteY42" fmla="*/ 325000 h 606722"/>
              <a:gd name="connsiteX43" fmla="*/ 325000 h 606722"/>
              <a:gd name="connsiteY43" fmla="*/ 325000 h 606722"/>
              <a:gd name="connsiteX44" fmla="*/ 325000 h 606722"/>
              <a:gd name="connsiteY44" fmla="*/ 325000 h 606722"/>
              <a:gd name="connsiteX45" fmla="*/ 325000 h 606722"/>
              <a:gd name="connsiteY45" fmla="*/ 325000 h 606722"/>
              <a:gd name="connsiteX46" fmla="*/ 325000 h 606722"/>
              <a:gd name="connsiteY46" fmla="*/ 325000 h 606722"/>
              <a:gd name="connsiteX47" fmla="*/ 325000 h 606722"/>
              <a:gd name="connsiteY47" fmla="*/ 325000 h 606722"/>
              <a:gd name="connsiteX48" fmla="*/ 325000 h 606722"/>
              <a:gd name="connsiteY48" fmla="*/ 325000 h 606722"/>
              <a:gd name="connsiteX49" fmla="*/ 325000 h 606722"/>
              <a:gd name="connsiteY49" fmla="*/ 325000 h 606722"/>
              <a:gd name="connsiteX50" fmla="*/ 325000 h 606722"/>
              <a:gd name="connsiteY50" fmla="*/ 325000 h 606722"/>
              <a:gd name="connsiteX51" fmla="*/ 325000 h 606722"/>
              <a:gd name="connsiteY51" fmla="*/ 325000 h 606722"/>
              <a:gd name="connsiteX52" fmla="*/ 325000 h 606722"/>
              <a:gd name="connsiteY52" fmla="*/ 325000 h 606722"/>
              <a:gd name="connsiteX53" fmla="*/ 325000 h 606722"/>
              <a:gd name="connsiteY53" fmla="*/ 325000 h 606722"/>
              <a:gd name="connsiteX54" fmla="*/ 325000 h 606722"/>
              <a:gd name="connsiteY54" fmla="*/ 325000 h 606722"/>
              <a:gd name="connsiteX55" fmla="*/ 325000 h 606722"/>
              <a:gd name="connsiteY55" fmla="*/ 325000 h 606722"/>
              <a:gd name="connsiteX56" fmla="*/ 325000 h 606722"/>
              <a:gd name="connsiteY56" fmla="*/ 325000 h 606722"/>
              <a:gd name="connsiteX57" fmla="*/ 325000 h 606722"/>
              <a:gd name="connsiteY57" fmla="*/ 325000 h 606722"/>
              <a:gd name="connsiteX58" fmla="*/ 325000 h 606722"/>
              <a:gd name="connsiteY58" fmla="*/ 325000 h 606722"/>
              <a:gd name="connsiteX59" fmla="*/ 325000 h 606722"/>
              <a:gd name="connsiteY59" fmla="*/ 325000 h 606722"/>
              <a:gd name="connsiteX60" fmla="*/ 325000 h 606722"/>
              <a:gd name="connsiteY60" fmla="*/ 325000 h 606722"/>
              <a:gd name="connsiteX61" fmla="*/ 325000 h 606722"/>
              <a:gd name="connsiteY61" fmla="*/ 325000 h 606722"/>
              <a:gd name="connsiteX62" fmla="*/ 325000 h 606722"/>
              <a:gd name="connsiteY62" fmla="*/ 325000 h 606722"/>
              <a:gd name="connsiteX63" fmla="*/ 325000 h 606722"/>
              <a:gd name="connsiteY63" fmla="*/ 325000 h 606722"/>
              <a:gd name="connsiteX64" fmla="*/ 325000 h 606722"/>
              <a:gd name="connsiteY64" fmla="*/ 325000 h 606722"/>
              <a:gd name="connsiteX65" fmla="*/ 325000 h 606722"/>
              <a:gd name="connsiteY65" fmla="*/ 325000 h 606722"/>
              <a:gd name="connsiteX66" fmla="*/ 325000 h 606722"/>
              <a:gd name="connsiteY66" fmla="*/ 325000 h 606722"/>
              <a:gd name="connsiteX67" fmla="*/ 325000 h 606722"/>
              <a:gd name="connsiteY67" fmla="*/ 325000 h 606722"/>
              <a:gd name="connsiteX68" fmla="*/ 325000 h 606722"/>
              <a:gd name="connsiteY68" fmla="*/ 325000 h 606722"/>
              <a:gd name="connsiteX69" fmla="*/ 325000 h 606722"/>
              <a:gd name="connsiteY69" fmla="*/ 325000 h 606722"/>
              <a:gd name="connsiteX70" fmla="*/ 325000 h 606722"/>
              <a:gd name="connsiteY70" fmla="*/ 325000 h 606722"/>
              <a:gd name="connsiteX71" fmla="*/ 325000 h 606722"/>
              <a:gd name="connsiteY71" fmla="*/ 325000 h 606722"/>
              <a:gd name="connsiteX72" fmla="*/ 325000 h 606722"/>
              <a:gd name="connsiteY72" fmla="*/ 325000 h 606722"/>
              <a:gd name="connsiteX73" fmla="*/ 325000 h 606722"/>
              <a:gd name="connsiteY73" fmla="*/ 325000 h 606722"/>
              <a:gd name="connsiteX74" fmla="*/ 325000 h 606722"/>
              <a:gd name="connsiteY74" fmla="*/ 325000 h 606722"/>
              <a:gd name="connsiteX75" fmla="*/ 325000 h 606722"/>
              <a:gd name="connsiteY75" fmla="*/ 325000 h 606722"/>
              <a:gd name="connsiteX76" fmla="*/ 325000 h 606722"/>
              <a:gd name="connsiteY76" fmla="*/ 325000 h 606722"/>
              <a:gd name="connsiteX77" fmla="*/ 325000 h 606722"/>
              <a:gd name="connsiteY77" fmla="*/ 325000 h 606722"/>
              <a:gd name="connsiteX78" fmla="*/ 325000 h 606722"/>
              <a:gd name="connsiteY78" fmla="*/ 325000 h 606722"/>
              <a:gd name="connsiteX79" fmla="*/ 325000 h 606722"/>
              <a:gd name="connsiteY79" fmla="*/ 325000 h 606722"/>
              <a:gd name="connsiteX80" fmla="*/ 325000 h 606722"/>
              <a:gd name="connsiteY80" fmla="*/ 325000 h 606722"/>
              <a:gd name="connsiteX81" fmla="*/ 325000 h 606722"/>
              <a:gd name="connsiteY81" fmla="*/ 325000 h 606722"/>
              <a:gd name="connsiteX82" fmla="*/ 325000 h 606722"/>
              <a:gd name="connsiteY82" fmla="*/ 325000 h 606722"/>
              <a:gd name="connsiteX83" fmla="*/ 325000 h 606722"/>
              <a:gd name="connsiteY83" fmla="*/ 325000 h 606722"/>
              <a:gd name="connsiteX84" fmla="*/ 325000 h 606722"/>
              <a:gd name="connsiteY84" fmla="*/ 325000 h 606722"/>
              <a:gd name="connsiteX85" fmla="*/ 325000 h 606722"/>
              <a:gd name="connsiteY85" fmla="*/ 325000 h 606722"/>
              <a:gd name="connsiteX86" fmla="*/ 325000 h 606722"/>
              <a:gd name="connsiteY86" fmla="*/ 325000 h 606722"/>
              <a:gd name="connsiteX87" fmla="*/ 325000 h 606722"/>
              <a:gd name="connsiteY87" fmla="*/ 325000 h 606722"/>
              <a:gd name="connsiteX88" fmla="*/ 325000 h 606722"/>
              <a:gd name="connsiteY88" fmla="*/ 325000 h 606722"/>
              <a:gd name="connsiteX89" fmla="*/ 325000 h 606722"/>
              <a:gd name="connsiteY89" fmla="*/ 325000 h 606722"/>
              <a:gd name="connsiteX90" fmla="*/ 325000 h 606722"/>
              <a:gd name="connsiteY90" fmla="*/ 325000 h 606722"/>
              <a:gd name="connsiteX91" fmla="*/ 325000 h 606722"/>
              <a:gd name="connsiteY91" fmla="*/ 325000 h 606722"/>
              <a:gd name="connsiteX92" fmla="*/ 325000 h 606722"/>
              <a:gd name="connsiteY92" fmla="*/ 325000 h 606722"/>
              <a:gd name="connsiteX93" fmla="*/ 325000 h 606722"/>
              <a:gd name="connsiteY93" fmla="*/ 325000 h 606722"/>
              <a:gd name="connsiteX94" fmla="*/ 325000 h 606722"/>
              <a:gd name="connsiteY94" fmla="*/ 325000 h 606722"/>
              <a:gd name="connsiteX95" fmla="*/ 325000 h 606722"/>
              <a:gd name="connsiteY95" fmla="*/ 325000 h 606722"/>
              <a:gd name="connsiteX96" fmla="*/ 325000 h 606722"/>
              <a:gd name="connsiteY96" fmla="*/ 325000 h 606722"/>
              <a:gd name="connsiteX97" fmla="*/ 325000 h 606722"/>
              <a:gd name="connsiteY97" fmla="*/ 325000 h 606722"/>
              <a:gd name="connsiteX98" fmla="*/ 325000 h 606722"/>
              <a:gd name="connsiteY98" fmla="*/ 325000 h 606722"/>
              <a:gd name="connsiteX99" fmla="*/ 325000 h 606722"/>
              <a:gd name="connsiteY99" fmla="*/ 325000 h 606722"/>
              <a:gd name="connsiteX100" fmla="*/ 325000 h 606722"/>
              <a:gd name="connsiteY100" fmla="*/ 325000 h 606722"/>
              <a:gd name="connsiteX101" fmla="*/ 325000 h 606722"/>
              <a:gd name="connsiteY101" fmla="*/ 325000 h 606722"/>
              <a:gd name="connsiteX102" fmla="*/ 325000 h 606722"/>
              <a:gd name="connsiteY102" fmla="*/ 325000 h 606722"/>
              <a:gd name="connsiteX103" fmla="*/ 325000 h 606722"/>
              <a:gd name="connsiteY103" fmla="*/ 325000 h 606722"/>
              <a:gd name="connsiteX104" fmla="*/ 325000 h 606722"/>
              <a:gd name="connsiteY104" fmla="*/ 325000 h 606722"/>
              <a:gd name="connsiteX105" fmla="*/ 325000 h 606722"/>
              <a:gd name="connsiteY105" fmla="*/ 325000 h 606722"/>
              <a:gd name="connsiteX106" fmla="*/ 325000 h 606722"/>
              <a:gd name="connsiteY106" fmla="*/ 325000 h 606722"/>
              <a:gd name="connsiteX107" fmla="*/ 325000 h 606722"/>
              <a:gd name="connsiteY107" fmla="*/ 325000 h 606722"/>
              <a:gd name="connsiteX108" fmla="*/ 325000 h 606722"/>
              <a:gd name="connsiteY108" fmla="*/ 325000 h 606722"/>
              <a:gd name="connsiteX109" fmla="*/ 325000 h 606722"/>
              <a:gd name="connsiteY109" fmla="*/ 325000 h 606722"/>
              <a:gd name="connsiteX110" fmla="*/ 325000 h 606722"/>
              <a:gd name="connsiteY110" fmla="*/ 325000 h 606722"/>
              <a:gd name="connsiteX111" fmla="*/ 325000 h 606722"/>
              <a:gd name="connsiteY111" fmla="*/ 325000 h 606722"/>
              <a:gd name="connsiteX112" fmla="*/ 325000 h 606722"/>
              <a:gd name="connsiteY112" fmla="*/ 325000 h 606722"/>
              <a:gd name="connsiteX113" fmla="*/ 325000 h 606722"/>
              <a:gd name="connsiteY113" fmla="*/ 325000 h 606722"/>
              <a:gd name="connsiteX114" fmla="*/ 325000 h 606722"/>
              <a:gd name="connsiteY114" fmla="*/ 325000 h 606722"/>
              <a:gd name="connsiteX115" fmla="*/ 325000 h 606722"/>
              <a:gd name="connsiteY115" fmla="*/ 325000 h 606722"/>
              <a:gd name="connsiteX116" fmla="*/ 325000 h 606722"/>
              <a:gd name="connsiteY116" fmla="*/ 325000 h 606722"/>
              <a:gd name="connsiteX117" fmla="*/ 325000 h 606722"/>
              <a:gd name="connsiteY117" fmla="*/ 325000 h 606722"/>
              <a:gd name="connsiteX118" fmla="*/ 325000 h 606722"/>
              <a:gd name="connsiteY118" fmla="*/ 325000 h 606722"/>
              <a:gd name="connsiteX119" fmla="*/ 325000 h 606722"/>
              <a:gd name="connsiteY119" fmla="*/ 325000 h 606722"/>
              <a:gd name="connsiteX120" fmla="*/ 325000 h 606722"/>
              <a:gd name="connsiteY120" fmla="*/ 325000 h 606722"/>
              <a:gd name="connsiteX121" fmla="*/ 325000 h 606722"/>
              <a:gd name="connsiteY121" fmla="*/ 325000 h 606722"/>
              <a:gd name="connsiteX122" fmla="*/ 325000 h 606722"/>
              <a:gd name="connsiteY122" fmla="*/ 325000 h 606722"/>
              <a:gd name="connsiteX123" fmla="*/ 325000 h 606722"/>
              <a:gd name="connsiteY123" fmla="*/ 325000 h 606722"/>
              <a:gd name="connsiteX124" fmla="*/ 325000 h 606722"/>
              <a:gd name="connsiteY124" fmla="*/ 325000 h 606722"/>
              <a:gd name="connsiteX125" fmla="*/ 325000 h 606722"/>
              <a:gd name="connsiteY125" fmla="*/ 325000 h 606722"/>
              <a:gd name="connsiteX126" fmla="*/ 325000 h 606722"/>
              <a:gd name="connsiteY126" fmla="*/ 325000 h 606722"/>
              <a:gd name="connsiteX127" fmla="*/ 325000 h 606722"/>
              <a:gd name="connsiteY127" fmla="*/ 325000 h 606722"/>
              <a:gd name="connsiteX128" fmla="*/ 325000 h 606722"/>
              <a:gd name="connsiteY128" fmla="*/ 325000 h 606722"/>
              <a:gd name="connsiteX129" fmla="*/ 325000 h 606722"/>
              <a:gd name="connsiteY129" fmla="*/ 325000 h 606722"/>
              <a:gd name="connsiteX130" fmla="*/ 325000 h 606722"/>
              <a:gd name="connsiteY130" fmla="*/ 325000 h 606722"/>
              <a:gd name="connsiteX131" fmla="*/ 325000 h 606722"/>
              <a:gd name="connsiteY131" fmla="*/ 325000 h 606722"/>
              <a:gd name="connsiteX132" fmla="*/ 325000 h 606722"/>
              <a:gd name="connsiteY132" fmla="*/ 325000 h 606722"/>
              <a:gd name="connsiteX133" fmla="*/ 325000 h 606722"/>
              <a:gd name="connsiteY133" fmla="*/ 325000 h 606722"/>
              <a:gd name="connsiteX134" fmla="*/ 325000 h 606722"/>
              <a:gd name="connsiteY134" fmla="*/ 325000 h 606722"/>
              <a:gd name="connsiteX135" fmla="*/ 325000 h 606722"/>
              <a:gd name="connsiteY135" fmla="*/ 325000 h 606722"/>
              <a:gd name="connsiteX136" fmla="*/ 325000 h 606722"/>
              <a:gd name="connsiteY136" fmla="*/ 325000 h 606722"/>
              <a:gd name="connsiteX137" fmla="*/ 325000 h 606722"/>
              <a:gd name="connsiteY137" fmla="*/ 325000 h 606722"/>
              <a:gd name="connsiteX138" fmla="*/ 325000 h 606722"/>
              <a:gd name="connsiteY138" fmla="*/ 325000 h 606722"/>
              <a:gd name="connsiteX139" fmla="*/ 325000 h 606722"/>
              <a:gd name="connsiteY139" fmla="*/ 325000 h 606722"/>
              <a:gd name="connsiteX140" fmla="*/ 325000 h 606722"/>
              <a:gd name="connsiteY140" fmla="*/ 325000 h 606722"/>
              <a:gd name="connsiteX141" fmla="*/ 325000 h 606722"/>
              <a:gd name="connsiteY141" fmla="*/ 325000 h 606722"/>
              <a:gd name="connsiteX142" fmla="*/ 325000 h 606722"/>
              <a:gd name="connsiteY142" fmla="*/ 325000 h 606722"/>
              <a:gd name="connsiteX143" fmla="*/ 325000 h 606722"/>
              <a:gd name="connsiteY143" fmla="*/ 325000 h 606722"/>
              <a:gd name="connsiteX144" fmla="*/ 325000 h 606722"/>
              <a:gd name="connsiteY144" fmla="*/ 325000 h 606722"/>
              <a:gd name="connsiteX145" fmla="*/ 325000 h 606722"/>
              <a:gd name="connsiteY145" fmla="*/ 325000 h 606722"/>
              <a:gd name="connsiteX146" fmla="*/ 325000 h 606722"/>
              <a:gd name="connsiteY146" fmla="*/ 325000 h 606722"/>
              <a:gd name="connsiteX147" fmla="*/ 325000 h 606722"/>
              <a:gd name="connsiteY147" fmla="*/ 325000 h 606722"/>
              <a:gd name="connsiteX148" fmla="*/ 325000 h 606722"/>
              <a:gd name="connsiteY148" fmla="*/ 325000 h 606722"/>
              <a:gd name="connsiteX149" fmla="*/ 325000 h 606722"/>
              <a:gd name="connsiteY149" fmla="*/ 325000 h 606722"/>
              <a:gd name="connsiteX150" fmla="*/ 325000 h 606722"/>
              <a:gd name="connsiteY150" fmla="*/ 325000 h 606722"/>
              <a:gd name="connsiteX151" fmla="*/ 325000 h 606722"/>
              <a:gd name="connsiteY151" fmla="*/ 325000 h 606722"/>
              <a:gd name="connsiteX152" fmla="*/ 325000 h 606722"/>
              <a:gd name="connsiteY152" fmla="*/ 325000 h 606722"/>
              <a:gd name="connsiteX153" fmla="*/ 325000 h 606722"/>
              <a:gd name="connsiteY153" fmla="*/ 325000 h 606722"/>
              <a:gd name="connsiteX154" fmla="*/ 325000 h 606722"/>
              <a:gd name="connsiteY154" fmla="*/ 325000 h 606722"/>
              <a:gd name="connsiteX155" fmla="*/ 325000 h 606722"/>
              <a:gd name="connsiteY155" fmla="*/ 325000 h 606722"/>
              <a:gd name="connsiteX156" fmla="*/ 325000 h 606722"/>
              <a:gd name="connsiteY156" fmla="*/ 325000 h 606722"/>
              <a:gd name="connsiteX157" fmla="*/ 325000 h 606722"/>
              <a:gd name="connsiteY157" fmla="*/ 325000 h 606722"/>
              <a:gd name="connsiteX158" fmla="*/ 325000 h 606722"/>
              <a:gd name="connsiteY158" fmla="*/ 325000 h 606722"/>
              <a:gd name="connsiteX159" fmla="*/ 325000 h 606722"/>
              <a:gd name="connsiteY159" fmla="*/ 325000 h 606722"/>
              <a:gd name="connsiteX160" fmla="*/ 325000 h 606722"/>
              <a:gd name="connsiteY160" fmla="*/ 325000 h 606722"/>
              <a:gd name="connsiteX161" fmla="*/ 325000 h 606722"/>
              <a:gd name="connsiteY161" fmla="*/ 325000 h 606722"/>
              <a:gd name="connsiteX162" fmla="*/ 325000 h 606722"/>
              <a:gd name="connsiteY162" fmla="*/ 325000 h 606722"/>
              <a:gd name="connsiteX163" fmla="*/ 325000 h 606722"/>
              <a:gd name="connsiteY163" fmla="*/ 325000 h 606722"/>
              <a:gd name="connsiteX164" fmla="*/ 325000 h 606722"/>
              <a:gd name="connsiteY164" fmla="*/ 325000 h 606722"/>
              <a:gd name="connsiteX165" fmla="*/ 325000 h 606722"/>
              <a:gd name="connsiteY165" fmla="*/ 325000 h 606722"/>
              <a:gd name="connsiteX166" fmla="*/ 325000 h 606722"/>
              <a:gd name="connsiteY166" fmla="*/ 325000 h 606722"/>
              <a:gd name="connsiteX167" fmla="*/ 325000 h 606722"/>
              <a:gd name="connsiteY167" fmla="*/ 325000 h 606722"/>
              <a:gd name="connsiteX168" fmla="*/ 325000 h 606722"/>
              <a:gd name="connsiteY168" fmla="*/ 325000 h 606722"/>
              <a:gd name="connsiteX169" fmla="*/ 325000 h 606722"/>
              <a:gd name="connsiteY169" fmla="*/ 325000 h 606722"/>
              <a:gd name="connsiteX170" fmla="*/ 325000 h 606722"/>
              <a:gd name="connsiteY170" fmla="*/ 325000 h 606722"/>
              <a:gd name="connsiteX171" fmla="*/ 325000 h 606722"/>
              <a:gd name="connsiteY171" fmla="*/ 325000 h 606722"/>
              <a:gd name="connsiteX172" fmla="*/ 325000 h 606722"/>
              <a:gd name="connsiteY172" fmla="*/ 325000 h 606722"/>
              <a:gd name="connsiteX173" fmla="*/ 325000 h 606722"/>
              <a:gd name="connsiteY173" fmla="*/ 325000 h 606722"/>
              <a:gd name="connsiteX174" fmla="*/ 325000 h 606722"/>
              <a:gd name="connsiteY174" fmla="*/ 325000 h 606722"/>
              <a:gd name="connsiteX175" fmla="*/ 325000 h 606722"/>
              <a:gd name="connsiteY175" fmla="*/ 325000 h 606722"/>
              <a:gd name="connsiteX176" fmla="*/ 325000 h 606722"/>
              <a:gd name="connsiteY176" fmla="*/ 325000 h 606722"/>
              <a:gd name="connsiteX177" fmla="*/ 325000 h 606722"/>
              <a:gd name="connsiteY177" fmla="*/ 325000 h 606722"/>
              <a:gd name="connsiteX178" fmla="*/ 325000 h 606722"/>
              <a:gd name="connsiteY178" fmla="*/ 325000 h 606722"/>
              <a:gd name="connsiteX179" fmla="*/ 325000 h 606722"/>
              <a:gd name="connsiteY179" fmla="*/ 325000 h 606722"/>
              <a:gd name="connsiteX180" fmla="*/ 325000 h 606722"/>
              <a:gd name="connsiteY180" fmla="*/ 325000 h 606722"/>
              <a:gd name="connsiteX181" fmla="*/ 325000 h 606722"/>
              <a:gd name="connsiteY181" fmla="*/ 325000 h 606722"/>
              <a:gd name="connsiteX182" fmla="*/ 325000 h 606722"/>
              <a:gd name="connsiteY182" fmla="*/ 325000 h 606722"/>
              <a:gd name="connsiteX183" fmla="*/ 325000 h 606722"/>
              <a:gd name="connsiteY183" fmla="*/ 325000 h 6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</a:cxnLst>
            <a:rect l="l" t="t" r="r" b="b"/>
            <a:pathLst>
              <a:path w="609614" h="608697">
                <a:moveTo>
                  <a:pt x="570347" y="569483"/>
                </a:moveTo>
                <a:lnTo>
                  <a:pt x="570347" y="589090"/>
                </a:lnTo>
                <a:lnTo>
                  <a:pt x="589981" y="589090"/>
                </a:lnTo>
                <a:lnTo>
                  <a:pt x="589981" y="569483"/>
                </a:lnTo>
                <a:close/>
                <a:moveTo>
                  <a:pt x="530988" y="569483"/>
                </a:moveTo>
                <a:lnTo>
                  <a:pt x="530988" y="589090"/>
                </a:lnTo>
                <a:lnTo>
                  <a:pt x="550622" y="589090"/>
                </a:lnTo>
                <a:lnTo>
                  <a:pt x="550622" y="569483"/>
                </a:lnTo>
                <a:close/>
                <a:moveTo>
                  <a:pt x="491629" y="569483"/>
                </a:moveTo>
                <a:lnTo>
                  <a:pt x="491629" y="589090"/>
                </a:lnTo>
                <a:lnTo>
                  <a:pt x="511355" y="589090"/>
                </a:lnTo>
                <a:lnTo>
                  <a:pt x="511355" y="569483"/>
                </a:lnTo>
                <a:close/>
                <a:moveTo>
                  <a:pt x="334377" y="569483"/>
                </a:moveTo>
                <a:lnTo>
                  <a:pt x="334377" y="589090"/>
                </a:lnTo>
                <a:lnTo>
                  <a:pt x="471996" y="589090"/>
                </a:lnTo>
                <a:lnTo>
                  <a:pt x="471996" y="569483"/>
                </a:lnTo>
                <a:close/>
                <a:moveTo>
                  <a:pt x="275346" y="530158"/>
                </a:moveTo>
                <a:lnTo>
                  <a:pt x="294963" y="530158"/>
                </a:lnTo>
                <a:lnTo>
                  <a:pt x="294963" y="549775"/>
                </a:lnTo>
                <a:lnTo>
                  <a:pt x="275346" y="549775"/>
                </a:lnTo>
                <a:close/>
                <a:moveTo>
                  <a:pt x="235971" y="530158"/>
                </a:moveTo>
                <a:lnTo>
                  <a:pt x="255588" y="530158"/>
                </a:lnTo>
                <a:lnTo>
                  <a:pt x="255588" y="549775"/>
                </a:lnTo>
                <a:lnTo>
                  <a:pt x="235971" y="549775"/>
                </a:lnTo>
                <a:close/>
                <a:moveTo>
                  <a:pt x="196595" y="530158"/>
                </a:moveTo>
                <a:lnTo>
                  <a:pt x="216353" y="530158"/>
                </a:lnTo>
                <a:lnTo>
                  <a:pt x="216353" y="549775"/>
                </a:lnTo>
                <a:lnTo>
                  <a:pt x="196595" y="549775"/>
                </a:lnTo>
                <a:close/>
                <a:moveTo>
                  <a:pt x="157361" y="530158"/>
                </a:moveTo>
                <a:lnTo>
                  <a:pt x="176978" y="530158"/>
                </a:lnTo>
                <a:lnTo>
                  <a:pt x="176978" y="549775"/>
                </a:lnTo>
                <a:lnTo>
                  <a:pt x="157361" y="549775"/>
                </a:lnTo>
                <a:close/>
                <a:moveTo>
                  <a:pt x="157361" y="490853"/>
                </a:moveTo>
                <a:lnTo>
                  <a:pt x="176978" y="490853"/>
                </a:lnTo>
                <a:lnTo>
                  <a:pt x="176978" y="510611"/>
                </a:lnTo>
                <a:lnTo>
                  <a:pt x="157361" y="510611"/>
                </a:lnTo>
                <a:close/>
                <a:moveTo>
                  <a:pt x="373591" y="471253"/>
                </a:moveTo>
                <a:lnTo>
                  <a:pt x="373591" y="510554"/>
                </a:lnTo>
                <a:lnTo>
                  <a:pt x="550582" y="510554"/>
                </a:lnTo>
                <a:lnTo>
                  <a:pt x="550582" y="471253"/>
                </a:lnTo>
                <a:close/>
                <a:moveTo>
                  <a:pt x="157361" y="451689"/>
                </a:moveTo>
                <a:lnTo>
                  <a:pt x="176978" y="451689"/>
                </a:lnTo>
                <a:lnTo>
                  <a:pt x="176978" y="471306"/>
                </a:lnTo>
                <a:lnTo>
                  <a:pt x="157361" y="471306"/>
                </a:lnTo>
                <a:close/>
                <a:moveTo>
                  <a:pt x="393318" y="431951"/>
                </a:moveTo>
                <a:lnTo>
                  <a:pt x="393318" y="451648"/>
                </a:lnTo>
                <a:lnTo>
                  <a:pt x="530947" y="451648"/>
                </a:lnTo>
                <a:lnTo>
                  <a:pt x="530947" y="431951"/>
                </a:lnTo>
                <a:close/>
                <a:moveTo>
                  <a:pt x="157361" y="412384"/>
                </a:moveTo>
                <a:lnTo>
                  <a:pt x="176978" y="412384"/>
                </a:lnTo>
                <a:lnTo>
                  <a:pt x="176978" y="432001"/>
                </a:lnTo>
                <a:lnTo>
                  <a:pt x="157361" y="432001"/>
                </a:lnTo>
                <a:close/>
                <a:moveTo>
                  <a:pt x="373591" y="373046"/>
                </a:moveTo>
                <a:lnTo>
                  <a:pt x="373591" y="412347"/>
                </a:lnTo>
                <a:lnTo>
                  <a:pt x="550582" y="412347"/>
                </a:lnTo>
                <a:lnTo>
                  <a:pt x="550582" y="373046"/>
                </a:lnTo>
                <a:close/>
                <a:moveTo>
                  <a:pt x="255604" y="353463"/>
                </a:moveTo>
                <a:lnTo>
                  <a:pt x="255604" y="373069"/>
                </a:lnTo>
                <a:lnTo>
                  <a:pt x="275330" y="373069"/>
                </a:lnTo>
                <a:lnTo>
                  <a:pt x="275330" y="353463"/>
                </a:lnTo>
                <a:close/>
                <a:moveTo>
                  <a:pt x="216337" y="353463"/>
                </a:moveTo>
                <a:lnTo>
                  <a:pt x="216337" y="373069"/>
                </a:lnTo>
                <a:lnTo>
                  <a:pt x="235971" y="373069"/>
                </a:lnTo>
                <a:lnTo>
                  <a:pt x="235971" y="353463"/>
                </a:lnTo>
                <a:close/>
                <a:moveTo>
                  <a:pt x="176978" y="353463"/>
                </a:moveTo>
                <a:lnTo>
                  <a:pt x="176978" y="373069"/>
                </a:lnTo>
                <a:lnTo>
                  <a:pt x="196612" y="373069"/>
                </a:lnTo>
                <a:lnTo>
                  <a:pt x="196612" y="353463"/>
                </a:lnTo>
                <a:close/>
                <a:moveTo>
                  <a:pt x="19633" y="353463"/>
                </a:moveTo>
                <a:lnTo>
                  <a:pt x="19633" y="373069"/>
                </a:lnTo>
                <a:lnTo>
                  <a:pt x="157344" y="373069"/>
                </a:lnTo>
                <a:lnTo>
                  <a:pt x="157344" y="353463"/>
                </a:lnTo>
                <a:close/>
                <a:moveTo>
                  <a:pt x="393318" y="333837"/>
                </a:moveTo>
                <a:lnTo>
                  <a:pt x="393318" y="353442"/>
                </a:lnTo>
                <a:lnTo>
                  <a:pt x="530947" y="353442"/>
                </a:lnTo>
                <a:lnTo>
                  <a:pt x="530947" y="333837"/>
                </a:lnTo>
                <a:close/>
                <a:moveTo>
                  <a:pt x="373591" y="274932"/>
                </a:moveTo>
                <a:lnTo>
                  <a:pt x="373591" y="314140"/>
                </a:lnTo>
                <a:lnTo>
                  <a:pt x="550582" y="314140"/>
                </a:lnTo>
                <a:lnTo>
                  <a:pt x="550582" y="274932"/>
                </a:lnTo>
                <a:close/>
                <a:moveTo>
                  <a:pt x="59005" y="255247"/>
                </a:moveTo>
                <a:lnTo>
                  <a:pt x="59005" y="294551"/>
                </a:lnTo>
                <a:lnTo>
                  <a:pt x="235957" y="294551"/>
                </a:lnTo>
                <a:lnTo>
                  <a:pt x="235957" y="255247"/>
                </a:lnTo>
                <a:close/>
                <a:moveTo>
                  <a:pt x="353956" y="255235"/>
                </a:moveTo>
                <a:lnTo>
                  <a:pt x="570309" y="255235"/>
                </a:lnTo>
                <a:lnTo>
                  <a:pt x="570309" y="333837"/>
                </a:lnTo>
                <a:lnTo>
                  <a:pt x="550582" y="333837"/>
                </a:lnTo>
                <a:lnTo>
                  <a:pt x="550582" y="353442"/>
                </a:lnTo>
                <a:lnTo>
                  <a:pt x="570309" y="353442"/>
                </a:lnTo>
                <a:lnTo>
                  <a:pt x="570309" y="431951"/>
                </a:lnTo>
                <a:lnTo>
                  <a:pt x="550582" y="431951"/>
                </a:lnTo>
                <a:lnTo>
                  <a:pt x="550582" y="451648"/>
                </a:lnTo>
                <a:lnTo>
                  <a:pt x="570309" y="451648"/>
                </a:lnTo>
                <a:lnTo>
                  <a:pt x="570309" y="530158"/>
                </a:lnTo>
                <a:lnTo>
                  <a:pt x="353956" y="530158"/>
                </a:lnTo>
                <a:lnTo>
                  <a:pt x="353956" y="451648"/>
                </a:lnTo>
                <a:lnTo>
                  <a:pt x="373591" y="451648"/>
                </a:lnTo>
                <a:lnTo>
                  <a:pt x="373591" y="431951"/>
                </a:lnTo>
                <a:lnTo>
                  <a:pt x="353956" y="431951"/>
                </a:lnTo>
                <a:lnTo>
                  <a:pt x="353956" y="353442"/>
                </a:lnTo>
                <a:lnTo>
                  <a:pt x="373591" y="353442"/>
                </a:lnTo>
                <a:lnTo>
                  <a:pt x="373591" y="333837"/>
                </a:lnTo>
                <a:lnTo>
                  <a:pt x="353956" y="333837"/>
                </a:lnTo>
                <a:close/>
                <a:moveTo>
                  <a:pt x="334377" y="235608"/>
                </a:moveTo>
                <a:lnTo>
                  <a:pt x="334377" y="549783"/>
                </a:lnTo>
                <a:lnTo>
                  <a:pt x="589981" y="549783"/>
                </a:lnTo>
                <a:lnTo>
                  <a:pt x="589981" y="235608"/>
                </a:lnTo>
                <a:close/>
                <a:moveTo>
                  <a:pt x="78636" y="216035"/>
                </a:moveTo>
                <a:lnTo>
                  <a:pt x="78636" y="235641"/>
                </a:lnTo>
                <a:lnTo>
                  <a:pt x="216326" y="235641"/>
                </a:lnTo>
                <a:lnTo>
                  <a:pt x="216326" y="216035"/>
                </a:lnTo>
                <a:close/>
                <a:moveTo>
                  <a:pt x="314651" y="216001"/>
                </a:moveTo>
                <a:lnTo>
                  <a:pt x="609614" y="216001"/>
                </a:lnTo>
                <a:lnTo>
                  <a:pt x="609614" y="608697"/>
                </a:lnTo>
                <a:lnTo>
                  <a:pt x="314651" y="608697"/>
                </a:lnTo>
                <a:close/>
                <a:moveTo>
                  <a:pt x="432636" y="176696"/>
                </a:moveTo>
                <a:lnTo>
                  <a:pt x="452324" y="176696"/>
                </a:lnTo>
                <a:lnTo>
                  <a:pt x="452324" y="196313"/>
                </a:lnTo>
                <a:lnTo>
                  <a:pt x="432636" y="196313"/>
                </a:lnTo>
                <a:close/>
                <a:moveTo>
                  <a:pt x="59005" y="157125"/>
                </a:moveTo>
                <a:lnTo>
                  <a:pt x="59005" y="196337"/>
                </a:lnTo>
                <a:lnTo>
                  <a:pt x="235957" y="196337"/>
                </a:lnTo>
                <a:lnTo>
                  <a:pt x="235957" y="157125"/>
                </a:lnTo>
                <a:close/>
                <a:moveTo>
                  <a:pt x="432636" y="137461"/>
                </a:moveTo>
                <a:lnTo>
                  <a:pt x="452324" y="137461"/>
                </a:lnTo>
                <a:lnTo>
                  <a:pt x="452324" y="157149"/>
                </a:lnTo>
                <a:lnTo>
                  <a:pt x="432636" y="157149"/>
                </a:lnTo>
                <a:close/>
                <a:moveTo>
                  <a:pt x="78636" y="117821"/>
                </a:moveTo>
                <a:lnTo>
                  <a:pt x="78636" y="137427"/>
                </a:lnTo>
                <a:lnTo>
                  <a:pt x="216326" y="137427"/>
                </a:lnTo>
                <a:lnTo>
                  <a:pt x="216326" y="117821"/>
                </a:lnTo>
                <a:close/>
                <a:moveTo>
                  <a:pt x="432636" y="98227"/>
                </a:moveTo>
                <a:lnTo>
                  <a:pt x="452324" y="98227"/>
                </a:lnTo>
                <a:lnTo>
                  <a:pt x="452324" y="117844"/>
                </a:lnTo>
                <a:lnTo>
                  <a:pt x="432636" y="117844"/>
                </a:lnTo>
                <a:close/>
                <a:moveTo>
                  <a:pt x="432636" y="58922"/>
                </a:moveTo>
                <a:lnTo>
                  <a:pt x="452324" y="58922"/>
                </a:lnTo>
                <a:lnTo>
                  <a:pt x="452324" y="78539"/>
                </a:lnTo>
                <a:lnTo>
                  <a:pt x="432636" y="78539"/>
                </a:lnTo>
                <a:close/>
                <a:moveTo>
                  <a:pt x="393331" y="58922"/>
                </a:moveTo>
                <a:lnTo>
                  <a:pt x="412948" y="58922"/>
                </a:lnTo>
                <a:lnTo>
                  <a:pt x="412948" y="78539"/>
                </a:lnTo>
                <a:lnTo>
                  <a:pt x="393331" y="78539"/>
                </a:lnTo>
                <a:close/>
                <a:moveTo>
                  <a:pt x="353956" y="58922"/>
                </a:moveTo>
                <a:lnTo>
                  <a:pt x="373644" y="58922"/>
                </a:lnTo>
                <a:lnTo>
                  <a:pt x="373644" y="78539"/>
                </a:lnTo>
                <a:lnTo>
                  <a:pt x="353956" y="78539"/>
                </a:lnTo>
                <a:close/>
                <a:moveTo>
                  <a:pt x="314651" y="58922"/>
                </a:moveTo>
                <a:lnTo>
                  <a:pt x="334339" y="58922"/>
                </a:lnTo>
                <a:lnTo>
                  <a:pt x="334339" y="78539"/>
                </a:lnTo>
                <a:lnTo>
                  <a:pt x="314651" y="78539"/>
                </a:lnTo>
                <a:close/>
                <a:moveTo>
                  <a:pt x="59005" y="58911"/>
                </a:moveTo>
                <a:lnTo>
                  <a:pt x="59005" y="98215"/>
                </a:lnTo>
                <a:lnTo>
                  <a:pt x="235957" y="98215"/>
                </a:lnTo>
                <a:lnTo>
                  <a:pt x="235957" y="58911"/>
                </a:lnTo>
                <a:close/>
                <a:moveTo>
                  <a:pt x="39375" y="39305"/>
                </a:moveTo>
                <a:lnTo>
                  <a:pt x="255587" y="39305"/>
                </a:lnTo>
                <a:lnTo>
                  <a:pt x="255587" y="117821"/>
                </a:lnTo>
                <a:lnTo>
                  <a:pt x="235957" y="117821"/>
                </a:lnTo>
                <a:lnTo>
                  <a:pt x="235957" y="137427"/>
                </a:lnTo>
                <a:lnTo>
                  <a:pt x="255587" y="137427"/>
                </a:lnTo>
                <a:lnTo>
                  <a:pt x="255587" y="216035"/>
                </a:lnTo>
                <a:lnTo>
                  <a:pt x="235957" y="216035"/>
                </a:lnTo>
                <a:lnTo>
                  <a:pt x="235957" y="235641"/>
                </a:lnTo>
                <a:lnTo>
                  <a:pt x="255587" y="235641"/>
                </a:lnTo>
                <a:lnTo>
                  <a:pt x="255587" y="314157"/>
                </a:lnTo>
                <a:lnTo>
                  <a:pt x="39375" y="314157"/>
                </a:lnTo>
                <a:lnTo>
                  <a:pt x="39375" y="235641"/>
                </a:lnTo>
                <a:lnTo>
                  <a:pt x="59005" y="235641"/>
                </a:lnTo>
                <a:lnTo>
                  <a:pt x="59005" y="216035"/>
                </a:lnTo>
                <a:lnTo>
                  <a:pt x="39375" y="216035"/>
                </a:lnTo>
                <a:lnTo>
                  <a:pt x="39375" y="137427"/>
                </a:lnTo>
                <a:lnTo>
                  <a:pt x="59005" y="137427"/>
                </a:lnTo>
                <a:lnTo>
                  <a:pt x="59005" y="117821"/>
                </a:lnTo>
                <a:lnTo>
                  <a:pt x="39375" y="117821"/>
                </a:lnTo>
                <a:close/>
                <a:moveTo>
                  <a:pt x="19633" y="19606"/>
                </a:moveTo>
                <a:lnTo>
                  <a:pt x="19633" y="333857"/>
                </a:lnTo>
                <a:lnTo>
                  <a:pt x="275330" y="333857"/>
                </a:lnTo>
                <a:lnTo>
                  <a:pt x="275330" y="19606"/>
                </a:lnTo>
                <a:close/>
                <a:moveTo>
                  <a:pt x="0" y="0"/>
                </a:moveTo>
                <a:lnTo>
                  <a:pt x="294963" y="0"/>
                </a:lnTo>
                <a:lnTo>
                  <a:pt x="294963" y="392767"/>
                </a:lnTo>
                <a:lnTo>
                  <a:pt x="0" y="392767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文本框 29"/>
          <p:cNvSpPr txBox="1"/>
          <p:nvPr/>
        </p:nvSpPr>
        <p:spPr>
          <a:xfrm>
            <a:off x="3860922" y="1613614"/>
            <a:ext cx="39725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Limitations of algorithms</a:t>
            </a:r>
            <a:endParaRPr lang="zh-CN" altLang="en-US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iconfont-11442-2857607"/>
          <p:cNvSpPr/>
          <p:nvPr/>
        </p:nvSpPr>
        <p:spPr>
          <a:xfrm>
            <a:off x="2936066" y="2564319"/>
            <a:ext cx="609685" cy="608767"/>
          </a:xfrm>
          <a:custGeom>
            <a:avLst/>
            <a:gdLst>
              <a:gd name="T0" fmla="*/ 6400 w 12800"/>
              <a:gd name="T1" fmla="*/ 0 h 12800"/>
              <a:gd name="T2" fmla="*/ 0 w 12800"/>
              <a:gd name="T3" fmla="*/ 6400 h 12800"/>
              <a:gd name="T4" fmla="*/ 6400 w 12800"/>
              <a:gd name="T5" fmla="*/ 12800 h 12800"/>
              <a:gd name="T6" fmla="*/ 12800 w 12800"/>
              <a:gd name="T7" fmla="*/ 6400 h 12800"/>
              <a:gd name="T8" fmla="*/ 6400 w 12800"/>
              <a:gd name="T9" fmla="*/ 0 h 12800"/>
              <a:gd name="T10" fmla="*/ 10395 w 12800"/>
              <a:gd name="T11" fmla="*/ 10395 h 12800"/>
              <a:gd name="T12" fmla="*/ 8599 w 12800"/>
              <a:gd name="T13" fmla="*/ 11606 h 12800"/>
              <a:gd name="T14" fmla="*/ 6400 w 12800"/>
              <a:gd name="T15" fmla="*/ 12050 h 12800"/>
              <a:gd name="T16" fmla="*/ 4201 w 12800"/>
              <a:gd name="T17" fmla="*/ 11606 h 12800"/>
              <a:gd name="T18" fmla="*/ 2405 w 12800"/>
              <a:gd name="T19" fmla="*/ 10395 h 12800"/>
              <a:gd name="T20" fmla="*/ 1194 w 12800"/>
              <a:gd name="T21" fmla="*/ 8599 h 12800"/>
              <a:gd name="T22" fmla="*/ 750 w 12800"/>
              <a:gd name="T23" fmla="*/ 6400 h 12800"/>
              <a:gd name="T24" fmla="*/ 1194 w 12800"/>
              <a:gd name="T25" fmla="*/ 4201 h 12800"/>
              <a:gd name="T26" fmla="*/ 2405 w 12800"/>
              <a:gd name="T27" fmla="*/ 2405 h 12800"/>
              <a:gd name="T28" fmla="*/ 4201 w 12800"/>
              <a:gd name="T29" fmla="*/ 1194 h 12800"/>
              <a:gd name="T30" fmla="*/ 6400 w 12800"/>
              <a:gd name="T31" fmla="*/ 750 h 12800"/>
              <a:gd name="T32" fmla="*/ 8599 w 12800"/>
              <a:gd name="T33" fmla="*/ 1194 h 12800"/>
              <a:gd name="T34" fmla="*/ 10395 w 12800"/>
              <a:gd name="T35" fmla="*/ 2405 h 12800"/>
              <a:gd name="T36" fmla="*/ 11606 w 12800"/>
              <a:gd name="T37" fmla="*/ 4201 h 12800"/>
              <a:gd name="T38" fmla="*/ 12050 w 12800"/>
              <a:gd name="T39" fmla="*/ 6400 h 12800"/>
              <a:gd name="T40" fmla="*/ 11606 w 12800"/>
              <a:gd name="T41" fmla="*/ 8599 h 12800"/>
              <a:gd name="T42" fmla="*/ 10395 w 12800"/>
              <a:gd name="T43" fmla="*/ 10395 h 12800"/>
              <a:gd name="T44" fmla="*/ 9372 w 12800"/>
              <a:gd name="T45" fmla="*/ 3428 h 12800"/>
              <a:gd name="T46" fmla="*/ 8665 w 12800"/>
              <a:gd name="T47" fmla="*/ 3428 h 12800"/>
              <a:gd name="T48" fmla="*/ 6400 w 12800"/>
              <a:gd name="T49" fmla="*/ 5693 h 12800"/>
              <a:gd name="T50" fmla="*/ 4135 w 12800"/>
              <a:gd name="T51" fmla="*/ 3428 h 12800"/>
              <a:gd name="T52" fmla="*/ 3428 w 12800"/>
              <a:gd name="T53" fmla="*/ 3428 h 12800"/>
              <a:gd name="T54" fmla="*/ 3428 w 12800"/>
              <a:gd name="T55" fmla="*/ 4135 h 12800"/>
              <a:gd name="T56" fmla="*/ 5693 w 12800"/>
              <a:gd name="T57" fmla="*/ 6400 h 12800"/>
              <a:gd name="T58" fmla="*/ 3428 w 12800"/>
              <a:gd name="T59" fmla="*/ 8665 h 12800"/>
              <a:gd name="T60" fmla="*/ 3428 w 12800"/>
              <a:gd name="T61" fmla="*/ 9372 h 12800"/>
              <a:gd name="T62" fmla="*/ 3781 w 12800"/>
              <a:gd name="T63" fmla="*/ 9519 h 12800"/>
              <a:gd name="T64" fmla="*/ 4135 w 12800"/>
              <a:gd name="T65" fmla="*/ 9372 h 12800"/>
              <a:gd name="T66" fmla="*/ 6400 w 12800"/>
              <a:gd name="T67" fmla="*/ 7107 h 12800"/>
              <a:gd name="T68" fmla="*/ 8665 w 12800"/>
              <a:gd name="T69" fmla="*/ 9372 h 12800"/>
              <a:gd name="T70" fmla="*/ 9019 w 12800"/>
              <a:gd name="T71" fmla="*/ 9519 h 12800"/>
              <a:gd name="T72" fmla="*/ 9372 w 12800"/>
              <a:gd name="T73" fmla="*/ 9372 h 12800"/>
              <a:gd name="T74" fmla="*/ 9372 w 12800"/>
              <a:gd name="T75" fmla="*/ 8665 h 12800"/>
              <a:gd name="T76" fmla="*/ 7107 w 12800"/>
              <a:gd name="T77" fmla="*/ 6400 h 12800"/>
              <a:gd name="T78" fmla="*/ 9372 w 12800"/>
              <a:gd name="T79" fmla="*/ 4135 h 12800"/>
              <a:gd name="T80" fmla="*/ 9372 w 12800"/>
              <a:gd name="T81" fmla="*/ 3428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12800" h="12800">
                <a:moveTo>
                  <a:pt x="6400" y="0"/>
                </a:moveTo>
                <a:cubicBezTo>
                  <a:pt x="2865" y="0"/>
                  <a:pt x="0" y="2865"/>
                  <a:pt x="0" y="6400"/>
                </a:cubicBezTo>
                <a:cubicBezTo>
                  <a:pt x="0" y="9935"/>
                  <a:pt x="2865" y="12800"/>
                  <a:pt x="6400" y="12800"/>
                </a:cubicBezTo>
                <a:cubicBezTo>
                  <a:pt x="9935" y="12800"/>
                  <a:pt x="12800" y="9935"/>
                  <a:pt x="12800" y="6400"/>
                </a:cubicBezTo>
                <a:cubicBezTo>
                  <a:pt x="12800" y="2865"/>
                  <a:pt x="9935" y="0"/>
                  <a:pt x="6400" y="0"/>
                </a:cubicBezTo>
                <a:close/>
                <a:moveTo>
                  <a:pt x="10395" y="10395"/>
                </a:moveTo>
                <a:cubicBezTo>
                  <a:pt x="9876" y="10914"/>
                  <a:pt x="9272" y="11322"/>
                  <a:pt x="8599" y="11606"/>
                </a:cubicBezTo>
                <a:cubicBezTo>
                  <a:pt x="7903" y="11901"/>
                  <a:pt x="7163" y="12050"/>
                  <a:pt x="6400" y="12050"/>
                </a:cubicBezTo>
                <a:cubicBezTo>
                  <a:pt x="5637" y="12050"/>
                  <a:pt x="4897" y="11901"/>
                  <a:pt x="4201" y="11606"/>
                </a:cubicBezTo>
                <a:cubicBezTo>
                  <a:pt x="3528" y="11322"/>
                  <a:pt x="2924" y="10914"/>
                  <a:pt x="2405" y="10395"/>
                </a:cubicBezTo>
                <a:cubicBezTo>
                  <a:pt x="1886" y="9876"/>
                  <a:pt x="1478" y="9272"/>
                  <a:pt x="1194" y="8599"/>
                </a:cubicBezTo>
                <a:cubicBezTo>
                  <a:pt x="899" y="7903"/>
                  <a:pt x="750" y="7163"/>
                  <a:pt x="750" y="6400"/>
                </a:cubicBezTo>
                <a:cubicBezTo>
                  <a:pt x="750" y="5637"/>
                  <a:pt x="899" y="4897"/>
                  <a:pt x="1194" y="4201"/>
                </a:cubicBezTo>
                <a:cubicBezTo>
                  <a:pt x="1478" y="3528"/>
                  <a:pt x="1886" y="2924"/>
                  <a:pt x="2405" y="2405"/>
                </a:cubicBezTo>
                <a:cubicBezTo>
                  <a:pt x="2924" y="1886"/>
                  <a:pt x="3528" y="1478"/>
                  <a:pt x="4201" y="1194"/>
                </a:cubicBezTo>
                <a:cubicBezTo>
                  <a:pt x="4897" y="899"/>
                  <a:pt x="5637" y="750"/>
                  <a:pt x="6400" y="750"/>
                </a:cubicBezTo>
                <a:cubicBezTo>
                  <a:pt x="7163" y="750"/>
                  <a:pt x="7903" y="899"/>
                  <a:pt x="8599" y="1194"/>
                </a:cubicBezTo>
                <a:cubicBezTo>
                  <a:pt x="9272" y="1478"/>
                  <a:pt x="9876" y="1886"/>
                  <a:pt x="10395" y="2405"/>
                </a:cubicBezTo>
                <a:cubicBezTo>
                  <a:pt x="10914" y="2924"/>
                  <a:pt x="11322" y="3528"/>
                  <a:pt x="11606" y="4201"/>
                </a:cubicBezTo>
                <a:cubicBezTo>
                  <a:pt x="11901" y="4897"/>
                  <a:pt x="12050" y="5637"/>
                  <a:pt x="12050" y="6400"/>
                </a:cubicBezTo>
                <a:cubicBezTo>
                  <a:pt x="12050" y="7163"/>
                  <a:pt x="11901" y="7903"/>
                  <a:pt x="11606" y="8599"/>
                </a:cubicBezTo>
                <a:cubicBezTo>
                  <a:pt x="11322" y="9272"/>
                  <a:pt x="10914" y="9876"/>
                  <a:pt x="10395" y="10395"/>
                </a:cubicBezTo>
                <a:close/>
                <a:moveTo>
                  <a:pt x="9372" y="3428"/>
                </a:moveTo>
                <a:cubicBezTo>
                  <a:pt x="9177" y="3233"/>
                  <a:pt x="8860" y="3233"/>
                  <a:pt x="8665" y="3428"/>
                </a:cubicBezTo>
                <a:lnTo>
                  <a:pt x="6400" y="5693"/>
                </a:lnTo>
                <a:lnTo>
                  <a:pt x="4135" y="3428"/>
                </a:lnTo>
                <a:cubicBezTo>
                  <a:pt x="3940" y="3233"/>
                  <a:pt x="3623" y="3233"/>
                  <a:pt x="3428" y="3428"/>
                </a:cubicBezTo>
                <a:cubicBezTo>
                  <a:pt x="3233" y="3623"/>
                  <a:pt x="3233" y="3940"/>
                  <a:pt x="3428" y="4135"/>
                </a:cubicBezTo>
                <a:lnTo>
                  <a:pt x="5693" y="6400"/>
                </a:lnTo>
                <a:lnTo>
                  <a:pt x="3428" y="8665"/>
                </a:lnTo>
                <a:cubicBezTo>
                  <a:pt x="3233" y="8860"/>
                  <a:pt x="3233" y="9177"/>
                  <a:pt x="3428" y="9372"/>
                </a:cubicBezTo>
                <a:cubicBezTo>
                  <a:pt x="3525" y="9470"/>
                  <a:pt x="3653" y="9519"/>
                  <a:pt x="3781" y="9519"/>
                </a:cubicBezTo>
                <a:cubicBezTo>
                  <a:pt x="3909" y="9519"/>
                  <a:pt x="4037" y="9470"/>
                  <a:pt x="4135" y="9372"/>
                </a:cubicBezTo>
                <a:lnTo>
                  <a:pt x="6400" y="7107"/>
                </a:lnTo>
                <a:lnTo>
                  <a:pt x="8665" y="9372"/>
                </a:lnTo>
                <a:cubicBezTo>
                  <a:pt x="8763" y="9470"/>
                  <a:pt x="8891" y="9519"/>
                  <a:pt x="9019" y="9519"/>
                </a:cubicBezTo>
                <a:cubicBezTo>
                  <a:pt x="9147" y="9519"/>
                  <a:pt x="9275" y="9470"/>
                  <a:pt x="9372" y="9372"/>
                </a:cubicBezTo>
                <a:cubicBezTo>
                  <a:pt x="9567" y="9177"/>
                  <a:pt x="9567" y="8860"/>
                  <a:pt x="9372" y="8665"/>
                </a:cubicBezTo>
                <a:lnTo>
                  <a:pt x="7107" y="6400"/>
                </a:lnTo>
                <a:lnTo>
                  <a:pt x="9372" y="4135"/>
                </a:lnTo>
                <a:cubicBezTo>
                  <a:pt x="9567" y="3940"/>
                  <a:pt x="9567" y="3623"/>
                  <a:pt x="9372" y="3428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箭头: 下 31"/>
          <p:cNvSpPr/>
          <p:nvPr/>
        </p:nvSpPr>
        <p:spPr>
          <a:xfrm>
            <a:off x="4738118" y="2106206"/>
            <a:ext cx="375547" cy="608767"/>
          </a:xfrm>
          <a:prstGeom prst="downArrow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" name="文本框 34"/>
          <p:cNvSpPr txBox="1"/>
          <p:nvPr/>
        </p:nvSpPr>
        <p:spPr>
          <a:xfrm>
            <a:off x="3860922" y="2706769"/>
            <a:ext cx="5805268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Calibri" panose="020F0502020204030204" pitchFamily="34" charset="0"/>
                <a:cs typeface="Calibri" panose="020F0502020204030204" pitchFamily="34" charset="0"/>
              </a:rPr>
              <a:t>Reduce buyer shopping experience</a:t>
            </a:r>
            <a:endParaRPr lang="en-US" altLang="zh-CN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iconfont-11253-5363694"/>
          <p:cNvSpPr/>
          <p:nvPr/>
        </p:nvSpPr>
        <p:spPr>
          <a:xfrm>
            <a:off x="3087278" y="4449853"/>
            <a:ext cx="609685" cy="596731"/>
          </a:xfrm>
          <a:custGeom>
            <a:avLst/>
            <a:gdLst>
              <a:gd name="T0" fmla="*/ 4231 w 10000"/>
              <a:gd name="T1" fmla="*/ 0 h 9790"/>
              <a:gd name="T2" fmla="*/ 4231 w 10000"/>
              <a:gd name="T3" fmla="*/ 533 h 9790"/>
              <a:gd name="T4" fmla="*/ 4809 w 10000"/>
              <a:gd name="T5" fmla="*/ 533 h 9790"/>
              <a:gd name="T6" fmla="*/ 4809 w 10000"/>
              <a:gd name="T7" fmla="*/ 2308 h 9790"/>
              <a:gd name="T8" fmla="*/ 5386 w 10000"/>
              <a:gd name="T9" fmla="*/ 2308 h 9790"/>
              <a:gd name="T10" fmla="*/ 5386 w 10000"/>
              <a:gd name="T11" fmla="*/ 0 h 9790"/>
              <a:gd name="T12" fmla="*/ 4231 w 10000"/>
              <a:gd name="T13" fmla="*/ 0 h 9790"/>
              <a:gd name="T14" fmla="*/ 7308 w 10000"/>
              <a:gd name="T15" fmla="*/ 2030 h 9790"/>
              <a:gd name="T16" fmla="*/ 7308 w 10000"/>
              <a:gd name="T17" fmla="*/ 2563 h 9790"/>
              <a:gd name="T18" fmla="*/ 8269 w 10000"/>
              <a:gd name="T19" fmla="*/ 2563 h 9790"/>
              <a:gd name="T20" fmla="*/ 8269 w 10000"/>
              <a:gd name="T21" fmla="*/ 2918 h 9790"/>
              <a:gd name="T22" fmla="*/ 7308 w 10000"/>
              <a:gd name="T23" fmla="*/ 2918 h 9790"/>
              <a:gd name="T24" fmla="*/ 7308 w 10000"/>
              <a:gd name="T25" fmla="*/ 4338 h 9790"/>
              <a:gd name="T26" fmla="*/ 8846 w 10000"/>
              <a:gd name="T27" fmla="*/ 4338 h 9790"/>
              <a:gd name="T28" fmla="*/ 8846 w 10000"/>
              <a:gd name="T29" fmla="*/ 3805 h 9790"/>
              <a:gd name="T30" fmla="*/ 7885 w 10000"/>
              <a:gd name="T31" fmla="*/ 3805 h 9790"/>
              <a:gd name="T32" fmla="*/ 7885 w 10000"/>
              <a:gd name="T33" fmla="*/ 3450 h 9790"/>
              <a:gd name="T34" fmla="*/ 8846 w 10000"/>
              <a:gd name="T35" fmla="*/ 3450 h 9790"/>
              <a:gd name="T36" fmla="*/ 8846 w 10000"/>
              <a:gd name="T37" fmla="*/ 2030 h 9790"/>
              <a:gd name="T38" fmla="*/ 7308 w 10000"/>
              <a:gd name="T39" fmla="*/ 2030 h 9790"/>
              <a:gd name="T40" fmla="*/ 1154 w 10000"/>
              <a:gd name="T41" fmla="*/ 4049 h 9790"/>
              <a:gd name="T42" fmla="*/ 1154 w 10000"/>
              <a:gd name="T43" fmla="*/ 4581 h 9790"/>
              <a:gd name="T44" fmla="*/ 2115 w 10000"/>
              <a:gd name="T45" fmla="*/ 4581 h 9790"/>
              <a:gd name="T46" fmla="*/ 2115 w 10000"/>
              <a:gd name="T47" fmla="*/ 4936 h 9790"/>
              <a:gd name="T48" fmla="*/ 1154 w 10000"/>
              <a:gd name="T49" fmla="*/ 4936 h 9790"/>
              <a:gd name="T50" fmla="*/ 1154 w 10000"/>
              <a:gd name="T51" fmla="*/ 5469 h 9790"/>
              <a:gd name="T52" fmla="*/ 2115 w 10000"/>
              <a:gd name="T53" fmla="*/ 5469 h 9790"/>
              <a:gd name="T54" fmla="*/ 2115 w 10000"/>
              <a:gd name="T55" fmla="*/ 5824 h 9790"/>
              <a:gd name="T56" fmla="*/ 1154 w 10000"/>
              <a:gd name="T57" fmla="*/ 5824 h 9790"/>
              <a:gd name="T58" fmla="*/ 1154 w 10000"/>
              <a:gd name="T59" fmla="*/ 6356 h 9790"/>
              <a:gd name="T60" fmla="*/ 2693 w 10000"/>
              <a:gd name="T61" fmla="*/ 6356 h 9790"/>
              <a:gd name="T62" fmla="*/ 2693 w 10000"/>
              <a:gd name="T63" fmla="*/ 4049 h 9790"/>
              <a:gd name="T64" fmla="*/ 1154 w 10000"/>
              <a:gd name="T65" fmla="*/ 4049 h 9790"/>
              <a:gd name="T66" fmla="*/ 3393 w 10000"/>
              <a:gd name="T67" fmla="*/ 3078 h 9790"/>
              <a:gd name="T68" fmla="*/ 3393 w 10000"/>
              <a:gd name="T69" fmla="*/ 7150 h 9790"/>
              <a:gd name="T70" fmla="*/ 0 w 10000"/>
              <a:gd name="T71" fmla="*/ 7150 h 9790"/>
              <a:gd name="T72" fmla="*/ 0 w 10000"/>
              <a:gd name="T73" fmla="*/ 9790 h 9790"/>
              <a:gd name="T74" fmla="*/ 10000 w 10000"/>
              <a:gd name="T75" fmla="*/ 9790 h 9790"/>
              <a:gd name="T76" fmla="*/ 10000 w 10000"/>
              <a:gd name="T77" fmla="*/ 5229 h 9790"/>
              <a:gd name="T78" fmla="*/ 6608 w 10000"/>
              <a:gd name="T79" fmla="*/ 5229 h 9790"/>
              <a:gd name="T80" fmla="*/ 6608 w 10000"/>
              <a:gd name="T81" fmla="*/ 3079 h 9790"/>
              <a:gd name="T82" fmla="*/ 3393 w 10000"/>
              <a:gd name="T83" fmla="*/ 3079 h 9790"/>
              <a:gd name="T84" fmla="*/ 3393 w 10000"/>
              <a:gd name="T85" fmla="*/ 3078 h 9790"/>
              <a:gd name="T86" fmla="*/ 3393 w 10000"/>
              <a:gd name="T87" fmla="*/ 3078 h 97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10000" h="9790">
                <a:moveTo>
                  <a:pt x="4231" y="0"/>
                </a:moveTo>
                <a:lnTo>
                  <a:pt x="4231" y="533"/>
                </a:lnTo>
                <a:lnTo>
                  <a:pt x="4809" y="533"/>
                </a:lnTo>
                <a:lnTo>
                  <a:pt x="4809" y="2308"/>
                </a:lnTo>
                <a:lnTo>
                  <a:pt x="5386" y="2308"/>
                </a:lnTo>
                <a:lnTo>
                  <a:pt x="5386" y="0"/>
                </a:lnTo>
                <a:lnTo>
                  <a:pt x="4231" y="0"/>
                </a:lnTo>
                <a:close/>
                <a:moveTo>
                  <a:pt x="7308" y="2030"/>
                </a:moveTo>
                <a:lnTo>
                  <a:pt x="7308" y="2563"/>
                </a:lnTo>
                <a:lnTo>
                  <a:pt x="8269" y="2563"/>
                </a:lnTo>
                <a:lnTo>
                  <a:pt x="8269" y="2918"/>
                </a:lnTo>
                <a:lnTo>
                  <a:pt x="7308" y="2918"/>
                </a:lnTo>
                <a:lnTo>
                  <a:pt x="7308" y="4338"/>
                </a:lnTo>
                <a:lnTo>
                  <a:pt x="8846" y="4338"/>
                </a:lnTo>
                <a:lnTo>
                  <a:pt x="8846" y="3805"/>
                </a:lnTo>
                <a:lnTo>
                  <a:pt x="7885" y="3805"/>
                </a:lnTo>
                <a:lnTo>
                  <a:pt x="7885" y="3450"/>
                </a:lnTo>
                <a:lnTo>
                  <a:pt x="8846" y="3450"/>
                </a:lnTo>
                <a:lnTo>
                  <a:pt x="8846" y="2030"/>
                </a:lnTo>
                <a:lnTo>
                  <a:pt x="7308" y="2030"/>
                </a:lnTo>
                <a:close/>
                <a:moveTo>
                  <a:pt x="1154" y="4049"/>
                </a:moveTo>
                <a:lnTo>
                  <a:pt x="1154" y="4581"/>
                </a:lnTo>
                <a:lnTo>
                  <a:pt x="2115" y="4581"/>
                </a:lnTo>
                <a:lnTo>
                  <a:pt x="2115" y="4936"/>
                </a:lnTo>
                <a:lnTo>
                  <a:pt x="1154" y="4936"/>
                </a:lnTo>
                <a:lnTo>
                  <a:pt x="1154" y="5469"/>
                </a:lnTo>
                <a:lnTo>
                  <a:pt x="2115" y="5469"/>
                </a:lnTo>
                <a:lnTo>
                  <a:pt x="2115" y="5824"/>
                </a:lnTo>
                <a:lnTo>
                  <a:pt x="1154" y="5824"/>
                </a:lnTo>
                <a:lnTo>
                  <a:pt x="1154" y="6356"/>
                </a:lnTo>
                <a:lnTo>
                  <a:pt x="2693" y="6356"/>
                </a:lnTo>
                <a:lnTo>
                  <a:pt x="2693" y="4049"/>
                </a:lnTo>
                <a:lnTo>
                  <a:pt x="1154" y="4049"/>
                </a:lnTo>
                <a:close/>
                <a:moveTo>
                  <a:pt x="3393" y="3078"/>
                </a:moveTo>
                <a:lnTo>
                  <a:pt x="3393" y="7150"/>
                </a:lnTo>
                <a:lnTo>
                  <a:pt x="0" y="7150"/>
                </a:lnTo>
                <a:lnTo>
                  <a:pt x="0" y="9790"/>
                </a:lnTo>
                <a:lnTo>
                  <a:pt x="10000" y="9790"/>
                </a:lnTo>
                <a:lnTo>
                  <a:pt x="10000" y="5229"/>
                </a:lnTo>
                <a:lnTo>
                  <a:pt x="6608" y="5229"/>
                </a:lnTo>
                <a:lnTo>
                  <a:pt x="6608" y="3079"/>
                </a:lnTo>
                <a:lnTo>
                  <a:pt x="3393" y="3079"/>
                </a:lnTo>
                <a:lnTo>
                  <a:pt x="3393" y="3078"/>
                </a:lnTo>
                <a:close/>
                <a:moveTo>
                  <a:pt x="3393" y="3078"/>
                </a:moveTo>
                <a:close/>
              </a:path>
            </a:pathLst>
          </a:custGeom>
          <a:solidFill>
            <a:srgbClr val="49B1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文本框 37"/>
          <p:cNvSpPr txBox="1"/>
          <p:nvPr/>
        </p:nvSpPr>
        <p:spPr>
          <a:xfrm>
            <a:off x="3860922" y="4576047"/>
            <a:ext cx="40115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Keyword Ranking Invalidation</a:t>
            </a:r>
            <a:endParaRPr lang="zh-CN" altLang="en-US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planning_272442"/>
          <p:cNvSpPr/>
          <p:nvPr/>
        </p:nvSpPr>
        <p:spPr>
          <a:xfrm>
            <a:off x="3087278" y="5675405"/>
            <a:ext cx="609685" cy="476646"/>
          </a:xfrm>
          <a:custGeom>
            <a:avLst/>
            <a:gdLst>
              <a:gd name="connsiteX0" fmla="*/ 80550 w 607639"/>
              <a:gd name="connsiteY0" fmla="*/ 373663 h 475047"/>
              <a:gd name="connsiteX1" fmla="*/ 59628 w 607639"/>
              <a:gd name="connsiteY1" fmla="*/ 394638 h 475047"/>
              <a:gd name="connsiteX2" fmla="*/ 80550 w 607639"/>
              <a:gd name="connsiteY2" fmla="*/ 415524 h 475047"/>
              <a:gd name="connsiteX3" fmla="*/ 101473 w 607639"/>
              <a:gd name="connsiteY3" fmla="*/ 394638 h 475047"/>
              <a:gd name="connsiteX4" fmla="*/ 80550 w 607639"/>
              <a:gd name="connsiteY4" fmla="*/ 373663 h 475047"/>
              <a:gd name="connsiteX5" fmla="*/ 80550 w 607639"/>
              <a:gd name="connsiteY5" fmla="*/ 354733 h 475047"/>
              <a:gd name="connsiteX6" fmla="*/ 120526 w 607639"/>
              <a:gd name="connsiteY6" fmla="*/ 394638 h 475047"/>
              <a:gd name="connsiteX7" fmla="*/ 80550 w 607639"/>
              <a:gd name="connsiteY7" fmla="*/ 434543 h 475047"/>
              <a:gd name="connsiteX8" fmla="*/ 40575 w 607639"/>
              <a:gd name="connsiteY8" fmla="*/ 394638 h 475047"/>
              <a:gd name="connsiteX9" fmla="*/ 80550 w 607639"/>
              <a:gd name="connsiteY9" fmla="*/ 354733 h 475047"/>
              <a:gd name="connsiteX10" fmla="*/ 80550 w 607639"/>
              <a:gd name="connsiteY10" fmla="*/ 333111 h 475047"/>
              <a:gd name="connsiteX11" fmla="*/ 19225 w 607639"/>
              <a:gd name="connsiteY11" fmla="*/ 390170 h 475047"/>
              <a:gd name="connsiteX12" fmla="*/ 19136 w 607639"/>
              <a:gd name="connsiteY12" fmla="*/ 392214 h 475047"/>
              <a:gd name="connsiteX13" fmla="*/ 19047 w 607639"/>
              <a:gd name="connsiteY13" fmla="*/ 394613 h 475047"/>
              <a:gd name="connsiteX14" fmla="*/ 19136 w 607639"/>
              <a:gd name="connsiteY14" fmla="*/ 397724 h 475047"/>
              <a:gd name="connsiteX15" fmla="*/ 19759 w 607639"/>
              <a:gd name="connsiteY15" fmla="*/ 403945 h 475047"/>
              <a:gd name="connsiteX16" fmla="*/ 20293 w 607639"/>
              <a:gd name="connsiteY16" fmla="*/ 406967 h 475047"/>
              <a:gd name="connsiteX17" fmla="*/ 23853 w 607639"/>
              <a:gd name="connsiteY17" fmla="*/ 418521 h 475047"/>
              <a:gd name="connsiteX18" fmla="*/ 29550 w 607639"/>
              <a:gd name="connsiteY18" fmla="*/ 428920 h 475047"/>
              <a:gd name="connsiteX19" fmla="*/ 33110 w 607639"/>
              <a:gd name="connsiteY19" fmla="*/ 433630 h 475047"/>
              <a:gd name="connsiteX20" fmla="*/ 41387 w 607639"/>
              <a:gd name="connsiteY20" fmla="*/ 441985 h 475047"/>
              <a:gd name="connsiteX21" fmla="*/ 46194 w 607639"/>
              <a:gd name="connsiteY21" fmla="*/ 445540 h 475047"/>
              <a:gd name="connsiteX22" fmla="*/ 80550 w 607639"/>
              <a:gd name="connsiteY22" fmla="*/ 456027 h 475047"/>
              <a:gd name="connsiteX23" fmla="*/ 114906 w 607639"/>
              <a:gd name="connsiteY23" fmla="*/ 445540 h 475047"/>
              <a:gd name="connsiteX24" fmla="*/ 119712 w 607639"/>
              <a:gd name="connsiteY24" fmla="*/ 441985 h 475047"/>
              <a:gd name="connsiteX25" fmla="*/ 127989 w 607639"/>
              <a:gd name="connsiteY25" fmla="*/ 433630 h 475047"/>
              <a:gd name="connsiteX26" fmla="*/ 131550 w 607639"/>
              <a:gd name="connsiteY26" fmla="*/ 428920 h 475047"/>
              <a:gd name="connsiteX27" fmla="*/ 137246 w 607639"/>
              <a:gd name="connsiteY27" fmla="*/ 418521 h 475047"/>
              <a:gd name="connsiteX28" fmla="*/ 140806 w 607639"/>
              <a:gd name="connsiteY28" fmla="*/ 406967 h 475047"/>
              <a:gd name="connsiteX29" fmla="*/ 141340 w 607639"/>
              <a:gd name="connsiteY29" fmla="*/ 403945 h 475047"/>
              <a:gd name="connsiteX30" fmla="*/ 141963 w 607639"/>
              <a:gd name="connsiteY30" fmla="*/ 397724 h 475047"/>
              <a:gd name="connsiteX31" fmla="*/ 142052 w 607639"/>
              <a:gd name="connsiteY31" fmla="*/ 394613 h 475047"/>
              <a:gd name="connsiteX32" fmla="*/ 142052 w 607639"/>
              <a:gd name="connsiteY32" fmla="*/ 392214 h 475047"/>
              <a:gd name="connsiteX33" fmla="*/ 141874 w 607639"/>
              <a:gd name="connsiteY33" fmla="*/ 390170 h 475047"/>
              <a:gd name="connsiteX34" fmla="*/ 80550 w 607639"/>
              <a:gd name="connsiteY34" fmla="*/ 333111 h 475047"/>
              <a:gd name="connsiteX35" fmla="*/ 459450 w 607639"/>
              <a:gd name="connsiteY35" fmla="*/ 321985 h 475047"/>
              <a:gd name="connsiteX36" fmla="*/ 472889 w 607639"/>
              <a:gd name="connsiteY36" fmla="*/ 321985 h 475047"/>
              <a:gd name="connsiteX37" fmla="*/ 509201 w 607639"/>
              <a:gd name="connsiteY37" fmla="*/ 358263 h 475047"/>
              <a:gd name="connsiteX38" fmla="*/ 545512 w 607639"/>
              <a:gd name="connsiteY38" fmla="*/ 321985 h 475047"/>
              <a:gd name="connsiteX39" fmla="*/ 559040 w 607639"/>
              <a:gd name="connsiteY39" fmla="*/ 321985 h 475047"/>
              <a:gd name="connsiteX40" fmla="*/ 559040 w 607639"/>
              <a:gd name="connsiteY40" fmla="*/ 335411 h 475047"/>
              <a:gd name="connsiteX41" fmla="*/ 522729 w 607639"/>
              <a:gd name="connsiteY41" fmla="*/ 371689 h 475047"/>
              <a:gd name="connsiteX42" fmla="*/ 559040 w 607639"/>
              <a:gd name="connsiteY42" fmla="*/ 407967 h 475047"/>
              <a:gd name="connsiteX43" fmla="*/ 559040 w 607639"/>
              <a:gd name="connsiteY43" fmla="*/ 421483 h 475047"/>
              <a:gd name="connsiteX44" fmla="*/ 552276 w 607639"/>
              <a:gd name="connsiteY44" fmla="*/ 424239 h 475047"/>
              <a:gd name="connsiteX45" fmla="*/ 545512 w 607639"/>
              <a:gd name="connsiteY45" fmla="*/ 421483 h 475047"/>
              <a:gd name="connsiteX46" fmla="*/ 509201 w 607639"/>
              <a:gd name="connsiteY46" fmla="*/ 385116 h 475047"/>
              <a:gd name="connsiteX47" fmla="*/ 472889 w 607639"/>
              <a:gd name="connsiteY47" fmla="*/ 421483 h 475047"/>
              <a:gd name="connsiteX48" fmla="*/ 466214 w 607639"/>
              <a:gd name="connsiteY48" fmla="*/ 424239 h 475047"/>
              <a:gd name="connsiteX49" fmla="*/ 459450 w 607639"/>
              <a:gd name="connsiteY49" fmla="*/ 421483 h 475047"/>
              <a:gd name="connsiteX50" fmla="*/ 459450 w 607639"/>
              <a:gd name="connsiteY50" fmla="*/ 407967 h 475047"/>
              <a:gd name="connsiteX51" fmla="*/ 495762 w 607639"/>
              <a:gd name="connsiteY51" fmla="*/ 371689 h 475047"/>
              <a:gd name="connsiteX52" fmla="*/ 459450 w 607639"/>
              <a:gd name="connsiteY52" fmla="*/ 335411 h 475047"/>
              <a:gd name="connsiteX53" fmla="*/ 459450 w 607639"/>
              <a:gd name="connsiteY53" fmla="*/ 321985 h 475047"/>
              <a:gd name="connsiteX54" fmla="*/ 195728 w 607639"/>
              <a:gd name="connsiteY54" fmla="*/ 271319 h 475047"/>
              <a:gd name="connsiteX55" fmla="*/ 209167 w 607639"/>
              <a:gd name="connsiteY55" fmla="*/ 271319 h 475047"/>
              <a:gd name="connsiteX56" fmla="*/ 245567 w 607639"/>
              <a:gd name="connsiteY56" fmla="*/ 307597 h 475047"/>
              <a:gd name="connsiteX57" fmla="*/ 281879 w 607639"/>
              <a:gd name="connsiteY57" fmla="*/ 271319 h 475047"/>
              <a:gd name="connsiteX58" fmla="*/ 295318 w 607639"/>
              <a:gd name="connsiteY58" fmla="*/ 271319 h 475047"/>
              <a:gd name="connsiteX59" fmla="*/ 295318 w 607639"/>
              <a:gd name="connsiteY59" fmla="*/ 284745 h 475047"/>
              <a:gd name="connsiteX60" fmla="*/ 259006 w 607639"/>
              <a:gd name="connsiteY60" fmla="*/ 321023 h 475047"/>
              <a:gd name="connsiteX61" fmla="*/ 295318 w 607639"/>
              <a:gd name="connsiteY61" fmla="*/ 357301 h 475047"/>
              <a:gd name="connsiteX62" fmla="*/ 295318 w 607639"/>
              <a:gd name="connsiteY62" fmla="*/ 370728 h 475047"/>
              <a:gd name="connsiteX63" fmla="*/ 288554 w 607639"/>
              <a:gd name="connsiteY63" fmla="*/ 373573 h 475047"/>
              <a:gd name="connsiteX64" fmla="*/ 281879 w 607639"/>
              <a:gd name="connsiteY64" fmla="*/ 370728 h 475047"/>
              <a:gd name="connsiteX65" fmla="*/ 245567 w 607639"/>
              <a:gd name="connsiteY65" fmla="*/ 334450 h 475047"/>
              <a:gd name="connsiteX66" fmla="*/ 209167 w 607639"/>
              <a:gd name="connsiteY66" fmla="*/ 370728 h 475047"/>
              <a:gd name="connsiteX67" fmla="*/ 202492 w 607639"/>
              <a:gd name="connsiteY67" fmla="*/ 373573 h 475047"/>
              <a:gd name="connsiteX68" fmla="*/ 195728 w 607639"/>
              <a:gd name="connsiteY68" fmla="*/ 370728 h 475047"/>
              <a:gd name="connsiteX69" fmla="*/ 195728 w 607639"/>
              <a:gd name="connsiteY69" fmla="*/ 357301 h 475047"/>
              <a:gd name="connsiteX70" fmla="*/ 232039 w 607639"/>
              <a:gd name="connsiteY70" fmla="*/ 321023 h 475047"/>
              <a:gd name="connsiteX71" fmla="*/ 195728 w 607639"/>
              <a:gd name="connsiteY71" fmla="*/ 284745 h 475047"/>
              <a:gd name="connsiteX72" fmla="*/ 195728 w 607639"/>
              <a:gd name="connsiteY72" fmla="*/ 271319 h 475047"/>
              <a:gd name="connsiteX73" fmla="*/ 416242 w 607639"/>
              <a:gd name="connsiteY73" fmla="*/ 218111 h 475047"/>
              <a:gd name="connsiteX74" fmla="*/ 429770 w 607639"/>
              <a:gd name="connsiteY74" fmla="*/ 218111 h 475047"/>
              <a:gd name="connsiteX75" fmla="*/ 432262 w 607639"/>
              <a:gd name="connsiteY75" fmla="*/ 220688 h 475047"/>
              <a:gd name="connsiteX76" fmla="*/ 462699 w 607639"/>
              <a:gd name="connsiteY76" fmla="*/ 251082 h 475047"/>
              <a:gd name="connsiteX77" fmla="*/ 462699 w 607639"/>
              <a:gd name="connsiteY77" fmla="*/ 264501 h 475047"/>
              <a:gd name="connsiteX78" fmla="*/ 456024 w 607639"/>
              <a:gd name="connsiteY78" fmla="*/ 267256 h 475047"/>
              <a:gd name="connsiteX79" fmla="*/ 449261 w 607639"/>
              <a:gd name="connsiteY79" fmla="*/ 264501 h 475047"/>
              <a:gd name="connsiteX80" fmla="*/ 433864 w 607639"/>
              <a:gd name="connsiteY80" fmla="*/ 249127 h 475047"/>
              <a:gd name="connsiteX81" fmla="*/ 237802 w 607639"/>
              <a:gd name="connsiteY81" fmla="*/ 424381 h 475047"/>
              <a:gd name="connsiteX82" fmla="*/ 228279 w 607639"/>
              <a:gd name="connsiteY82" fmla="*/ 414872 h 475047"/>
              <a:gd name="connsiteX83" fmla="*/ 237802 w 607639"/>
              <a:gd name="connsiteY83" fmla="*/ 405363 h 475047"/>
              <a:gd name="connsiteX84" fmla="*/ 414996 w 607639"/>
              <a:gd name="connsiteY84" fmla="*/ 246283 h 475047"/>
              <a:gd name="connsiteX85" fmla="*/ 391679 w 607639"/>
              <a:gd name="connsiteY85" fmla="*/ 269567 h 475047"/>
              <a:gd name="connsiteX86" fmla="*/ 384915 w 607639"/>
              <a:gd name="connsiteY86" fmla="*/ 272322 h 475047"/>
              <a:gd name="connsiteX87" fmla="*/ 378240 w 607639"/>
              <a:gd name="connsiteY87" fmla="*/ 269567 h 475047"/>
              <a:gd name="connsiteX88" fmla="*/ 378240 w 607639"/>
              <a:gd name="connsiteY88" fmla="*/ 256148 h 475047"/>
              <a:gd name="connsiteX89" fmla="*/ 110999 w 607639"/>
              <a:gd name="connsiteY89" fmla="*/ 146917 h 475047"/>
              <a:gd name="connsiteX90" fmla="*/ 120526 w 607639"/>
              <a:gd name="connsiteY90" fmla="*/ 156428 h 475047"/>
              <a:gd name="connsiteX91" fmla="*/ 120526 w 607639"/>
              <a:gd name="connsiteY91" fmla="*/ 272962 h 475047"/>
              <a:gd name="connsiteX92" fmla="*/ 110999 w 607639"/>
              <a:gd name="connsiteY92" fmla="*/ 282473 h 475047"/>
              <a:gd name="connsiteX93" fmla="*/ 101473 w 607639"/>
              <a:gd name="connsiteY93" fmla="*/ 272962 h 475047"/>
              <a:gd name="connsiteX94" fmla="*/ 101473 w 607639"/>
              <a:gd name="connsiteY94" fmla="*/ 156428 h 475047"/>
              <a:gd name="connsiteX95" fmla="*/ 110999 w 607639"/>
              <a:gd name="connsiteY95" fmla="*/ 146917 h 475047"/>
              <a:gd name="connsiteX96" fmla="*/ 433202 w 607639"/>
              <a:gd name="connsiteY96" fmla="*/ 79845 h 475047"/>
              <a:gd name="connsiteX97" fmla="*/ 389422 w 607639"/>
              <a:gd name="connsiteY97" fmla="*/ 123569 h 475047"/>
              <a:gd name="connsiteX98" fmla="*/ 433202 w 607639"/>
              <a:gd name="connsiteY98" fmla="*/ 167204 h 475047"/>
              <a:gd name="connsiteX99" fmla="*/ 476981 w 607639"/>
              <a:gd name="connsiteY99" fmla="*/ 123569 h 475047"/>
              <a:gd name="connsiteX100" fmla="*/ 433202 w 607639"/>
              <a:gd name="connsiteY100" fmla="*/ 79845 h 475047"/>
              <a:gd name="connsiteX101" fmla="*/ 433202 w 607639"/>
              <a:gd name="connsiteY101" fmla="*/ 60827 h 475047"/>
              <a:gd name="connsiteX102" fmla="*/ 495934 w 607639"/>
              <a:gd name="connsiteY102" fmla="*/ 123569 h 475047"/>
              <a:gd name="connsiteX103" fmla="*/ 433202 w 607639"/>
              <a:gd name="connsiteY103" fmla="*/ 186222 h 475047"/>
              <a:gd name="connsiteX104" fmla="*/ 370469 w 607639"/>
              <a:gd name="connsiteY104" fmla="*/ 123569 h 475047"/>
              <a:gd name="connsiteX105" fmla="*/ 433202 w 607639"/>
              <a:gd name="connsiteY105" fmla="*/ 60827 h 475047"/>
              <a:gd name="connsiteX106" fmla="*/ 215982 w 607639"/>
              <a:gd name="connsiteY106" fmla="*/ 53463 h 475047"/>
              <a:gd name="connsiteX107" fmla="*/ 229430 w 607639"/>
              <a:gd name="connsiteY107" fmla="*/ 53463 h 475047"/>
              <a:gd name="connsiteX108" fmla="*/ 265855 w 607639"/>
              <a:gd name="connsiteY108" fmla="*/ 89812 h 475047"/>
              <a:gd name="connsiteX109" fmla="*/ 302191 w 607639"/>
              <a:gd name="connsiteY109" fmla="*/ 53463 h 475047"/>
              <a:gd name="connsiteX110" fmla="*/ 315638 w 607639"/>
              <a:gd name="connsiteY110" fmla="*/ 53463 h 475047"/>
              <a:gd name="connsiteX111" fmla="*/ 315638 w 607639"/>
              <a:gd name="connsiteY111" fmla="*/ 66972 h 475047"/>
              <a:gd name="connsiteX112" fmla="*/ 279303 w 607639"/>
              <a:gd name="connsiteY112" fmla="*/ 103232 h 475047"/>
              <a:gd name="connsiteX113" fmla="*/ 315638 w 607639"/>
              <a:gd name="connsiteY113" fmla="*/ 139492 h 475047"/>
              <a:gd name="connsiteX114" fmla="*/ 315638 w 607639"/>
              <a:gd name="connsiteY114" fmla="*/ 152912 h 475047"/>
              <a:gd name="connsiteX115" fmla="*/ 308870 w 607639"/>
              <a:gd name="connsiteY115" fmla="*/ 155667 h 475047"/>
              <a:gd name="connsiteX116" fmla="*/ 302191 w 607639"/>
              <a:gd name="connsiteY116" fmla="*/ 152912 h 475047"/>
              <a:gd name="connsiteX117" fmla="*/ 265855 w 607639"/>
              <a:gd name="connsiteY117" fmla="*/ 116652 h 475047"/>
              <a:gd name="connsiteX118" fmla="*/ 229430 w 607639"/>
              <a:gd name="connsiteY118" fmla="*/ 152912 h 475047"/>
              <a:gd name="connsiteX119" fmla="*/ 222751 w 607639"/>
              <a:gd name="connsiteY119" fmla="*/ 155667 h 475047"/>
              <a:gd name="connsiteX120" fmla="*/ 215982 w 607639"/>
              <a:gd name="connsiteY120" fmla="*/ 152912 h 475047"/>
              <a:gd name="connsiteX121" fmla="*/ 215982 w 607639"/>
              <a:gd name="connsiteY121" fmla="*/ 139492 h 475047"/>
              <a:gd name="connsiteX122" fmla="*/ 252318 w 607639"/>
              <a:gd name="connsiteY122" fmla="*/ 103232 h 475047"/>
              <a:gd name="connsiteX123" fmla="*/ 215982 w 607639"/>
              <a:gd name="connsiteY123" fmla="*/ 66972 h 475047"/>
              <a:gd name="connsiteX124" fmla="*/ 215982 w 607639"/>
              <a:gd name="connsiteY124" fmla="*/ 53463 h 475047"/>
              <a:gd name="connsiteX125" fmla="*/ 132440 w 607639"/>
              <a:gd name="connsiteY125" fmla="*/ 19020 h 475047"/>
              <a:gd name="connsiteX126" fmla="*/ 161099 w 607639"/>
              <a:gd name="connsiteY126" fmla="*/ 80434 h 475047"/>
              <a:gd name="connsiteX127" fmla="*/ 161099 w 607639"/>
              <a:gd name="connsiteY127" fmla="*/ 389547 h 475047"/>
              <a:gd name="connsiteX128" fmla="*/ 161010 w 607639"/>
              <a:gd name="connsiteY128" fmla="*/ 390881 h 475047"/>
              <a:gd name="connsiteX129" fmla="*/ 161010 w 607639"/>
              <a:gd name="connsiteY129" fmla="*/ 391325 h 475047"/>
              <a:gd name="connsiteX130" fmla="*/ 161010 w 607639"/>
              <a:gd name="connsiteY130" fmla="*/ 391414 h 475047"/>
              <a:gd name="connsiteX131" fmla="*/ 161099 w 607639"/>
              <a:gd name="connsiteY131" fmla="*/ 394613 h 475047"/>
              <a:gd name="connsiteX132" fmla="*/ 161010 w 607639"/>
              <a:gd name="connsiteY132" fmla="*/ 398702 h 475047"/>
              <a:gd name="connsiteX133" fmla="*/ 160209 w 607639"/>
              <a:gd name="connsiteY133" fmla="*/ 406790 h 475047"/>
              <a:gd name="connsiteX134" fmla="*/ 159497 w 607639"/>
              <a:gd name="connsiteY134" fmla="*/ 410789 h 475047"/>
              <a:gd name="connsiteX135" fmla="*/ 154780 w 607639"/>
              <a:gd name="connsiteY135" fmla="*/ 425898 h 475047"/>
              <a:gd name="connsiteX136" fmla="*/ 147304 w 607639"/>
              <a:gd name="connsiteY136" fmla="*/ 439585 h 475047"/>
              <a:gd name="connsiteX137" fmla="*/ 142675 w 607639"/>
              <a:gd name="connsiteY137" fmla="*/ 445718 h 475047"/>
              <a:gd name="connsiteX138" fmla="*/ 132529 w 607639"/>
              <a:gd name="connsiteY138" fmla="*/ 456027 h 475047"/>
              <a:gd name="connsiteX139" fmla="*/ 588592 w 607639"/>
              <a:gd name="connsiteY139" fmla="*/ 456027 h 475047"/>
              <a:gd name="connsiteX140" fmla="*/ 588592 w 607639"/>
              <a:gd name="connsiteY140" fmla="*/ 19020 h 475047"/>
              <a:gd name="connsiteX141" fmla="*/ 80550 w 607639"/>
              <a:gd name="connsiteY141" fmla="*/ 19020 h 475047"/>
              <a:gd name="connsiteX142" fmla="*/ 19047 w 607639"/>
              <a:gd name="connsiteY142" fmla="*/ 80434 h 475047"/>
              <a:gd name="connsiteX143" fmla="*/ 19047 w 607639"/>
              <a:gd name="connsiteY143" fmla="*/ 342798 h 475047"/>
              <a:gd name="connsiteX144" fmla="*/ 80550 w 607639"/>
              <a:gd name="connsiteY144" fmla="*/ 314180 h 475047"/>
              <a:gd name="connsiteX145" fmla="*/ 142052 w 607639"/>
              <a:gd name="connsiteY145" fmla="*/ 342798 h 475047"/>
              <a:gd name="connsiteX146" fmla="*/ 142052 w 607639"/>
              <a:gd name="connsiteY146" fmla="*/ 80434 h 475047"/>
              <a:gd name="connsiteX147" fmla="*/ 80550 w 607639"/>
              <a:gd name="connsiteY147" fmla="*/ 19020 h 475047"/>
              <a:gd name="connsiteX148" fmla="*/ 80550 w 607639"/>
              <a:gd name="connsiteY148" fmla="*/ 0 h 475047"/>
              <a:gd name="connsiteX149" fmla="*/ 598116 w 607639"/>
              <a:gd name="connsiteY149" fmla="*/ 0 h 475047"/>
              <a:gd name="connsiteX150" fmla="*/ 607639 w 607639"/>
              <a:gd name="connsiteY150" fmla="*/ 9510 h 475047"/>
              <a:gd name="connsiteX151" fmla="*/ 607639 w 607639"/>
              <a:gd name="connsiteY151" fmla="*/ 465537 h 475047"/>
              <a:gd name="connsiteX152" fmla="*/ 598116 w 607639"/>
              <a:gd name="connsiteY152" fmla="*/ 475047 h 475047"/>
              <a:gd name="connsiteX153" fmla="*/ 80550 w 607639"/>
              <a:gd name="connsiteY153" fmla="*/ 475047 h 475047"/>
              <a:gd name="connsiteX154" fmla="*/ 35513 w 607639"/>
              <a:gd name="connsiteY154" fmla="*/ 461271 h 475047"/>
              <a:gd name="connsiteX155" fmla="*/ 29283 w 607639"/>
              <a:gd name="connsiteY155" fmla="*/ 456649 h 475047"/>
              <a:gd name="connsiteX156" fmla="*/ 18424 w 607639"/>
              <a:gd name="connsiteY156" fmla="*/ 445718 h 475047"/>
              <a:gd name="connsiteX157" fmla="*/ 13796 w 607639"/>
              <a:gd name="connsiteY157" fmla="*/ 439585 h 475047"/>
              <a:gd name="connsiteX158" fmla="*/ 6319 w 607639"/>
              <a:gd name="connsiteY158" fmla="*/ 425898 h 475047"/>
              <a:gd name="connsiteX159" fmla="*/ 1602 w 607639"/>
              <a:gd name="connsiteY159" fmla="*/ 410789 h 475047"/>
              <a:gd name="connsiteX160" fmla="*/ 890 w 607639"/>
              <a:gd name="connsiteY160" fmla="*/ 406790 h 475047"/>
              <a:gd name="connsiteX161" fmla="*/ 89 w 607639"/>
              <a:gd name="connsiteY161" fmla="*/ 398702 h 475047"/>
              <a:gd name="connsiteX162" fmla="*/ 0 w 607639"/>
              <a:gd name="connsiteY162" fmla="*/ 394613 h 475047"/>
              <a:gd name="connsiteX163" fmla="*/ 89 w 607639"/>
              <a:gd name="connsiteY163" fmla="*/ 391414 h 475047"/>
              <a:gd name="connsiteX164" fmla="*/ 89 w 607639"/>
              <a:gd name="connsiteY164" fmla="*/ 391325 h 475047"/>
              <a:gd name="connsiteX165" fmla="*/ 89 w 607639"/>
              <a:gd name="connsiteY165" fmla="*/ 390881 h 475047"/>
              <a:gd name="connsiteX166" fmla="*/ 0 w 607639"/>
              <a:gd name="connsiteY166" fmla="*/ 389547 h 475047"/>
              <a:gd name="connsiteX167" fmla="*/ 0 w 607639"/>
              <a:gd name="connsiteY167" fmla="*/ 80434 h 475047"/>
              <a:gd name="connsiteX168" fmla="*/ 80550 w 607639"/>
              <a:gd name="connsiteY168" fmla="*/ 0 h 475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</a:cxnLst>
            <a:rect l="l" t="t" r="r" b="b"/>
            <a:pathLst>
              <a:path w="607639" h="475047">
                <a:moveTo>
                  <a:pt x="80550" y="373663"/>
                </a:moveTo>
                <a:cubicBezTo>
                  <a:pt x="68976" y="373663"/>
                  <a:pt x="59628" y="383084"/>
                  <a:pt x="59628" y="394638"/>
                </a:cubicBezTo>
                <a:cubicBezTo>
                  <a:pt x="59628" y="406103"/>
                  <a:pt x="68976" y="415524"/>
                  <a:pt x="80550" y="415524"/>
                </a:cubicBezTo>
                <a:cubicBezTo>
                  <a:pt x="92125" y="415524"/>
                  <a:pt x="101473" y="406103"/>
                  <a:pt x="101473" y="394638"/>
                </a:cubicBezTo>
                <a:cubicBezTo>
                  <a:pt x="101473" y="383084"/>
                  <a:pt x="92125" y="373663"/>
                  <a:pt x="80550" y="373663"/>
                </a:cubicBezTo>
                <a:close/>
                <a:moveTo>
                  <a:pt x="80550" y="354733"/>
                </a:moveTo>
                <a:cubicBezTo>
                  <a:pt x="102630" y="354733"/>
                  <a:pt x="120526" y="372597"/>
                  <a:pt x="120526" y="394638"/>
                </a:cubicBezTo>
                <a:cubicBezTo>
                  <a:pt x="120526" y="416590"/>
                  <a:pt x="102630" y="434543"/>
                  <a:pt x="80550" y="434543"/>
                </a:cubicBezTo>
                <a:cubicBezTo>
                  <a:pt x="58470" y="434543"/>
                  <a:pt x="40575" y="416590"/>
                  <a:pt x="40575" y="394638"/>
                </a:cubicBezTo>
                <a:cubicBezTo>
                  <a:pt x="40575" y="372597"/>
                  <a:pt x="58470" y="354733"/>
                  <a:pt x="80550" y="354733"/>
                </a:cubicBezTo>
                <a:close/>
                <a:moveTo>
                  <a:pt x="80550" y="333111"/>
                </a:moveTo>
                <a:cubicBezTo>
                  <a:pt x="48419" y="333111"/>
                  <a:pt x="21450" y="358174"/>
                  <a:pt x="19225" y="390170"/>
                </a:cubicBezTo>
                <a:cubicBezTo>
                  <a:pt x="19136" y="390881"/>
                  <a:pt x="19136" y="391503"/>
                  <a:pt x="19136" y="392214"/>
                </a:cubicBezTo>
                <a:cubicBezTo>
                  <a:pt x="19047" y="393014"/>
                  <a:pt x="19047" y="393814"/>
                  <a:pt x="19047" y="394613"/>
                </a:cubicBezTo>
                <a:cubicBezTo>
                  <a:pt x="19047" y="395591"/>
                  <a:pt x="19047" y="396658"/>
                  <a:pt x="19136" y="397724"/>
                </a:cubicBezTo>
                <a:cubicBezTo>
                  <a:pt x="19225" y="399857"/>
                  <a:pt x="19403" y="401901"/>
                  <a:pt x="19759" y="403945"/>
                </a:cubicBezTo>
                <a:cubicBezTo>
                  <a:pt x="19937" y="404923"/>
                  <a:pt x="20115" y="405990"/>
                  <a:pt x="20293" y="406967"/>
                </a:cubicBezTo>
                <a:cubicBezTo>
                  <a:pt x="21094" y="410878"/>
                  <a:pt x="22251" y="414788"/>
                  <a:pt x="23853" y="418521"/>
                </a:cubicBezTo>
                <a:cubicBezTo>
                  <a:pt x="25366" y="422165"/>
                  <a:pt x="27324" y="425631"/>
                  <a:pt x="29550" y="428920"/>
                </a:cubicBezTo>
                <a:cubicBezTo>
                  <a:pt x="30618" y="430520"/>
                  <a:pt x="31864" y="432119"/>
                  <a:pt x="33110" y="433630"/>
                </a:cubicBezTo>
                <a:cubicBezTo>
                  <a:pt x="35602" y="436652"/>
                  <a:pt x="38361" y="439496"/>
                  <a:pt x="41387" y="441985"/>
                </a:cubicBezTo>
                <a:cubicBezTo>
                  <a:pt x="42900" y="443229"/>
                  <a:pt x="44503" y="444384"/>
                  <a:pt x="46194" y="445540"/>
                </a:cubicBezTo>
                <a:cubicBezTo>
                  <a:pt x="56340" y="452383"/>
                  <a:pt x="68178" y="456027"/>
                  <a:pt x="80550" y="456027"/>
                </a:cubicBezTo>
                <a:cubicBezTo>
                  <a:pt x="92921" y="456027"/>
                  <a:pt x="104759" y="452383"/>
                  <a:pt x="114906" y="445540"/>
                </a:cubicBezTo>
                <a:cubicBezTo>
                  <a:pt x="116597" y="444384"/>
                  <a:pt x="118199" y="443229"/>
                  <a:pt x="119712" y="441985"/>
                </a:cubicBezTo>
                <a:cubicBezTo>
                  <a:pt x="122738" y="439496"/>
                  <a:pt x="125497" y="436652"/>
                  <a:pt x="127989" y="433630"/>
                </a:cubicBezTo>
                <a:cubicBezTo>
                  <a:pt x="129325" y="432119"/>
                  <a:pt x="130482" y="430520"/>
                  <a:pt x="131550" y="428920"/>
                </a:cubicBezTo>
                <a:cubicBezTo>
                  <a:pt x="133775" y="425631"/>
                  <a:pt x="135733" y="422165"/>
                  <a:pt x="137246" y="418521"/>
                </a:cubicBezTo>
                <a:cubicBezTo>
                  <a:pt x="138848" y="414788"/>
                  <a:pt x="140005" y="410878"/>
                  <a:pt x="140806" y="406967"/>
                </a:cubicBezTo>
                <a:cubicBezTo>
                  <a:pt x="140984" y="405990"/>
                  <a:pt x="141251" y="404923"/>
                  <a:pt x="141340" y="403945"/>
                </a:cubicBezTo>
                <a:cubicBezTo>
                  <a:pt x="141696" y="401901"/>
                  <a:pt x="141874" y="399857"/>
                  <a:pt x="141963" y="397724"/>
                </a:cubicBezTo>
                <a:cubicBezTo>
                  <a:pt x="142052" y="396658"/>
                  <a:pt x="142052" y="395591"/>
                  <a:pt x="142052" y="394613"/>
                </a:cubicBezTo>
                <a:cubicBezTo>
                  <a:pt x="142052" y="393814"/>
                  <a:pt x="142052" y="393014"/>
                  <a:pt x="142052" y="392214"/>
                </a:cubicBezTo>
                <a:cubicBezTo>
                  <a:pt x="141963" y="391503"/>
                  <a:pt x="141963" y="390881"/>
                  <a:pt x="141874" y="390170"/>
                </a:cubicBezTo>
                <a:cubicBezTo>
                  <a:pt x="139649" y="358174"/>
                  <a:pt x="112681" y="333111"/>
                  <a:pt x="80550" y="333111"/>
                </a:cubicBezTo>
                <a:close/>
                <a:moveTo>
                  <a:pt x="459450" y="321985"/>
                </a:moveTo>
                <a:cubicBezTo>
                  <a:pt x="463188" y="318250"/>
                  <a:pt x="469151" y="318250"/>
                  <a:pt x="472889" y="321985"/>
                </a:cubicBezTo>
                <a:lnTo>
                  <a:pt x="509201" y="358263"/>
                </a:lnTo>
                <a:lnTo>
                  <a:pt x="545512" y="321985"/>
                </a:lnTo>
                <a:cubicBezTo>
                  <a:pt x="549250" y="318250"/>
                  <a:pt x="555302" y="318250"/>
                  <a:pt x="559040" y="321985"/>
                </a:cubicBezTo>
                <a:cubicBezTo>
                  <a:pt x="562689" y="325719"/>
                  <a:pt x="562689" y="331676"/>
                  <a:pt x="559040" y="335411"/>
                </a:cubicBezTo>
                <a:lnTo>
                  <a:pt x="522729" y="371689"/>
                </a:lnTo>
                <a:lnTo>
                  <a:pt x="559040" y="407967"/>
                </a:lnTo>
                <a:cubicBezTo>
                  <a:pt x="562689" y="411702"/>
                  <a:pt x="562689" y="417748"/>
                  <a:pt x="559040" y="421483"/>
                </a:cubicBezTo>
                <a:cubicBezTo>
                  <a:pt x="557171" y="423261"/>
                  <a:pt x="554679" y="424239"/>
                  <a:pt x="552276" y="424239"/>
                </a:cubicBezTo>
                <a:cubicBezTo>
                  <a:pt x="549873" y="424239"/>
                  <a:pt x="547381" y="423261"/>
                  <a:pt x="545512" y="421483"/>
                </a:cubicBezTo>
                <a:lnTo>
                  <a:pt x="509201" y="385116"/>
                </a:lnTo>
                <a:lnTo>
                  <a:pt x="472889" y="421483"/>
                </a:lnTo>
                <a:cubicBezTo>
                  <a:pt x="471020" y="423261"/>
                  <a:pt x="468617" y="424239"/>
                  <a:pt x="466214" y="424239"/>
                </a:cubicBezTo>
                <a:cubicBezTo>
                  <a:pt x="463722" y="424239"/>
                  <a:pt x="461319" y="423261"/>
                  <a:pt x="459450" y="421483"/>
                </a:cubicBezTo>
                <a:cubicBezTo>
                  <a:pt x="455712" y="417748"/>
                  <a:pt x="455712" y="411702"/>
                  <a:pt x="459450" y="407967"/>
                </a:cubicBezTo>
                <a:lnTo>
                  <a:pt x="495762" y="371689"/>
                </a:lnTo>
                <a:lnTo>
                  <a:pt x="459450" y="335411"/>
                </a:lnTo>
                <a:cubicBezTo>
                  <a:pt x="455712" y="331676"/>
                  <a:pt x="455712" y="325719"/>
                  <a:pt x="459450" y="321985"/>
                </a:cubicBezTo>
                <a:close/>
                <a:moveTo>
                  <a:pt x="195728" y="271319"/>
                </a:moveTo>
                <a:cubicBezTo>
                  <a:pt x="199466" y="267584"/>
                  <a:pt x="205518" y="267584"/>
                  <a:pt x="209167" y="271319"/>
                </a:cubicBezTo>
                <a:lnTo>
                  <a:pt x="245567" y="307597"/>
                </a:lnTo>
                <a:lnTo>
                  <a:pt x="281879" y="271319"/>
                </a:lnTo>
                <a:cubicBezTo>
                  <a:pt x="285528" y="267584"/>
                  <a:pt x="291580" y="267584"/>
                  <a:pt x="295318" y="271319"/>
                </a:cubicBezTo>
                <a:cubicBezTo>
                  <a:pt x="299056" y="275053"/>
                  <a:pt x="299056" y="281010"/>
                  <a:pt x="295318" y="284745"/>
                </a:cubicBezTo>
                <a:lnTo>
                  <a:pt x="259006" y="321023"/>
                </a:lnTo>
                <a:lnTo>
                  <a:pt x="295318" y="357301"/>
                </a:lnTo>
                <a:cubicBezTo>
                  <a:pt x="299056" y="361036"/>
                  <a:pt x="299056" y="367082"/>
                  <a:pt x="295318" y="370728"/>
                </a:cubicBezTo>
                <a:cubicBezTo>
                  <a:pt x="293449" y="372595"/>
                  <a:pt x="291046" y="373573"/>
                  <a:pt x="288554" y="373573"/>
                </a:cubicBezTo>
                <a:cubicBezTo>
                  <a:pt x="286151" y="373573"/>
                  <a:pt x="283748" y="372595"/>
                  <a:pt x="281879" y="370728"/>
                </a:cubicBezTo>
                <a:lnTo>
                  <a:pt x="245567" y="334450"/>
                </a:lnTo>
                <a:lnTo>
                  <a:pt x="209167" y="370728"/>
                </a:lnTo>
                <a:cubicBezTo>
                  <a:pt x="207387" y="372595"/>
                  <a:pt x="204895" y="373573"/>
                  <a:pt x="202492" y="373573"/>
                </a:cubicBezTo>
                <a:cubicBezTo>
                  <a:pt x="200000" y="373573"/>
                  <a:pt x="197597" y="372595"/>
                  <a:pt x="195728" y="370728"/>
                </a:cubicBezTo>
                <a:cubicBezTo>
                  <a:pt x="192079" y="367082"/>
                  <a:pt x="192079" y="361036"/>
                  <a:pt x="195728" y="357301"/>
                </a:cubicBezTo>
                <a:lnTo>
                  <a:pt x="232039" y="321023"/>
                </a:lnTo>
                <a:lnTo>
                  <a:pt x="195728" y="284745"/>
                </a:lnTo>
                <a:cubicBezTo>
                  <a:pt x="192079" y="281010"/>
                  <a:pt x="192079" y="275053"/>
                  <a:pt x="195728" y="271319"/>
                </a:cubicBezTo>
                <a:close/>
                <a:moveTo>
                  <a:pt x="416242" y="218111"/>
                </a:moveTo>
                <a:cubicBezTo>
                  <a:pt x="419980" y="214378"/>
                  <a:pt x="426032" y="214378"/>
                  <a:pt x="429770" y="218111"/>
                </a:cubicBezTo>
                <a:lnTo>
                  <a:pt x="432262" y="220688"/>
                </a:lnTo>
                <a:lnTo>
                  <a:pt x="462699" y="251082"/>
                </a:lnTo>
                <a:cubicBezTo>
                  <a:pt x="466437" y="254814"/>
                  <a:pt x="466437" y="260769"/>
                  <a:pt x="462699" y="264501"/>
                </a:cubicBezTo>
                <a:cubicBezTo>
                  <a:pt x="460830" y="266368"/>
                  <a:pt x="458427" y="267256"/>
                  <a:pt x="456024" y="267256"/>
                </a:cubicBezTo>
                <a:cubicBezTo>
                  <a:pt x="453532" y="267256"/>
                  <a:pt x="451130" y="266368"/>
                  <a:pt x="449261" y="264501"/>
                </a:cubicBezTo>
                <a:lnTo>
                  <a:pt x="433864" y="249127"/>
                </a:lnTo>
                <a:cubicBezTo>
                  <a:pt x="423006" y="347507"/>
                  <a:pt x="339259" y="424381"/>
                  <a:pt x="237802" y="424381"/>
                </a:cubicBezTo>
                <a:cubicBezTo>
                  <a:pt x="232551" y="424381"/>
                  <a:pt x="228279" y="420115"/>
                  <a:pt x="228279" y="414872"/>
                </a:cubicBezTo>
                <a:cubicBezTo>
                  <a:pt x="228279" y="409628"/>
                  <a:pt x="232551" y="405363"/>
                  <a:pt x="237802" y="405363"/>
                </a:cubicBezTo>
                <a:cubicBezTo>
                  <a:pt x="329736" y="405363"/>
                  <a:pt x="405563" y="335510"/>
                  <a:pt x="414996" y="246283"/>
                </a:cubicBezTo>
                <a:lnTo>
                  <a:pt x="391679" y="269567"/>
                </a:lnTo>
                <a:cubicBezTo>
                  <a:pt x="389810" y="271433"/>
                  <a:pt x="387407" y="272322"/>
                  <a:pt x="384915" y="272322"/>
                </a:cubicBezTo>
                <a:cubicBezTo>
                  <a:pt x="382512" y="272322"/>
                  <a:pt x="380109" y="271433"/>
                  <a:pt x="378240" y="269567"/>
                </a:cubicBezTo>
                <a:cubicBezTo>
                  <a:pt x="374502" y="265835"/>
                  <a:pt x="374502" y="259880"/>
                  <a:pt x="378240" y="256148"/>
                </a:cubicBezTo>
                <a:close/>
                <a:moveTo>
                  <a:pt x="110999" y="146917"/>
                </a:moveTo>
                <a:cubicBezTo>
                  <a:pt x="116252" y="146917"/>
                  <a:pt x="120526" y="151184"/>
                  <a:pt x="120526" y="156428"/>
                </a:cubicBezTo>
                <a:lnTo>
                  <a:pt x="120526" y="272962"/>
                </a:lnTo>
                <a:cubicBezTo>
                  <a:pt x="120526" y="278206"/>
                  <a:pt x="116252" y="282473"/>
                  <a:pt x="110999" y="282473"/>
                </a:cubicBezTo>
                <a:cubicBezTo>
                  <a:pt x="105746" y="282473"/>
                  <a:pt x="101473" y="278206"/>
                  <a:pt x="101473" y="272962"/>
                </a:cubicBezTo>
                <a:lnTo>
                  <a:pt x="101473" y="156428"/>
                </a:lnTo>
                <a:cubicBezTo>
                  <a:pt x="101473" y="151184"/>
                  <a:pt x="105746" y="146917"/>
                  <a:pt x="110999" y="146917"/>
                </a:cubicBezTo>
                <a:close/>
                <a:moveTo>
                  <a:pt x="433202" y="79845"/>
                </a:moveTo>
                <a:cubicBezTo>
                  <a:pt x="409087" y="79845"/>
                  <a:pt x="389422" y="99485"/>
                  <a:pt x="389422" y="123569"/>
                </a:cubicBezTo>
                <a:cubicBezTo>
                  <a:pt x="389422" y="147653"/>
                  <a:pt x="409087" y="167204"/>
                  <a:pt x="433202" y="167204"/>
                </a:cubicBezTo>
                <a:cubicBezTo>
                  <a:pt x="457316" y="167204"/>
                  <a:pt x="476981" y="147653"/>
                  <a:pt x="476981" y="123569"/>
                </a:cubicBezTo>
                <a:cubicBezTo>
                  <a:pt x="476981" y="99485"/>
                  <a:pt x="457316" y="79845"/>
                  <a:pt x="433202" y="79845"/>
                </a:cubicBezTo>
                <a:close/>
                <a:moveTo>
                  <a:pt x="433202" y="60827"/>
                </a:moveTo>
                <a:cubicBezTo>
                  <a:pt x="467816" y="60827"/>
                  <a:pt x="495934" y="88999"/>
                  <a:pt x="495934" y="123569"/>
                </a:cubicBezTo>
                <a:cubicBezTo>
                  <a:pt x="495934" y="158139"/>
                  <a:pt x="467816" y="186222"/>
                  <a:pt x="433202" y="186222"/>
                </a:cubicBezTo>
                <a:cubicBezTo>
                  <a:pt x="398588" y="186222"/>
                  <a:pt x="370469" y="158139"/>
                  <a:pt x="370469" y="123569"/>
                </a:cubicBezTo>
                <a:cubicBezTo>
                  <a:pt x="370469" y="88999"/>
                  <a:pt x="398588" y="60827"/>
                  <a:pt x="433202" y="60827"/>
                </a:cubicBezTo>
                <a:close/>
                <a:moveTo>
                  <a:pt x="215982" y="53463"/>
                </a:moveTo>
                <a:cubicBezTo>
                  <a:pt x="219723" y="49819"/>
                  <a:pt x="225779" y="49819"/>
                  <a:pt x="229430" y="53463"/>
                </a:cubicBezTo>
                <a:lnTo>
                  <a:pt x="265855" y="89812"/>
                </a:lnTo>
                <a:lnTo>
                  <a:pt x="302191" y="53463"/>
                </a:lnTo>
                <a:cubicBezTo>
                  <a:pt x="305842" y="49819"/>
                  <a:pt x="311898" y="49819"/>
                  <a:pt x="315638" y="53463"/>
                </a:cubicBezTo>
                <a:cubicBezTo>
                  <a:pt x="319379" y="57195"/>
                  <a:pt x="319379" y="63239"/>
                  <a:pt x="315638" y="66972"/>
                </a:cubicBezTo>
                <a:lnTo>
                  <a:pt x="279303" y="103232"/>
                </a:lnTo>
                <a:lnTo>
                  <a:pt x="315638" y="139492"/>
                </a:lnTo>
                <a:cubicBezTo>
                  <a:pt x="319379" y="143225"/>
                  <a:pt x="319379" y="149179"/>
                  <a:pt x="315638" y="152912"/>
                </a:cubicBezTo>
                <a:cubicBezTo>
                  <a:pt x="313768" y="154778"/>
                  <a:pt x="311364" y="155667"/>
                  <a:pt x="308870" y="155667"/>
                </a:cubicBezTo>
                <a:cubicBezTo>
                  <a:pt x="306465" y="155667"/>
                  <a:pt x="304061" y="154778"/>
                  <a:pt x="302191" y="152912"/>
                </a:cubicBezTo>
                <a:lnTo>
                  <a:pt x="265855" y="116652"/>
                </a:lnTo>
                <a:lnTo>
                  <a:pt x="229430" y="152912"/>
                </a:lnTo>
                <a:cubicBezTo>
                  <a:pt x="227649" y="154778"/>
                  <a:pt x="225155" y="155667"/>
                  <a:pt x="222751" y="155667"/>
                </a:cubicBezTo>
                <a:cubicBezTo>
                  <a:pt x="220346" y="155667"/>
                  <a:pt x="217852" y="154778"/>
                  <a:pt x="215982" y="152912"/>
                </a:cubicBezTo>
                <a:cubicBezTo>
                  <a:pt x="212331" y="149179"/>
                  <a:pt x="212331" y="143225"/>
                  <a:pt x="215982" y="139492"/>
                </a:cubicBezTo>
                <a:lnTo>
                  <a:pt x="252318" y="103232"/>
                </a:lnTo>
                <a:lnTo>
                  <a:pt x="215982" y="66972"/>
                </a:lnTo>
                <a:cubicBezTo>
                  <a:pt x="212331" y="63239"/>
                  <a:pt x="212331" y="57195"/>
                  <a:pt x="215982" y="53463"/>
                </a:cubicBezTo>
                <a:close/>
                <a:moveTo>
                  <a:pt x="132440" y="19020"/>
                </a:moveTo>
                <a:cubicBezTo>
                  <a:pt x="149974" y="33773"/>
                  <a:pt x="161099" y="55815"/>
                  <a:pt x="161099" y="80434"/>
                </a:cubicBezTo>
                <a:lnTo>
                  <a:pt x="161099" y="389547"/>
                </a:lnTo>
                <a:cubicBezTo>
                  <a:pt x="161099" y="389992"/>
                  <a:pt x="161010" y="390436"/>
                  <a:pt x="161010" y="390881"/>
                </a:cubicBezTo>
                <a:cubicBezTo>
                  <a:pt x="161010" y="391058"/>
                  <a:pt x="161010" y="391147"/>
                  <a:pt x="161010" y="391325"/>
                </a:cubicBezTo>
                <a:cubicBezTo>
                  <a:pt x="161010" y="391325"/>
                  <a:pt x="161010" y="391414"/>
                  <a:pt x="161010" y="391414"/>
                </a:cubicBezTo>
                <a:cubicBezTo>
                  <a:pt x="161099" y="392480"/>
                  <a:pt x="161099" y="393547"/>
                  <a:pt x="161099" y="394613"/>
                </a:cubicBezTo>
                <a:cubicBezTo>
                  <a:pt x="161099" y="395947"/>
                  <a:pt x="161099" y="397369"/>
                  <a:pt x="161010" y="398702"/>
                </a:cubicBezTo>
                <a:cubicBezTo>
                  <a:pt x="160832" y="401457"/>
                  <a:pt x="160565" y="404123"/>
                  <a:pt x="160209" y="406790"/>
                </a:cubicBezTo>
                <a:cubicBezTo>
                  <a:pt x="159942" y="408123"/>
                  <a:pt x="159764" y="409456"/>
                  <a:pt x="159497" y="410789"/>
                </a:cubicBezTo>
                <a:cubicBezTo>
                  <a:pt x="158429" y="415944"/>
                  <a:pt x="156827" y="421010"/>
                  <a:pt x="154780" y="425898"/>
                </a:cubicBezTo>
                <a:cubicBezTo>
                  <a:pt x="152733" y="430697"/>
                  <a:pt x="150241" y="435230"/>
                  <a:pt x="147304" y="439585"/>
                </a:cubicBezTo>
                <a:cubicBezTo>
                  <a:pt x="145880" y="441718"/>
                  <a:pt x="144366" y="443762"/>
                  <a:pt x="142675" y="445718"/>
                </a:cubicBezTo>
                <a:cubicBezTo>
                  <a:pt x="139649" y="449450"/>
                  <a:pt x="136178" y="452917"/>
                  <a:pt x="132529" y="456027"/>
                </a:cubicBezTo>
                <a:lnTo>
                  <a:pt x="588592" y="456027"/>
                </a:lnTo>
                <a:lnTo>
                  <a:pt x="588592" y="19020"/>
                </a:lnTo>
                <a:close/>
                <a:moveTo>
                  <a:pt x="80550" y="19020"/>
                </a:moveTo>
                <a:cubicBezTo>
                  <a:pt x="46639" y="19020"/>
                  <a:pt x="19047" y="46571"/>
                  <a:pt x="19047" y="80434"/>
                </a:cubicBezTo>
                <a:lnTo>
                  <a:pt x="19047" y="342798"/>
                </a:lnTo>
                <a:cubicBezTo>
                  <a:pt x="33911" y="325289"/>
                  <a:pt x="56073" y="314180"/>
                  <a:pt x="80550" y="314180"/>
                </a:cubicBezTo>
                <a:cubicBezTo>
                  <a:pt x="105026" y="314180"/>
                  <a:pt x="127188" y="325289"/>
                  <a:pt x="142052" y="342798"/>
                </a:cubicBezTo>
                <a:lnTo>
                  <a:pt x="142052" y="80434"/>
                </a:lnTo>
                <a:cubicBezTo>
                  <a:pt x="142052" y="46571"/>
                  <a:pt x="114461" y="19020"/>
                  <a:pt x="80550" y="19020"/>
                </a:cubicBezTo>
                <a:close/>
                <a:moveTo>
                  <a:pt x="80550" y="0"/>
                </a:moveTo>
                <a:lnTo>
                  <a:pt x="598116" y="0"/>
                </a:lnTo>
                <a:cubicBezTo>
                  <a:pt x="603367" y="0"/>
                  <a:pt x="607639" y="4266"/>
                  <a:pt x="607639" y="9510"/>
                </a:cubicBezTo>
                <a:lnTo>
                  <a:pt x="607639" y="465537"/>
                </a:lnTo>
                <a:cubicBezTo>
                  <a:pt x="607639" y="470781"/>
                  <a:pt x="603367" y="475047"/>
                  <a:pt x="598116" y="475047"/>
                </a:cubicBezTo>
                <a:lnTo>
                  <a:pt x="80550" y="475047"/>
                </a:lnTo>
                <a:cubicBezTo>
                  <a:pt x="64440" y="475047"/>
                  <a:pt x="48864" y="470248"/>
                  <a:pt x="35513" y="461271"/>
                </a:cubicBezTo>
                <a:cubicBezTo>
                  <a:pt x="33377" y="459849"/>
                  <a:pt x="31330" y="458249"/>
                  <a:pt x="29283" y="456649"/>
                </a:cubicBezTo>
                <a:cubicBezTo>
                  <a:pt x="25366" y="453361"/>
                  <a:pt x="21628" y="449717"/>
                  <a:pt x="18424" y="445718"/>
                </a:cubicBezTo>
                <a:cubicBezTo>
                  <a:pt x="16733" y="443762"/>
                  <a:pt x="15220" y="441629"/>
                  <a:pt x="13796" y="439585"/>
                </a:cubicBezTo>
                <a:cubicBezTo>
                  <a:pt x="10859" y="435230"/>
                  <a:pt x="8366" y="430609"/>
                  <a:pt x="6319" y="425898"/>
                </a:cubicBezTo>
                <a:cubicBezTo>
                  <a:pt x="4272" y="421010"/>
                  <a:pt x="2670" y="415944"/>
                  <a:pt x="1602" y="410789"/>
                </a:cubicBezTo>
                <a:cubicBezTo>
                  <a:pt x="1335" y="409456"/>
                  <a:pt x="1157" y="408123"/>
                  <a:pt x="890" y="406790"/>
                </a:cubicBezTo>
                <a:cubicBezTo>
                  <a:pt x="534" y="404123"/>
                  <a:pt x="267" y="401368"/>
                  <a:pt x="89" y="398702"/>
                </a:cubicBezTo>
                <a:cubicBezTo>
                  <a:pt x="0" y="397369"/>
                  <a:pt x="0" y="395947"/>
                  <a:pt x="0" y="394613"/>
                </a:cubicBezTo>
                <a:cubicBezTo>
                  <a:pt x="0" y="393547"/>
                  <a:pt x="0" y="392480"/>
                  <a:pt x="89" y="391414"/>
                </a:cubicBezTo>
                <a:cubicBezTo>
                  <a:pt x="89" y="391414"/>
                  <a:pt x="89" y="391325"/>
                  <a:pt x="89" y="391325"/>
                </a:cubicBezTo>
                <a:cubicBezTo>
                  <a:pt x="89" y="391147"/>
                  <a:pt x="89" y="391058"/>
                  <a:pt x="89" y="390881"/>
                </a:cubicBezTo>
                <a:cubicBezTo>
                  <a:pt x="0" y="390436"/>
                  <a:pt x="0" y="389992"/>
                  <a:pt x="0" y="389547"/>
                </a:cubicBezTo>
                <a:lnTo>
                  <a:pt x="0" y="80434"/>
                </a:lnTo>
                <a:cubicBezTo>
                  <a:pt x="0" y="36084"/>
                  <a:pt x="36136" y="0"/>
                  <a:pt x="80550" y="0"/>
                </a:cubicBezTo>
                <a:close/>
              </a:path>
            </a:pathLst>
          </a:custGeom>
          <a:solidFill>
            <a:srgbClr val="49B1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箭头: 下 39"/>
          <p:cNvSpPr/>
          <p:nvPr/>
        </p:nvSpPr>
        <p:spPr>
          <a:xfrm>
            <a:off x="4738118" y="5093710"/>
            <a:ext cx="375547" cy="608767"/>
          </a:xfrm>
          <a:prstGeom prst="downArrow">
            <a:avLst/>
          </a:prstGeom>
          <a:solidFill>
            <a:srgbClr val="49B19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2" name="文本框 41"/>
          <p:cNvSpPr txBox="1"/>
          <p:nvPr/>
        </p:nvSpPr>
        <p:spPr>
          <a:xfrm>
            <a:off x="3809285" y="5675405"/>
            <a:ext cx="61229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Stress seller</a:t>
            </a:r>
            <a:endParaRPr lang="zh-CN" altLang="en-US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-138919" y="259662"/>
            <a:ext cx="46160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latin typeface="Times New Roman" panose="02020503050405090304" pitchFamily="18" charset="0"/>
                <a:ea typeface="Calibri" panose="020F0502020204030204" pitchFamily="34" charset="0"/>
                <a:cs typeface="Times New Roman" panose="02020503050405090304" pitchFamily="18" charset="0"/>
              </a:rPr>
              <a:t>Buyers and Sellers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矩形: 圆角 4"/>
          <p:cNvSpPr/>
          <p:nvPr/>
        </p:nvSpPr>
        <p:spPr>
          <a:xfrm>
            <a:off x="2589530" y="1251585"/>
            <a:ext cx="5935980" cy="2307590"/>
          </a:xfrm>
          <a:prstGeom prst="roundRect">
            <a:avLst/>
          </a:prstGeom>
          <a:noFill/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/>
          <p:cNvSpPr/>
          <p:nvPr/>
        </p:nvSpPr>
        <p:spPr>
          <a:xfrm>
            <a:off x="2589530" y="4160520"/>
            <a:ext cx="5937250" cy="2307590"/>
          </a:xfrm>
          <a:prstGeom prst="roundRect">
            <a:avLst/>
          </a:prstGeom>
          <a:noFill/>
          <a:ln w="28575">
            <a:solidFill>
              <a:srgbClr val="49B19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箭头: 下 8"/>
          <p:cNvSpPr/>
          <p:nvPr/>
        </p:nvSpPr>
        <p:spPr>
          <a:xfrm rot="16200000">
            <a:off x="7682153" y="1911083"/>
            <a:ext cx="375547" cy="765477"/>
          </a:xfrm>
          <a:prstGeom prst="downArrow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箭头: 下 10"/>
          <p:cNvSpPr/>
          <p:nvPr/>
        </p:nvSpPr>
        <p:spPr>
          <a:xfrm rot="16200000">
            <a:off x="7640877" y="4899168"/>
            <a:ext cx="375547" cy="765475"/>
          </a:xfrm>
          <a:prstGeom prst="downArrow">
            <a:avLst/>
          </a:prstGeom>
          <a:solidFill>
            <a:srgbClr val="49B19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8603240" y="2174113"/>
            <a:ext cx="34930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Update of technology</a:t>
            </a:r>
            <a:endParaRPr lang="zh-CN" altLang="en-US" sz="2400" b="1" dirty="0">
              <a:solidFill>
                <a:srgbClr val="C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527044" y="5039007"/>
            <a:ext cx="43621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 market strategies</a:t>
            </a:r>
            <a:endParaRPr lang="zh-CN" altLang="en-US" sz="2400" b="1" dirty="0">
              <a:solidFill>
                <a:srgbClr val="C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2192000" cy="6858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100000">
                  <a:srgbClr val="FAF5DB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</p:grpSp>
      <p:sp>
        <p:nvSpPr>
          <p:cNvPr id="4" name="Freeform 4"/>
          <p:cNvSpPr/>
          <p:nvPr/>
        </p:nvSpPr>
        <p:spPr>
          <a:xfrm>
            <a:off x="-1707538" y="4766650"/>
            <a:ext cx="4352921" cy="4346825"/>
          </a:xfrm>
          <a:custGeom>
            <a:avLst/>
            <a:gdLst/>
            <a:ahLst/>
            <a:cxnLst/>
            <a:rect l="l" t="t" r="r" b="b"/>
            <a:pathLst>
              <a:path w="6529382" h="6520237">
                <a:moveTo>
                  <a:pt x="0" y="0"/>
                </a:moveTo>
                <a:lnTo>
                  <a:pt x="6529382" y="0"/>
                </a:lnTo>
                <a:lnTo>
                  <a:pt x="6529382" y="6520237"/>
                </a:lnTo>
                <a:lnTo>
                  <a:pt x="0" y="6520237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834283" y="-1440367"/>
            <a:ext cx="3505504" cy="3511600"/>
          </a:xfrm>
          <a:custGeom>
            <a:avLst/>
            <a:gdLst/>
            <a:ahLst/>
            <a:cxnLst/>
            <a:rect l="l" t="t" r="r" b="b"/>
            <a:pathLst>
              <a:path w="5258256" h="5267400">
                <a:moveTo>
                  <a:pt x="0" y="0"/>
                </a:moveTo>
                <a:lnTo>
                  <a:pt x="5258255" y="0"/>
                </a:lnTo>
                <a:lnTo>
                  <a:pt x="5258255" y="5267400"/>
                </a:lnTo>
                <a:lnTo>
                  <a:pt x="0" y="526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文本框 6"/>
          <p:cNvSpPr txBox="1"/>
          <p:nvPr/>
        </p:nvSpPr>
        <p:spPr>
          <a:xfrm>
            <a:off x="2093843" y="1957177"/>
            <a:ext cx="871809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6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Rufus Critical Analysis</a:t>
            </a:r>
            <a:endParaRPr lang="zh-CN" altLang="en-US" sz="66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635124" y="3569931"/>
            <a:ext cx="89217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— Data-driven Decision-making</a:t>
            </a:r>
            <a:endParaRPr lang="en-US" altLang="zh-CN" sz="44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iṣľïdê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组合 36"/>
          <p:cNvGrpSpPr/>
          <p:nvPr/>
        </p:nvGrpSpPr>
        <p:grpSpPr>
          <a:xfrm>
            <a:off x="417538" y="964725"/>
            <a:ext cx="7788152" cy="4281302"/>
            <a:chOff x="497318" y="983136"/>
            <a:chExt cx="7788152" cy="4281302"/>
          </a:xfrm>
        </p:grpSpPr>
        <p:grpSp>
          <p:nvGrpSpPr>
            <p:cNvPr id="31" name="组合 30"/>
            <p:cNvGrpSpPr/>
            <p:nvPr/>
          </p:nvGrpSpPr>
          <p:grpSpPr>
            <a:xfrm>
              <a:off x="497318" y="983136"/>
              <a:ext cx="7788152" cy="4281302"/>
              <a:chOff x="564824" y="829713"/>
              <a:chExt cx="7788152" cy="4281302"/>
            </a:xfrm>
          </p:grpSpPr>
          <p:grpSp>
            <p:nvGrpSpPr>
              <p:cNvPr id="9" name="组合 8"/>
              <p:cNvGrpSpPr/>
              <p:nvPr/>
            </p:nvGrpSpPr>
            <p:grpSpPr>
              <a:xfrm>
                <a:off x="564824" y="829713"/>
                <a:ext cx="7788152" cy="4281302"/>
                <a:chOff x="2371179" y="1821751"/>
                <a:chExt cx="7788152" cy="4281302"/>
              </a:xfrm>
            </p:grpSpPr>
            <p:grpSp>
              <p:nvGrpSpPr>
                <p:cNvPr id="79" name="组合 78"/>
                <p:cNvGrpSpPr/>
                <p:nvPr/>
              </p:nvGrpSpPr>
              <p:grpSpPr>
                <a:xfrm>
                  <a:off x="2371179" y="1821751"/>
                  <a:ext cx="7788152" cy="4281302"/>
                  <a:chOff x="2301377" y="2086997"/>
                  <a:chExt cx="7788152" cy="4281302"/>
                </a:xfrm>
              </p:grpSpPr>
              <p:grpSp>
                <p:nvGrpSpPr>
                  <p:cNvPr id="43" name="组合 42"/>
                  <p:cNvGrpSpPr/>
                  <p:nvPr/>
                </p:nvGrpSpPr>
                <p:grpSpPr>
                  <a:xfrm>
                    <a:off x="2301377" y="2086997"/>
                    <a:ext cx="2340476" cy="1450913"/>
                    <a:chOff x="1980098" y="2086997"/>
                    <a:chExt cx="2340476" cy="1450913"/>
                  </a:xfrm>
                </p:grpSpPr>
                <p:sp>
                  <p:nvSpPr>
                    <p:cNvPr id="75" name="IconBackground1"/>
                    <p:cNvSpPr/>
                    <p:nvPr/>
                  </p:nvSpPr>
                  <p:spPr bwMode="gray">
                    <a:xfrm rot="3419336">
                      <a:off x="2447770" y="2866779"/>
                      <a:ext cx="643490" cy="698772"/>
                    </a:xfrm>
                    <a:prstGeom prst="rect">
                      <a:avLst/>
                    </a:prstGeom>
                    <a:solidFill>
                      <a:srgbClr val="49B19D"/>
                    </a:solidFill>
                    <a:ln w="19050">
                      <a:noFill/>
                      <a:miter lim="800000"/>
                    </a:ln>
                    <a:effectLst>
                      <a:outerShdw blurRad="50800" dist="38100" dir="2700000" algn="tl" rotWithShape="0">
                        <a:schemeClr val="accent1">
                          <a:alpha val="40000"/>
                        </a:schemeClr>
                      </a:outerShdw>
                    </a:effectLst>
                  </p:spPr>
                  <p:txBody>
                    <a:bodyPr wrap="square" lIns="91440" tIns="45720" rIns="91440" bIns="45720" anchor="ctr">
                      <a:normAutofit/>
                    </a:bodyPr>
                    <a:lstStyle/>
                    <a:p>
                      <a:pPr algn="ctr"/>
                      <a:endParaRPr dirty="0"/>
                    </a:p>
                  </p:txBody>
                </p:sp>
                <p:sp>
                  <p:nvSpPr>
                    <p:cNvPr id="78" name="Bullet1"/>
                    <p:cNvSpPr/>
                    <p:nvPr/>
                  </p:nvSpPr>
                  <p:spPr>
                    <a:xfrm>
                      <a:off x="1980098" y="2086997"/>
                      <a:ext cx="2340476" cy="70718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91440" tIns="45720" rIns="91440" bIns="45720" anchor="b" anchorCtr="1">
                      <a:noAutofit/>
                    </a:bodyPr>
                    <a:lstStyle/>
                    <a:p>
                      <a:pPr lvl="0" algn="ctr"/>
                      <a:r>
                        <a:rPr lang="en-US" altLang="zh-CN" sz="2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Massive Customer Base</a:t>
                      </a:r>
                      <a:endParaRPr lang="zh-CN" altLang="en-US" sz="24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grpSp>
                <p:nvGrpSpPr>
                  <p:cNvPr id="44" name="组合 43"/>
                  <p:cNvGrpSpPr/>
                  <p:nvPr/>
                </p:nvGrpSpPr>
                <p:grpSpPr>
                  <a:xfrm>
                    <a:off x="3170746" y="4512158"/>
                    <a:ext cx="2723063" cy="1635855"/>
                    <a:chOff x="2849467" y="4512158"/>
                    <a:chExt cx="2723063" cy="1635855"/>
                  </a:xfrm>
                </p:grpSpPr>
                <p:sp>
                  <p:nvSpPr>
                    <p:cNvPr id="71" name="IconBackground2"/>
                    <p:cNvSpPr/>
                    <p:nvPr/>
                  </p:nvSpPr>
                  <p:spPr bwMode="gray">
                    <a:xfrm rot="3419336">
                      <a:off x="3907060" y="4484517"/>
                      <a:ext cx="643490" cy="698772"/>
                    </a:xfrm>
                    <a:prstGeom prst="rect">
                      <a:avLst/>
                    </a:prstGeom>
                    <a:solidFill>
                      <a:schemeClr val="accent1">
                        <a:lumMod val="40000"/>
                        <a:lumOff val="60000"/>
                      </a:schemeClr>
                    </a:solidFill>
                    <a:ln w="19050">
                      <a:noFill/>
                      <a:miter lim="800000"/>
                    </a:ln>
                    <a:effectLst>
                      <a:outerShdw blurRad="50800" dist="38100" dir="2700000" algn="tl" rotWithShape="0">
                        <a:schemeClr val="accent2">
                          <a:alpha val="40000"/>
                        </a:schemeClr>
                      </a:outerShdw>
                    </a:effectLst>
                  </p:spPr>
                  <p:txBody>
                    <a:bodyPr wrap="square" lIns="91440" tIns="45720" rIns="91440" bIns="45720" anchor="ctr">
                      <a:normAutofit/>
                    </a:bodyPr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9pPr>
                    </a:lstStyle>
                    <a:p>
                      <a:pPr algn="ctr"/>
                      <a:endParaRPr dirty="0"/>
                    </a:p>
                  </p:txBody>
                </p:sp>
                <p:sp>
                  <p:nvSpPr>
                    <p:cNvPr id="74" name="Bullet2"/>
                    <p:cNvSpPr/>
                    <p:nvPr/>
                  </p:nvSpPr>
                  <p:spPr>
                    <a:xfrm>
                      <a:off x="2849467" y="5111302"/>
                      <a:ext cx="2723063" cy="1036711"/>
                    </a:xfrm>
                    <a:prstGeom prst="rect">
                      <a:avLst/>
                    </a:prstGeom>
                  </p:spPr>
                  <p:txBody>
                    <a:bodyPr wrap="square" lIns="91440" tIns="45720" rIns="91440" bIns="45720" anchor="b" anchorCtr="1">
                      <a:noAutofit/>
                    </a:bodyPr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</a:defRPr>
                      </a:lvl9pPr>
                    </a:lstStyle>
                    <a:p>
                      <a:pPr lvl="0" algn="ctr"/>
                      <a:r>
                        <a:rPr lang="en-US" altLang="zh-CN" sz="2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Tons of User Interaction Data</a:t>
                      </a:r>
                      <a:endParaRPr lang="zh-CN" altLang="en-US" sz="24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grpSp>
                <p:nvGrpSpPr>
                  <p:cNvPr id="45" name="组合 44"/>
                  <p:cNvGrpSpPr/>
                  <p:nvPr/>
                </p:nvGrpSpPr>
                <p:grpSpPr>
                  <a:xfrm>
                    <a:off x="5357718" y="2250048"/>
                    <a:ext cx="1963808" cy="1540921"/>
                    <a:chOff x="5036439" y="2250048"/>
                    <a:chExt cx="1963808" cy="1540921"/>
                  </a:xfrm>
                </p:grpSpPr>
                <p:sp>
                  <p:nvSpPr>
                    <p:cNvPr id="67" name="IconBackground3"/>
                    <p:cNvSpPr/>
                    <p:nvPr/>
                  </p:nvSpPr>
                  <p:spPr bwMode="gray">
                    <a:xfrm rot="3419336">
                      <a:off x="5719055" y="3119838"/>
                      <a:ext cx="643490" cy="698772"/>
                    </a:xfrm>
                    <a:prstGeom prst="rect">
                      <a:avLst/>
                    </a:prstGeom>
                    <a:solidFill>
                      <a:srgbClr val="49B19D"/>
                    </a:solidFill>
                    <a:ln w="19050">
                      <a:noFill/>
                      <a:miter lim="800000"/>
                    </a:ln>
                    <a:effectLst>
                      <a:outerShdw blurRad="50800" dist="38100" dir="2700000" algn="tl" rotWithShape="0">
                        <a:schemeClr val="accent3">
                          <a:alpha val="40000"/>
                        </a:schemeClr>
                      </a:outerShdw>
                    </a:effectLst>
                  </p:spPr>
                  <p:txBody>
                    <a:bodyPr wrap="square" lIns="91440" tIns="45720" rIns="91440" bIns="45720" anchor="ctr">
                      <a:normAutofit/>
                    </a:bodyPr>
                    <a:lstStyle/>
                    <a:p>
                      <a:pPr algn="ctr"/>
                    </a:p>
                  </p:txBody>
                </p:sp>
                <p:sp>
                  <p:nvSpPr>
                    <p:cNvPr id="70" name="Bullet3"/>
                    <p:cNvSpPr/>
                    <p:nvPr/>
                  </p:nvSpPr>
                  <p:spPr>
                    <a:xfrm>
                      <a:off x="5036439" y="2250048"/>
                      <a:ext cx="1963808" cy="710063"/>
                    </a:xfrm>
                    <a:prstGeom prst="rect">
                      <a:avLst/>
                    </a:prstGeom>
                  </p:spPr>
                  <p:txBody>
                    <a:bodyPr wrap="square" lIns="91440" tIns="45720" rIns="91440" bIns="45720" anchor="b" anchorCtr="1">
                      <a:noAutofit/>
                    </a:bodyPr>
                    <a:lstStyle/>
                    <a:p>
                      <a:pPr algn="ctr"/>
                      <a:r>
                        <a:rPr lang="en-US" altLang="zh-CN" sz="2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US consumers really want</a:t>
                      </a:r>
                      <a:endParaRPr lang="zh-CN" altLang="en-US" sz="24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grpSp>
                <p:nvGrpSpPr>
                  <p:cNvPr id="46" name="组合 45"/>
                  <p:cNvGrpSpPr/>
                  <p:nvPr/>
                </p:nvGrpSpPr>
                <p:grpSpPr>
                  <a:xfrm>
                    <a:off x="6655062" y="4400299"/>
                    <a:ext cx="2874163" cy="1968000"/>
                    <a:chOff x="6333783" y="4400299"/>
                    <a:chExt cx="2874163" cy="1968000"/>
                  </a:xfrm>
                </p:grpSpPr>
                <p:sp>
                  <p:nvSpPr>
                    <p:cNvPr id="63" name="IconBackground4"/>
                    <p:cNvSpPr/>
                    <p:nvPr/>
                  </p:nvSpPr>
                  <p:spPr bwMode="gray">
                    <a:xfrm rot="3419336">
                      <a:off x="7279651" y="4372658"/>
                      <a:ext cx="643490" cy="698772"/>
                    </a:xfrm>
                    <a:prstGeom prst="rect">
                      <a:avLst/>
                    </a:prstGeom>
                    <a:solidFill>
                      <a:schemeClr val="accent1">
                        <a:lumMod val="40000"/>
                        <a:lumOff val="60000"/>
                      </a:schemeClr>
                    </a:solidFill>
                    <a:ln w="19050">
                      <a:noFill/>
                      <a:miter lim="800000"/>
                    </a:ln>
                    <a:effectLst>
                      <a:outerShdw blurRad="50800" dist="38100" dir="2700000" algn="tl" rotWithShape="0">
                        <a:schemeClr val="accent4">
                          <a:alpha val="40000"/>
                        </a:schemeClr>
                      </a:outerShdw>
                    </a:effectLst>
                  </p:spPr>
                  <p:txBody>
                    <a:bodyPr wrap="square" lIns="91440" tIns="45720" rIns="91440" bIns="45720" anchor="ctr">
                      <a:normAutofit/>
                    </a:bodyPr>
                    <a:lstStyle/>
                    <a:p>
                      <a:pPr algn="ctr"/>
                      <a:endParaRPr dirty="0"/>
                    </a:p>
                  </p:txBody>
                </p:sp>
                <p:sp>
                  <p:nvSpPr>
                    <p:cNvPr id="66" name="Bullet4"/>
                    <p:cNvSpPr/>
                    <p:nvPr/>
                  </p:nvSpPr>
                  <p:spPr>
                    <a:xfrm>
                      <a:off x="6333783" y="4605018"/>
                      <a:ext cx="2874163" cy="1763281"/>
                    </a:xfrm>
                    <a:prstGeom prst="rect">
                      <a:avLst/>
                    </a:prstGeom>
                  </p:spPr>
                  <p:txBody>
                    <a:bodyPr wrap="square" lIns="91440" tIns="45720" rIns="91440" bIns="45720" anchor="b" anchorCtr="1">
                      <a:noAutofit/>
                    </a:bodyPr>
                    <a:lstStyle/>
                    <a:p>
                      <a:pPr lvl="0" algn="ctr"/>
                      <a:r>
                        <a:rPr lang="en-US" altLang="zh-CN" sz="2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Amazon Optimizes Product Recommendations</a:t>
                      </a:r>
                      <a:endParaRPr lang="zh-CN" altLang="en-US" sz="24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grpSp>
                <p:nvGrpSpPr>
                  <p:cNvPr id="47" name="组合 46"/>
                  <p:cNvGrpSpPr/>
                  <p:nvPr/>
                </p:nvGrpSpPr>
                <p:grpSpPr>
                  <a:xfrm>
                    <a:off x="8052058" y="2191958"/>
                    <a:ext cx="2037471" cy="1369922"/>
                    <a:chOff x="7730779" y="2191958"/>
                    <a:chExt cx="2037471" cy="1369922"/>
                  </a:xfrm>
                </p:grpSpPr>
                <p:sp>
                  <p:nvSpPr>
                    <p:cNvPr id="59" name="IconBackground5"/>
                    <p:cNvSpPr/>
                    <p:nvPr/>
                  </p:nvSpPr>
                  <p:spPr bwMode="gray">
                    <a:xfrm rot="3419336">
                      <a:off x="9097119" y="2890749"/>
                      <a:ext cx="643490" cy="698772"/>
                    </a:xfrm>
                    <a:prstGeom prst="rect">
                      <a:avLst/>
                    </a:prstGeom>
                    <a:solidFill>
                      <a:srgbClr val="49B19D"/>
                    </a:solidFill>
                    <a:ln w="19050">
                      <a:noFill/>
                      <a:miter lim="800000"/>
                    </a:ln>
                    <a:effectLst>
                      <a:outerShdw blurRad="50800" dist="38100" dir="2700000" algn="tl" rotWithShape="0">
                        <a:schemeClr val="accent5">
                          <a:alpha val="40000"/>
                        </a:schemeClr>
                      </a:outerShdw>
                    </a:effectLst>
                  </p:spPr>
                  <p:txBody>
                    <a:bodyPr wrap="square" lIns="91440" tIns="45720" rIns="91440" bIns="45720" anchor="ctr">
                      <a:normAutofit/>
                    </a:bodyPr>
                    <a:lstStyle/>
                    <a:p>
                      <a:pPr algn="ctr"/>
                      <a:endParaRPr dirty="0"/>
                    </a:p>
                  </p:txBody>
                </p:sp>
                <p:sp>
                  <p:nvSpPr>
                    <p:cNvPr id="62" name="Bullet5"/>
                    <p:cNvSpPr/>
                    <p:nvPr/>
                  </p:nvSpPr>
                  <p:spPr>
                    <a:xfrm>
                      <a:off x="7730779" y="2191958"/>
                      <a:ext cx="1963808" cy="724950"/>
                    </a:xfrm>
                    <a:prstGeom prst="rect">
                      <a:avLst/>
                    </a:prstGeom>
                  </p:spPr>
                  <p:txBody>
                    <a:bodyPr wrap="square" lIns="91440" tIns="45720" rIns="91440" bIns="45720" anchor="b" anchorCtr="1">
                      <a:noAutofit/>
                    </a:bodyPr>
                    <a:lstStyle/>
                    <a:p>
                      <a:pPr lvl="0" algn="ctr"/>
                      <a:r>
                        <a:rPr lang="en-US" altLang="zh-CN" sz="2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Marketing Strategies</a:t>
                      </a:r>
                      <a:endParaRPr lang="zh-CN" altLang="en-US" sz="24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cxnSp>
                <p:nvCxnSpPr>
                  <p:cNvPr id="49" name="ïṣľíḓe"/>
                  <p:cNvCxnSpPr>
                    <a:stCxn id="75" idx="3"/>
                    <a:endCxn id="71" idx="1"/>
                  </p:cNvCxnSpPr>
                  <p:nvPr/>
                </p:nvCxnSpPr>
                <p:spPr>
                  <a:xfrm>
                    <a:off x="3266081" y="3485969"/>
                    <a:ext cx="1108716" cy="1078130"/>
                  </a:xfrm>
                  <a:prstGeom prst="straightConnector1">
                    <a:avLst/>
                  </a:prstGeom>
                  <a:ln w="12700">
                    <a:solidFill>
                      <a:srgbClr val="A50021">
                        <a:alpha val="50000"/>
                      </a:srgb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" name="îşļîdé"/>
                  <p:cNvCxnSpPr>
                    <a:stCxn id="71" idx="0"/>
                    <a:endCxn id="67" idx="2"/>
                  </p:cNvCxnSpPr>
                  <p:nvPr/>
                </p:nvCxnSpPr>
                <p:spPr>
                  <a:xfrm flipV="1">
                    <a:off x="4843067" y="3659570"/>
                    <a:ext cx="1226029" cy="983987"/>
                  </a:xfrm>
                  <a:prstGeom prst="straightConnector1">
                    <a:avLst/>
                  </a:prstGeom>
                  <a:ln w="12700">
                    <a:solidFill>
                      <a:srgbClr val="A50021">
                        <a:alpha val="50000"/>
                      </a:srgb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1" name="îşḻîḍè"/>
                  <p:cNvCxnSpPr>
                    <a:stCxn id="67" idx="3"/>
                    <a:endCxn id="63" idx="1"/>
                  </p:cNvCxnSpPr>
                  <p:nvPr/>
                </p:nvCxnSpPr>
                <p:spPr>
                  <a:xfrm>
                    <a:off x="6537366" y="3739028"/>
                    <a:ext cx="1210022" cy="713212"/>
                  </a:xfrm>
                  <a:prstGeom prst="straightConnector1">
                    <a:avLst/>
                  </a:prstGeom>
                  <a:ln w="12700">
                    <a:solidFill>
                      <a:srgbClr val="A50021">
                        <a:alpha val="50000"/>
                      </a:srgb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2" name="ïSļïdè"/>
                  <p:cNvCxnSpPr>
                    <a:stCxn id="63" idx="0"/>
                    <a:endCxn id="59" idx="2"/>
                  </p:cNvCxnSpPr>
                  <p:nvPr/>
                </p:nvCxnSpPr>
                <p:spPr>
                  <a:xfrm flipV="1">
                    <a:off x="8215658" y="3430481"/>
                    <a:ext cx="1231502" cy="1101217"/>
                  </a:xfrm>
                  <a:prstGeom prst="straightConnector1">
                    <a:avLst/>
                  </a:prstGeom>
                  <a:ln w="12700">
                    <a:solidFill>
                      <a:srgbClr val="A50021">
                        <a:alpha val="50000"/>
                      </a:srgb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" name="iconfont-1063-813691"/>
                <p:cNvSpPr/>
                <p:nvPr/>
              </p:nvSpPr>
              <p:spPr>
                <a:xfrm>
                  <a:off x="2962713" y="2722545"/>
                  <a:ext cx="436621" cy="430369"/>
                </a:xfrm>
                <a:custGeom>
                  <a:avLst/>
                  <a:gdLst>
                    <a:gd name="T0" fmla="*/ 12787 w 12787"/>
                    <a:gd name="T1" fmla="*/ 10498 h 12254"/>
                    <a:gd name="T2" fmla="*/ 10091 w 12787"/>
                    <a:gd name="T3" fmla="*/ 6383 h 12254"/>
                    <a:gd name="T4" fmla="*/ 11360 w 12787"/>
                    <a:gd name="T5" fmla="*/ 3929 h 12254"/>
                    <a:gd name="T6" fmla="*/ 9161 w 12787"/>
                    <a:gd name="T7" fmla="*/ 1057 h 12254"/>
                    <a:gd name="T8" fmla="*/ 9127 w 12787"/>
                    <a:gd name="T9" fmla="*/ 1060 h 12254"/>
                    <a:gd name="T10" fmla="*/ 9084 w 12787"/>
                    <a:gd name="T11" fmla="*/ 1055 h 12254"/>
                    <a:gd name="T12" fmla="*/ 8597 w 12787"/>
                    <a:gd name="T13" fmla="*/ 1560 h 12254"/>
                    <a:gd name="T14" fmla="*/ 9008 w 12787"/>
                    <a:gd name="T15" fmla="*/ 2057 h 12254"/>
                    <a:gd name="T16" fmla="*/ 9106 w 12787"/>
                    <a:gd name="T17" fmla="*/ 2089 h 12254"/>
                    <a:gd name="T18" fmla="*/ 10362 w 12787"/>
                    <a:gd name="T19" fmla="*/ 3903 h 12254"/>
                    <a:gd name="T20" fmla="*/ 8846 w 12787"/>
                    <a:gd name="T21" fmla="*/ 5787 h 12254"/>
                    <a:gd name="T22" fmla="*/ 8842 w 12787"/>
                    <a:gd name="T23" fmla="*/ 5789 h 12254"/>
                    <a:gd name="T24" fmla="*/ 8328 w 12787"/>
                    <a:gd name="T25" fmla="*/ 6354 h 12254"/>
                    <a:gd name="T26" fmla="*/ 8855 w 12787"/>
                    <a:gd name="T27" fmla="*/ 6920 h 12254"/>
                    <a:gd name="T28" fmla="*/ 8861 w 12787"/>
                    <a:gd name="T29" fmla="*/ 6925 h 12254"/>
                    <a:gd name="T30" fmla="*/ 11824 w 12787"/>
                    <a:gd name="T31" fmla="*/ 10498 h 12254"/>
                    <a:gd name="T32" fmla="*/ 12305 w 12787"/>
                    <a:gd name="T33" fmla="*/ 10997 h 12254"/>
                    <a:gd name="T34" fmla="*/ 12785 w 12787"/>
                    <a:gd name="T35" fmla="*/ 10518 h 12254"/>
                    <a:gd name="T36" fmla="*/ 12787 w 12787"/>
                    <a:gd name="T37" fmla="*/ 10510 h 12254"/>
                    <a:gd name="T38" fmla="*/ 12787 w 12787"/>
                    <a:gd name="T39" fmla="*/ 10507 h 12254"/>
                    <a:gd name="T40" fmla="*/ 12787 w 12787"/>
                    <a:gd name="T41" fmla="*/ 10507 h 12254"/>
                    <a:gd name="T42" fmla="*/ 12787 w 12787"/>
                    <a:gd name="T43" fmla="*/ 10498 h 12254"/>
                    <a:gd name="T44" fmla="*/ 12787 w 12787"/>
                    <a:gd name="T45" fmla="*/ 10498 h 12254"/>
                    <a:gd name="T46" fmla="*/ 12787 w 12787"/>
                    <a:gd name="T47" fmla="*/ 10498 h 12254"/>
                    <a:gd name="T48" fmla="*/ 12787 w 12787"/>
                    <a:gd name="T49" fmla="*/ 10498 h 12254"/>
                    <a:gd name="T50" fmla="*/ 12787 w 12787"/>
                    <a:gd name="T51" fmla="*/ 10498 h 12254"/>
                    <a:gd name="T52" fmla="*/ 7014 w 12787"/>
                    <a:gd name="T53" fmla="*/ 6467 h 12254"/>
                    <a:gd name="T54" fmla="*/ 8529 w 12787"/>
                    <a:gd name="T55" fmla="*/ 3531 h 12254"/>
                    <a:gd name="T56" fmla="*/ 5119 w 12787"/>
                    <a:gd name="T57" fmla="*/ 0 h 12254"/>
                    <a:gd name="T58" fmla="*/ 1708 w 12787"/>
                    <a:gd name="T59" fmla="*/ 3531 h 12254"/>
                    <a:gd name="T60" fmla="*/ 3223 w 12787"/>
                    <a:gd name="T61" fmla="*/ 6467 h 12254"/>
                    <a:gd name="T62" fmla="*/ 0 w 12787"/>
                    <a:gd name="T63" fmla="*/ 11389 h 12254"/>
                    <a:gd name="T64" fmla="*/ 17 w 12787"/>
                    <a:gd name="T65" fmla="*/ 11762 h 12254"/>
                    <a:gd name="T66" fmla="*/ 17 w 12787"/>
                    <a:gd name="T67" fmla="*/ 11762 h 12254"/>
                    <a:gd name="T68" fmla="*/ 493 w 12787"/>
                    <a:gd name="T69" fmla="*/ 12254 h 12254"/>
                    <a:gd name="T70" fmla="*/ 968 w 12787"/>
                    <a:gd name="T71" fmla="*/ 11762 h 12254"/>
                    <a:gd name="T72" fmla="*/ 963 w 12787"/>
                    <a:gd name="T73" fmla="*/ 11717 h 12254"/>
                    <a:gd name="T74" fmla="*/ 947 w 12787"/>
                    <a:gd name="T75" fmla="*/ 11389 h 12254"/>
                    <a:gd name="T76" fmla="*/ 5118 w 12787"/>
                    <a:gd name="T77" fmla="*/ 7069 h 12254"/>
                    <a:gd name="T78" fmla="*/ 9290 w 12787"/>
                    <a:gd name="T79" fmla="*/ 11389 h 12254"/>
                    <a:gd name="T80" fmla="*/ 9273 w 12787"/>
                    <a:gd name="T81" fmla="*/ 11730 h 12254"/>
                    <a:gd name="T82" fmla="*/ 9271 w 12787"/>
                    <a:gd name="T83" fmla="*/ 11747 h 12254"/>
                    <a:gd name="T84" fmla="*/ 9271 w 12787"/>
                    <a:gd name="T85" fmla="*/ 11752 h 12254"/>
                    <a:gd name="T86" fmla="*/ 9271 w 12787"/>
                    <a:gd name="T87" fmla="*/ 11762 h 12254"/>
                    <a:gd name="T88" fmla="*/ 9273 w 12787"/>
                    <a:gd name="T89" fmla="*/ 11762 h 12254"/>
                    <a:gd name="T90" fmla="*/ 9746 w 12787"/>
                    <a:gd name="T91" fmla="*/ 12239 h 12254"/>
                    <a:gd name="T92" fmla="*/ 10220 w 12787"/>
                    <a:gd name="T93" fmla="*/ 11762 h 12254"/>
                    <a:gd name="T94" fmla="*/ 10221 w 12787"/>
                    <a:gd name="T95" fmla="*/ 11762 h 12254"/>
                    <a:gd name="T96" fmla="*/ 10236 w 12787"/>
                    <a:gd name="T97" fmla="*/ 11389 h 12254"/>
                    <a:gd name="T98" fmla="*/ 7014 w 12787"/>
                    <a:gd name="T99" fmla="*/ 6467 h 12254"/>
                    <a:gd name="T100" fmla="*/ 7014 w 12787"/>
                    <a:gd name="T101" fmla="*/ 6467 h 12254"/>
                    <a:gd name="T102" fmla="*/ 5119 w 12787"/>
                    <a:gd name="T103" fmla="*/ 6068 h 12254"/>
                    <a:gd name="T104" fmla="*/ 2669 w 12787"/>
                    <a:gd name="T105" fmla="*/ 3531 h 12254"/>
                    <a:gd name="T106" fmla="*/ 5119 w 12787"/>
                    <a:gd name="T107" fmla="*/ 995 h 12254"/>
                    <a:gd name="T108" fmla="*/ 7568 w 12787"/>
                    <a:gd name="T109" fmla="*/ 3531 h 12254"/>
                    <a:gd name="T110" fmla="*/ 5119 w 12787"/>
                    <a:gd name="T111" fmla="*/ 6068 h 12254"/>
                    <a:gd name="T112" fmla="*/ 5119 w 12787"/>
                    <a:gd name="T113" fmla="*/ 6068 h 122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2787" h="12254">
                      <a:moveTo>
                        <a:pt x="12787" y="10498"/>
                      </a:moveTo>
                      <a:cubicBezTo>
                        <a:pt x="12787" y="8631"/>
                        <a:pt x="11670" y="7035"/>
                        <a:pt x="10091" y="6383"/>
                      </a:cubicBezTo>
                      <a:cubicBezTo>
                        <a:pt x="10856" y="5854"/>
                        <a:pt x="11360" y="4953"/>
                        <a:pt x="11360" y="3929"/>
                      </a:cubicBezTo>
                      <a:cubicBezTo>
                        <a:pt x="11360" y="2531"/>
                        <a:pt x="10421" y="1361"/>
                        <a:pt x="9161" y="1057"/>
                      </a:cubicBezTo>
                      <a:cubicBezTo>
                        <a:pt x="9149" y="1054"/>
                        <a:pt x="9138" y="1055"/>
                        <a:pt x="9127" y="1060"/>
                      </a:cubicBezTo>
                      <a:cubicBezTo>
                        <a:pt x="9113" y="1058"/>
                        <a:pt x="9099" y="1055"/>
                        <a:pt x="9084" y="1055"/>
                      </a:cubicBezTo>
                      <a:cubicBezTo>
                        <a:pt x="8815" y="1055"/>
                        <a:pt x="8597" y="1281"/>
                        <a:pt x="8597" y="1560"/>
                      </a:cubicBezTo>
                      <a:cubicBezTo>
                        <a:pt x="8597" y="1812"/>
                        <a:pt x="8775" y="2019"/>
                        <a:pt x="9008" y="2057"/>
                      </a:cubicBezTo>
                      <a:cubicBezTo>
                        <a:pt x="9050" y="2075"/>
                        <a:pt x="9104" y="2088"/>
                        <a:pt x="9106" y="2089"/>
                      </a:cubicBezTo>
                      <a:cubicBezTo>
                        <a:pt x="9836" y="2345"/>
                        <a:pt x="10362" y="3060"/>
                        <a:pt x="10362" y="3903"/>
                      </a:cubicBezTo>
                      <a:cubicBezTo>
                        <a:pt x="10362" y="4842"/>
                        <a:pt x="9708" y="5623"/>
                        <a:pt x="8846" y="5787"/>
                      </a:cubicBezTo>
                      <a:cubicBezTo>
                        <a:pt x="8844" y="5787"/>
                        <a:pt x="8844" y="5789"/>
                        <a:pt x="8842" y="5789"/>
                      </a:cubicBezTo>
                      <a:cubicBezTo>
                        <a:pt x="8556" y="5808"/>
                        <a:pt x="8328" y="6053"/>
                        <a:pt x="8328" y="6354"/>
                      </a:cubicBezTo>
                      <a:cubicBezTo>
                        <a:pt x="8328" y="6660"/>
                        <a:pt x="8562" y="6908"/>
                        <a:pt x="8855" y="6920"/>
                      </a:cubicBezTo>
                      <a:cubicBezTo>
                        <a:pt x="8857" y="6921"/>
                        <a:pt x="8859" y="6925"/>
                        <a:pt x="8861" y="6925"/>
                      </a:cubicBezTo>
                      <a:cubicBezTo>
                        <a:pt x="10594" y="7108"/>
                        <a:pt x="11824" y="8637"/>
                        <a:pt x="11824" y="10498"/>
                      </a:cubicBezTo>
                      <a:cubicBezTo>
                        <a:pt x="11824" y="10773"/>
                        <a:pt x="12039" y="10997"/>
                        <a:pt x="12305" y="10997"/>
                      </a:cubicBezTo>
                      <a:cubicBezTo>
                        <a:pt x="12565" y="10997"/>
                        <a:pt x="12775" y="10784"/>
                        <a:pt x="12785" y="10518"/>
                      </a:cubicBezTo>
                      <a:cubicBezTo>
                        <a:pt x="12785" y="10515"/>
                        <a:pt x="12787" y="10513"/>
                        <a:pt x="12787" y="10510"/>
                      </a:cubicBezTo>
                      <a:cubicBezTo>
                        <a:pt x="12787" y="10509"/>
                        <a:pt x="12787" y="10509"/>
                        <a:pt x="12787" y="10507"/>
                      </a:cubicBezTo>
                      <a:lnTo>
                        <a:pt x="12787" y="10507"/>
                      </a:lnTo>
                      <a:cubicBezTo>
                        <a:pt x="12787" y="10504"/>
                        <a:pt x="12787" y="10501"/>
                        <a:pt x="12787" y="10498"/>
                      </a:cubicBezTo>
                      <a:lnTo>
                        <a:pt x="12787" y="10498"/>
                      </a:lnTo>
                      <a:lnTo>
                        <a:pt x="12787" y="10498"/>
                      </a:lnTo>
                      <a:lnTo>
                        <a:pt x="12787" y="10498"/>
                      </a:lnTo>
                      <a:lnTo>
                        <a:pt x="12787" y="10498"/>
                      </a:lnTo>
                      <a:close/>
                      <a:moveTo>
                        <a:pt x="7014" y="6467"/>
                      </a:moveTo>
                      <a:cubicBezTo>
                        <a:pt x="7927" y="5833"/>
                        <a:pt x="8529" y="4755"/>
                        <a:pt x="8529" y="3531"/>
                      </a:cubicBezTo>
                      <a:cubicBezTo>
                        <a:pt x="8529" y="1581"/>
                        <a:pt x="7002" y="0"/>
                        <a:pt x="5119" y="0"/>
                      </a:cubicBezTo>
                      <a:cubicBezTo>
                        <a:pt x="3235" y="0"/>
                        <a:pt x="1708" y="1581"/>
                        <a:pt x="1708" y="3531"/>
                      </a:cubicBezTo>
                      <a:cubicBezTo>
                        <a:pt x="1708" y="4756"/>
                        <a:pt x="2310" y="5833"/>
                        <a:pt x="3223" y="6467"/>
                      </a:cubicBezTo>
                      <a:cubicBezTo>
                        <a:pt x="1335" y="7246"/>
                        <a:pt x="0" y="9156"/>
                        <a:pt x="0" y="11389"/>
                      </a:cubicBezTo>
                      <a:cubicBezTo>
                        <a:pt x="0" y="11515"/>
                        <a:pt x="7" y="11639"/>
                        <a:pt x="17" y="11762"/>
                      </a:cubicBezTo>
                      <a:lnTo>
                        <a:pt x="17" y="11762"/>
                      </a:lnTo>
                      <a:cubicBezTo>
                        <a:pt x="17" y="12034"/>
                        <a:pt x="230" y="12254"/>
                        <a:pt x="493" y="12254"/>
                      </a:cubicBezTo>
                      <a:cubicBezTo>
                        <a:pt x="755" y="12254"/>
                        <a:pt x="968" y="12034"/>
                        <a:pt x="968" y="11762"/>
                      </a:cubicBezTo>
                      <a:cubicBezTo>
                        <a:pt x="968" y="11747"/>
                        <a:pt x="965" y="11732"/>
                        <a:pt x="963" y="11717"/>
                      </a:cubicBezTo>
                      <a:cubicBezTo>
                        <a:pt x="954" y="11609"/>
                        <a:pt x="947" y="11500"/>
                        <a:pt x="947" y="11389"/>
                      </a:cubicBezTo>
                      <a:cubicBezTo>
                        <a:pt x="947" y="9003"/>
                        <a:pt x="2814" y="7069"/>
                        <a:pt x="5118" y="7069"/>
                      </a:cubicBezTo>
                      <a:cubicBezTo>
                        <a:pt x="7423" y="7069"/>
                        <a:pt x="9290" y="9003"/>
                        <a:pt x="9290" y="11389"/>
                      </a:cubicBezTo>
                      <a:cubicBezTo>
                        <a:pt x="9290" y="11504"/>
                        <a:pt x="9283" y="11618"/>
                        <a:pt x="9273" y="11730"/>
                      </a:cubicBezTo>
                      <a:cubicBezTo>
                        <a:pt x="9273" y="11736"/>
                        <a:pt x="9271" y="11741"/>
                        <a:pt x="9271" y="11747"/>
                      </a:cubicBezTo>
                      <a:cubicBezTo>
                        <a:pt x="9271" y="11749"/>
                        <a:pt x="9271" y="11750"/>
                        <a:pt x="9271" y="11752"/>
                      </a:cubicBezTo>
                      <a:cubicBezTo>
                        <a:pt x="9271" y="11755"/>
                        <a:pt x="9271" y="11759"/>
                        <a:pt x="9271" y="11762"/>
                      </a:cubicBezTo>
                      <a:lnTo>
                        <a:pt x="9273" y="11762"/>
                      </a:lnTo>
                      <a:cubicBezTo>
                        <a:pt x="9281" y="12026"/>
                        <a:pt x="9489" y="12239"/>
                        <a:pt x="9746" y="12239"/>
                      </a:cubicBezTo>
                      <a:cubicBezTo>
                        <a:pt x="10004" y="12239"/>
                        <a:pt x="10212" y="12026"/>
                        <a:pt x="10220" y="11762"/>
                      </a:cubicBezTo>
                      <a:lnTo>
                        <a:pt x="10221" y="11762"/>
                      </a:lnTo>
                      <a:cubicBezTo>
                        <a:pt x="10230" y="11639"/>
                        <a:pt x="10236" y="11515"/>
                        <a:pt x="10236" y="11389"/>
                      </a:cubicBezTo>
                      <a:cubicBezTo>
                        <a:pt x="10237" y="9156"/>
                        <a:pt x="8902" y="7246"/>
                        <a:pt x="7014" y="6467"/>
                      </a:cubicBezTo>
                      <a:lnTo>
                        <a:pt x="7014" y="6467"/>
                      </a:lnTo>
                      <a:close/>
                      <a:moveTo>
                        <a:pt x="5119" y="6068"/>
                      </a:moveTo>
                      <a:cubicBezTo>
                        <a:pt x="3765" y="6068"/>
                        <a:pt x="2669" y="4932"/>
                        <a:pt x="2669" y="3531"/>
                      </a:cubicBezTo>
                      <a:cubicBezTo>
                        <a:pt x="2669" y="2131"/>
                        <a:pt x="3765" y="995"/>
                        <a:pt x="5119" y="995"/>
                      </a:cubicBezTo>
                      <a:cubicBezTo>
                        <a:pt x="6472" y="995"/>
                        <a:pt x="7568" y="2131"/>
                        <a:pt x="7568" y="3531"/>
                      </a:cubicBezTo>
                      <a:cubicBezTo>
                        <a:pt x="7568" y="4932"/>
                        <a:pt x="6472" y="6068"/>
                        <a:pt x="5119" y="6068"/>
                      </a:cubicBezTo>
                      <a:lnTo>
                        <a:pt x="5119" y="6068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" name="computing-cloud_92945"/>
                <p:cNvSpPr/>
                <p:nvPr/>
              </p:nvSpPr>
              <p:spPr>
                <a:xfrm>
                  <a:off x="4407550" y="4387763"/>
                  <a:ext cx="424671" cy="440940"/>
                </a:xfrm>
                <a:custGeom>
                  <a:avLst/>
                  <a:gdLst>
                    <a:gd name="connsiteX0" fmla="*/ 250909 w 546811"/>
                    <a:gd name="connsiteY0" fmla="*/ 378936 h 606792"/>
                    <a:gd name="connsiteX1" fmla="*/ 295914 w 546811"/>
                    <a:gd name="connsiteY1" fmla="*/ 378936 h 606792"/>
                    <a:gd name="connsiteX2" fmla="*/ 313732 w 546811"/>
                    <a:gd name="connsiteY2" fmla="*/ 396888 h 606792"/>
                    <a:gd name="connsiteX3" fmla="*/ 313732 w 546811"/>
                    <a:gd name="connsiteY3" fmla="*/ 470999 h 606792"/>
                    <a:gd name="connsiteX4" fmla="*/ 349213 w 546811"/>
                    <a:gd name="connsiteY4" fmla="*/ 470999 h 606792"/>
                    <a:gd name="connsiteX5" fmla="*/ 362730 w 546811"/>
                    <a:gd name="connsiteY5" fmla="*/ 478211 h 606792"/>
                    <a:gd name="connsiteX6" fmla="*/ 361040 w 546811"/>
                    <a:gd name="connsiteY6" fmla="*/ 493248 h 606792"/>
                    <a:gd name="connsiteX7" fmla="*/ 286544 w 546811"/>
                    <a:gd name="connsiteY7" fmla="*/ 599580 h 606792"/>
                    <a:gd name="connsiteX8" fmla="*/ 273335 w 546811"/>
                    <a:gd name="connsiteY8" fmla="*/ 606792 h 606792"/>
                    <a:gd name="connsiteX9" fmla="*/ 260279 w 546811"/>
                    <a:gd name="connsiteY9" fmla="*/ 599734 h 606792"/>
                    <a:gd name="connsiteX10" fmla="*/ 185782 w 546811"/>
                    <a:gd name="connsiteY10" fmla="*/ 493401 h 606792"/>
                    <a:gd name="connsiteX11" fmla="*/ 184093 w 546811"/>
                    <a:gd name="connsiteY11" fmla="*/ 478211 h 606792"/>
                    <a:gd name="connsiteX12" fmla="*/ 197610 w 546811"/>
                    <a:gd name="connsiteY12" fmla="*/ 470999 h 606792"/>
                    <a:gd name="connsiteX13" fmla="*/ 231709 w 546811"/>
                    <a:gd name="connsiteY13" fmla="*/ 470999 h 606792"/>
                    <a:gd name="connsiteX14" fmla="*/ 231709 w 546811"/>
                    <a:gd name="connsiteY14" fmla="*/ 396888 h 606792"/>
                    <a:gd name="connsiteX15" fmla="*/ 250909 w 546811"/>
                    <a:gd name="connsiteY15" fmla="*/ 378936 h 606792"/>
                    <a:gd name="connsiteX16" fmla="*/ 353376 w 546811"/>
                    <a:gd name="connsiteY16" fmla="*/ 0 h 606792"/>
                    <a:gd name="connsiteX17" fmla="*/ 503791 w 546811"/>
                    <a:gd name="connsiteY17" fmla="*/ 150197 h 606792"/>
                    <a:gd name="connsiteX18" fmla="*/ 501948 w 546811"/>
                    <a:gd name="connsiteY18" fmla="*/ 172903 h 606792"/>
                    <a:gd name="connsiteX19" fmla="*/ 546811 w 546811"/>
                    <a:gd name="connsiteY19" fmla="*/ 254829 h 606792"/>
                    <a:gd name="connsiteX20" fmla="*/ 448788 w 546811"/>
                    <a:gd name="connsiteY20" fmla="*/ 352404 h 606792"/>
                    <a:gd name="connsiteX21" fmla="*/ 98023 w 546811"/>
                    <a:gd name="connsiteY21" fmla="*/ 352404 h 606792"/>
                    <a:gd name="connsiteX22" fmla="*/ 0 w 546811"/>
                    <a:gd name="connsiteY22" fmla="*/ 254829 h 606792"/>
                    <a:gd name="connsiteX23" fmla="*/ 51777 w 546811"/>
                    <a:gd name="connsiteY23" fmla="*/ 168761 h 606792"/>
                    <a:gd name="connsiteX24" fmla="*/ 167316 w 546811"/>
                    <a:gd name="connsiteY24" fmla="*/ 66584 h 606792"/>
                    <a:gd name="connsiteX25" fmla="*/ 220630 w 546811"/>
                    <a:gd name="connsiteY25" fmla="*/ 79625 h 606792"/>
                    <a:gd name="connsiteX26" fmla="*/ 353376 w 546811"/>
                    <a:gd name="connsiteY26" fmla="*/ 0 h 6067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546811" h="606792">
                      <a:moveTo>
                        <a:pt x="250909" y="378936"/>
                      </a:moveTo>
                      <a:lnTo>
                        <a:pt x="295914" y="378936"/>
                      </a:lnTo>
                      <a:cubicBezTo>
                        <a:pt x="306051" y="378936"/>
                        <a:pt x="313732" y="386761"/>
                        <a:pt x="313732" y="396888"/>
                      </a:cubicBezTo>
                      <a:lnTo>
                        <a:pt x="313732" y="470999"/>
                      </a:lnTo>
                      <a:lnTo>
                        <a:pt x="349213" y="470999"/>
                      </a:lnTo>
                      <a:cubicBezTo>
                        <a:pt x="355204" y="470999"/>
                        <a:pt x="360272" y="473608"/>
                        <a:pt x="362730" y="478211"/>
                      </a:cubicBezTo>
                      <a:cubicBezTo>
                        <a:pt x="365034" y="482967"/>
                        <a:pt x="364420" y="488338"/>
                        <a:pt x="361040" y="493248"/>
                      </a:cubicBezTo>
                      <a:lnTo>
                        <a:pt x="286544" y="599580"/>
                      </a:lnTo>
                      <a:cubicBezTo>
                        <a:pt x="283319" y="604184"/>
                        <a:pt x="278557" y="606792"/>
                        <a:pt x="273335" y="606792"/>
                      </a:cubicBezTo>
                      <a:cubicBezTo>
                        <a:pt x="268266" y="606792"/>
                        <a:pt x="263504" y="604184"/>
                        <a:pt x="260279" y="599734"/>
                      </a:cubicBezTo>
                      <a:lnTo>
                        <a:pt x="185782" y="493401"/>
                      </a:lnTo>
                      <a:cubicBezTo>
                        <a:pt x="182249" y="488491"/>
                        <a:pt x="181635" y="482967"/>
                        <a:pt x="184093" y="478211"/>
                      </a:cubicBezTo>
                      <a:cubicBezTo>
                        <a:pt x="186550" y="473608"/>
                        <a:pt x="191619" y="470999"/>
                        <a:pt x="197610" y="470999"/>
                      </a:cubicBezTo>
                      <a:lnTo>
                        <a:pt x="231709" y="470999"/>
                      </a:lnTo>
                      <a:lnTo>
                        <a:pt x="231709" y="396888"/>
                      </a:lnTo>
                      <a:cubicBezTo>
                        <a:pt x="231709" y="386761"/>
                        <a:pt x="240618" y="378936"/>
                        <a:pt x="250909" y="378936"/>
                      </a:cubicBezTo>
                      <a:close/>
                      <a:moveTo>
                        <a:pt x="353376" y="0"/>
                      </a:moveTo>
                      <a:cubicBezTo>
                        <a:pt x="436343" y="0"/>
                        <a:pt x="503791" y="67351"/>
                        <a:pt x="503791" y="150197"/>
                      </a:cubicBezTo>
                      <a:cubicBezTo>
                        <a:pt x="503791" y="157715"/>
                        <a:pt x="503177" y="165386"/>
                        <a:pt x="501948" y="172903"/>
                      </a:cubicBezTo>
                      <a:cubicBezTo>
                        <a:pt x="529757" y="190853"/>
                        <a:pt x="546811" y="221384"/>
                        <a:pt x="546811" y="254829"/>
                      </a:cubicBezTo>
                      <a:cubicBezTo>
                        <a:pt x="546811" y="308679"/>
                        <a:pt x="502870" y="352404"/>
                        <a:pt x="448788" y="352404"/>
                      </a:cubicBezTo>
                      <a:lnTo>
                        <a:pt x="98023" y="352404"/>
                      </a:lnTo>
                      <a:cubicBezTo>
                        <a:pt x="43941" y="352404"/>
                        <a:pt x="0" y="308679"/>
                        <a:pt x="0" y="254829"/>
                      </a:cubicBezTo>
                      <a:cubicBezTo>
                        <a:pt x="0" y="218622"/>
                        <a:pt x="20127" y="185791"/>
                        <a:pt x="51777" y="168761"/>
                      </a:cubicBezTo>
                      <a:cubicBezTo>
                        <a:pt x="58845" y="111075"/>
                        <a:pt x="108471" y="66584"/>
                        <a:pt x="167316" y="66584"/>
                      </a:cubicBezTo>
                      <a:cubicBezTo>
                        <a:pt x="185907" y="66584"/>
                        <a:pt x="204190" y="71033"/>
                        <a:pt x="220630" y="79625"/>
                      </a:cubicBezTo>
                      <a:cubicBezTo>
                        <a:pt x="246595" y="30837"/>
                        <a:pt x="297604" y="0"/>
                        <a:pt x="353376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" name="lightbulb-on-with-a-bolt_45235"/>
                <p:cNvSpPr/>
                <p:nvPr/>
              </p:nvSpPr>
              <p:spPr>
                <a:xfrm>
                  <a:off x="6242338" y="2967308"/>
                  <a:ext cx="455742" cy="481993"/>
                </a:xfrm>
                <a:custGeom>
                  <a:avLst/>
                  <a:gdLst>
                    <a:gd name="connsiteX0" fmla="*/ 254274 w 570592"/>
                    <a:gd name="connsiteY0" fmla="*/ 495344 h 606792"/>
                    <a:gd name="connsiteX1" fmla="*/ 254274 w 570592"/>
                    <a:gd name="connsiteY1" fmla="*/ 520211 h 606792"/>
                    <a:gd name="connsiteX2" fmla="*/ 316388 w 570592"/>
                    <a:gd name="connsiteY2" fmla="*/ 520211 h 606792"/>
                    <a:gd name="connsiteX3" fmla="*/ 316388 w 570592"/>
                    <a:gd name="connsiteY3" fmla="*/ 495344 h 606792"/>
                    <a:gd name="connsiteX4" fmla="*/ 462463 w 570592"/>
                    <a:gd name="connsiteY4" fmla="*/ 362283 h 606792"/>
                    <a:gd name="connsiteX5" fmla="*/ 474842 w 570592"/>
                    <a:gd name="connsiteY5" fmla="*/ 365597 h 606792"/>
                    <a:gd name="connsiteX6" fmla="*/ 523225 w 570592"/>
                    <a:gd name="connsiteY6" fmla="*/ 393462 h 606792"/>
                    <a:gd name="connsiteX7" fmla="*/ 534773 w 570592"/>
                    <a:gd name="connsiteY7" fmla="*/ 408449 h 606792"/>
                    <a:gd name="connsiteX8" fmla="*/ 532282 w 570592"/>
                    <a:gd name="connsiteY8" fmla="*/ 427201 h 606792"/>
                    <a:gd name="connsiteX9" fmla="*/ 510846 w 570592"/>
                    <a:gd name="connsiteY9" fmla="*/ 439552 h 606792"/>
                    <a:gd name="connsiteX10" fmla="*/ 498467 w 570592"/>
                    <a:gd name="connsiteY10" fmla="*/ 436238 h 606792"/>
                    <a:gd name="connsiteX11" fmla="*/ 450085 w 570592"/>
                    <a:gd name="connsiteY11" fmla="*/ 408373 h 606792"/>
                    <a:gd name="connsiteX12" fmla="*/ 438536 w 570592"/>
                    <a:gd name="connsiteY12" fmla="*/ 393386 h 606792"/>
                    <a:gd name="connsiteX13" fmla="*/ 441027 w 570592"/>
                    <a:gd name="connsiteY13" fmla="*/ 374634 h 606792"/>
                    <a:gd name="connsiteX14" fmla="*/ 462463 w 570592"/>
                    <a:gd name="connsiteY14" fmla="*/ 362283 h 606792"/>
                    <a:gd name="connsiteX15" fmla="*/ 107993 w 570592"/>
                    <a:gd name="connsiteY15" fmla="*/ 362283 h 606792"/>
                    <a:gd name="connsiteX16" fmla="*/ 129500 w 570592"/>
                    <a:gd name="connsiteY16" fmla="*/ 374634 h 606792"/>
                    <a:gd name="connsiteX17" fmla="*/ 131991 w 570592"/>
                    <a:gd name="connsiteY17" fmla="*/ 393386 h 606792"/>
                    <a:gd name="connsiteX18" fmla="*/ 120445 w 570592"/>
                    <a:gd name="connsiteY18" fmla="*/ 408449 h 606792"/>
                    <a:gd name="connsiteX19" fmla="*/ 72147 w 570592"/>
                    <a:gd name="connsiteY19" fmla="*/ 436238 h 606792"/>
                    <a:gd name="connsiteX20" fmla="*/ 59696 w 570592"/>
                    <a:gd name="connsiteY20" fmla="*/ 439552 h 606792"/>
                    <a:gd name="connsiteX21" fmla="*/ 38264 w 570592"/>
                    <a:gd name="connsiteY21" fmla="*/ 427201 h 606792"/>
                    <a:gd name="connsiteX22" fmla="*/ 47319 w 570592"/>
                    <a:gd name="connsiteY22" fmla="*/ 393462 h 606792"/>
                    <a:gd name="connsiteX23" fmla="*/ 95617 w 570592"/>
                    <a:gd name="connsiteY23" fmla="*/ 365672 h 606792"/>
                    <a:gd name="connsiteX24" fmla="*/ 107993 w 570592"/>
                    <a:gd name="connsiteY24" fmla="*/ 362283 h 606792"/>
                    <a:gd name="connsiteX25" fmla="*/ 489992 w 570592"/>
                    <a:gd name="connsiteY25" fmla="*/ 260034 h 606792"/>
                    <a:gd name="connsiteX26" fmla="*/ 545838 w 570592"/>
                    <a:gd name="connsiteY26" fmla="*/ 260034 h 606792"/>
                    <a:gd name="connsiteX27" fmla="*/ 570592 w 570592"/>
                    <a:gd name="connsiteY27" fmla="*/ 284840 h 606792"/>
                    <a:gd name="connsiteX28" fmla="*/ 545838 w 570592"/>
                    <a:gd name="connsiteY28" fmla="*/ 309571 h 606792"/>
                    <a:gd name="connsiteX29" fmla="*/ 489992 w 570592"/>
                    <a:gd name="connsiteY29" fmla="*/ 309571 h 606792"/>
                    <a:gd name="connsiteX30" fmla="*/ 465238 w 570592"/>
                    <a:gd name="connsiteY30" fmla="*/ 284840 h 606792"/>
                    <a:gd name="connsiteX31" fmla="*/ 489992 w 570592"/>
                    <a:gd name="connsiteY31" fmla="*/ 260034 h 606792"/>
                    <a:gd name="connsiteX32" fmla="*/ 24829 w 570592"/>
                    <a:gd name="connsiteY32" fmla="*/ 260034 h 606792"/>
                    <a:gd name="connsiteX33" fmla="*/ 80600 w 570592"/>
                    <a:gd name="connsiteY33" fmla="*/ 260034 h 606792"/>
                    <a:gd name="connsiteX34" fmla="*/ 105354 w 570592"/>
                    <a:gd name="connsiteY34" fmla="*/ 284840 h 606792"/>
                    <a:gd name="connsiteX35" fmla="*/ 80600 w 570592"/>
                    <a:gd name="connsiteY35" fmla="*/ 309571 h 606792"/>
                    <a:gd name="connsiteX36" fmla="*/ 24829 w 570592"/>
                    <a:gd name="connsiteY36" fmla="*/ 309571 h 606792"/>
                    <a:gd name="connsiteX37" fmla="*/ 0 w 570592"/>
                    <a:gd name="connsiteY37" fmla="*/ 284840 h 606792"/>
                    <a:gd name="connsiteX38" fmla="*/ 24829 w 570592"/>
                    <a:gd name="connsiteY38" fmla="*/ 260034 h 606792"/>
                    <a:gd name="connsiteX39" fmla="*/ 285185 w 570592"/>
                    <a:gd name="connsiteY39" fmla="*/ 185305 h 606792"/>
                    <a:gd name="connsiteX40" fmla="*/ 325864 w 570592"/>
                    <a:gd name="connsiteY40" fmla="*/ 185305 h 606792"/>
                    <a:gd name="connsiteX41" fmla="*/ 331902 w 570592"/>
                    <a:gd name="connsiteY41" fmla="*/ 193972 h 606792"/>
                    <a:gd name="connsiteX42" fmla="*/ 308506 w 570592"/>
                    <a:gd name="connsiteY42" fmla="*/ 257959 h 606792"/>
                    <a:gd name="connsiteX43" fmla="*/ 314544 w 570592"/>
                    <a:gd name="connsiteY43" fmla="*/ 266626 h 606792"/>
                    <a:gd name="connsiteX44" fmla="*/ 328959 w 570592"/>
                    <a:gd name="connsiteY44" fmla="*/ 266626 h 606792"/>
                    <a:gd name="connsiteX45" fmla="*/ 332657 w 570592"/>
                    <a:gd name="connsiteY45" fmla="*/ 274012 h 606792"/>
                    <a:gd name="connsiteX46" fmla="*/ 253487 w 570592"/>
                    <a:gd name="connsiteY46" fmla="*/ 378395 h 606792"/>
                    <a:gd name="connsiteX47" fmla="*/ 249109 w 570592"/>
                    <a:gd name="connsiteY47" fmla="*/ 376586 h 606792"/>
                    <a:gd name="connsiteX48" fmla="*/ 257336 w 570592"/>
                    <a:gd name="connsiteY48" fmla="*/ 313580 h 606792"/>
                    <a:gd name="connsiteX49" fmla="*/ 249260 w 570592"/>
                    <a:gd name="connsiteY49" fmla="*/ 304385 h 606792"/>
                    <a:gd name="connsiteX50" fmla="*/ 241562 w 570592"/>
                    <a:gd name="connsiteY50" fmla="*/ 304385 h 606792"/>
                    <a:gd name="connsiteX51" fmla="*/ 235524 w 570592"/>
                    <a:gd name="connsiteY51" fmla="*/ 295718 h 606792"/>
                    <a:gd name="connsiteX52" fmla="*/ 272732 w 570592"/>
                    <a:gd name="connsiteY52" fmla="*/ 193972 h 606792"/>
                    <a:gd name="connsiteX53" fmla="*/ 285185 w 570592"/>
                    <a:gd name="connsiteY53" fmla="*/ 185305 h 606792"/>
                    <a:gd name="connsiteX54" fmla="*/ 285293 w 570592"/>
                    <a:gd name="connsiteY54" fmla="*/ 160925 h 606792"/>
                    <a:gd name="connsiteX55" fmla="*/ 161215 w 570592"/>
                    <a:gd name="connsiteY55" fmla="*/ 284882 h 606792"/>
                    <a:gd name="connsiteX56" fmla="*/ 230273 w 570592"/>
                    <a:gd name="connsiteY56" fmla="*/ 395199 h 606792"/>
                    <a:gd name="connsiteX57" fmla="*/ 250878 w 570592"/>
                    <a:gd name="connsiteY57" fmla="*/ 405447 h 606792"/>
                    <a:gd name="connsiteX58" fmla="*/ 254274 w 570592"/>
                    <a:gd name="connsiteY58" fmla="*/ 407105 h 606792"/>
                    <a:gd name="connsiteX59" fmla="*/ 254274 w 570592"/>
                    <a:gd name="connsiteY59" fmla="*/ 410948 h 606792"/>
                    <a:gd name="connsiteX60" fmla="*/ 254274 w 570592"/>
                    <a:gd name="connsiteY60" fmla="*/ 445912 h 606792"/>
                    <a:gd name="connsiteX61" fmla="*/ 316388 w 570592"/>
                    <a:gd name="connsiteY61" fmla="*/ 445912 h 606792"/>
                    <a:gd name="connsiteX62" fmla="*/ 316388 w 570592"/>
                    <a:gd name="connsiteY62" fmla="*/ 410948 h 606792"/>
                    <a:gd name="connsiteX63" fmla="*/ 316388 w 570592"/>
                    <a:gd name="connsiteY63" fmla="*/ 407105 h 606792"/>
                    <a:gd name="connsiteX64" fmla="*/ 319785 w 570592"/>
                    <a:gd name="connsiteY64" fmla="*/ 405447 h 606792"/>
                    <a:gd name="connsiteX65" fmla="*/ 340313 w 570592"/>
                    <a:gd name="connsiteY65" fmla="*/ 395199 h 606792"/>
                    <a:gd name="connsiteX66" fmla="*/ 409371 w 570592"/>
                    <a:gd name="connsiteY66" fmla="*/ 284882 h 606792"/>
                    <a:gd name="connsiteX67" fmla="*/ 285293 w 570592"/>
                    <a:gd name="connsiteY67" fmla="*/ 160925 h 606792"/>
                    <a:gd name="connsiteX68" fmla="*/ 510845 w 570592"/>
                    <a:gd name="connsiteY68" fmla="*/ 130052 h 606792"/>
                    <a:gd name="connsiteX69" fmla="*/ 532282 w 570592"/>
                    <a:gd name="connsiteY69" fmla="*/ 142414 h 606792"/>
                    <a:gd name="connsiteX70" fmla="*/ 534773 w 570592"/>
                    <a:gd name="connsiteY70" fmla="*/ 161184 h 606792"/>
                    <a:gd name="connsiteX71" fmla="*/ 523224 w 570592"/>
                    <a:gd name="connsiteY71" fmla="*/ 176185 h 606792"/>
                    <a:gd name="connsiteX72" fmla="*/ 474839 w 570592"/>
                    <a:gd name="connsiteY72" fmla="*/ 204075 h 606792"/>
                    <a:gd name="connsiteX73" fmla="*/ 462460 w 570592"/>
                    <a:gd name="connsiteY73" fmla="*/ 207392 h 606792"/>
                    <a:gd name="connsiteX74" fmla="*/ 441098 w 570592"/>
                    <a:gd name="connsiteY74" fmla="*/ 195030 h 606792"/>
                    <a:gd name="connsiteX75" fmla="*/ 438532 w 570592"/>
                    <a:gd name="connsiteY75" fmla="*/ 176260 h 606792"/>
                    <a:gd name="connsiteX76" fmla="*/ 450081 w 570592"/>
                    <a:gd name="connsiteY76" fmla="*/ 161259 h 606792"/>
                    <a:gd name="connsiteX77" fmla="*/ 498541 w 570592"/>
                    <a:gd name="connsiteY77" fmla="*/ 133293 h 606792"/>
                    <a:gd name="connsiteX78" fmla="*/ 510845 w 570592"/>
                    <a:gd name="connsiteY78" fmla="*/ 130052 h 606792"/>
                    <a:gd name="connsiteX79" fmla="*/ 59770 w 570592"/>
                    <a:gd name="connsiteY79" fmla="*/ 129981 h 606792"/>
                    <a:gd name="connsiteX80" fmla="*/ 72070 w 570592"/>
                    <a:gd name="connsiteY80" fmla="*/ 133297 h 606792"/>
                    <a:gd name="connsiteX81" fmla="*/ 120440 w 570592"/>
                    <a:gd name="connsiteY81" fmla="*/ 161262 h 606792"/>
                    <a:gd name="connsiteX82" fmla="*/ 132061 w 570592"/>
                    <a:gd name="connsiteY82" fmla="*/ 176261 h 606792"/>
                    <a:gd name="connsiteX83" fmla="*/ 129571 w 570592"/>
                    <a:gd name="connsiteY83" fmla="*/ 195030 h 606792"/>
                    <a:gd name="connsiteX84" fmla="*/ 108064 w 570592"/>
                    <a:gd name="connsiteY84" fmla="*/ 207391 h 606792"/>
                    <a:gd name="connsiteX85" fmla="*/ 95689 w 570592"/>
                    <a:gd name="connsiteY85" fmla="*/ 204075 h 606792"/>
                    <a:gd name="connsiteX86" fmla="*/ 47319 w 570592"/>
                    <a:gd name="connsiteY86" fmla="*/ 176186 h 606792"/>
                    <a:gd name="connsiteX87" fmla="*/ 38263 w 570592"/>
                    <a:gd name="connsiteY87" fmla="*/ 142418 h 606792"/>
                    <a:gd name="connsiteX88" fmla="*/ 59770 w 570592"/>
                    <a:gd name="connsiteY88" fmla="*/ 129981 h 606792"/>
                    <a:gd name="connsiteX89" fmla="*/ 285293 w 570592"/>
                    <a:gd name="connsiteY89" fmla="*/ 111493 h 606792"/>
                    <a:gd name="connsiteX90" fmla="*/ 458957 w 570592"/>
                    <a:gd name="connsiteY90" fmla="*/ 284882 h 606792"/>
                    <a:gd name="connsiteX91" fmla="*/ 365899 w 570592"/>
                    <a:gd name="connsiteY91" fmla="*/ 437623 h 606792"/>
                    <a:gd name="connsiteX92" fmla="*/ 365899 w 570592"/>
                    <a:gd name="connsiteY92" fmla="*/ 526390 h 606792"/>
                    <a:gd name="connsiteX93" fmla="*/ 328313 w 570592"/>
                    <a:gd name="connsiteY93" fmla="*/ 569266 h 606792"/>
                    <a:gd name="connsiteX94" fmla="*/ 285293 w 570592"/>
                    <a:gd name="connsiteY94" fmla="*/ 606792 h 606792"/>
                    <a:gd name="connsiteX95" fmla="*/ 242349 w 570592"/>
                    <a:gd name="connsiteY95" fmla="*/ 569266 h 606792"/>
                    <a:gd name="connsiteX96" fmla="*/ 204688 w 570592"/>
                    <a:gd name="connsiteY96" fmla="*/ 526314 h 606792"/>
                    <a:gd name="connsiteX97" fmla="*/ 204688 w 570592"/>
                    <a:gd name="connsiteY97" fmla="*/ 437623 h 606792"/>
                    <a:gd name="connsiteX98" fmla="*/ 111705 w 570592"/>
                    <a:gd name="connsiteY98" fmla="*/ 284882 h 606792"/>
                    <a:gd name="connsiteX99" fmla="*/ 285293 w 570592"/>
                    <a:gd name="connsiteY99" fmla="*/ 111493 h 606792"/>
                    <a:gd name="connsiteX100" fmla="*/ 415515 w 570592"/>
                    <a:gd name="connsiteY100" fmla="*/ 34859 h 606792"/>
                    <a:gd name="connsiteX101" fmla="*/ 427892 w 570592"/>
                    <a:gd name="connsiteY101" fmla="*/ 38099 h 606792"/>
                    <a:gd name="connsiteX102" fmla="*/ 439439 w 570592"/>
                    <a:gd name="connsiteY102" fmla="*/ 53171 h 606792"/>
                    <a:gd name="connsiteX103" fmla="*/ 436949 w 570592"/>
                    <a:gd name="connsiteY103" fmla="*/ 71859 h 606792"/>
                    <a:gd name="connsiteX104" fmla="*/ 409024 w 570592"/>
                    <a:gd name="connsiteY104" fmla="*/ 120163 h 606792"/>
                    <a:gd name="connsiteX105" fmla="*/ 387590 w 570592"/>
                    <a:gd name="connsiteY105" fmla="*/ 132522 h 606792"/>
                    <a:gd name="connsiteX106" fmla="*/ 375213 w 570592"/>
                    <a:gd name="connsiteY106" fmla="*/ 129206 h 606792"/>
                    <a:gd name="connsiteX107" fmla="*/ 363666 w 570592"/>
                    <a:gd name="connsiteY107" fmla="*/ 114210 h 606792"/>
                    <a:gd name="connsiteX108" fmla="*/ 366157 w 570592"/>
                    <a:gd name="connsiteY108" fmla="*/ 95446 h 606792"/>
                    <a:gd name="connsiteX109" fmla="*/ 394081 w 570592"/>
                    <a:gd name="connsiteY109" fmla="*/ 47142 h 606792"/>
                    <a:gd name="connsiteX110" fmla="*/ 415515 w 570592"/>
                    <a:gd name="connsiteY110" fmla="*/ 34859 h 606792"/>
                    <a:gd name="connsiteX111" fmla="*/ 155005 w 570592"/>
                    <a:gd name="connsiteY111" fmla="*/ 34789 h 606792"/>
                    <a:gd name="connsiteX112" fmla="*/ 176517 w 570592"/>
                    <a:gd name="connsiteY112" fmla="*/ 47148 h 606792"/>
                    <a:gd name="connsiteX113" fmla="*/ 204369 w 570592"/>
                    <a:gd name="connsiteY113" fmla="*/ 95376 h 606792"/>
                    <a:gd name="connsiteX114" fmla="*/ 206860 w 570592"/>
                    <a:gd name="connsiteY114" fmla="*/ 114140 h 606792"/>
                    <a:gd name="connsiteX115" fmla="*/ 195236 w 570592"/>
                    <a:gd name="connsiteY115" fmla="*/ 129136 h 606792"/>
                    <a:gd name="connsiteX116" fmla="*/ 182933 w 570592"/>
                    <a:gd name="connsiteY116" fmla="*/ 132452 h 606792"/>
                    <a:gd name="connsiteX117" fmla="*/ 161421 w 570592"/>
                    <a:gd name="connsiteY117" fmla="*/ 120093 h 606792"/>
                    <a:gd name="connsiteX118" fmla="*/ 133568 w 570592"/>
                    <a:gd name="connsiteY118" fmla="*/ 71865 h 606792"/>
                    <a:gd name="connsiteX119" fmla="*/ 131077 w 570592"/>
                    <a:gd name="connsiteY119" fmla="*/ 53176 h 606792"/>
                    <a:gd name="connsiteX120" fmla="*/ 142626 w 570592"/>
                    <a:gd name="connsiteY120" fmla="*/ 38180 h 606792"/>
                    <a:gd name="connsiteX121" fmla="*/ 155005 w 570592"/>
                    <a:gd name="connsiteY121" fmla="*/ 34789 h 606792"/>
                    <a:gd name="connsiteX122" fmla="*/ 285297 w 570592"/>
                    <a:gd name="connsiteY122" fmla="*/ 0 h 606792"/>
                    <a:gd name="connsiteX123" fmla="*/ 310065 w 570592"/>
                    <a:gd name="connsiteY123" fmla="*/ 24721 h 606792"/>
                    <a:gd name="connsiteX124" fmla="*/ 310065 w 570592"/>
                    <a:gd name="connsiteY124" fmla="*/ 80492 h 606792"/>
                    <a:gd name="connsiteX125" fmla="*/ 285297 w 570592"/>
                    <a:gd name="connsiteY125" fmla="*/ 105213 h 606792"/>
                    <a:gd name="connsiteX126" fmla="*/ 260528 w 570592"/>
                    <a:gd name="connsiteY126" fmla="*/ 80492 h 606792"/>
                    <a:gd name="connsiteX127" fmla="*/ 260528 w 570592"/>
                    <a:gd name="connsiteY127" fmla="*/ 24721 h 606792"/>
                    <a:gd name="connsiteX128" fmla="*/ 285297 w 570592"/>
                    <a:gd name="connsiteY128" fmla="*/ 0 h 6067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</a:cxnLst>
                  <a:rect l="l" t="t" r="r" b="b"/>
                  <a:pathLst>
                    <a:path w="570592" h="606792">
                      <a:moveTo>
                        <a:pt x="254274" y="495344"/>
                      </a:moveTo>
                      <a:lnTo>
                        <a:pt x="254274" y="520211"/>
                      </a:lnTo>
                      <a:lnTo>
                        <a:pt x="316388" y="520211"/>
                      </a:lnTo>
                      <a:lnTo>
                        <a:pt x="316388" y="495344"/>
                      </a:lnTo>
                      <a:close/>
                      <a:moveTo>
                        <a:pt x="462463" y="362283"/>
                      </a:moveTo>
                      <a:cubicBezTo>
                        <a:pt x="466841" y="362283"/>
                        <a:pt x="471068" y="363413"/>
                        <a:pt x="474842" y="365597"/>
                      </a:cubicBezTo>
                      <a:lnTo>
                        <a:pt x="523225" y="393462"/>
                      </a:lnTo>
                      <a:cubicBezTo>
                        <a:pt x="528961" y="396775"/>
                        <a:pt x="533113" y="402122"/>
                        <a:pt x="534773" y="408449"/>
                      </a:cubicBezTo>
                      <a:cubicBezTo>
                        <a:pt x="536509" y="414850"/>
                        <a:pt x="535603" y="421553"/>
                        <a:pt x="532282" y="427201"/>
                      </a:cubicBezTo>
                      <a:cubicBezTo>
                        <a:pt x="527904" y="434883"/>
                        <a:pt x="519677" y="439552"/>
                        <a:pt x="510846" y="439552"/>
                      </a:cubicBezTo>
                      <a:cubicBezTo>
                        <a:pt x="506544" y="439552"/>
                        <a:pt x="502241" y="438422"/>
                        <a:pt x="498467" y="436238"/>
                      </a:cubicBezTo>
                      <a:lnTo>
                        <a:pt x="450085" y="408373"/>
                      </a:lnTo>
                      <a:cubicBezTo>
                        <a:pt x="444348" y="405060"/>
                        <a:pt x="440272" y="399788"/>
                        <a:pt x="438536" y="393386"/>
                      </a:cubicBezTo>
                      <a:cubicBezTo>
                        <a:pt x="436800" y="386985"/>
                        <a:pt x="437706" y="380358"/>
                        <a:pt x="441027" y="374634"/>
                      </a:cubicBezTo>
                      <a:cubicBezTo>
                        <a:pt x="445405" y="367028"/>
                        <a:pt x="453632" y="362283"/>
                        <a:pt x="462463" y="362283"/>
                      </a:cubicBezTo>
                      <a:close/>
                      <a:moveTo>
                        <a:pt x="107993" y="362283"/>
                      </a:moveTo>
                      <a:cubicBezTo>
                        <a:pt x="116822" y="362283"/>
                        <a:pt x="125048" y="367028"/>
                        <a:pt x="129500" y="374634"/>
                      </a:cubicBezTo>
                      <a:cubicBezTo>
                        <a:pt x="132821" y="380358"/>
                        <a:pt x="133651" y="387060"/>
                        <a:pt x="131991" y="393386"/>
                      </a:cubicBezTo>
                      <a:cubicBezTo>
                        <a:pt x="130255" y="399788"/>
                        <a:pt x="126180" y="405135"/>
                        <a:pt x="120445" y="408449"/>
                      </a:cubicBezTo>
                      <a:lnTo>
                        <a:pt x="72147" y="436238"/>
                      </a:lnTo>
                      <a:cubicBezTo>
                        <a:pt x="68374" y="438422"/>
                        <a:pt x="64073" y="439552"/>
                        <a:pt x="59696" y="439552"/>
                      </a:cubicBezTo>
                      <a:cubicBezTo>
                        <a:pt x="50942" y="439552"/>
                        <a:pt x="42716" y="434883"/>
                        <a:pt x="38264" y="427201"/>
                      </a:cubicBezTo>
                      <a:cubicBezTo>
                        <a:pt x="31472" y="415453"/>
                        <a:pt x="35471" y="400315"/>
                        <a:pt x="47319" y="393462"/>
                      </a:cubicBezTo>
                      <a:lnTo>
                        <a:pt x="95617" y="365672"/>
                      </a:lnTo>
                      <a:cubicBezTo>
                        <a:pt x="99390" y="363488"/>
                        <a:pt x="103691" y="362283"/>
                        <a:pt x="107993" y="362283"/>
                      </a:cubicBezTo>
                      <a:close/>
                      <a:moveTo>
                        <a:pt x="489992" y="260034"/>
                      </a:moveTo>
                      <a:lnTo>
                        <a:pt x="545838" y="260034"/>
                      </a:lnTo>
                      <a:cubicBezTo>
                        <a:pt x="559498" y="260034"/>
                        <a:pt x="570592" y="271193"/>
                        <a:pt x="570592" y="284840"/>
                      </a:cubicBezTo>
                      <a:cubicBezTo>
                        <a:pt x="570592" y="298487"/>
                        <a:pt x="559498" y="309571"/>
                        <a:pt x="545838" y="309571"/>
                      </a:cubicBezTo>
                      <a:lnTo>
                        <a:pt x="489992" y="309571"/>
                      </a:lnTo>
                      <a:cubicBezTo>
                        <a:pt x="476332" y="309571"/>
                        <a:pt x="465238" y="298487"/>
                        <a:pt x="465238" y="284840"/>
                      </a:cubicBezTo>
                      <a:cubicBezTo>
                        <a:pt x="465238" y="271193"/>
                        <a:pt x="476332" y="260034"/>
                        <a:pt x="489992" y="260034"/>
                      </a:cubicBezTo>
                      <a:close/>
                      <a:moveTo>
                        <a:pt x="24829" y="260034"/>
                      </a:moveTo>
                      <a:lnTo>
                        <a:pt x="80600" y="260034"/>
                      </a:lnTo>
                      <a:cubicBezTo>
                        <a:pt x="94260" y="260034"/>
                        <a:pt x="105354" y="271193"/>
                        <a:pt x="105354" y="284840"/>
                      </a:cubicBezTo>
                      <a:cubicBezTo>
                        <a:pt x="105354" y="298412"/>
                        <a:pt x="94260" y="309571"/>
                        <a:pt x="80600" y="309571"/>
                      </a:cubicBezTo>
                      <a:lnTo>
                        <a:pt x="24829" y="309571"/>
                      </a:lnTo>
                      <a:cubicBezTo>
                        <a:pt x="11169" y="309571"/>
                        <a:pt x="0" y="298487"/>
                        <a:pt x="0" y="284840"/>
                      </a:cubicBezTo>
                      <a:cubicBezTo>
                        <a:pt x="0" y="271193"/>
                        <a:pt x="11169" y="260034"/>
                        <a:pt x="24829" y="260034"/>
                      </a:cubicBezTo>
                      <a:close/>
                      <a:moveTo>
                        <a:pt x="285185" y="185305"/>
                      </a:moveTo>
                      <a:lnTo>
                        <a:pt x="325864" y="185305"/>
                      </a:lnTo>
                      <a:cubicBezTo>
                        <a:pt x="330996" y="185305"/>
                        <a:pt x="333713" y="189224"/>
                        <a:pt x="331902" y="193972"/>
                      </a:cubicBezTo>
                      <a:lnTo>
                        <a:pt x="308506" y="257959"/>
                      </a:lnTo>
                      <a:cubicBezTo>
                        <a:pt x="306770" y="262782"/>
                        <a:pt x="309487" y="266626"/>
                        <a:pt x="314544" y="266626"/>
                      </a:cubicBezTo>
                      <a:lnTo>
                        <a:pt x="328959" y="266626"/>
                      </a:lnTo>
                      <a:cubicBezTo>
                        <a:pt x="334091" y="266626"/>
                        <a:pt x="335751" y="269942"/>
                        <a:pt x="332657" y="274012"/>
                      </a:cubicBezTo>
                      <a:lnTo>
                        <a:pt x="253487" y="378395"/>
                      </a:lnTo>
                      <a:cubicBezTo>
                        <a:pt x="250392" y="382465"/>
                        <a:pt x="248430" y="381636"/>
                        <a:pt x="249109" y="376586"/>
                      </a:cubicBezTo>
                      <a:lnTo>
                        <a:pt x="257336" y="313580"/>
                      </a:lnTo>
                      <a:cubicBezTo>
                        <a:pt x="258015" y="308530"/>
                        <a:pt x="254392" y="304385"/>
                        <a:pt x="249260" y="304385"/>
                      </a:cubicBezTo>
                      <a:lnTo>
                        <a:pt x="241562" y="304385"/>
                      </a:lnTo>
                      <a:cubicBezTo>
                        <a:pt x="236430" y="304385"/>
                        <a:pt x="233713" y="300541"/>
                        <a:pt x="235524" y="295718"/>
                      </a:cubicBezTo>
                      <a:lnTo>
                        <a:pt x="272732" y="193972"/>
                      </a:lnTo>
                      <a:cubicBezTo>
                        <a:pt x="274543" y="189224"/>
                        <a:pt x="280053" y="185305"/>
                        <a:pt x="285185" y="185305"/>
                      </a:cubicBezTo>
                      <a:close/>
                      <a:moveTo>
                        <a:pt x="285293" y="160925"/>
                      </a:moveTo>
                      <a:cubicBezTo>
                        <a:pt x="216914" y="160925"/>
                        <a:pt x="161215" y="216536"/>
                        <a:pt x="161215" y="284882"/>
                      </a:cubicBezTo>
                      <a:cubicBezTo>
                        <a:pt x="161215" y="331601"/>
                        <a:pt x="187706" y="373874"/>
                        <a:pt x="230273" y="395199"/>
                      </a:cubicBezTo>
                      <a:lnTo>
                        <a:pt x="250878" y="405447"/>
                      </a:lnTo>
                      <a:lnTo>
                        <a:pt x="254274" y="407105"/>
                      </a:lnTo>
                      <a:lnTo>
                        <a:pt x="254274" y="410948"/>
                      </a:lnTo>
                      <a:lnTo>
                        <a:pt x="254274" y="445912"/>
                      </a:lnTo>
                      <a:lnTo>
                        <a:pt x="316388" y="445912"/>
                      </a:lnTo>
                      <a:lnTo>
                        <a:pt x="316388" y="410948"/>
                      </a:lnTo>
                      <a:lnTo>
                        <a:pt x="316388" y="407105"/>
                      </a:lnTo>
                      <a:lnTo>
                        <a:pt x="319785" y="405447"/>
                      </a:lnTo>
                      <a:lnTo>
                        <a:pt x="340313" y="395199"/>
                      </a:lnTo>
                      <a:cubicBezTo>
                        <a:pt x="382956" y="373874"/>
                        <a:pt x="409371" y="331601"/>
                        <a:pt x="409371" y="284882"/>
                      </a:cubicBezTo>
                      <a:cubicBezTo>
                        <a:pt x="409371" y="216536"/>
                        <a:pt x="353748" y="160925"/>
                        <a:pt x="285293" y="160925"/>
                      </a:cubicBezTo>
                      <a:close/>
                      <a:moveTo>
                        <a:pt x="510845" y="130052"/>
                      </a:moveTo>
                      <a:cubicBezTo>
                        <a:pt x="519752" y="130052"/>
                        <a:pt x="527980" y="134801"/>
                        <a:pt x="532282" y="142414"/>
                      </a:cubicBezTo>
                      <a:cubicBezTo>
                        <a:pt x="535603" y="148143"/>
                        <a:pt x="536509" y="154777"/>
                        <a:pt x="534773" y="161184"/>
                      </a:cubicBezTo>
                      <a:cubicBezTo>
                        <a:pt x="533112" y="167516"/>
                        <a:pt x="528961" y="172868"/>
                        <a:pt x="523224" y="176185"/>
                      </a:cubicBezTo>
                      <a:lnTo>
                        <a:pt x="474839" y="204075"/>
                      </a:lnTo>
                      <a:cubicBezTo>
                        <a:pt x="471065" y="206261"/>
                        <a:pt x="466763" y="207392"/>
                        <a:pt x="462460" y="207392"/>
                      </a:cubicBezTo>
                      <a:cubicBezTo>
                        <a:pt x="453628" y="207392"/>
                        <a:pt x="445401" y="202643"/>
                        <a:pt x="441098" y="195030"/>
                      </a:cubicBezTo>
                      <a:cubicBezTo>
                        <a:pt x="437777" y="189301"/>
                        <a:pt x="436871" y="182667"/>
                        <a:pt x="438532" y="176260"/>
                      </a:cubicBezTo>
                      <a:cubicBezTo>
                        <a:pt x="440268" y="169853"/>
                        <a:pt x="444419" y="164501"/>
                        <a:pt x="450081" y="161259"/>
                      </a:cubicBezTo>
                      <a:lnTo>
                        <a:pt x="498541" y="133293"/>
                      </a:lnTo>
                      <a:cubicBezTo>
                        <a:pt x="502315" y="131183"/>
                        <a:pt x="506542" y="130052"/>
                        <a:pt x="510845" y="130052"/>
                      </a:cubicBezTo>
                      <a:close/>
                      <a:moveTo>
                        <a:pt x="59770" y="129981"/>
                      </a:moveTo>
                      <a:cubicBezTo>
                        <a:pt x="64071" y="129981"/>
                        <a:pt x="68297" y="131187"/>
                        <a:pt x="72070" y="133297"/>
                      </a:cubicBezTo>
                      <a:lnTo>
                        <a:pt x="120440" y="161262"/>
                      </a:lnTo>
                      <a:cubicBezTo>
                        <a:pt x="126175" y="164578"/>
                        <a:pt x="130325" y="169854"/>
                        <a:pt x="132061" y="176261"/>
                      </a:cubicBezTo>
                      <a:cubicBezTo>
                        <a:pt x="133721" y="182668"/>
                        <a:pt x="132891" y="189301"/>
                        <a:pt x="129571" y="195030"/>
                      </a:cubicBezTo>
                      <a:cubicBezTo>
                        <a:pt x="125118" y="202642"/>
                        <a:pt x="116893" y="207391"/>
                        <a:pt x="108064" y="207391"/>
                      </a:cubicBezTo>
                      <a:cubicBezTo>
                        <a:pt x="103763" y="207391"/>
                        <a:pt x="99462" y="206260"/>
                        <a:pt x="95689" y="204075"/>
                      </a:cubicBezTo>
                      <a:lnTo>
                        <a:pt x="47319" y="176186"/>
                      </a:lnTo>
                      <a:cubicBezTo>
                        <a:pt x="35547" y="169327"/>
                        <a:pt x="31472" y="154176"/>
                        <a:pt x="38263" y="142418"/>
                      </a:cubicBezTo>
                      <a:cubicBezTo>
                        <a:pt x="42640" y="134730"/>
                        <a:pt x="50865" y="129981"/>
                        <a:pt x="59770" y="129981"/>
                      </a:cubicBezTo>
                      <a:close/>
                      <a:moveTo>
                        <a:pt x="285293" y="111493"/>
                      </a:moveTo>
                      <a:cubicBezTo>
                        <a:pt x="381069" y="111493"/>
                        <a:pt x="458957" y="189258"/>
                        <a:pt x="458957" y="284882"/>
                      </a:cubicBezTo>
                      <a:cubicBezTo>
                        <a:pt x="458957" y="349233"/>
                        <a:pt x="423409" y="407406"/>
                        <a:pt x="365899" y="437623"/>
                      </a:cubicBezTo>
                      <a:lnTo>
                        <a:pt x="365899" y="526390"/>
                      </a:lnTo>
                      <a:cubicBezTo>
                        <a:pt x="365899" y="548242"/>
                        <a:pt x="349521" y="566478"/>
                        <a:pt x="328313" y="569266"/>
                      </a:cubicBezTo>
                      <a:cubicBezTo>
                        <a:pt x="325445" y="590440"/>
                        <a:pt x="307256" y="606792"/>
                        <a:pt x="285293" y="606792"/>
                      </a:cubicBezTo>
                      <a:cubicBezTo>
                        <a:pt x="263331" y="606792"/>
                        <a:pt x="245142" y="590440"/>
                        <a:pt x="242349" y="569266"/>
                      </a:cubicBezTo>
                      <a:cubicBezTo>
                        <a:pt x="221141" y="566478"/>
                        <a:pt x="204688" y="548242"/>
                        <a:pt x="204688" y="526314"/>
                      </a:cubicBezTo>
                      <a:lnTo>
                        <a:pt x="204688" y="437623"/>
                      </a:lnTo>
                      <a:cubicBezTo>
                        <a:pt x="147253" y="407406"/>
                        <a:pt x="111705" y="349233"/>
                        <a:pt x="111705" y="284882"/>
                      </a:cubicBezTo>
                      <a:cubicBezTo>
                        <a:pt x="111705" y="189258"/>
                        <a:pt x="189593" y="111493"/>
                        <a:pt x="285293" y="111493"/>
                      </a:cubicBezTo>
                      <a:close/>
                      <a:moveTo>
                        <a:pt x="415515" y="34859"/>
                      </a:moveTo>
                      <a:cubicBezTo>
                        <a:pt x="419817" y="34859"/>
                        <a:pt x="424119" y="35989"/>
                        <a:pt x="427892" y="38099"/>
                      </a:cubicBezTo>
                      <a:cubicBezTo>
                        <a:pt x="433628" y="41415"/>
                        <a:pt x="437703" y="46765"/>
                        <a:pt x="439439" y="53171"/>
                      </a:cubicBezTo>
                      <a:cubicBezTo>
                        <a:pt x="441175" y="59576"/>
                        <a:pt x="440269" y="66208"/>
                        <a:pt x="436949" y="71859"/>
                      </a:cubicBezTo>
                      <a:lnTo>
                        <a:pt x="409024" y="120163"/>
                      </a:lnTo>
                      <a:cubicBezTo>
                        <a:pt x="404647" y="127774"/>
                        <a:pt x="396421" y="132522"/>
                        <a:pt x="387590" y="132522"/>
                      </a:cubicBezTo>
                      <a:cubicBezTo>
                        <a:pt x="383213" y="132522"/>
                        <a:pt x="378987" y="131392"/>
                        <a:pt x="375213" y="129206"/>
                      </a:cubicBezTo>
                      <a:cubicBezTo>
                        <a:pt x="369477" y="125966"/>
                        <a:pt x="365402" y="120616"/>
                        <a:pt x="363666" y="114210"/>
                      </a:cubicBezTo>
                      <a:cubicBezTo>
                        <a:pt x="361930" y="107805"/>
                        <a:pt x="362836" y="101173"/>
                        <a:pt x="366157" y="95446"/>
                      </a:cubicBezTo>
                      <a:lnTo>
                        <a:pt x="394081" y="47142"/>
                      </a:lnTo>
                      <a:cubicBezTo>
                        <a:pt x="398458" y="39607"/>
                        <a:pt x="406685" y="34859"/>
                        <a:pt x="415515" y="34859"/>
                      </a:cubicBezTo>
                      <a:close/>
                      <a:moveTo>
                        <a:pt x="155005" y="34789"/>
                      </a:moveTo>
                      <a:cubicBezTo>
                        <a:pt x="163761" y="34789"/>
                        <a:pt x="171988" y="39537"/>
                        <a:pt x="176517" y="47148"/>
                      </a:cubicBezTo>
                      <a:lnTo>
                        <a:pt x="204369" y="95376"/>
                      </a:lnTo>
                      <a:cubicBezTo>
                        <a:pt x="207691" y="101103"/>
                        <a:pt x="208521" y="107735"/>
                        <a:pt x="206860" y="114140"/>
                      </a:cubicBezTo>
                      <a:cubicBezTo>
                        <a:pt x="205124" y="120546"/>
                        <a:pt x="201048" y="125821"/>
                        <a:pt x="195236" y="129136"/>
                      </a:cubicBezTo>
                      <a:cubicBezTo>
                        <a:pt x="191538" y="131322"/>
                        <a:pt x="187235" y="132452"/>
                        <a:pt x="182933" y="132452"/>
                      </a:cubicBezTo>
                      <a:cubicBezTo>
                        <a:pt x="174102" y="132452"/>
                        <a:pt x="165874" y="127704"/>
                        <a:pt x="161421" y="120093"/>
                      </a:cubicBezTo>
                      <a:lnTo>
                        <a:pt x="133568" y="71865"/>
                      </a:lnTo>
                      <a:cubicBezTo>
                        <a:pt x="130247" y="66213"/>
                        <a:pt x="129417" y="59506"/>
                        <a:pt x="131077" y="53176"/>
                      </a:cubicBezTo>
                      <a:cubicBezTo>
                        <a:pt x="132814" y="46771"/>
                        <a:pt x="136889" y="41420"/>
                        <a:pt x="142626" y="38180"/>
                      </a:cubicBezTo>
                      <a:cubicBezTo>
                        <a:pt x="146400" y="35995"/>
                        <a:pt x="150627" y="34789"/>
                        <a:pt x="155005" y="34789"/>
                      </a:cubicBezTo>
                      <a:close/>
                      <a:moveTo>
                        <a:pt x="285297" y="0"/>
                      </a:moveTo>
                      <a:cubicBezTo>
                        <a:pt x="298965" y="0"/>
                        <a:pt x="310065" y="11079"/>
                        <a:pt x="310065" y="24721"/>
                      </a:cubicBezTo>
                      <a:lnTo>
                        <a:pt x="310065" y="80492"/>
                      </a:lnTo>
                      <a:cubicBezTo>
                        <a:pt x="310065" y="94134"/>
                        <a:pt x="298965" y="105213"/>
                        <a:pt x="285297" y="105213"/>
                      </a:cubicBezTo>
                      <a:cubicBezTo>
                        <a:pt x="271629" y="105213"/>
                        <a:pt x="260528" y="94134"/>
                        <a:pt x="260528" y="80492"/>
                      </a:cubicBezTo>
                      <a:lnTo>
                        <a:pt x="260528" y="24721"/>
                      </a:lnTo>
                      <a:cubicBezTo>
                        <a:pt x="260528" y="11079"/>
                        <a:pt x="271629" y="0"/>
                        <a:pt x="285297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" name="Icon4"/>
                <p:cNvSpPr/>
                <p:nvPr/>
              </p:nvSpPr>
              <p:spPr bwMode="auto">
                <a:xfrm>
                  <a:off x="9614731" y="2835548"/>
                  <a:ext cx="396663" cy="376984"/>
                </a:xfrm>
                <a:custGeom>
                  <a:avLst/>
                  <a:gdLst>
                    <a:gd name="T0" fmla="*/ 5423 w 6499"/>
                    <a:gd name="T1" fmla="*/ 940 h 5766"/>
                    <a:gd name="T2" fmla="*/ 6499 w 6499"/>
                    <a:gd name="T3" fmla="*/ 7 h 5766"/>
                    <a:gd name="T4" fmla="*/ 4987 w 6499"/>
                    <a:gd name="T5" fmla="*/ 792 h 5766"/>
                    <a:gd name="T6" fmla="*/ 3216 w 6499"/>
                    <a:gd name="T7" fmla="*/ 716 h 5766"/>
                    <a:gd name="T8" fmla="*/ 1453 w 6499"/>
                    <a:gd name="T9" fmla="*/ 667 h 5766"/>
                    <a:gd name="T10" fmla="*/ 0 w 6499"/>
                    <a:gd name="T11" fmla="*/ 2664 h 5766"/>
                    <a:gd name="T12" fmla="*/ 661 w 6499"/>
                    <a:gd name="T13" fmla="*/ 3284 h 5766"/>
                    <a:gd name="T14" fmla="*/ 448 w 6499"/>
                    <a:gd name="T15" fmla="*/ 4071 h 5766"/>
                    <a:gd name="T16" fmla="*/ 844 w 6499"/>
                    <a:gd name="T17" fmla="*/ 4279 h 5766"/>
                    <a:gd name="T18" fmla="*/ 1080 w 6499"/>
                    <a:gd name="T19" fmla="*/ 4576 h 5766"/>
                    <a:gd name="T20" fmla="*/ 1583 w 6499"/>
                    <a:gd name="T21" fmla="*/ 4775 h 5766"/>
                    <a:gd name="T22" fmla="*/ 2017 w 6499"/>
                    <a:gd name="T23" fmla="*/ 5327 h 5766"/>
                    <a:gd name="T24" fmla="*/ 2405 w 6499"/>
                    <a:gd name="T25" fmla="*/ 5234 h 5766"/>
                    <a:gd name="T26" fmla="*/ 2535 w 6499"/>
                    <a:gd name="T27" fmla="*/ 5395 h 5766"/>
                    <a:gd name="T28" fmla="*/ 2876 w 6499"/>
                    <a:gd name="T29" fmla="*/ 5576 h 5766"/>
                    <a:gd name="T30" fmla="*/ 3165 w 6499"/>
                    <a:gd name="T31" fmla="*/ 5494 h 5766"/>
                    <a:gd name="T32" fmla="*/ 3701 w 6499"/>
                    <a:gd name="T33" fmla="*/ 5660 h 5766"/>
                    <a:gd name="T34" fmla="*/ 3832 w 6499"/>
                    <a:gd name="T35" fmla="*/ 5267 h 5766"/>
                    <a:gd name="T36" fmla="*/ 4495 w 6499"/>
                    <a:gd name="T37" fmla="*/ 4970 h 5766"/>
                    <a:gd name="T38" fmla="*/ 4988 w 6499"/>
                    <a:gd name="T39" fmla="*/ 5020 h 5766"/>
                    <a:gd name="T40" fmla="*/ 5597 w 6499"/>
                    <a:gd name="T41" fmla="*/ 4588 h 5766"/>
                    <a:gd name="T42" fmla="*/ 5503 w 6499"/>
                    <a:gd name="T43" fmla="*/ 3760 h 5766"/>
                    <a:gd name="T44" fmla="*/ 6296 w 6499"/>
                    <a:gd name="T45" fmla="*/ 2963 h 5766"/>
                    <a:gd name="T46" fmla="*/ 6499 w 6499"/>
                    <a:gd name="T47" fmla="*/ 2528 h 5766"/>
                    <a:gd name="T48" fmla="*/ 5795 w 6499"/>
                    <a:gd name="T49" fmla="*/ 3035 h 5766"/>
                    <a:gd name="T50" fmla="*/ 4857 w 6499"/>
                    <a:gd name="T51" fmla="*/ 3514 h 5766"/>
                    <a:gd name="T52" fmla="*/ 4769 w 6499"/>
                    <a:gd name="T53" fmla="*/ 4088 h 5766"/>
                    <a:gd name="T54" fmla="*/ 4331 w 6499"/>
                    <a:gd name="T55" fmla="*/ 4082 h 5766"/>
                    <a:gd name="T56" fmla="*/ 4173 w 6499"/>
                    <a:gd name="T57" fmla="*/ 4456 h 5766"/>
                    <a:gd name="T58" fmla="*/ 3747 w 6499"/>
                    <a:gd name="T59" fmla="*/ 4507 h 5766"/>
                    <a:gd name="T60" fmla="*/ 3473 w 6499"/>
                    <a:gd name="T61" fmla="*/ 4915 h 5766"/>
                    <a:gd name="T62" fmla="*/ 3065 w 6499"/>
                    <a:gd name="T63" fmla="*/ 5251 h 5766"/>
                    <a:gd name="T64" fmla="*/ 2867 w 6499"/>
                    <a:gd name="T65" fmla="*/ 5322 h 5766"/>
                    <a:gd name="T66" fmla="*/ 2707 w 6499"/>
                    <a:gd name="T67" fmla="*/ 5102 h 5766"/>
                    <a:gd name="T68" fmla="*/ 3423 w 6499"/>
                    <a:gd name="T69" fmla="*/ 4496 h 5766"/>
                    <a:gd name="T70" fmla="*/ 3345 w 6499"/>
                    <a:gd name="T71" fmla="*/ 4266 h 5766"/>
                    <a:gd name="T72" fmla="*/ 2255 w 6499"/>
                    <a:gd name="T73" fmla="*/ 5022 h 5766"/>
                    <a:gd name="T74" fmla="*/ 1884 w 6499"/>
                    <a:gd name="T75" fmla="*/ 4962 h 5766"/>
                    <a:gd name="T76" fmla="*/ 3155 w 6499"/>
                    <a:gd name="T77" fmla="*/ 3735 h 5766"/>
                    <a:gd name="T78" fmla="*/ 3075 w 6499"/>
                    <a:gd name="T79" fmla="*/ 3503 h 5766"/>
                    <a:gd name="T80" fmla="*/ 1791 w 6499"/>
                    <a:gd name="T81" fmla="*/ 4404 h 5766"/>
                    <a:gd name="T82" fmla="*/ 1285 w 6499"/>
                    <a:gd name="T83" fmla="*/ 4435 h 5766"/>
                    <a:gd name="T84" fmla="*/ 1439 w 6499"/>
                    <a:gd name="T85" fmla="*/ 4004 h 5766"/>
                    <a:gd name="T86" fmla="*/ 2809 w 6499"/>
                    <a:gd name="T87" fmla="*/ 3011 h 5766"/>
                    <a:gd name="T88" fmla="*/ 2612 w 6499"/>
                    <a:gd name="T89" fmla="*/ 2895 h 5766"/>
                    <a:gd name="T90" fmla="*/ 1167 w 6499"/>
                    <a:gd name="T91" fmla="*/ 3884 h 5766"/>
                    <a:gd name="T92" fmla="*/ 668 w 6499"/>
                    <a:gd name="T93" fmla="*/ 3923 h 5766"/>
                    <a:gd name="T94" fmla="*/ 3388 w 6499"/>
                    <a:gd name="T95" fmla="*/ 1602 h 5766"/>
                    <a:gd name="T96" fmla="*/ 4543 w 6499"/>
                    <a:gd name="T97" fmla="*/ 2706 h 5766"/>
                    <a:gd name="T98" fmla="*/ 4492 w 6499"/>
                    <a:gd name="T99" fmla="*/ 1496 h 5766"/>
                    <a:gd name="T100" fmla="*/ 4777 w 6499"/>
                    <a:gd name="T101" fmla="*/ 1048 h 57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</a:cxnLst>
                  <a:rect l="0" t="0" r="r" b="b"/>
                  <a:pathLst>
                    <a:path w="6499" h="5766">
                      <a:moveTo>
                        <a:pt x="5048" y="1043"/>
                      </a:moveTo>
                      <a:cubicBezTo>
                        <a:pt x="5180" y="1043"/>
                        <a:pt x="5309" y="1008"/>
                        <a:pt x="5423" y="940"/>
                      </a:cubicBezTo>
                      <a:lnTo>
                        <a:pt x="6499" y="304"/>
                      </a:lnTo>
                      <a:lnTo>
                        <a:pt x="6499" y="7"/>
                      </a:lnTo>
                      <a:lnTo>
                        <a:pt x="5288" y="712"/>
                      </a:lnTo>
                      <a:cubicBezTo>
                        <a:pt x="5196" y="766"/>
                        <a:pt x="5092" y="794"/>
                        <a:pt x="4987" y="792"/>
                      </a:cubicBezTo>
                      <a:lnTo>
                        <a:pt x="3384" y="774"/>
                      </a:lnTo>
                      <a:cubicBezTo>
                        <a:pt x="3304" y="744"/>
                        <a:pt x="3240" y="726"/>
                        <a:pt x="3216" y="716"/>
                      </a:cubicBezTo>
                      <a:cubicBezTo>
                        <a:pt x="2715" y="604"/>
                        <a:pt x="2323" y="648"/>
                        <a:pt x="2056" y="720"/>
                      </a:cubicBezTo>
                      <a:cubicBezTo>
                        <a:pt x="1856" y="774"/>
                        <a:pt x="1643" y="754"/>
                        <a:pt x="1453" y="667"/>
                      </a:cubicBezTo>
                      <a:lnTo>
                        <a:pt x="0" y="0"/>
                      </a:lnTo>
                      <a:lnTo>
                        <a:pt x="0" y="2664"/>
                      </a:lnTo>
                      <a:lnTo>
                        <a:pt x="151" y="2747"/>
                      </a:lnTo>
                      <a:cubicBezTo>
                        <a:pt x="373" y="2868"/>
                        <a:pt x="551" y="3056"/>
                        <a:pt x="661" y="3284"/>
                      </a:cubicBezTo>
                      <a:lnTo>
                        <a:pt x="576" y="3354"/>
                      </a:lnTo>
                      <a:cubicBezTo>
                        <a:pt x="347" y="3520"/>
                        <a:pt x="297" y="3843"/>
                        <a:pt x="448" y="4071"/>
                      </a:cubicBezTo>
                      <a:cubicBezTo>
                        <a:pt x="532" y="4182"/>
                        <a:pt x="651" y="4252"/>
                        <a:pt x="787" y="4276"/>
                      </a:cubicBezTo>
                      <a:cubicBezTo>
                        <a:pt x="803" y="4278"/>
                        <a:pt x="827" y="4279"/>
                        <a:pt x="844" y="4279"/>
                      </a:cubicBezTo>
                      <a:cubicBezTo>
                        <a:pt x="893" y="4282"/>
                        <a:pt x="941" y="4276"/>
                        <a:pt x="983" y="4270"/>
                      </a:cubicBezTo>
                      <a:cubicBezTo>
                        <a:pt x="985" y="4384"/>
                        <a:pt x="1012" y="4483"/>
                        <a:pt x="1080" y="4576"/>
                      </a:cubicBezTo>
                      <a:cubicBezTo>
                        <a:pt x="1171" y="4703"/>
                        <a:pt x="1315" y="4760"/>
                        <a:pt x="1469" y="4768"/>
                      </a:cubicBezTo>
                      <a:cubicBezTo>
                        <a:pt x="1509" y="4771"/>
                        <a:pt x="1551" y="4772"/>
                        <a:pt x="1583" y="4775"/>
                      </a:cubicBezTo>
                      <a:cubicBezTo>
                        <a:pt x="1568" y="4896"/>
                        <a:pt x="1603" y="5020"/>
                        <a:pt x="1679" y="5122"/>
                      </a:cubicBezTo>
                      <a:cubicBezTo>
                        <a:pt x="1763" y="5232"/>
                        <a:pt x="1881" y="5303"/>
                        <a:pt x="2017" y="5327"/>
                      </a:cubicBezTo>
                      <a:cubicBezTo>
                        <a:pt x="2033" y="5328"/>
                        <a:pt x="2057" y="5330"/>
                        <a:pt x="2075" y="5330"/>
                      </a:cubicBezTo>
                      <a:cubicBezTo>
                        <a:pt x="2196" y="5336"/>
                        <a:pt x="2312" y="5302"/>
                        <a:pt x="2405" y="5234"/>
                      </a:cubicBezTo>
                      <a:lnTo>
                        <a:pt x="2456" y="5195"/>
                      </a:lnTo>
                      <a:cubicBezTo>
                        <a:pt x="2468" y="5268"/>
                        <a:pt x="2489" y="5335"/>
                        <a:pt x="2535" y="5395"/>
                      </a:cubicBezTo>
                      <a:cubicBezTo>
                        <a:pt x="2603" y="5488"/>
                        <a:pt x="2705" y="5551"/>
                        <a:pt x="2827" y="5574"/>
                      </a:cubicBezTo>
                      <a:cubicBezTo>
                        <a:pt x="2843" y="5575"/>
                        <a:pt x="2859" y="5575"/>
                        <a:pt x="2876" y="5576"/>
                      </a:cubicBezTo>
                      <a:cubicBezTo>
                        <a:pt x="2973" y="5582"/>
                        <a:pt x="3072" y="5554"/>
                        <a:pt x="3157" y="5494"/>
                      </a:cubicBezTo>
                      <a:lnTo>
                        <a:pt x="3165" y="5494"/>
                      </a:lnTo>
                      <a:lnTo>
                        <a:pt x="3225" y="5578"/>
                      </a:lnTo>
                      <a:cubicBezTo>
                        <a:pt x="3331" y="5730"/>
                        <a:pt x="3549" y="5766"/>
                        <a:pt x="3701" y="5660"/>
                      </a:cubicBezTo>
                      <a:cubicBezTo>
                        <a:pt x="3828" y="5570"/>
                        <a:pt x="3879" y="5392"/>
                        <a:pt x="3821" y="5251"/>
                      </a:cubicBezTo>
                      <a:lnTo>
                        <a:pt x="3832" y="5267"/>
                      </a:lnTo>
                      <a:cubicBezTo>
                        <a:pt x="3932" y="5415"/>
                        <a:pt x="4121" y="5479"/>
                        <a:pt x="4287" y="5411"/>
                      </a:cubicBezTo>
                      <a:cubicBezTo>
                        <a:pt x="4469" y="5336"/>
                        <a:pt x="4543" y="5139"/>
                        <a:pt x="4495" y="4970"/>
                      </a:cubicBezTo>
                      <a:cubicBezTo>
                        <a:pt x="4617" y="5107"/>
                        <a:pt x="4828" y="5134"/>
                        <a:pt x="4980" y="5028"/>
                      </a:cubicBezTo>
                      <a:lnTo>
                        <a:pt x="4988" y="5020"/>
                      </a:lnTo>
                      <a:cubicBezTo>
                        <a:pt x="5140" y="4915"/>
                        <a:pt x="5184" y="4714"/>
                        <a:pt x="5103" y="4554"/>
                      </a:cubicBezTo>
                      <a:cubicBezTo>
                        <a:pt x="5235" y="4675"/>
                        <a:pt x="5445" y="4694"/>
                        <a:pt x="5597" y="4588"/>
                      </a:cubicBezTo>
                      <a:cubicBezTo>
                        <a:pt x="5775" y="4459"/>
                        <a:pt x="5821" y="4210"/>
                        <a:pt x="5692" y="4031"/>
                      </a:cubicBezTo>
                      <a:lnTo>
                        <a:pt x="5503" y="3760"/>
                      </a:lnTo>
                      <a:lnTo>
                        <a:pt x="5915" y="3280"/>
                      </a:lnTo>
                      <a:cubicBezTo>
                        <a:pt x="6023" y="3154"/>
                        <a:pt x="6152" y="3047"/>
                        <a:pt x="6296" y="2963"/>
                      </a:cubicBezTo>
                      <a:lnTo>
                        <a:pt x="6499" y="2846"/>
                      </a:lnTo>
                      <a:lnTo>
                        <a:pt x="6499" y="2528"/>
                      </a:lnTo>
                      <a:lnTo>
                        <a:pt x="6219" y="2687"/>
                      </a:lnTo>
                      <a:cubicBezTo>
                        <a:pt x="6059" y="2778"/>
                        <a:pt x="5915" y="2895"/>
                        <a:pt x="5795" y="3035"/>
                      </a:cubicBezTo>
                      <a:lnTo>
                        <a:pt x="5352" y="3548"/>
                      </a:lnTo>
                      <a:cubicBezTo>
                        <a:pt x="5220" y="3427"/>
                        <a:pt x="5009" y="3408"/>
                        <a:pt x="4857" y="3514"/>
                      </a:cubicBezTo>
                      <a:cubicBezTo>
                        <a:pt x="4680" y="3643"/>
                        <a:pt x="4633" y="3892"/>
                        <a:pt x="4763" y="4071"/>
                      </a:cubicBezTo>
                      <a:lnTo>
                        <a:pt x="4769" y="4088"/>
                      </a:lnTo>
                      <a:lnTo>
                        <a:pt x="4761" y="4088"/>
                      </a:lnTo>
                      <a:cubicBezTo>
                        <a:pt x="4636" y="4000"/>
                        <a:pt x="4465" y="3991"/>
                        <a:pt x="4331" y="4082"/>
                      </a:cubicBezTo>
                      <a:lnTo>
                        <a:pt x="4323" y="4090"/>
                      </a:lnTo>
                      <a:cubicBezTo>
                        <a:pt x="4204" y="4172"/>
                        <a:pt x="4148" y="4316"/>
                        <a:pt x="4173" y="4456"/>
                      </a:cubicBezTo>
                      <a:lnTo>
                        <a:pt x="4131" y="4487"/>
                      </a:lnTo>
                      <a:cubicBezTo>
                        <a:pt x="4012" y="4424"/>
                        <a:pt x="3865" y="4424"/>
                        <a:pt x="3747" y="4507"/>
                      </a:cubicBezTo>
                      <a:cubicBezTo>
                        <a:pt x="3637" y="4583"/>
                        <a:pt x="3581" y="4718"/>
                        <a:pt x="3591" y="4840"/>
                      </a:cubicBezTo>
                      <a:lnTo>
                        <a:pt x="3473" y="4915"/>
                      </a:lnTo>
                      <a:cubicBezTo>
                        <a:pt x="3385" y="4894"/>
                        <a:pt x="3287" y="4914"/>
                        <a:pt x="3211" y="4966"/>
                      </a:cubicBezTo>
                      <a:cubicBezTo>
                        <a:pt x="3117" y="5034"/>
                        <a:pt x="3063" y="5146"/>
                        <a:pt x="3065" y="5251"/>
                      </a:cubicBezTo>
                      <a:lnTo>
                        <a:pt x="3007" y="5288"/>
                      </a:lnTo>
                      <a:cubicBezTo>
                        <a:pt x="2972" y="5319"/>
                        <a:pt x="2915" y="5332"/>
                        <a:pt x="2867" y="5322"/>
                      </a:cubicBezTo>
                      <a:cubicBezTo>
                        <a:pt x="2819" y="5311"/>
                        <a:pt x="2771" y="5284"/>
                        <a:pt x="2740" y="5242"/>
                      </a:cubicBezTo>
                      <a:cubicBezTo>
                        <a:pt x="2709" y="5207"/>
                        <a:pt x="2696" y="5150"/>
                        <a:pt x="2707" y="5102"/>
                      </a:cubicBezTo>
                      <a:cubicBezTo>
                        <a:pt x="2717" y="5054"/>
                        <a:pt x="2744" y="5006"/>
                        <a:pt x="2787" y="4975"/>
                      </a:cubicBezTo>
                      <a:lnTo>
                        <a:pt x="3423" y="4496"/>
                      </a:lnTo>
                      <a:cubicBezTo>
                        <a:pt x="3456" y="4474"/>
                        <a:pt x="3475" y="4442"/>
                        <a:pt x="3476" y="4402"/>
                      </a:cubicBezTo>
                      <a:cubicBezTo>
                        <a:pt x="3480" y="4328"/>
                        <a:pt x="3417" y="4266"/>
                        <a:pt x="3345" y="4266"/>
                      </a:cubicBezTo>
                      <a:cubicBezTo>
                        <a:pt x="3317" y="4266"/>
                        <a:pt x="3295" y="4272"/>
                        <a:pt x="3271" y="4286"/>
                      </a:cubicBezTo>
                      <a:lnTo>
                        <a:pt x="2255" y="5022"/>
                      </a:lnTo>
                      <a:cubicBezTo>
                        <a:pt x="2196" y="5059"/>
                        <a:pt x="2129" y="5080"/>
                        <a:pt x="2057" y="5068"/>
                      </a:cubicBezTo>
                      <a:cubicBezTo>
                        <a:pt x="1985" y="5056"/>
                        <a:pt x="1921" y="5020"/>
                        <a:pt x="1884" y="4962"/>
                      </a:cubicBezTo>
                      <a:cubicBezTo>
                        <a:pt x="1800" y="4851"/>
                        <a:pt x="1825" y="4682"/>
                        <a:pt x="1944" y="4599"/>
                      </a:cubicBezTo>
                      <a:lnTo>
                        <a:pt x="3155" y="3735"/>
                      </a:lnTo>
                      <a:cubicBezTo>
                        <a:pt x="3181" y="3711"/>
                        <a:pt x="3200" y="3678"/>
                        <a:pt x="3200" y="3634"/>
                      </a:cubicBezTo>
                      <a:cubicBezTo>
                        <a:pt x="3201" y="3564"/>
                        <a:pt x="3144" y="3506"/>
                        <a:pt x="3075" y="3503"/>
                      </a:cubicBezTo>
                      <a:cubicBezTo>
                        <a:pt x="3035" y="3502"/>
                        <a:pt x="3003" y="3516"/>
                        <a:pt x="2976" y="3547"/>
                      </a:cubicBezTo>
                      <a:lnTo>
                        <a:pt x="1791" y="4404"/>
                      </a:lnTo>
                      <a:cubicBezTo>
                        <a:pt x="1757" y="4419"/>
                        <a:pt x="1740" y="4443"/>
                        <a:pt x="1715" y="4466"/>
                      </a:cubicBezTo>
                      <a:cubicBezTo>
                        <a:pt x="1572" y="4556"/>
                        <a:pt x="1361" y="4536"/>
                        <a:pt x="1285" y="4435"/>
                      </a:cubicBezTo>
                      <a:cubicBezTo>
                        <a:pt x="1209" y="4326"/>
                        <a:pt x="1225" y="4179"/>
                        <a:pt x="1320" y="4087"/>
                      </a:cubicBezTo>
                      <a:lnTo>
                        <a:pt x="1439" y="4004"/>
                      </a:lnTo>
                      <a:lnTo>
                        <a:pt x="2756" y="3106"/>
                      </a:lnTo>
                      <a:cubicBezTo>
                        <a:pt x="2789" y="3083"/>
                        <a:pt x="2808" y="3051"/>
                        <a:pt x="2809" y="3011"/>
                      </a:cubicBezTo>
                      <a:cubicBezTo>
                        <a:pt x="2812" y="2967"/>
                        <a:pt x="2791" y="2926"/>
                        <a:pt x="2755" y="2900"/>
                      </a:cubicBezTo>
                      <a:cubicBezTo>
                        <a:pt x="2708" y="2867"/>
                        <a:pt x="2661" y="2866"/>
                        <a:pt x="2612" y="2895"/>
                      </a:cubicBezTo>
                      <a:lnTo>
                        <a:pt x="1201" y="3854"/>
                      </a:lnTo>
                      <a:cubicBezTo>
                        <a:pt x="1192" y="3870"/>
                        <a:pt x="1176" y="3876"/>
                        <a:pt x="1167" y="3884"/>
                      </a:cubicBezTo>
                      <a:lnTo>
                        <a:pt x="1031" y="3983"/>
                      </a:lnTo>
                      <a:cubicBezTo>
                        <a:pt x="920" y="4067"/>
                        <a:pt x="751" y="4042"/>
                        <a:pt x="668" y="3923"/>
                      </a:cubicBezTo>
                      <a:cubicBezTo>
                        <a:pt x="584" y="3812"/>
                        <a:pt x="609" y="3643"/>
                        <a:pt x="728" y="3560"/>
                      </a:cubicBezTo>
                      <a:lnTo>
                        <a:pt x="3388" y="1602"/>
                      </a:lnTo>
                      <a:cubicBezTo>
                        <a:pt x="3601" y="1727"/>
                        <a:pt x="3759" y="1979"/>
                        <a:pt x="3759" y="1979"/>
                      </a:cubicBezTo>
                      <a:cubicBezTo>
                        <a:pt x="4020" y="2798"/>
                        <a:pt x="4345" y="2804"/>
                        <a:pt x="4543" y="2706"/>
                      </a:cubicBezTo>
                      <a:cubicBezTo>
                        <a:pt x="4645" y="2655"/>
                        <a:pt x="4692" y="2534"/>
                        <a:pt x="4656" y="2424"/>
                      </a:cubicBezTo>
                      <a:cubicBezTo>
                        <a:pt x="4552" y="2108"/>
                        <a:pt x="4492" y="1496"/>
                        <a:pt x="4492" y="1496"/>
                      </a:cubicBezTo>
                      <a:cubicBezTo>
                        <a:pt x="4419" y="1338"/>
                        <a:pt x="4184" y="1171"/>
                        <a:pt x="3923" y="1035"/>
                      </a:cubicBezTo>
                      <a:lnTo>
                        <a:pt x="4777" y="1048"/>
                      </a:lnTo>
                      <a:lnTo>
                        <a:pt x="5048" y="104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wrap="square" lIns="91440" tIns="45720" rIns="91440" bIns="4572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/>
                </a:p>
              </p:txBody>
            </p:sp>
            <p:sp>
              <p:nvSpPr>
                <p:cNvPr id="8" name="smartphone_266132"/>
                <p:cNvSpPr/>
                <p:nvPr/>
              </p:nvSpPr>
              <p:spPr>
                <a:xfrm>
                  <a:off x="7863094" y="4266452"/>
                  <a:ext cx="258766" cy="405477"/>
                </a:xfrm>
                <a:custGeom>
                  <a:avLst/>
                  <a:gdLst>
                    <a:gd name="connsiteX0" fmla="*/ 134215 w 381547"/>
                    <a:gd name="connsiteY0" fmla="*/ 493888 h 606722"/>
                    <a:gd name="connsiteX1" fmla="*/ 247261 w 381547"/>
                    <a:gd name="connsiteY1" fmla="*/ 493888 h 606722"/>
                    <a:gd name="connsiteX2" fmla="*/ 247261 w 381547"/>
                    <a:gd name="connsiteY2" fmla="*/ 536157 h 606722"/>
                    <a:gd name="connsiteX3" fmla="*/ 134215 w 381547"/>
                    <a:gd name="connsiteY3" fmla="*/ 536157 h 606722"/>
                    <a:gd name="connsiteX4" fmla="*/ 42364 w 381547"/>
                    <a:gd name="connsiteY4" fmla="*/ 465595 h 606722"/>
                    <a:gd name="connsiteX5" fmla="*/ 42364 w 381547"/>
                    <a:gd name="connsiteY5" fmla="*/ 564331 h 606722"/>
                    <a:gd name="connsiteX6" fmla="*/ 339094 w 381547"/>
                    <a:gd name="connsiteY6" fmla="*/ 564331 h 606722"/>
                    <a:gd name="connsiteX7" fmla="*/ 339094 w 381547"/>
                    <a:gd name="connsiteY7" fmla="*/ 465595 h 606722"/>
                    <a:gd name="connsiteX8" fmla="*/ 42364 w 381547"/>
                    <a:gd name="connsiteY8" fmla="*/ 126997 h 606722"/>
                    <a:gd name="connsiteX9" fmla="*/ 42364 w 381547"/>
                    <a:gd name="connsiteY9" fmla="*/ 423292 h 606722"/>
                    <a:gd name="connsiteX10" fmla="*/ 339094 w 381547"/>
                    <a:gd name="connsiteY10" fmla="*/ 423292 h 606722"/>
                    <a:gd name="connsiteX11" fmla="*/ 339094 w 381547"/>
                    <a:gd name="connsiteY11" fmla="*/ 126997 h 606722"/>
                    <a:gd name="connsiteX12" fmla="*/ 42364 w 381547"/>
                    <a:gd name="connsiteY12" fmla="*/ 42303 h 606722"/>
                    <a:gd name="connsiteX13" fmla="*/ 42364 w 381547"/>
                    <a:gd name="connsiteY13" fmla="*/ 84694 h 606722"/>
                    <a:gd name="connsiteX14" fmla="*/ 339094 w 381547"/>
                    <a:gd name="connsiteY14" fmla="*/ 84694 h 606722"/>
                    <a:gd name="connsiteX15" fmla="*/ 339094 w 381547"/>
                    <a:gd name="connsiteY15" fmla="*/ 42303 h 606722"/>
                    <a:gd name="connsiteX16" fmla="*/ 0 w 381547"/>
                    <a:gd name="connsiteY16" fmla="*/ 0 h 606722"/>
                    <a:gd name="connsiteX17" fmla="*/ 381547 w 381547"/>
                    <a:gd name="connsiteY17" fmla="*/ 0 h 606722"/>
                    <a:gd name="connsiteX18" fmla="*/ 381547 w 381547"/>
                    <a:gd name="connsiteY18" fmla="*/ 606722 h 606722"/>
                    <a:gd name="connsiteX19" fmla="*/ 0 w 381547"/>
                    <a:gd name="connsiteY19" fmla="*/ 606722 h 6067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381547" h="606722">
                      <a:moveTo>
                        <a:pt x="134215" y="493888"/>
                      </a:moveTo>
                      <a:lnTo>
                        <a:pt x="247261" y="493888"/>
                      </a:lnTo>
                      <a:lnTo>
                        <a:pt x="247261" y="536157"/>
                      </a:lnTo>
                      <a:lnTo>
                        <a:pt x="134215" y="536157"/>
                      </a:lnTo>
                      <a:close/>
                      <a:moveTo>
                        <a:pt x="42364" y="465595"/>
                      </a:moveTo>
                      <a:lnTo>
                        <a:pt x="42364" y="564331"/>
                      </a:lnTo>
                      <a:lnTo>
                        <a:pt x="339094" y="564331"/>
                      </a:lnTo>
                      <a:lnTo>
                        <a:pt x="339094" y="465595"/>
                      </a:lnTo>
                      <a:close/>
                      <a:moveTo>
                        <a:pt x="42364" y="126997"/>
                      </a:moveTo>
                      <a:lnTo>
                        <a:pt x="42364" y="423292"/>
                      </a:lnTo>
                      <a:lnTo>
                        <a:pt x="339094" y="423292"/>
                      </a:lnTo>
                      <a:lnTo>
                        <a:pt x="339094" y="126997"/>
                      </a:lnTo>
                      <a:close/>
                      <a:moveTo>
                        <a:pt x="42364" y="42303"/>
                      </a:moveTo>
                      <a:lnTo>
                        <a:pt x="42364" y="84694"/>
                      </a:lnTo>
                      <a:lnTo>
                        <a:pt x="339094" y="84694"/>
                      </a:lnTo>
                      <a:lnTo>
                        <a:pt x="339094" y="42303"/>
                      </a:lnTo>
                      <a:close/>
                      <a:moveTo>
                        <a:pt x="0" y="0"/>
                      </a:moveTo>
                      <a:lnTo>
                        <a:pt x="381547" y="0"/>
                      </a:lnTo>
                      <a:lnTo>
                        <a:pt x="381547" y="606722"/>
                      </a:lnTo>
                      <a:lnTo>
                        <a:pt x="0" y="606722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15" name="Bullet1"/>
              <p:cNvSpPr/>
              <p:nvPr/>
            </p:nvSpPr>
            <p:spPr>
              <a:xfrm>
                <a:off x="1612779" y="2757858"/>
                <a:ext cx="1120461" cy="32629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b" anchorCtr="1">
                <a:noAutofit/>
              </a:bodyPr>
              <a:lstStyle/>
              <a:p>
                <a:pPr lvl="0" algn="ctr"/>
                <a:r>
                  <a:rPr lang="en-US" altLang="zh-CN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Rufus collects</a:t>
                </a:r>
                <a:endParaRPr lang="zh-CN" altLang="en-US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7" name="Bullet1"/>
              <p:cNvSpPr/>
              <p:nvPr/>
            </p:nvSpPr>
            <p:spPr>
              <a:xfrm>
                <a:off x="3167176" y="2702438"/>
                <a:ext cx="1206951" cy="447934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b" anchorCtr="1">
                <a:noAutofit/>
              </a:bodyPr>
              <a:lstStyle/>
              <a:p>
                <a:pPr lvl="0" algn="ctr"/>
                <a:r>
                  <a:rPr lang="en-US" altLang="zh-CN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Deep insights</a:t>
                </a:r>
                <a:endParaRPr lang="zh-CN" altLang="en-US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35" name="Bullet1"/>
            <p:cNvSpPr/>
            <p:nvPr/>
          </p:nvSpPr>
          <p:spPr>
            <a:xfrm>
              <a:off x="5935039" y="2341034"/>
              <a:ext cx="1294864" cy="447934"/>
            </a:xfrm>
            <a:prstGeom prst="rect">
              <a:avLst/>
            </a:prstGeom>
            <a:noFill/>
          </p:spPr>
          <p:txBody>
            <a:bodyPr wrap="square" lIns="91440" tIns="45720" rIns="91440" bIns="45720" anchor="b" anchorCtr="1">
              <a:noAutofit/>
            </a:bodyPr>
            <a:lstStyle/>
            <a:p>
              <a:pPr lvl="0" algn="ctr"/>
              <a:r>
                <a:rPr lang="en-US" altLang="zh-CN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Responsive</a:t>
              </a:r>
              <a:endParaRPr lang="zh-CN" altLang="en-US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6" name="Bullet1"/>
            <p:cNvSpPr/>
            <p:nvPr/>
          </p:nvSpPr>
          <p:spPr>
            <a:xfrm>
              <a:off x="6914226" y="2798198"/>
              <a:ext cx="1294864" cy="447934"/>
            </a:xfrm>
            <a:prstGeom prst="rect">
              <a:avLst/>
            </a:prstGeom>
            <a:noFill/>
          </p:spPr>
          <p:txBody>
            <a:bodyPr wrap="square" lIns="91440" tIns="45720" rIns="91440" bIns="45720" anchor="b" anchorCtr="1">
              <a:noAutofit/>
            </a:bodyPr>
            <a:lstStyle/>
            <a:p>
              <a:pPr lvl="0" algn="ctr"/>
              <a:r>
                <a:rPr lang="en-US" altLang="zh-CN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Proactive</a:t>
              </a:r>
              <a:endParaRPr lang="zh-CN" altLang="en-US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19149" y="125977"/>
            <a:ext cx="62307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latin typeface="Times New Roman" panose="02020503050405090304" pitchFamily="18" charset="0"/>
                <a:ea typeface="Calibri" panose="020F0502020204030204" pitchFamily="34" charset="0"/>
                <a:cs typeface="Times New Roman" panose="02020503050405090304" pitchFamily="18" charset="0"/>
              </a:rPr>
              <a:t>D</a:t>
            </a:r>
            <a:r>
              <a:rPr lang="en-US" altLang="zh-CN" sz="3200" b="1" dirty="0">
                <a:effectLst/>
                <a:latin typeface="Times New Roman" panose="02020503050405090304" pitchFamily="18" charset="0"/>
                <a:ea typeface="Calibri" panose="020F0502020204030204" pitchFamily="34" charset="0"/>
                <a:cs typeface="Times New Roman" panose="02020503050405090304" pitchFamily="18" charset="0"/>
              </a:rPr>
              <a:t>ata-driven </a:t>
            </a:r>
            <a:r>
              <a:rPr lang="en-US" altLang="zh-CN" sz="3200" b="1" dirty="0">
                <a:latin typeface="Times New Roman" panose="02020503050405090304" pitchFamily="18" charset="0"/>
                <a:ea typeface="Calibri" panose="020F0502020204030204" pitchFamily="34" charset="0"/>
                <a:cs typeface="Times New Roman" panose="02020503050405090304" pitchFamily="18" charset="0"/>
              </a:rPr>
              <a:t>D</a:t>
            </a:r>
            <a:r>
              <a:rPr lang="en-US" altLang="zh-CN" sz="3200" b="1" dirty="0">
                <a:effectLst/>
                <a:latin typeface="Times New Roman" panose="02020503050405090304" pitchFamily="18" charset="0"/>
                <a:ea typeface="Calibri" panose="020F0502020204030204" pitchFamily="34" charset="0"/>
                <a:cs typeface="Times New Roman" panose="02020503050405090304" pitchFamily="18" charset="0"/>
              </a:rPr>
              <a:t>ecision-making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738685" y="1241148"/>
            <a:ext cx="11406727" cy="5410651"/>
            <a:chOff x="738685" y="1241148"/>
            <a:chExt cx="11406727" cy="5410651"/>
          </a:xfrm>
        </p:grpSpPr>
        <p:cxnSp>
          <p:nvCxnSpPr>
            <p:cNvPr id="17" name="ïSļïdè"/>
            <p:cNvCxnSpPr/>
            <p:nvPr/>
          </p:nvCxnSpPr>
          <p:spPr>
            <a:xfrm flipH="1">
              <a:off x="10659319" y="2117863"/>
              <a:ext cx="227564" cy="771082"/>
            </a:xfrm>
            <a:prstGeom prst="straightConnector1">
              <a:avLst/>
            </a:prstGeom>
            <a:ln w="12700">
              <a:solidFill>
                <a:srgbClr val="A50021">
                  <a:alpha val="50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组合 23"/>
            <p:cNvGrpSpPr/>
            <p:nvPr/>
          </p:nvGrpSpPr>
          <p:grpSpPr>
            <a:xfrm>
              <a:off x="738685" y="1241148"/>
              <a:ext cx="11406727" cy="5410651"/>
              <a:chOff x="738685" y="1241148"/>
              <a:chExt cx="11406727" cy="5410651"/>
            </a:xfrm>
          </p:grpSpPr>
          <p:sp>
            <p:nvSpPr>
              <p:cNvPr id="39" name="文本框 38"/>
              <p:cNvSpPr txBox="1"/>
              <p:nvPr/>
            </p:nvSpPr>
            <p:spPr>
              <a:xfrm>
                <a:off x="8604230" y="2900146"/>
                <a:ext cx="354118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Success in America</a:t>
                </a:r>
                <a:endParaRPr lang="zh-CN" altLang="en-US" sz="2800" b="1" dirty="0">
                  <a:latin typeface="Times New Roman" panose="02020503050405090304" pitchFamily="18" charset="0"/>
                  <a:cs typeface="Times New Roman" panose="02020503050405090304" pitchFamily="18" charset="0"/>
                </a:endParaRPr>
              </a:p>
            </p:txBody>
          </p:sp>
          <p:sp>
            <p:nvSpPr>
              <p:cNvPr id="40" name="文本框 39"/>
              <p:cNvSpPr txBox="1"/>
              <p:nvPr/>
            </p:nvSpPr>
            <p:spPr>
              <a:xfrm>
                <a:off x="7150123" y="5113237"/>
                <a:ext cx="3541182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4000" b="1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Success in worldwide</a:t>
                </a:r>
                <a:endParaRPr lang="zh-CN" altLang="en-US" sz="4000" b="1" dirty="0">
                  <a:latin typeface="Times New Roman" panose="02020503050405090304" pitchFamily="18" charset="0"/>
                  <a:cs typeface="Times New Roman" panose="02020503050405090304" pitchFamily="18" charset="0"/>
                </a:endParaRPr>
              </a:p>
            </p:txBody>
          </p:sp>
          <p:cxnSp>
            <p:nvCxnSpPr>
              <p:cNvPr id="41" name="ïSļïdè"/>
              <p:cNvCxnSpPr>
                <a:stCxn id="59" idx="0"/>
                <a:endCxn id="39" idx="0"/>
              </p:cNvCxnSpPr>
              <p:nvPr/>
            </p:nvCxnSpPr>
            <p:spPr>
              <a:xfrm>
                <a:off x="8149287" y="1927517"/>
                <a:ext cx="2225534" cy="972629"/>
              </a:xfrm>
              <a:prstGeom prst="straightConnector1">
                <a:avLst/>
              </a:prstGeom>
              <a:ln w="12700">
                <a:solidFill>
                  <a:srgbClr val="A50021">
                    <a:alpha val="50000"/>
                  </a:srgb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ïSļïdè"/>
              <p:cNvCxnSpPr>
                <a:stCxn id="39" idx="2"/>
                <a:endCxn id="40" idx="0"/>
              </p:cNvCxnSpPr>
              <p:nvPr/>
            </p:nvCxnSpPr>
            <p:spPr>
              <a:xfrm flipH="1">
                <a:off x="8920714" y="3423366"/>
                <a:ext cx="1454107" cy="1689871"/>
              </a:xfrm>
              <a:prstGeom prst="straightConnector1">
                <a:avLst/>
              </a:prstGeom>
              <a:ln w="12700">
                <a:solidFill>
                  <a:srgbClr val="A50021">
                    <a:alpha val="50000"/>
                  </a:srgb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8" name="文本框 57"/>
              <p:cNvSpPr txBox="1"/>
              <p:nvPr/>
            </p:nvSpPr>
            <p:spPr>
              <a:xfrm>
                <a:off x="10016897" y="4789751"/>
                <a:ext cx="1348815" cy="18620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1500" b="1" dirty="0">
                    <a:solidFill>
                      <a:srgbClr val="C00000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?</a:t>
                </a:r>
                <a:endParaRPr lang="zh-CN" altLang="en-US" sz="11500" b="1" dirty="0">
                  <a:solidFill>
                    <a:srgbClr val="C00000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endParaRPr>
              </a:p>
            </p:txBody>
          </p:sp>
          <p:sp>
            <p:nvSpPr>
              <p:cNvPr id="93" name="Bullet2"/>
              <p:cNvSpPr/>
              <p:nvPr/>
            </p:nvSpPr>
            <p:spPr>
              <a:xfrm>
                <a:off x="2991727" y="5901948"/>
                <a:ext cx="2836251" cy="366295"/>
              </a:xfrm>
              <a:prstGeom prst="rect">
                <a:avLst/>
              </a:prstGeom>
            </p:spPr>
            <p:txBody>
              <a:bodyPr wrap="square" lIns="91440" tIns="45720" rIns="91440" bIns="45720" anchor="b" anchorCtr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lvl="0" algn="ctr"/>
                <a:r>
                  <a:rPr lang="en-US" altLang="zh-CN" sz="2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Smaller customer base</a:t>
                </a:r>
                <a:endParaRPr lang="zh-CN" altLang="en-US" sz="2000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100" name="连接符: 肘形 99"/>
              <p:cNvCxnSpPr/>
              <p:nvPr/>
            </p:nvCxnSpPr>
            <p:spPr>
              <a:xfrm rot="10800000">
                <a:off x="901459" y="2567794"/>
                <a:ext cx="6536615" cy="3271606"/>
              </a:xfrm>
              <a:prstGeom prst="bentConnector3">
                <a:avLst>
                  <a:gd name="adj1" fmla="val 99994"/>
                </a:avLst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91" name="cancel-mark_17124"/>
              <p:cNvSpPr/>
              <p:nvPr/>
            </p:nvSpPr>
            <p:spPr>
              <a:xfrm>
                <a:off x="738685" y="5636112"/>
                <a:ext cx="355962" cy="406577"/>
              </a:xfrm>
              <a:custGeom>
                <a:avLst/>
                <a:gdLst>
                  <a:gd name="T0" fmla="*/ 127 w 3392"/>
                  <a:gd name="T1" fmla="*/ 2898 h 3392"/>
                  <a:gd name="T2" fmla="*/ 473 w 3392"/>
                  <a:gd name="T3" fmla="*/ 3248 h 3392"/>
                  <a:gd name="T4" fmla="*/ 936 w 3392"/>
                  <a:gd name="T5" fmla="*/ 3251 h 3392"/>
                  <a:gd name="T6" fmla="*/ 1691 w 3392"/>
                  <a:gd name="T7" fmla="*/ 2508 h 3392"/>
                  <a:gd name="T8" fmla="*/ 2434 w 3392"/>
                  <a:gd name="T9" fmla="*/ 3262 h 3392"/>
                  <a:gd name="T10" fmla="*/ 2898 w 3392"/>
                  <a:gd name="T11" fmla="*/ 3265 h 3392"/>
                  <a:gd name="T12" fmla="*/ 3248 w 3392"/>
                  <a:gd name="T13" fmla="*/ 2920 h 3392"/>
                  <a:gd name="T14" fmla="*/ 3251 w 3392"/>
                  <a:gd name="T15" fmla="*/ 2456 h 3392"/>
                  <a:gd name="T16" fmla="*/ 2508 w 3392"/>
                  <a:gd name="T17" fmla="*/ 1702 h 3392"/>
                  <a:gd name="T18" fmla="*/ 3262 w 3392"/>
                  <a:gd name="T19" fmla="*/ 959 h 3392"/>
                  <a:gd name="T20" fmla="*/ 3265 w 3392"/>
                  <a:gd name="T21" fmla="*/ 495 h 3392"/>
                  <a:gd name="T22" fmla="*/ 2920 w 3392"/>
                  <a:gd name="T23" fmla="*/ 145 h 3392"/>
                  <a:gd name="T24" fmla="*/ 2456 w 3392"/>
                  <a:gd name="T25" fmla="*/ 141 h 3392"/>
                  <a:gd name="T26" fmla="*/ 1702 w 3392"/>
                  <a:gd name="T27" fmla="*/ 885 h 3392"/>
                  <a:gd name="T28" fmla="*/ 959 w 3392"/>
                  <a:gd name="T29" fmla="*/ 131 h 3392"/>
                  <a:gd name="T30" fmla="*/ 495 w 3392"/>
                  <a:gd name="T31" fmla="*/ 127 h 3392"/>
                  <a:gd name="T32" fmla="*/ 145 w 3392"/>
                  <a:gd name="T33" fmla="*/ 473 h 3392"/>
                  <a:gd name="T34" fmla="*/ 141 w 3392"/>
                  <a:gd name="T35" fmla="*/ 936 h 3392"/>
                  <a:gd name="T36" fmla="*/ 885 w 3392"/>
                  <a:gd name="T37" fmla="*/ 1690 h 3392"/>
                  <a:gd name="T38" fmla="*/ 131 w 3392"/>
                  <a:gd name="T39" fmla="*/ 2434 h 3392"/>
                  <a:gd name="T40" fmla="*/ 127 w 3392"/>
                  <a:gd name="T41" fmla="*/ 2898 h 33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392" h="3392">
                    <a:moveTo>
                      <a:pt x="127" y="2898"/>
                    </a:moveTo>
                    <a:lnTo>
                      <a:pt x="473" y="3248"/>
                    </a:lnTo>
                    <a:cubicBezTo>
                      <a:pt x="600" y="3377"/>
                      <a:pt x="808" y="3378"/>
                      <a:pt x="936" y="3251"/>
                    </a:cubicBezTo>
                    <a:lnTo>
                      <a:pt x="1691" y="2508"/>
                    </a:lnTo>
                    <a:lnTo>
                      <a:pt x="2434" y="3262"/>
                    </a:lnTo>
                    <a:cubicBezTo>
                      <a:pt x="2561" y="3391"/>
                      <a:pt x="2769" y="3392"/>
                      <a:pt x="2898" y="3265"/>
                    </a:cubicBezTo>
                    <a:lnTo>
                      <a:pt x="3248" y="2920"/>
                    </a:lnTo>
                    <a:cubicBezTo>
                      <a:pt x="3377" y="2793"/>
                      <a:pt x="3378" y="2585"/>
                      <a:pt x="3251" y="2456"/>
                    </a:cubicBezTo>
                    <a:lnTo>
                      <a:pt x="2508" y="1702"/>
                    </a:lnTo>
                    <a:lnTo>
                      <a:pt x="3262" y="959"/>
                    </a:lnTo>
                    <a:cubicBezTo>
                      <a:pt x="3391" y="832"/>
                      <a:pt x="3392" y="624"/>
                      <a:pt x="3265" y="495"/>
                    </a:cubicBezTo>
                    <a:lnTo>
                      <a:pt x="2920" y="145"/>
                    </a:lnTo>
                    <a:cubicBezTo>
                      <a:pt x="2793" y="16"/>
                      <a:pt x="2585" y="14"/>
                      <a:pt x="2456" y="141"/>
                    </a:cubicBezTo>
                    <a:lnTo>
                      <a:pt x="1702" y="885"/>
                    </a:lnTo>
                    <a:lnTo>
                      <a:pt x="959" y="131"/>
                    </a:lnTo>
                    <a:cubicBezTo>
                      <a:pt x="832" y="2"/>
                      <a:pt x="624" y="0"/>
                      <a:pt x="495" y="127"/>
                    </a:cubicBezTo>
                    <a:lnTo>
                      <a:pt x="145" y="473"/>
                    </a:lnTo>
                    <a:cubicBezTo>
                      <a:pt x="16" y="600"/>
                      <a:pt x="14" y="807"/>
                      <a:pt x="141" y="936"/>
                    </a:cubicBezTo>
                    <a:lnTo>
                      <a:pt x="885" y="1690"/>
                    </a:lnTo>
                    <a:lnTo>
                      <a:pt x="131" y="2434"/>
                    </a:lnTo>
                    <a:cubicBezTo>
                      <a:pt x="2" y="2561"/>
                      <a:pt x="0" y="2769"/>
                      <a:pt x="127" y="2898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文本框 11"/>
              <p:cNvSpPr txBox="1"/>
              <p:nvPr/>
            </p:nvSpPr>
            <p:spPr>
              <a:xfrm>
                <a:off x="8385688" y="1241148"/>
                <a:ext cx="261081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000" b="1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Personalization</a:t>
                </a:r>
                <a:endParaRPr lang="en-US" altLang="zh-CN" sz="2000" b="1" dirty="0">
                  <a:latin typeface="Times New Roman" panose="02020503050405090304" pitchFamily="18" charset="0"/>
                  <a:cs typeface="Times New Roman" panose="02020503050405090304" pitchFamily="18" charset="0"/>
                </a:endParaRPr>
              </a:p>
            </p:txBody>
          </p:sp>
          <p:cxnSp>
            <p:nvCxnSpPr>
              <p:cNvPr id="13" name="ïSļïdè"/>
              <p:cNvCxnSpPr>
                <a:stCxn id="12" idx="2"/>
              </p:cNvCxnSpPr>
              <p:nvPr/>
            </p:nvCxnSpPr>
            <p:spPr>
              <a:xfrm>
                <a:off x="9691095" y="1641258"/>
                <a:ext cx="830711" cy="1258888"/>
              </a:xfrm>
              <a:prstGeom prst="straightConnector1">
                <a:avLst/>
              </a:prstGeom>
              <a:ln w="12700">
                <a:solidFill>
                  <a:srgbClr val="A50021">
                    <a:alpha val="50000"/>
                  </a:srgb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文本框 19"/>
              <p:cNvSpPr txBox="1"/>
              <p:nvPr/>
            </p:nvSpPr>
            <p:spPr>
              <a:xfrm>
                <a:off x="10016897" y="1648340"/>
                <a:ext cx="195920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800" b="1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Automation</a:t>
                </a:r>
                <a:endParaRPr lang="zh-CN" altLang="en-US" sz="1800" b="1" dirty="0">
                  <a:latin typeface="Times New Roman" panose="02020503050405090304" pitchFamily="18" charset="0"/>
                  <a:cs typeface="Times New Roman" panose="02020503050405090304" pitchFamily="18" charset="0"/>
                </a:endParaRPr>
              </a:p>
            </p:txBody>
          </p:sp>
          <p:sp>
            <p:nvSpPr>
              <p:cNvPr id="23" name="文本框 22"/>
              <p:cNvSpPr txBox="1"/>
              <p:nvPr/>
            </p:nvSpPr>
            <p:spPr>
              <a:xfrm>
                <a:off x="7927365" y="2203019"/>
                <a:ext cx="26108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b="1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Data-Driven</a:t>
                </a:r>
                <a:endParaRPr lang="en-US" altLang="zh-CN" b="1" dirty="0">
                  <a:latin typeface="Times New Roman" panose="02020503050405090304" pitchFamily="18" charset="0"/>
                  <a:cs typeface="Times New Roman" panose="02020503050405090304" pitchFamily="18" charset="0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40000"/>
            <a:lumOff val="60000"/>
            <a:alpha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315314" y="1131708"/>
          <a:ext cx="8225712" cy="544681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659260"/>
                <a:gridCol w="1994452"/>
                <a:gridCol w="2040835"/>
                <a:gridCol w="2531165"/>
              </a:tblGrid>
              <a:tr h="865552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800" b="1" dirty="0">
                          <a:latin typeface="Times New Roman" panose="02020503050405090304" pitchFamily="18" charset="0"/>
                          <a:ea typeface="Calibri" panose="020F0502020204030204" pitchFamily="34" charset="0"/>
                          <a:cs typeface="Times New Roman" panose="02020503050405090304" pitchFamily="18" charset="0"/>
                        </a:rPr>
                        <a:t>Market</a:t>
                      </a:r>
                      <a:endParaRPr lang="en-US" altLang="zh-CN" sz="2800" b="1" dirty="0">
                        <a:latin typeface="Times New Roman" panose="02020503050405090304" pitchFamily="18" charset="0"/>
                        <a:ea typeface="Calibri" panose="020F0502020204030204" pitchFamily="34" charset="0"/>
                        <a:cs typeface="Times New Roman" panose="02020503050405090304" pitchFamily="18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000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United States</a:t>
                      </a:r>
                      <a:endParaRPr lang="zh-CN" altLang="en-US" sz="2000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zh-CN" altLang="en-US" sz="2000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Amazon is No.1 e-commerce company</a:t>
                      </a:r>
                      <a:endParaRPr lang="en-US" altLang="zh-CN" sz="2000" b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1"/>
                </a:tc>
              </a:tr>
              <a:tr h="867112">
                <a:tc vMerge="1"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b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Asia-Pacific</a:t>
                      </a:r>
                      <a:endParaRPr lang="zh-CN" altLang="en-US" sz="2000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endParaRPr lang="zh-CN" altLang="en-US" sz="2000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Amazon </a:t>
                      </a:r>
                      <a:endParaRPr lang="en-US" altLang="zh-CN" sz="2000" b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l"/>
                      <a:r>
                        <a:rPr lang="en-US" altLang="zh-CN" sz="2000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Market Share </a:t>
                      </a:r>
                      <a:endParaRPr lang="zh-CN" altLang="en-US" sz="2000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1"/>
                </a:tc>
              </a:tr>
              <a:tr h="879587">
                <a:tc rowSpan="2">
                  <a:txBody>
                    <a:bodyPr/>
                    <a:lstStyle/>
                    <a:p>
                      <a:r>
                        <a:rPr lang="en-US" altLang="zh-CN" sz="2800" b="1" dirty="0">
                          <a:latin typeface="Times New Roman" panose="02020503050405090304" pitchFamily="18" charset="0"/>
                          <a:ea typeface="Calibri" panose="020F0502020204030204" pitchFamily="34" charset="0"/>
                          <a:cs typeface="Times New Roman" panose="02020503050405090304" pitchFamily="18" charset="0"/>
                        </a:rPr>
                        <a:t>Policy</a:t>
                      </a:r>
                      <a:endParaRPr lang="zh-CN" altLang="en-US" sz="2800" b="1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000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United States</a:t>
                      </a:r>
                      <a:endParaRPr lang="zh-CN" altLang="en-US" sz="2000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 Uniform </a:t>
                      </a:r>
                      <a:endParaRPr lang="en-US" altLang="zh-CN" sz="2000" b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National Law </a:t>
                      </a:r>
                      <a:endParaRPr lang="zh-CN" altLang="en-US" sz="2000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More State-level regulation</a:t>
                      </a:r>
                      <a:endParaRPr lang="en-US" altLang="zh-CN" sz="2000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1"/>
                </a:tc>
              </a:tr>
              <a:tr h="892064">
                <a:tc vMerge="1"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b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Europe</a:t>
                      </a:r>
                      <a:endParaRPr lang="zh-CN" altLang="en-US" sz="2000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2000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Very Strict Data Privacy Regulation</a:t>
                      </a:r>
                      <a:endParaRPr lang="zh-CN" altLang="en-US" sz="2000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1"/>
                </a:tc>
              </a:tr>
              <a:tr h="885202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2800" b="1" dirty="0">
                          <a:latin typeface="Times New Roman" panose="02020503050405090304" pitchFamily="18" charset="0"/>
                          <a:ea typeface="Calibri" panose="020F0502020204030204" pitchFamily="34" charset="0"/>
                          <a:cs typeface="Times New Roman" panose="02020503050405090304" pitchFamily="18" charset="0"/>
                        </a:rPr>
                        <a:t>Economy</a:t>
                      </a:r>
                      <a:endParaRPr lang="zh-CN" altLang="en-US" sz="2800" b="1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2000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United States</a:t>
                      </a:r>
                      <a:endParaRPr lang="zh-CN" altLang="en-US" sz="2000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000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IDI No.1 </a:t>
                      </a:r>
                      <a:r>
                        <a:rPr lang="en-US" altLang="zh-CN" sz="1600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(World Internet Development Report, 2023 )</a:t>
                      </a:r>
                      <a:endParaRPr lang="en-US" altLang="zh-CN" sz="1400" b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Well-developed infrastructure</a:t>
                      </a:r>
                      <a:endParaRPr lang="zh-CN" altLang="en-US" sz="2000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1"/>
                </a:tc>
              </a:tr>
              <a:tr h="795094">
                <a:tc vMerge="1"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b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South America</a:t>
                      </a:r>
                      <a:endParaRPr lang="zh-CN" altLang="en-US" sz="2000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2000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Underdeveloped Technology</a:t>
                      </a:r>
                      <a:endParaRPr lang="zh-CN" altLang="en-US" sz="2000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Underdeveloped Logistics</a:t>
                      </a:r>
                      <a:endParaRPr lang="zh-CN" altLang="en-US" sz="2000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 anchorCtr="1"/>
                </a:tc>
              </a:tr>
            </a:tbl>
          </a:graphicData>
        </a:graphic>
      </p:graphicFrame>
      <p:sp>
        <p:nvSpPr>
          <p:cNvPr id="29" name="矩形: 圆角 28"/>
          <p:cNvSpPr/>
          <p:nvPr/>
        </p:nvSpPr>
        <p:spPr>
          <a:xfrm>
            <a:off x="9667759" y="4053662"/>
            <a:ext cx="1891023" cy="807991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lang="en-US" altLang="zh-CN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ata </a:t>
            </a:r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</a:t>
            </a:r>
            <a:r>
              <a:rPr lang="en-US" altLang="zh-CN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inimization </a:t>
            </a:r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en-US" altLang="zh-CN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rinciple</a:t>
            </a:r>
            <a:endParaRPr lang="zh-CN" alt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38" name="组合 37"/>
          <p:cNvGrpSpPr/>
          <p:nvPr/>
        </p:nvGrpSpPr>
        <p:grpSpPr>
          <a:xfrm>
            <a:off x="4229286" y="802207"/>
            <a:ext cx="7329496" cy="5737896"/>
            <a:chOff x="4404867" y="832717"/>
            <a:chExt cx="7329496" cy="5737896"/>
          </a:xfrm>
        </p:grpSpPr>
        <p:grpSp>
          <p:nvGrpSpPr>
            <p:cNvPr id="33" name="组合 32"/>
            <p:cNvGrpSpPr/>
            <p:nvPr/>
          </p:nvGrpSpPr>
          <p:grpSpPr>
            <a:xfrm>
              <a:off x="4404867" y="1424621"/>
              <a:ext cx="7329496" cy="5145992"/>
              <a:chOff x="4766945" y="1202584"/>
              <a:chExt cx="7329496" cy="5145992"/>
            </a:xfrm>
          </p:grpSpPr>
          <p:pic>
            <p:nvPicPr>
              <p:cNvPr id="14" name="图片 13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4823930" y="1202584"/>
                <a:ext cx="1489535" cy="485284"/>
              </a:xfrm>
              <a:prstGeom prst="roundRect">
                <a:avLst>
                  <a:gd name="adj" fmla="val 16667"/>
                </a:avLst>
              </a:prstGeom>
              <a:ln>
                <a:noFill/>
              </a:ln>
              <a:effectLst>
                <a:outerShdw blurRad="76200" dist="38100" dir="78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contrasting" dir="t">
                  <a:rot lat="0" lon="0" rev="4200000"/>
                </a:lightRig>
              </a:scene3d>
              <a:sp3d prstMaterial="plastic">
                <a:bevelT w="381000" h="114300" prst="relaxedInset"/>
                <a:contourClr>
                  <a:srgbClr val="969696"/>
                </a:contourClr>
              </a:sp3d>
            </p:spPr>
          </p:pic>
          <p:pic>
            <p:nvPicPr>
              <p:cNvPr id="16" name="图片 15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766945" y="2161245"/>
                <a:ext cx="729434" cy="606055"/>
              </a:xfrm>
              <a:prstGeom prst="roundRect">
                <a:avLst>
                  <a:gd name="adj" fmla="val 16667"/>
                </a:avLst>
              </a:prstGeom>
              <a:ln>
                <a:noFill/>
              </a:ln>
              <a:effectLst>
                <a:outerShdw blurRad="76200" dist="38100" dir="78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contrasting" dir="t">
                  <a:rot lat="0" lon="0" rev="4200000"/>
                </a:lightRig>
              </a:scene3d>
              <a:sp3d prstMaterial="plastic">
                <a:bevelT w="381000" h="114300" prst="relaxedInset"/>
                <a:contourClr>
                  <a:srgbClr val="969696"/>
                </a:contourClr>
              </a:sp3d>
            </p:spPr>
          </p:pic>
          <p:pic>
            <p:nvPicPr>
              <p:cNvPr id="18" name="图片 17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626676" y="2161245"/>
                <a:ext cx="669170" cy="606055"/>
              </a:xfrm>
              <a:prstGeom prst="roundRect">
                <a:avLst>
                  <a:gd name="adj" fmla="val 16667"/>
                </a:avLst>
              </a:prstGeom>
              <a:ln>
                <a:noFill/>
              </a:ln>
              <a:effectLst>
                <a:outerShdw blurRad="76200" dist="38100" dir="78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contrasting" dir="t">
                  <a:rot lat="0" lon="0" rev="4200000"/>
                </a:lightRig>
              </a:scene3d>
              <a:sp3d prstMaterial="plastic">
                <a:bevelT w="381000" h="114300" prst="relaxedInset"/>
                <a:contourClr>
                  <a:srgbClr val="969696"/>
                </a:contourClr>
              </a:sp3d>
            </p:spPr>
          </p:pic>
          <p:sp>
            <p:nvSpPr>
              <p:cNvPr id="20" name="arrow-pointing-up_36637"/>
              <p:cNvSpPr/>
              <p:nvPr/>
            </p:nvSpPr>
            <p:spPr>
              <a:xfrm rot="10800000">
                <a:off x="8647033" y="2215115"/>
                <a:ext cx="165161" cy="606055"/>
              </a:xfrm>
              <a:custGeom>
                <a:avLst/>
                <a:gdLst>
                  <a:gd name="T0" fmla="*/ 602275 w 602487"/>
                  <a:gd name="T1" fmla="*/ 602275 w 602487"/>
                  <a:gd name="T2" fmla="*/ 602275 w 602487"/>
                  <a:gd name="T3" fmla="*/ 602275 w 602487"/>
                  <a:gd name="T4" fmla="*/ 602275 w 602487"/>
                  <a:gd name="T5" fmla="*/ 602275 w 602487"/>
                  <a:gd name="T6" fmla="*/ 602275 w 602487"/>
                  <a:gd name="T7" fmla="*/ 602275 w 602487"/>
                  <a:gd name="T8" fmla="*/ 602275 w 602487"/>
                  <a:gd name="T9" fmla="*/ 602275 w 602487"/>
                  <a:gd name="T10" fmla="*/ 602275 w 602487"/>
                  <a:gd name="T11" fmla="*/ 602275 w 602487"/>
                  <a:gd name="T12" fmla="*/ 602275 w 602487"/>
                  <a:gd name="T13" fmla="*/ 602275 w 602487"/>
                  <a:gd name="T14" fmla="*/ 602275 w 602487"/>
                  <a:gd name="T15" fmla="*/ 602275 w 602487"/>
                  <a:gd name="T16" fmla="*/ 602275 w 602487"/>
                  <a:gd name="T17" fmla="*/ 602275 w 602487"/>
                  <a:gd name="T18" fmla="*/ 602275 w 602487"/>
                  <a:gd name="T19" fmla="*/ 602275 w 602487"/>
                  <a:gd name="T20" fmla="*/ 602275 w 602487"/>
                  <a:gd name="T21" fmla="*/ 602275 w 602487"/>
                  <a:gd name="T22" fmla="*/ 602275 w 602487"/>
                  <a:gd name="T23" fmla="*/ 602275 w 602487"/>
                  <a:gd name="T24" fmla="*/ 602275 w 602487"/>
                  <a:gd name="T25" fmla="*/ 602275 w 602487"/>
                  <a:gd name="T26" fmla="*/ 602275 w 602487"/>
                  <a:gd name="T27" fmla="*/ 602275 w 6024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45" h="397">
                    <a:moveTo>
                      <a:pt x="329" y="213"/>
                    </a:moveTo>
                    <a:cubicBezTo>
                      <a:pt x="313" y="229"/>
                      <a:pt x="288" y="229"/>
                      <a:pt x="273" y="213"/>
                    </a:cubicBezTo>
                    <a:lnTo>
                      <a:pt x="212" y="153"/>
                    </a:lnTo>
                    <a:lnTo>
                      <a:pt x="212" y="357"/>
                    </a:lnTo>
                    <a:cubicBezTo>
                      <a:pt x="212" y="379"/>
                      <a:pt x="195" y="397"/>
                      <a:pt x="172" y="397"/>
                    </a:cubicBezTo>
                    <a:cubicBezTo>
                      <a:pt x="150" y="397"/>
                      <a:pt x="132" y="379"/>
                      <a:pt x="132" y="357"/>
                    </a:cubicBezTo>
                    <a:lnTo>
                      <a:pt x="132" y="153"/>
                    </a:lnTo>
                    <a:lnTo>
                      <a:pt x="72" y="213"/>
                    </a:lnTo>
                    <a:cubicBezTo>
                      <a:pt x="65" y="221"/>
                      <a:pt x="54" y="225"/>
                      <a:pt x="44" y="225"/>
                    </a:cubicBezTo>
                    <a:cubicBezTo>
                      <a:pt x="34" y="225"/>
                      <a:pt x="24" y="221"/>
                      <a:pt x="16" y="213"/>
                    </a:cubicBezTo>
                    <a:cubicBezTo>
                      <a:pt x="0" y="198"/>
                      <a:pt x="0" y="172"/>
                      <a:pt x="16" y="157"/>
                    </a:cubicBezTo>
                    <a:lnTo>
                      <a:pt x="172" y="0"/>
                    </a:lnTo>
                    <a:lnTo>
                      <a:pt x="329" y="157"/>
                    </a:lnTo>
                    <a:cubicBezTo>
                      <a:pt x="345" y="172"/>
                      <a:pt x="345" y="198"/>
                      <a:pt x="329" y="213"/>
                    </a:cubicBezTo>
                    <a:close/>
                  </a:path>
                </a:pathLst>
              </a:custGeom>
              <a:solidFill>
                <a:srgbClr val="A5002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" name="two-arrows-pointing-up_60640"/>
              <p:cNvSpPr/>
              <p:nvPr/>
            </p:nvSpPr>
            <p:spPr>
              <a:xfrm rot="5400000">
                <a:off x="9237897" y="2179900"/>
                <a:ext cx="551854" cy="609685"/>
              </a:xfrm>
              <a:custGeom>
                <a:avLst/>
                <a:gdLst>
                  <a:gd name="connsiteX0" fmla="*/ 272280 w 544765"/>
                  <a:gd name="connsiteY0" fmla="*/ 252836 h 601853"/>
                  <a:gd name="connsiteX1" fmla="*/ 544765 w 544765"/>
                  <a:gd name="connsiteY1" fmla="*/ 524726 h 601853"/>
                  <a:gd name="connsiteX2" fmla="*/ 467322 w 544765"/>
                  <a:gd name="connsiteY2" fmla="*/ 601853 h 601853"/>
                  <a:gd name="connsiteX3" fmla="*/ 272280 w 544765"/>
                  <a:gd name="connsiteY3" fmla="*/ 407091 h 601853"/>
                  <a:gd name="connsiteX4" fmla="*/ 77238 w 544765"/>
                  <a:gd name="connsiteY4" fmla="*/ 601853 h 601853"/>
                  <a:gd name="connsiteX5" fmla="*/ 0 w 544765"/>
                  <a:gd name="connsiteY5" fmla="*/ 524726 h 601853"/>
                  <a:gd name="connsiteX6" fmla="*/ 272280 w 544765"/>
                  <a:gd name="connsiteY6" fmla="*/ 0 h 601853"/>
                  <a:gd name="connsiteX7" fmla="*/ 544765 w 544765"/>
                  <a:gd name="connsiteY7" fmla="*/ 271890 h 601853"/>
                  <a:gd name="connsiteX8" fmla="*/ 467322 w 544765"/>
                  <a:gd name="connsiteY8" fmla="*/ 349017 h 601853"/>
                  <a:gd name="connsiteX9" fmla="*/ 272280 w 544765"/>
                  <a:gd name="connsiteY9" fmla="*/ 154255 h 601853"/>
                  <a:gd name="connsiteX10" fmla="*/ 77238 w 544765"/>
                  <a:gd name="connsiteY10" fmla="*/ 349017 h 601853"/>
                  <a:gd name="connsiteX11" fmla="*/ 0 w 544765"/>
                  <a:gd name="connsiteY11" fmla="*/ 271890 h 6018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44765" h="601853">
                    <a:moveTo>
                      <a:pt x="272280" y="252836"/>
                    </a:moveTo>
                    <a:lnTo>
                      <a:pt x="544765" y="524726"/>
                    </a:lnTo>
                    <a:lnTo>
                      <a:pt x="467322" y="601853"/>
                    </a:lnTo>
                    <a:lnTo>
                      <a:pt x="272280" y="407091"/>
                    </a:lnTo>
                    <a:lnTo>
                      <a:pt x="77238" y="601853"/>
                    </a:lnTo>
                    <a:lnTo>
                      <a:pt x="0" y="524726"/>
                    </a:lnTo>
                    <a:close/>
                    <a:moveTo>
                      <a:pt x="272280" y="0"/>
                    </a:moveTo>
                    <a:lnTo>
                      <a:pt x="544765" y="271890"/>
                    </a:lnTo>
                    <a:lnTo>
                      <a:pt x="467322" y="349017"/>
                    </a:lnTo>
                    <a:lnTo>
                      <a:pt x="272280" y="154255"/>
                    </a:lnTo>
                    <a:lnTo>
                      <a:pt x="77238" y="349017"/>
                    </a:lnTo>
                    <a:lnTo>
                      <a:pt x="0" y="27189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" name="two-arrows-pointing-up_60640"/>
              <p:cNvSpPr/>
              <p:nvPr/>
            </p:nvSpPr>
            <p:spPr>
              <a:xfrm rot="5400000">
                <a:off x="9262999" y="3961289"/>
                <a:ext cx="551854" cy="609685"/>
              </a:xfrm>
              <a:custGeom>
                <a:avLst/>
                <a:gdLst>
                  <a:gd name="connsiteX0" fmla="*/ 272280 w 544765"/>
                  <a:gd name="connsiteY0" fmla="*/ 252836 h 601853"/>
                  <a:gd name="connsiteX1" fmla="*/ 544765 w 544765"/>
                  <a:gd name="connsiteY1" fmla="*/ 524726 h 601853"/>
                  <a:gd name="connsiteX2" fmla="*/ 467322 w 544765"/>
                  <a:gd name="connsiteY2" fmla="*/ 601853 h 601853"/>
                  <a:gd name="connsiteX3" fmla="*/ 272280 w 544765"/>
                  <a:gd name="connsiteY3" fmla="*/ 407091 h 601853"/>
                  <a:gd name="connsiteX4" fmla="*/ 77238 w 544765"/>
                  <a:gd name="connsiteY4" fmla="*/ 601853 h 601853"/>
                  <a:gd name="connsiteX5" fmla="*/ 0 w 544765"/>
                  <a:gd name="connsiteY5" fmla="*/ 524726 h 601853"/>
                  <a:gd name="connsiteX6" fmla="*/ 272280 w 544765"/>
                  <a:gd name="connsiteY6" fmla="*/ 0 h 601853"/>
                  <a:gd name="connsiteX7" fmla="*/ 544765 w 544765"/>
                  <a:gd name="connsiteY7" fmla="*/ 271890 h 601853"/>
                  <a:gd name="connsiteX8" fmla="*/ 467322 w 544765"/>
                  <a:gd name="connsiteY8" fmla="*/ 349017 h 601853"/>
                  <a:gd name="connsiteX9" fmla="*/ 272280 w 544765"/>
                  <a:gd name="connsiteY9" fmla="*/ 154255 h 601853"/>
                  <a:gd name="connsiteX10" fmla="*/ 77238 w 544765"/>
                  <a:gd name="connsiteY10" fmla="*/ 349017 h 601853"/>
                  <a:gd name="connsiteX11" fmla="*/ 0 w 544765"/>
                  <a:gd name="connsiteY11" fmla="*/ 271890 h 6018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44765" h="601853">
                    <a:moveTo>
                      <a:pt x="272280" y="252836"/>
                    </a:moveTo>
                    <a:lnTo>
                      <a:pt x="544765" y="524726"/>
                    </a:lnTo>
                    <a:lnTo>
                      <a:pt x="467322" y="601853"/>
                    </a:lnTo>
                    <a:lnTo>
                      <a:pt x="272280" y="407091"/>
                    </a:lnTo>
                    <a:lnTo>
                      <a:pt x="77238" y="601853"/>
                    </a:lnTo>
                    <a:lnTo>
                      <a:pt x="0" y="524726"/>
                    </a:lnTo>
                    <a:close/>
                    <a:moveTo>
                      <a:pt x="272280" y="0"/>
                    </a:moveTo>
                    <a:lnTo>
                      <a:pt x="544765" y="271890"/>
                    </a:lnTo>
                    <a:lnTo>
                      <a:pt x="467322" y="349017"/>
                    </a:lnTo>
                    <a:lnTo>
                      <a:pt x="272280" y="154255"/>
                    </a:lnTo>
                    <a:lnTo>
                      <a:pt x="77238" y="349017"/>
                    </a:lnTo>
                    <a:lnTo>
                      <a:pt x="0" y="27189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two-arrows-pointing-up_60640"/>
              <p:cNvSpPr/>
              <p:nvPr/>
            </p:nvSpPr>
            <p:spPr>
              <a:xfrm rot="5400000">
                <a:off x="9262999" y="5639739"/>
                <a:ext cx="551854" cy="609685"/>
              </a:xfrm>
              <a:custGeom>
                <a:avLst/>
                <a:gdLst>
                  <a:gd name="connsiteX0" fmla="*/ 272280 w 544765"/>
                  <a:gd name="connsiteY0" fmla="*/ 252836 h 601853"/>
                  <a:gd name="connsiteX1" fmla="*/ 544765 w 544765"/>
                  <a:gd name="connsiteY1" fmla="*/ 524726 h 601853"/>
                  <a:gd name="connsiteX2" fmla="*/ 467322 w 544765"/>
                  <a:gd name="connsiteY2" fmla="*/ 601853 h 601853"/>
                  <a:gd name="connsiteX3" fmla="*/ 272280 w 544765"/>
                  <a:gd name="connsiteY3" fmla="*/ 407091 h 601853"/>
                  <a:gd name="connsiteX4" fmla="*/ 77238 w 544765"/>
                  <a:gd name="connsiteY4" fmla="*/ 601853 h 601853"/>
                  <a:gd name="connsiteX5" fmla="*/ 0 w 544765"/>
                  <a:gd name="connsiteY5" fmla="*/ 524726 h 601853"/>
                  <a:gd name="connsiteX6" fmla="*/ 272280 w 544765"/>
                  <a:gd name="connsiteY6" fmla="*/ 0 h 601853"/>
                  <a:gd name="connsiteX7" fmla="*/ 544765 w 544765"/>
                  <a:gd name="connsiteY7" fmla="*/ 271890 h 601853"/>
                  <a:gd name="connsiteX8" fmla="*/ 467322 w 544765"/>
                  <a:gd name="connsiteY8" fmla="*/ 349017 h 601853"/>
                  <a:gd name="connsiteX9" fmla="*/ 272280 w 544765"/>
                  <a:gd name="connsiteY9" fmla="*/ 154255 h 601853"/>
                  <a:gd name="connsiteX10" fmla="*/ 77238 w 544765"/>
                  <a:gd name="connsiteY10" fmla="*/ 349017 h 601853"/>
                  <a:gd name="connsiteX11" fmla="*/ 0 w 544765"/>
                  <a:gd name="connsiteY11" fmla="*/ 271890 h 6018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44765" h="601853">
                    <a:moveTo>
                      <a:pt x="272280" y="252836"/>
                    </a:moveTo>
                    <a:lnTo>
                      <a:pt x="544765" y="524726"/>
                    </a:lnTo>
                    <a:lnTo>
                      <a:pt x="467322" y="601853"/>
                    </a:lnTo>
                    <a:lnTo>
                      <a:pt x="272280" y="407091"/>
                    </a:lnTo>
                    <a:lnTo>
                      <a:pt x="77238" y="601853"/>
                    </a:lnTo>
                    <a:lnTo>
                      <a:pt x="0" y="524726"/>
                    </a:lnTo>
                    <a:close/>
                    <a:moveTo>
                      <a:pt x="272280" y="0"/>
                    </a:moveTo>
                    <a:lnTo>
                      <a:pt x="544765" y="271890"/>
                    </a:lnTo>
                    <a:lnTo>
                      <a:pt x="467322" y="349017"/>
                    </a:lnTo>
                    <a:lnTo>
                      <a:pt x="272280" y="154255"/>
                    </a:lnTo>
                    <a:lnTo>
                      <a:pt x="77238" y="349017"/>
                    </a:lnTo>
                    <a:lnTo>
                      <a:pt x="0" y="27189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8" name="矩形: 圆角 27"/>
              <p:cNvSpPr/>
              <p:nvPr/>
            </p:nvSpPr>
            <p:spPr>
              <a:xfrm>
                <a:off x="10167131" y="2161245"/>
                <a:ext cx="1929310" cy="807991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0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Invest Money on Localization</a:t>
                </a:r>
                <a:endParaRPr lang="zh-CN" altLang="en-US" sz="20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0" name="矩形: 圆角 29"/>
              <p:cNvSpPr/>
              <p:nvPr/>
            </p:nvSpPr>
            <p:spPr>
              <a:xfrm>
                <a:off x="10205418" y="5540585"/>
                <a:ext cx="1891023" cy="807991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000" dirty="0"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Education and Guidance</a:t>
                </a:r>
                <a:endParaRPr lang="zh-CN" altLang="en-US" sz="20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34" name="Bullet1"/>
            <p:cNvSpPr/>
            <p:nvPr/>
          </p:nvSpPr>
          <p:spPr>
            <a:xfrm>
              <a:off x="9770555" y="832717"/>
              <a:ext cx="1963808" cy="707182"/>
            </a:xfrm>
            <a:prstGeom prst="rect">
              <a:avLst/>
            </a:prstGeom>
            <a:noFill/>
          </p:spPr>
          <p:txBody>
            <a:bodyPr wrap="square" lIns="91440" tIns="45720" rIns="91440" bIns="45720" anchor="b" anchorCtr="1">
              <a:noAutofit/>
            </a:bodyPr>
            <a:lstStyle/>
            <a:p>
              <a:pPr lvl="0" algn="ctr"/>
              <a:r>
                <a:rPr lang="en-US" altLang="zh-CN" sz="2800" b="1" dirty="0">
                  <a:latin typeface="Times New Roman" panose="02020503050405090304" pitchFamily="18" charset="0"/>
                  <a:ea typeface="Calibri" panose="020F0502020204030204" pitchFamily="34" charset="0"/>
                  <a:cs typeface="Times New Roman" panose="02020503050405090304" pitchFamily="18" charset="0"/>
                </a:rPr>
                <a:t>Solution</a:t>
              </a:r>
              <a:endParaRPr lang="zh-CN" altLang="en-US" sz="2800" b="1" dirty="0"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</p:grpSp>
      <p:pic>
        <p:nvPicPr>
          <p:cNvPr id="36" name="图片 3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6321" y="4103723"/>
            <a:ext cx="729434" cy="68272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" name="文本框 1"/>
          <p:cNvSpPr txBox="1"/>
          <p:nvPr/>
        </p:nvSpPr>
        <p:spPr>
          <a:xfrm>
            <a:off x="6502713" y="1838366"/>
            <a:ext cx="211601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(Statista, 2024)</a:t>
            </a:r>
            <a:endParaRPr lang="en-US" altLang="zh-C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9612223" y="1695601"/>
            <a:ext cx="19638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A5002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01</a:t>
            </a:r>
            <a:endParaRPr lang="zh-CN" altLang="en-US" sz="3600" b="1" dirty="0">
              <a:solidFill>
                <a:srgbClr val="A5002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612223" y="3439490"/>
            <a:ext cx="19638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A5002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02</a:t>
            </a:r>
            <a:endParaRPr lang="zh-CN" altLang="en-US" sz="3600" b="1" dirty="0">
              <a:solidFill>
                <a:srgbClr val="A5002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629472" y="5087560"/>
            <a:ext cx="19638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A5002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03</a:t>
            </a:r>
            <a:endParaRPr lang="zh-CN" altLang="en-US" sz="3600" b="1" dirty="0">
              <a:solidFill>
                <a:srgbClr val="A5002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53966" y="217432"/>
            <a:ext cx="34771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latin typeface="Times New Roman" panose="02020503050405090304" pitchFamily="18" charset="0"/>
                <a:ea typeface="等线" panose="02010600030101010101" pitchFamily="2" charset="-122"/>
                <a:cs typeface="Times New Roman" panose="02020503050405090304" pitchFamily="18" charset="0"/>
              </a:rPr>
              <a:t>Global Expansion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2192000" cy="6858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100000">
                  <a:srgbClr val="FAF5DB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</p:grpSp>
      <p:sp>
        <p:nvSpPr>
          <p:cNvPr id="4" name="Freeform 4"/>
          <p:cNvSpPr/>
          <p:nvPr/>
        </p:nvSpPr>
        <p:spPr>
          <a:xfrm>
            <a:off x="-1707538" y="4766650"/>
            <a:ext cx="4352921" cy="4346825"/>
          </a:xfrm>
          <a:custGeom>
            <a:avLst/>
            <a:gdLst/>
            <a:ahLst/>
            <a:cxnLst/>
            <a:rect l="l" t="t" r="r" b="b"/>
            <a:pathLst>
              <a:path w="6529382" h="6520237">
                <a:moveTo>
                  <a:pt x="0" y="0"/>
                </a:moveTo>
                <a:lnTo>
                  <a:pt x="6529382" y="0"/>
                </a:lnTo>
                <a:lnTo>
                  <a:pt x="6529382" y="6520237"/>
                </a:lnTo>
                <a:lnTo>
                  <a:pt x="0" y="6520237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876813" y="-1461633"/>
            <a:ext cx="3505504" cy="3511600"/>
          </a:xfrm>
          <a:custGeom>
            <a:avLst/>
            <a:gdLst/>
            <a:ahLst/>
            <a:cxnLst/>
            <a:rect l="l" t="t" r="r" b="b"/>
            <a:pathLst>
              <a:path w="5258256" h="5267400">
                <a:moveTo>
                  <a:pt x="0" y="0"/>
                </a:moveTo>
                <a:lnTo>
                  <a:pt x="5258255" y="0"/>
                </a:lnTo>
                <a:lnTo>
                  <a:pt x="5258255" y="5267400"/>
                </a:lnTo>
                <a:lnTo>
                  <a:pt x="0" y="526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402036" y="5288731"/>
            <a:ext cx="6262510" cy="275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5"/>
              </a:lnSpc>
            </a:pPr>
            <a:r>
              <a:rPr lang="en-US" sz="1600" spc="128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商|页|计|划|书|演|示|模|板</a:t>
            </a:r>
            <a:endParaRPr lang="en-US" sz="1600" spc="1280">
              <a:solidFill>
                <a:srgbClr val="FFFFFF"/>
              </a:solidFill>
              <a:latin typeface="思源黑体"/>
              <a:ea typeface="思源黑体"/>
              <a:cs typeface="思源黑体"/>
              <a:sym typeface="思源黑体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36318" y="1971427"/>
            <a:ext cx="971748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600" b="1" dirty="0">
                <a:latin typeface="Times New Roman" panose="02020503050405090304" pitchFamily="18" charset="0"/>
                <a:ea typeface="等线" panose="02010600030101010101" pitchFamily="2" charset="-122"/>
                <a:cs typeface="Times New Roman" panose="02020503050405090304" pitchFamily="18" charset="0"/>
              </a:rPr>
              <a:t>Application of Rufus in HR of Amazon — </a:t>
            </a:r>
            <a:r>
              <a:rPr lang="en-US" altLang="zh-CN" sz="6600" b="1" dirty="0" err="1">
                <a:latin typeface="Times New Roman" panose="02020503050405090304" pitchFamily="18" charset="0"/>
                <a:ea typeface="等线" panose="02010600030101010101" pitchFamily="2" charset="-122"/>
                <a:cs typeface="Times New Roman" panose="02020503050405090304" pitchFamily="18" charset="0"/>
              </a:rPr>
              <a:t>Rufusy</a:t>
            </a:r>
            <a:endParaRPr lang="en-US" altLang="zh-CN" sz="6600" b="1" dirty="0">
              <a:latin typeface="Times New Roman" panose="02020503050405090304" pitchFamily="18" charset="0"/>
              <a:ea typeface="等线" panose="02010600030101010101" pitchFamily="2" charset="-122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íṡḷïďè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" name="ïṣḻîḍê"/>
          <p:cNvCxnSpPr/>
          <p:nvPr/>
        </p:nvCxnSpPr>
        <p:spPr>
          <a:xfrm flipH="1" flipV="1">
            <a:off x="7443155" y="4839848"/>
            <a:ext cx="3059652" cy="22759"/>
          </a:xfrm>
          <a:prstGeom prst="line">
            <a:avLst/>
          </a:prstGeom>
          <a:ln w="76200" cap="rnd">
            <a:gradFill>
              <a:gsLst>
                <a:gs pos="100000">
                  <a:schemeClr val="tx1">
                    <a:lumMod val="50000"/>
                    <a:lumOff val="50000"/>
                    <a:alpha val="0"/>
                  </a:schemeClr>
                </a:gs>
                <a:gs pos="20000">
                  <a:schemeClr val="tx1">
                    <a:lumMod val="50000"/>
                    <a:lumOff val="50000"/>
                    <a:alpha val="30000"/>
                  </a:schemeClr>
                </a:gs>
              </a:gsLst>
              <a:lin ang="1200000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/>
          <p:cNvGrpSpPr/>
          <p:nvPr/>
        </p:nvGrpSpPr>
        <p:grpSpPr>
          <a:xfrm>
            <a:off x="1111291" y="1943518"/>
            <a:ext cx="10054975" cy="1289254"/>
            <a:chOff x="1068333" y="3353070"/>
            <a:chExt cx="10054975" cy="1289254"/>
          </a:xfrm>
          <a:solidFill>
            <a:schemeClr val="accent1">
              <a:lumMod val="60000"/>
              <a:lumOff val="40000"/>
            </a:schemeClr>
          </a:solidFill>
        </p:grpSpPr>
        <p:cxnSp>
          <p:nvCxnSpPr>
            <p:cNvPr id="16" name="ïṣḻîḍê"/>
            <p:cNvCxnSpPr/>
            <p:nvPr/>
          </p:nvCxnSpPr>
          <p:spPr>
            <a:xfrm flipH="1" flipV="1">
              <a:off x="5920740" y="3987377"/>
              <a:ext cx="3059652" cy="22759"/>
            </a:xfrm>
            <a:prstGeom prst="line">
              <a:avLst/>
            </a:prstGeom>
            <a:grpFill/>
            <a:ln w="76200" cap="rnd">
              <a:gradFill>
                <a:gsLst>
                  <a:gs pos="100000">
                    <a:schemeClr val="tx1">
                      <a:lumMod val="50000"/>
                      <a:lumOff val="50000"/>
                      <a:alpha val="0"/>
                    </a:schemeClr>
                  </a:gs>
                  <a:gs pos="20000">
                    <a:schemeClr val="tx1">
                      <a:lumMod val="50000"/>
                      <a:lumOff val="50000"/>
                      <a:alpha val="30000"/>
                    </a:schemeClr>
                  </a:gs>
                </a:gsLst>
                <a:lin ang="12000000" scaled="0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î$ľiḋe"/>
            <p:cNvCxnSpPr/>
            <p:nvPr/>
          </p:nvCxnSpPr>
          <p:spPr>
            <a:xfrm flipH="1">
              <a:off x="2397894" y="3987377"/>
              <a:ext cx="2193285" cy="0"/>
            </a:xfrm>
            <a:prstGeom prst="line">
              <a:avLst/>
            </a:prstGeom>
            <a:grpFill/>
            <a:ln w="76200" cap="rnd">
              <a:gradFill>
                <a:gsLst>
                  <a:gs pos="100000">
                    <a:schemeClr val="tx1">
                      <a:lumMod val="50000"/>
                      <a:lumOff val="50000"/>
                      <a:alpha val="0"/>
                    </a:schemeClr>
                  </a:gs>
                  <a:gs pos="20000">
                    <a:schemeClr val="tx1">
                      <a:lumMod val="50000"/>
                      <a:lumOff val="50000"/>
                      <a:alpha val="30000"/>
                    </a:schemeClr>
                  </a:gs>
                </a:gsLst>
                <a:lin ang="12000000" scaled="0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Bullet1"/>
            <p:cNvSpPr/>
            <p:nvPr/>
          </p:nvSpPr>
          <p:spPr>
            <a:xfrm>
              <a:off x="1068333" y="3409484"/>
              <a:ext cx="2193285" cy="1232840"/>
            </a:xfrm>
            <a:prstGeom prst="roundRect">
              <a:avLst/>
            </a:prstGeom>
            <a:grpFill/>
            <a:ln w="57150" cap="rnd">
              <a:noFill/>
              <a:prstDash val="solid"/>
              <a:round/>
            </a:ln>
            <a:effectLst>
              <a:outerShdw blurRad="50800" dist="50800" dir="5400000" algn="ctr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1" forceAA="0" compatLnSpc="1">
              <a:normAutofit/>
            </a:bodyPr>
            <a:lstStyle/>
            <a:p>
              <a:pPr algn="ctr" defTabSz="913765"/>
              <a:endParaRPr lang="zh-CN" altLang="en-US" sz="2400" b="1" dirty="0">
                <a:solidFill>
                  <a:srgbClr val="FFFFFF"/>
                </a:solidFill>
              </a:endParaRPr>
            </a:p>
          </p:txBody>
        </p:sp>
        <p:sp>
          <p:nvSpPr>
            <p:cNvPr id="7" name="Bullet2"/>
            <p:cNvSpPr/>
            <p:nvPr/>
          </p:nvSpPr>
          <p:spPr>
            <a:xfrm>
              <a:off x="4483399" y="3393716"/>
              <a:ext cx="2014143" cy="1232841"/>
            </a:xfrm>
            <a:prstGeom prst="roundRect">
              <a:avLst/>
            </a:prstGeom>
            <a:grpFill/>
            <a:ln w="57150" cap="rnd">
              <a:noFill/>
              <a:prstDash val="solid"/>
              <a:round/>
            </a:ln>
            <a:effectLst>
              <a:outerShdw blurRad="50800" dist="50800" dir="5400000" algn="ctr" rotWithShape="0">
                <a:schemeClr val="accent5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1" forceAA="0" compatLnSpc="1">
              <a:normAutofit/>
            </a:bodyPr>
            <a:lstStyle/>
            <a:p>
              <a:pPr algn="ctr" defTabSz="913765"/>
              <a:endParaRPr lang="zh-CN" altLang="en-US" sz="2400" b="1" dirty="0"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sp>
          <p:nvSpPr>
            <p:cNvPr id="9" name="Bullet3"/>
            <p:cNvSpPr/>
            <p:nvPr/>
          </p:nvSpPr>
          <p:spPr>
            <a:xfrm>
              <a:off x="8930023" y="3353070"/>
              <a:ext cx="2193285" cy="1257298"/>
            </a:xfrm>
            <a:prstGeom prst="roundRect">
              <a:avLst/>
            </a:prstGeom>
            <a:grpFill/>
            <a:ln w="57150" cap="rnd">
              <a:noFill/>
              <a:prstDash val="solid"/>
              <a:round/>
            </a:ln>
            <a:effectLst>
              <a:outerShdw blurRad="50800" dist="50800" dir="5400000" algn="ctr" rotWithShape="0">
                <a:schemeClr val="accent5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1" forceAA="0" compatLnSpc="1">
              <a:normAutofit/>
            </a:bodyPr>
            <a:lstStyle/>
            <a:p>
              <a:pPr algn="ctr" defTabSz="913765"/>
              <a:endParaRPr lang="en-US" altLang="zh-CN" sz="2400" b="1" dirty="0">
                <a:latin typeface="Times New Roman" panose="02020503050405090304" pitchFamily="18" charset="0"/>
                <a:ea typeface="Calibri" panose="020F0502020204030204" pitchFamily="34" charset="0"/>
                <a:cs typeface="Times New Roman" panose="02020503050405090304" pitchFamily="18" charset="0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1184933" y="3970814"/>
            <a:ext cx="10229288" cy="1738067"/>
            <a:chOff x="1068333" y="3118343"/>
            <a:chExt cx="10229288" cy="1738067"/>
          </a:xfrm>
          <a:solidFill>
            <a:schemeClr val="accent1">
              <a:lumMod val="60000"/>
              <a:lumOff val="40000"/>
            </a:schemeClr>
          </a:solidFill>
        </p:grpSpPr>
        <p:cxnSp>
          <p:nvCxnSpPr>
            <p:cNvPr id="15" name="ïṣḻîḍê"/>
            <p:cNvCxnSpPr/>
            <p:nvPr/>
          </p:nvCxnSpPr>
          <p:spPr>
            <a:xfrm flipH="1">
              <a:off x="5920740" y="3987377"/>
              <a:ext cx="2193285" cy="0"/>
            </a:xfrm>
            <a:prstGeom prst="line">
              <a:avLst/>
            </a:prstGeom>
            <a:grpFill/>
            <a:ln w="76200" cap="rnd">
              <a:gradFill>
                <a:gsLst>
                  <a:gs pos="100000">
                    <a:schemeClr val="tx1">
                      <a:lumMod val="50000"/>
                      <a:lumOff val="50000"/>
                      <a:alpha val="0"/>
                    </a:schemeClr>
                  </a:gs>
                  <a:gs pos="20000">
                    <a:schemeClr val="tx1">
                      <a:lumMod val="50000"/>
                      <a:lumOff val="50000"/>
                      <a:alpha val="30000"/>
                    </a:schemeClr>
                  </a:gs>
                </a:gsLst>
                <a:lin ang="12000000" scaled="0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î$ľiḋe"/>
            <p:cNvCxnSpPr/>
            <p:nvPr/>
          </p:nvCxnSpPr>
          <p:spPr>
            <a:xfrm flipH="1">
              <a:off x="2397894" y="3987377"/>
              <a:ext cx="2193285" cy="0"/>
            </a:xfrm>
            <a:prstGeom prst="line">
              <a:avLst/>
            </a:prstGeom>
            <a:grpFill/>
            <a:ln w="76200" cap="rnd">
              <a:gradFill>
                <a:gsLst>
                  <a:gs pos="100000">
                    <a:schemeClr val="tx1">
                      <a:lumMod val="50000"/>
                      <a:lumOff val="50000"/>
                      <a:alpha val="0"/>
                    </a:schemeClr>
                  </a:gs>
                  <a:gs pos="20000">
                    <a:schemeClr val="tx1">
                      <a:lumMod val="50000"/>
                      <a:lumOff val="50000"/>
                      <a:alpha val="30000"/>
                    </a:schemeClr>
                  </a:gs>
                </a:gsLst>
                <a:lin ang="12000000" scaled="0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Bullet1"/>
            <p:cNvSpPr/>
            <p:nvPr/>
          </p:nvSpPr>
          <p:spPr>
            <a:xfrm>
              <a:off x="1068333" y="3394647"/>
              <a:ext cx="2193285" cy="1232840"/>
            </a:xfrm>
            <a:prstGeom prst="roundRect">
              <a:avLst/>
            </a:prstGeom>
            <a:grpFill/>
            <a:ln w="57150" cap="rnd">
              <a:noFill/>
              <a:prstDash val="solid"/>
              <a:round/>
            </a:ln>
            <a:effectLst>
              <a:outerShdw blurRad="50800" dist="50800" dir="5400000" algn="ctr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1" forceAA="0" compatLnSpc="1">
              <a:normAutofit/>
            </a:bodyPr>
            <a:lstStyle/>
            <a:p>
              <a:pPr algn="ctr" defTabSz="913765"/>
              <a:endParaRPr lang="zh-CN" altLang="en-US" sz="2400" b="1" dirty="0">
                <a:solidFill>
                  <a:srgbClr val="FFFFFF"/>
                </a:solidFill>
              </a:endParaRPr>
            </a:p>
          </p:txBody>
        </p:sp>
        <p:sp>
          <p:nvSpPr>
            <p:cNvPr id="26" name="Bullet2"/>
            <p:cNvSpPr/>
            <p:nvPr/>
          </p:nvSpPr>
          <p:spPr>
            <a:xfrm>
              <a:off x="8888776" y="3359555"/>
              <a:ext cx="2408845" cy="1232840"/>
            </a:xfrm>
            <a:prstGeom prst="roundRect">
              <a:avLst/>
            </a:prstGeom>
            <a:grpFill/>
            <a:ln w="57150" cap="rnd">
              <a:noFill/>
              <a:prstDash val="solid"/>
              <a:round/>
            </a:ln>
            <a:effectLst>
              <a:outerShdw blurRad="50800" dist="50800" dir="5400000" algn="ctr" rotWithShape="0">
                <a:schemeClr val="accent5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1" forceAA="0" compatLnSpc="1">
              <a:normAutofit/>
            </a:bodyPr>
            <a:lstStyle/>
            <a:p>
              <a:pPr algn="ctr" defTabSz="913765"/>
              <a:r>
                <a:rPr lang="en-US" altLang="zh-CN" sz="2400" b="1" dirty="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rPr>
                <a:t>HR System</a:t>
              </a:r>
              <a:endParaRPr lang="zh-CN" altLang="en-US" sz="24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  <p:sp>
          <p:nvSpPr>
            <p:cNvPr id="24" name="Bullet3"/>
            <p:cNvSpPr/>
            <p:nvPr/>
          </p:nvSpPr>
          <p:spPr>
            <a:xfrm>
              <a:off x="4308601" y="3118343"/>
              <a:ext cx="3574440" cy="1738067"/>
            </a:xfrm>
            <a:prstGeom prst="roundRect">
              <a:avLst/>
            </a:prstGeom>
            <a:grpFill/>
            <a:ln w="57150" cap="rnd">
              <a:noFill/>
              <a:prstDash val="solid"/>
              <a:round/>
            </a:ln>
            <a:effectLst>
              <a:outerShdw blurRad="50800" dist="50800" dir="5400000" algn="ctr" rotWithShape="0">
                <a:schemeClr val="accent5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1" forceAA="0" compatLnSpc="1">
              <a:normAutofit/>
            </a:bodyPr>
            <a:lstStyle/>
            <a:p>
              <a:endParaRPr lang="en-US" altLang="zh-CN" sz="2400" b="1" dirty="0">
                <a:latin typeface="Times New Roman" panose="02020503050405090304" pitchFamily="18" charset="0"/>
                <a:cs typeface="Times New Roman" panose="02020503050405090304" pitchFamily="18" charset="0"/>
              </a:endParaRPr>
            </a:p>
          </p:txBody>
        </p:sp>
      </p:grpSp>
      <p:sp>
        <p:nvSpPr>
          <p:cNvPr id="30" name="Text2"/>
          <p:cNvSpPr txBox="1"/>
          <p:nvPr/>
        </p:nvSpPr>
        <p:spPr>
          <a:xfrm>
            <a:off x="8998166" y="2082129"/>
            <a:ext cx="2193284" cy="747223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lstStyle>
            <a:defPPr>
              <a:defRPr lang="zh-CN"/>
            </a:defPPr>
            <a:lvl1pPr algn="ctr">
              <a:lnSpc>
                <a:spcPts val="1500"/>
              </a:lnSpc>
              <a:defRPr sz="900">
                <a:solidFill>
                  <a:schemeClr val="tx1">
                    <a:lumMod val="85000"/>
                    <a:lumOff val="15000"/>
                    <a:alpha val="50000"/>
                  </a:schemeClr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503050405090304" pitchFamily="18" charset="0"/>
                <a:ea typeface="Calibri" panose="020F0502020204030204" pitchFamily="34" charset="0"/>
                <a:cs typeface="Times New Roman" panose="02020503050405090304" pitchFamily="18" charset="0"/>
              </a:rPr>
              <a:t>Sales</a:t>
            </a:r>
            <a:endParaRPr lang="en-US" altLang="zh-CN" sz="2400" b="1" dirty="0">
              <a:solidFill>
                <a:schemeClr val="tx1"/>
              </a:solidFill>
              <a:latin typeface="Times New Roman" panose="02020503050405090304" pitchFamily="18" charset="0"/>
              <a:ea typeface="Calibri" panose="020F0502020204030204" pitchFamily="34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503050405090304" pitchFamily="18" charset="0"/>
                <a:ea typeface="Calibri" panose="020F0502020204030204" pitchFamily="34" charset="0"/>
                <a:cs typeface="Times New Roman" panose="02020503050405090304" pitchFamily="18" charset="0"/>
              </a:rPr>
              <a:t>Marketing</a:t>
            </a:r>
            <a:endParaRPr lang="en-US" altLang="zh-CN" sz="2400" b="1" dirty="0">
              <a:solidFill>
                <a:schemeClr val="tx1"/>
              </a:solidFill>
              <a:latin typeface="Times New Roman" panose="02020503050405090304" pitchFamily="18" charset="0"/>
              <a:ea typeface="Calibri" panose="020F0502020204030204" pitchFamily="34" charset="0"/>
              <a:cs typeface="Times New Roman" panose="02020503050405090304" pitchFamily="18" charset="0"/>
            </a:endParaRPr>
          </a:p>
        </p:txBody>
      </p:sp>
      <p:sp>
        <p:nvSpPr>
          <p:cNvPr id="31" name="Text2"/>
          <p:cNvSpPr txBox="1"/>
          <p:nvPr/>
        </p:nvSpPr>
        <p:spPr>
          <a:xfrm>
            <a:off x="1502287" y="1999932"/>
            <a:ext cx="1877129" cy="781671"/>
          </a:xfrm>
          <a:prstGeom prst="rect">
            <a:avLst/>
          </a:prstGeom>
          <a:noFill/>
        </p:spPr>
        <p:txBody>
          <a:bodyPr wrap="square" rtlCol="0" anchor="t" anchorCtr="0">
            <a:normAutofit/>
          </a:bodyPr>
          <a:lstStyle>
            <a:defPPr>
              <a:defRPr lang="zh-CN"/>
            </a:defPPr>
            <a:lvl1pPr algn="ctr">
              <a:lnSpc>
                <a:spcPts val="1500"/>
              </a:lnSpc>
              <a:defRPr sz="900">
                <a:solidFill>
                  <a:schemeClr val="tx1">
                    <a:lumMod val="85000"/>
                    <a:lumOff val="15000"/>
                    <a:alpha val="50000"/>
                  </a:schemeClr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l">
              <a:lnSpc>
                <a:spcPct val="120000"/>
              </a:lnSpc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503050405090304" pitchFamily="18" charset="0"/>
                <a:ea typeface="Calibri" panose="020F0502020204030204" pitchFamily="34" charset="0"/>
                <a:cs typeface="Times New Roman" panose="02020503050405090304" pitchFamily="18" charset="0"/>
              </a:rPr>
              <a:t>External</a:t>
            </a:r>
            <a:endParaRPr lang="en-US" altLang="zh-CN" sz="2400" b="1" dirty="0">
              <a:solidFill>
                <a:schemeClr val="tx1"/>
              </a:solidFill>
              <a:latin typeface="Times New Roman" panose="02020503050405090304" pitchFamily="18" charset="0"/>
              <a:ea typeface="Calibri" panose="020F0502020204030204" pitchFamily="34" charset="0"/>
              <a:cs typeface="Times New Roman" panose="02020503050405090304" pitchFamily="18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370944" y="455334"/>
            <a:ext cx="49630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Rufusy’s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Background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0" name="right-arrow_226"/>
          <p:cNvSpPr/>
          <p:nvPr/>
        </p:nvSpPr>
        <p:spPr>
          <a:xfrm rot="5400000">
            <a:off x="5253508" y="3429019"/>
            <a:ext cx="605976" cy="383907"/>
          </a:xfrm>
          <a:custGeom>
            <a:avLst/>
            <a:gdLst>
              <a:gd name="T0" fmla="*/ 0 w 420"/>
              <a:gd name="T1" fmla="*/ 181 h 361"/>
              <a:gd name="T2" fmla="*/ 41 w 420"/>
              <a:gd name="T3" fmla="*/ 222 h 361"/>
              <a:gd name="T4" fmla="*/ 275 w 420"/>
              <a:gd name="T5" fmla="*/ 222 h 361"/>
              <a:gd name="T6" fmla="*/ 212 w 420"/>
              <a:gd name="T7" fmla="*/ 285 h 361"/>
              <a:gd name="T8" fmla="*/ 210 w 420"/>
              <a:gd name="T9" fmla="*/ 345 h 361"/>
              <a:gd name="T10" fmla="*/ 270 w 420"/>
              <a:gd name="T11" fmla="*/ 343 h 361"/>
              <a:gd name="T12" fmla="*/ 402 w 420"/>
              <a:gd name="T13" fmla="*/ 211 h 361"/>
              <a:gd name="T14" fmla="*/ 404 w 420"/>
              <a:gd name="T15" fmla="*/ 151 h 361"/>
              <a:gd name="T16" fmla="*/ 402 w 420"/>
              <a:gd name="T17" fmla="*/ 150 h 361"/>
              <a:gd name="T18" fmla="*/ 401 w 420"/>
              <a:gd name="T19" fmla="*/ 148 h 361"/>
              <a:gd name="T20" fmla="*/ 271 w 420"/>
              <a:gd name="T21" fmla="*/ 18 h 361"/>
              <a:gd name="T22" fmla="*/ 211 w 420"/>
              <a:gd name="T23" fmla="*/ 16 h 361"/>
              <a:gd name="T24" fmla="*/ 213 w 420"/>
              <a:gd name="T25" fmla="*/ 76 h 361"/>
              <a:gd name="T26" fmla="*/ 276 w 420"/>
              <a:gd name="T27" fmla="*/ 139 h 361"/>
              <a:gd name="T28" fmla="*/ 41 w 420"/>
              <a:gd name="T29" fmla="*/ 139 h 361"/>
              <a:gd name="T30" fmla="*/ 0 w 420"/>
              <a:gd name="T31" fmla="*/ 181 h 3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420" h="361">
                <a:moveTo>
                  <a:pt x="0" y="181"/>
                </a:moveTo>
                <a:cubicBezTo>
                  <a:pt x="0" y="203"/>
                  <a:pt x="18" y="222"/>
                  <a:pt x="41" y="222"/>
                </a:cubicBezTo>
                <a:lnTo>
                  <a:pt x="275" y="222"/>
                </a:lnTo>
                <a:lnTo>
                  <a:pt x="212" y="285"/>
                </a:lnTo>
                <a:cubicBezTo>
                  <a:pt x="195" y="302"/>
                  <a:pt x="194" y="329"/>
                  <a:pt x="210" y="345"/>
                </a:cubicBezTo>
                <a:cubicBezTo>
                  <a:pt x="226" y="361"/>
                  <a:pt x="253" y="360"/>
                  <a:pt x="270" y="343"/>
                </a:cubicBezTo>
                <a:lnTo>
                  <a:pt x="402" y="211"/>
                </a:lnTo>
                <a:cubicBezTo>
                  <a:pt x="419" y="194"/>
                  <a:pt x="420" y="167"/>
                  <a:pt x="404" y="151"/>
                </a:cubicBezTo>
                <a:cubicBezTo>
                  <a:pt x="403" y="151"/>
                  <a:pt x="403" y="150"/>
                  <a:pt x="402" y="150"/>
                </a:cubicBezTo>
                <a:cubicBezTo>
                  <a:pt x="402" y="149"/>
                  <a:pt x="401" y="149"/>
                  <a:pt x="401" y="148"/>
                </a:cubicBezTo>
                <a:lnTo>
                  <a:pt x="271" y="18"/>
                </a:lnTo>
                <a:cubicBezTo>
                  <a:pt x="254" y="1"/>
                  <a:pt x="227" y="0"/>
                  <a:pt x="211" y="16"/>
                </a:cubicBezTo>
                <a:cubicBezTo>
                  <a:pt x="195" y="32"/>
                  <a:pt x="196" y="59"/>
                  <a:pt x="213" y="76"/>
                </a:cubicBezTo>
                <a:lnTo>
                  <a:pt x="276" y="139"/>
                </a:lnTo>
                <a:lnTo>
                  <a:pt x="41" y="139"/>
                </a:lnTo>
                <a:cubicBezTo>
                  <a:pt x="18" y="139"/>
                  <a:pt x="0" y="158"/>
                  <a:pt x="0" y="18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2"/>
          <p:cNvSpPr txBox="1"/>
          <p:nvPr/>
        </p:nvSpPr>
        <p:spPr>
          <a:xfrm>
            <a:off x="1445568" y="4321351"/>
            <a:ext cx="1877129" cy="781671"/>
          </a:xfrm>
          <a:prstGeom prst="rect">
            <a:avLst/>
          </a:prstGeom>
          <a:noFill/>
        </p:spPr>
        <p:txBody>
          <a:bodyPr wrap="square" rtlCol="0" anchor="t" anchorCtr="0">
            <a:normAutofit/>
          </a:bodyPr>
          <a:lstStyle>
            <a:defPPr>
              <a:defRPr lang="zh-CN"/>
            </a:defPPr>
            <a:lvl1pPr algn="ctr">
              <a:lnSpc>
                <a:spcPts val="1500"/>
              </a:lnSpc>
              <a:defRPr sz="900">
                <a:solidFill>
                  <a:schemeClr val="tx1">
                    <a:lumMod val="85000"/>
                    <a:lumOff val="15000"/>
                    <a:alpha val="50000"/>
                  </a:schemeClr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l">
              <a:lnSpc>
                <a:spcPct val="12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503050405090304" pitchFamily="18" charset="0"/>
                <a:ea typeface="Calibri" panose="020F0502020204030204" pitchFamily="34" charset="0"/>
                <a:cs typeface="Times New Roman" panose="02020503050405090304" pitchFamily="18" charset="0"/>
              </a:rPr>
              <a:t> 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503050405090304" pitchFamily="18" charset="0"/>
                <a:ea typeface="Calibri" panose="020F0502020204030204" pitchFamily="34" charset="0"/>
                <a:cs typeface="Times New Roman" panose="02020503050405090304" pitchFamily="18" charset="0"/>
              </a:rPr>
              <a:t>Internal</a:t>
            </a:r>
            <a:endParaRPr lang="en-US" altLang="zh-CN" sz="2400" b="1" dirty="0">
              <a:solidFill>
                <a:schemeClr val="tx1"/>
              </a:solidFill>
              <a:latin typeface="Times New Roman" panose="02020503050405090304" pitchFamily="18" charset="0"/>
              <a:ea typeface="Calibri" panose="020F0502020204030204" pitchFamily="34" charset="0"/>
              <a:cs typeface="Times New Roman" panose="02020503050405090304" pitchFamily="18" charset="0"/>
            </a:endParaRPr>
          </a:p>
        </p:txBody>
      </p:sp>
      <p:sp>
        <p:nvSpPr>
          <p:cNvPr id="43" name="Text2"/>
          <p:cNvSpPr txBox="1"/>
          <p:nvPr/>
        </p:nvSpPr>
        <p:spPr>
          <a:xfrm>
            <a:off x="1502287" y="4812565"/>
            <a:ext cx="1636128" cy="747223"/>
          </a:xfrm>
          <a:prstGeom prst="rect">
            <a:avLst/>
          </a:prstGeom>
          <a:noFill/>
        </p:spPr>
        <p:txBody>
          <a:bodyPr wrap="square" rtlCol="0" anchor="t" anchorCtr="0">
            <a:normAutofit/>
          </a:bodyPr>
          <a:lstStyle>
            <a:defPPr>
              <a:defRPr lang="zh-CN"/>
            </a:defPPr>
            <a:lvl1pPr algn="ctr">
              <a:lnSpc>
                <a:spcPts val="1500"/>
              </a:lnSpc>
              <a:defRPr sz="900">
                <a:solidFill>
                  <a:schemeClr val="tx1">
                    <a:lumMod val="85000"/>
                    <a:lumOff val="15000"/>
                    <a:alpha val="50000"/>
                  </a:schemeClr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l">
              <a:lnSpc>
                <a:spcPct val="120000"/>
              </a:lnSpc>
            </a:pPr>
            <a:r>
              <a:rPr lang="en-US" altLang="zh-CN" sz="1800" b="1" dirty="0">
                <a:solidFill>
                  <a:schemeClr val="tx1"/>
                </a:solidFill>
                <a:latin typeface="Times New Roman" panose="02020503050405090304" pitchFamily="18" charset="0"/>
                <a:ea typeface="Calibri" panose="020F0502020204030204" pitchFamily="34" charset="0"/>
                <a:cs typeface="Times New Roman" panose="02020503050405090304" pitchFamily="18" charset="0"/>
              </a:rPr>
              <a:t>Employees</a:t>
            </a:r>
            <a:endParaRPr lang="en-US" altLang="zh-CN" sz="1800" b="1" dirty="0">
              <a:solidFill>
                <a:schemeClr val="tx1"/>
              </a:solidFill>
              <a:latin typeface="Times New Roman" panose="02020503050405090304" pitchFamily="18" charset="0"/>
              <a:ea typeface="Calibri" panose="020F0502020204030204" pitchFamily="34" charset="0"/>
              <a:cs typeface="Times New Roman" panose="02020503050405090304" pitchFamily="18" charset="0"/>
            </a:endParaRPr>
          </a:p>
        </p:txBody>
      </p:sp>
      <p:sp>
        <p:nvSpPr>
          <p:cNvPr id="46" name="椭圆 45"/>
          <p:cNvSpPr/>
          <p:nvPr/>
        </p:nvSpPr>
        <p:spPr>
          <a:xfrm>
            <a:off x="1426526" y="4987729"/>
            <a:ext cx="91288" cy="9366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2"/>
          <p:cNvSpPr txBox="1"/>
          <p:nvPr/>
        </p:nvSpPr>
        <p:spPr>
          <a:xfrm>
            <a:off x="5025132" y="2306274"/>
            <a:ext cx="1877129" cy="781671"/>
          </a:xfrm>
          <a:prstGeom prst="rect">
            <a:avLst/>
          </a:prstGeom>
          <a:noFill/>
        </p:spPr>
        <p:txBody>
          <a:bodyPr wrap="square" rtlCol="0" anchor="t" anchorCtr="0">
            <a:normAutofit/>
          </a:bodyPr>
          <a:lstStyle>
            <a:defPPr>
              <a:defRPr lang="zh-CN"/>
            </a:defPPr>
            <a:lvl1pPr algn="ctr">
              <a:lnSpc>
                <a:spcPts val="1500"/>
              </a:lnSpc>
              <a:defRPr sz="900">
                <a:solidFill>
                  <a:schemeClr val="tx1">
                    <a:lumMod val="85000"/>
                    <a:lumOff val="15000"/>
                    <a:alpha val="50000"/>
                  </a:schemeClr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l">
              <a:lnSpc>
                <a:spcPct val="120000"/>
              </a:lnSpc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503050405090304" pitchFamily="18" charset="0"/>
                <a:ea typeface="Calibri" panose="020F0502020204030204" pitchFamily="34" charset="0"/>
                <a:cs typeface="Times New Roman" panose="02020503050405090304" pitchFamily="18" charset="0"/>
              </a:rPr>
              <a:t>Rufus</a:t>
            </a:r>
            <a:endParaRPr lang="en-US" altLang="zh-CN" sz="2400" b="1" dirty="0">
              <a:solidFill>
                <a:schemeClr val="tx1"/>
              </a:solidFill>
              <a:latin typeface="Times New Roman" panose="02020503050405090304" pitchFamily="18" charset="0"/>
              <a:ea typeface="Calibri" panose="020F0502020204030204" pitchFamily="34" charset="0"/>
              <a:cs typeface="Times New Roman" panose="02020503050405090304" pitchFamily="18" charset="0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1455845" y="2407991"/>
            <a:ext cx="1456366" cy="747223"/>
            <a:chOff x="4900593" y="1816860"/>
            <a:chExt cx="1456366" cy="747223"/>
          </a:xfrm>
        </p:grpSpPr>
        <p:sp>
          <p:nvSpPr>
            <p:cNvPr id="8" name="Text2"/>
            <p:cNvSpPr txBox="1"/>
            <p:nvPr/>
          </p:nvSpPr>
          <p:spPr>
            <a:xfrm>
              <a:off x="4946237" y="1816860"/>
              <a:ext cx="1410722" cy="747223"/>
            </a:xfrm>
            <a:prstGeom prst="rect">
              <a:avLst/>
            </a:prstGeom>
            <a:noFill/>
          </p:spPr>
          <p:txBody>
            <a:bodyPr wrap="square" rtlCol="0" anchor="t" anchorCtr="0">
              <a:normAutofit/>
            </a:bodyPr>
            <a:lstStyle>
              <a:defPPr>
                <a:defRPr lang="zh-CN"/>
              </a:defPPr>
              <a:lvl1pPr algn="ctr">
                <a:lnSpc>
                  <a:spcPts val="1500"/>
                </a:lnSpc>
                <a:defRPr sz="900">
                  <a:solidFill>
                    <a:schemeClr val="tx1">
                      <a:lumMod val="85000"/>
                      <a:lumOff val="15000"/>
                      <a:alpha val="50000"/>
                    </a:schemeClr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l">
                <a:lnSpc>
                  <a:spcPct val="12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Times New Roman" panose="02020503050405090304" pitchFamily="18" charset="0"/>
                  <a:ea typeface="Calibri" panose="020F0502020204030204" pitchFamily="34" charset="0"/>
                  <a:cs typeface="Times New Roman" panose="02020503050405090304" pitchFamily="18" charset="0"/>
                </a:rPr>
                <a:t>Consumers</a:t>
              </a:r>
              <a:endParaRPr lang="en-US" altLang="zh-CN" sz="1800" b="1" dirty="0">
                <a:solidFill>
                  <a:schemeClr val="tx1"/>
                </a:solidFill>
                <a:latin typeface="Times New Roman" panose="02020503050405090304" pitchFamily="18" charset="0"/>
                <a:ea typeface="Calibri" panose="020F0502020204030204" pitchFamily="34" charset="0"/>
                <a:cs typeface="Times New Roman" panose="02020503050405090304" pitchFamily="18" charset="0"/>
              </a:endParaRPr>
            </a:p>
            <a:p>
              <a:pPr algn="l">
                <a:lnSpc>
                  <a:spcPct val="12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Times New Roman" panose="02020503050405090304" pitchFamily="18" charset="0"/>
                  <a:ea typeface="Calibri" panose="020F0502020204030204" pitchFamily="34" charset="0"/>
                  <a:cs typeface="Times New Roman" panose="02020503050405090304" pitchFamily="18" charset="0"/>
                </a:rPr>
                <a:t>Sellers</a:t>
              </a:r>
              <a:endParaRPr lang="en-US" altLang="zh-CN" sz="1800" b="1" dirty="0">
                <a:solidFill>
                  <a:schemeClr val="tx1"/>
                </a:solidFill>
                <a:latin typeface="Times New Roman" panose="02020503050405090304" pitchFamily="18" charset="0"/>
                <a:ea typeface="Calibri" panose="020F0502020204030204" pitchFamily="34" charset="0"/>
                <a:cs typeface="Times New Roman" panose="02020503050405090304" pitchFamily="18" charset="0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4900593" y="1985023"/>
              <a:ext cx="91288" cy="93662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/>
            <p:cNvSpPr/>
            <p:nvPr/>
          </p:nvSpPr>
          <p:spPr>
            <a:xfrm>
              <a:off x="4903959" y="2335343"/>
              <a:ext cx="91288" cy="93662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0" name="Text2"/>
          <p:cNvSpPr txBox="1"/>
          <p:nvPr/>
        </p:nvSpPr>
        <p:spPr>
          <a:xfrm>
            <a:off x="5556497" y="4067888"/>
            <a:ext cx="1164561" cy="559676"/>
          </a:xfrm>
          <a:prstGeom prst="rect">
            <a:avLst/>
          </a:prstGeom>
          <a:noFill/>
        </p:spPr>
        <p:txBody>
          <a:bodyPr wrap="square" rtlCol="0" anchor="t" anchorCtr="0">
            <a:normAutofit/>
          </a:bodyPr>
          <a:lstStyle>
            <a:defPPr>
              <a:defRPr lang="zh-CN"/>
            </a:defPPr>
            <a:lvl1pPr algn="ctr">
              <a:lnSpc>
                <a:spcPts val="1500"/>
              </a:lnSpc>
              <a:defRPr sz="900">
                <a:solidFill>
                  <a:schemeClr val="tx1">
                    <a:lumMod val="85000"/>
                    <a:lumOff val="15000"/>
                    <a:alpha val="50000"/>
                  </a:schemeClr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l">
              <a:lnSpc>
                <a:spcPct val="120000"/>
              </a:lnSpc>
            </a:pPr>
            <a:r>
              <a:rPr lang="en-US" altLang="zh-CN" sz="2400" b="1" dirty="0" err="1">
                <a:solidFill>
                  <a:schemeClr val="tx1"/>
                </a:solidFill>
                <a:latin typeface="Times New Roman" panose="02020503050405090304" pitchFamily="18" charset="0"/>
                <a:ea typeface="Calibri" panose="020F0502020204030204" pitchFamily="34" charset="0"/>
                <a:cs typeface="Times New Roman" panose="02020503050405090304" pitchFamily="18" charset="0"/>
              </a:rPr>
              <a:t>Rufusy</a:t>
            </a:r>
            <a:endParaRPr lang="en-US" altLang="zh-CN" sz="2400" b="1" dirty="0">
              <a:solidFill>
                <a:schemeClr val="tx1"/>
              </a:solidFill>
              <a:latin typeface="Times New Roman" panose="02020503050405090304" pitchFamily="18" charset="0"/>
              <a:ea typeface="Calibri" panose="020F0502020204030204" pitchFamily="34" charset="0"/>
              <a:cs typeface="Times New Roman" panose="02020503050405090304" pitchFamily="18" charset="0"/>
            </a:endParaRPr>
          </a:p>
        </p:txBody>
      </p:sp>
      <p:sp>
        <p:nvSpPr>
          <p:cNvPr id="22" name="Text2"/>
          <p:cNvSpPr txBox="1"/>
          <p:nvPr/>
        </p:nvSpPr>
        <p:spPr>
          <a:xfrm>
            <a:off x="4681567" y="4511739"/>
            <a:ext cx="3851974" cy="1139303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lstStyle>
            <a:defPPr>
              <a:defRPr lang="zh-CN"/>
            </a:defPPr>
            <a:lvl1pPr algn="ctr">
              <a:lnSpc>
                <a:spcPts val="1500"/>
              </a:lnSpc>
              <a:defRPr sz="900">
                <a:solidFill>
                  <a:schemeClr val="tx1">
                    <a:lumMod val="85000"/>
                    <a:lumOff val="15000"/>
                    <a:alpha val="50000"/>
                  </a:schemeClr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l">
              <a:lnSpc>
                <a:spcPct val="120000"/>
              </a:lnSpc>
            </a:pPr>
            <a:r>
              <a:rPr lang="en-US" altLang="zh-CN" sz="1800" b="1" dirty="0">
                <a:solidFill>
                  <a:schemeClr val="tx1"/>
                </a:solidFill>
                <a:latin typeface="Times New Roman" panose="02020503050405090304" pitchFamily="18" charset="0"/>
                <a:ea typeface="Calibri" panose="020F0502020204030204" pitchFamily="34" charset="0"/>
                <a:cs typeface="Times New Roman" panose="02020503050405090304" pitchFamily="18" charset="0"/>
              </a:rPr>
              <a:t>Personalization</a:t>
            </a:r>
            <a:endParaRPr lang="en-US" altLang="zh-CN" sz="1800" b="1" dirty="0">
              <a:solidFill>
                <a:schemeClr val="tx1"/>
              </a:solidFill>
              <a:latin typeface="Times New Roman" panose="02020503050405090304" pitchFamily="18" charset="0"/>
              <a:ea typeface="Calibri" panose="020F0502020204030204" pitchFamily="34" charset="0"/>
              <a:cs typeface="Times New Roman" panose="02020503050405090304" pitchFamily="18" charset="0"/>
            </a:endParaRPr>
          </a:p>
          <a:p>
            <a:pPr algn="l">
              <a:lnSpc>
                <a:spcPct val="120000"/>
              </a:lnSpc>
            </a:pPr>
            <a:r>
              <a:rPr lang="en-US" altLang="zh-CN" sz="1800" b="1" dirty="0">
                <a:solidFill>
                  <a:schemeClr val="tx1"/>
                </a:solidFill>
                <a:latin typeface="Times New Roman" panose="02020503050405090304" pitchFamily="18" charset="0"/>
                <a:ea typeface="Calibri" panose="020F0502020204030204" pitchFamily="34" charset="0"/>
                <a:cs typeface="Times New Roman" panose="02020503050405090304" pitchFamily="18" charset="0"/>
              </a:rPr>
              <a:t>Automation</a:t>
            </a:r>
            <a:endParaRPr lang="en-US" altLang="zh-CN" sz="1800" b="1" dirty="0">
              <a:solidFill>
                <a:schemeClr val="tx1"/>
              </a:solidFill>
              <a:latin typeface="Times New Roman" panose="02020503050405090304" pitchFamily="18" charset="0"/>
              <a:ea typeface="Calibri" panose="020F0502020204030204" pitchFamily="34" charset="0"/>
              <a:cs typeface="Times New Roman" panose="02020503050405090304" pitchFamily="18" charset="0"/>
            </a:endParaRPr>
          </a:p>
          <a:p>
            <a:pPr algn="l">
              <a:lnSpc>
                <a:spcPct val="120000"/>
              </a:lnSpc>
            </a:pPr>
            <a:r>
              <a:rPr lang="en-US" altLang="zh-CN" sz="1800" b="1" dirty="0">
                <a:solidFill>
                  <a:schemeClr val="tx1"/>
                </a:solidFill>
                <a:latin typeface="Times New Roman" panose="02020503050405090304" pitchFamily="18" charset="0"/>
                <a:ea typeface="Calibri" panose="020F0502020204030204" pitchFamily="34" charset="0"/>
                <a:cs typeface="Times New Roman" panose="02020503050405090304" pitchFamily="18" charset="0"/>
              </a:rPr>
              <a:t>Data-Driven Decision-Making</a:t>
            </a:r>
            <a:endParaRPr lang="en-US" altLang="zh-CN" sz="1800" b="1" dirty="0">
              <a:solidFill>
                <a:schemeClr val="tx1"/>
              </a:solidFill>
              <a:latin typeface="Times New Roman" panose="02020503050405090304" pitchFamily="18" charset="0"/>
              <a:ea typeface="Calibri" panose="020F0502020204030204" pitchFamily="34" charset="0"/>
              <a:cs typeface="Times New Roman" panose="02020503050405090304" pitchFamily="18" charset="0"/>
            </a:endParaRPr>
          </a:p>
        </p:txBody>
      </p:sp>
      <p:sp>
        <p:nvSpPr>
          <p:cNvPr id="29" name="椭圆 28"/>
          <p:cNvSpPr/>
          <p:nvPr/>
        </p:nvSpPr>
        <p:spPr>
          <a:xfrm>
            <a:off x="4591950" y="4677073"/>
            <a:ext cx="91288" cy="9366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/>
          <p:cNvSpPr/>
          <p:nvPr/>
        </p:nvSpPr>
        <p:spPr>
          <a:xfrm>
            <a:off x="4593620" y="5037932"/>
            <a:ext cx="91288" cy="9366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/>
          <p:cNvSpPr/>
          <p:nvPr/>
        </p:nvSpPr>
        <p:spPr>
          <a:xfrm>
            <a:off x="4603824" y="5393882"/>
            <a:ext cx="91288" cy="9366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right-arrow_226"/>
          <p:cNvSpPr/>
          <p:nvPr/>
        </p:nvSpPr>
        <p:spPr>
          <a:xfrm rot="5400000">
            <a:off x="9791820" y="3493369"/>
            <a:ext cx="605976" cy="383907"/>
          </a:xfrm>
          <a:custGeom>
            <a:avLst/>
            <a:gdLst>
              <a:gd name="T0" fmla="*/ 0 w 420"/>
              <a:gd name="T1" fmla="*/ 181 h 361"/>
              <a:gd name="T2" fmla="*/ 41 w 420"/>
              <a:gd name="T3" fmla="*/ 222 h 361"/>
              <a:gd name="T4" fmla="*/ 275 w 420"/>
              <a:gd name="T5" fmla="*/ 222 h 361"/>
              <a:gd name="T6" fmla="*/ 212 w 420"/>
              <a:gd name="T7" fmla="*/ 285 h 361"/>
              <a:gd name="T8" fmla="*/ 210 w 420"/>
              <a:gd name="T9" fmla="*/ 345 h 361"/>
              <a:gd name="T10" fmla="*/ 270 w 420"/>
              <a:gd name="T11" fmla="*/ 343 h 361"/>
              <a:gd name="T12" fmla="*/ 402 w 420"/>
              <a:gd name="T13" fmla="*/ 211 h 361"/>
              <a:gd name="T14" fmla="*/ 404 w 420"/>
              <a:gd name="T15" fmla="*/ 151 h 361"/>
              <a:gd name="T16" fmla="*/ 402 w 420"/>
              <a:gd name="T17" fmla="*/ 150 h 361"/>
              <a:gd name="T18" fmla="*/ 401 w 420"/>
              <a:gd name="T19" fmla="*/ 148 h 361"/>
              <a:gd name="T20" fmla="*/ 271 w 420"/>
              <a:gd name="T21" fmla="*/ 18 h 361"/>
              <a:gd name="T22" fmla="*/ 211 w 420"/>
              <a:gd name="T23" fmla="*/ 16 h 361"/>
              <a:gd name="T24" fmla="*/ 213 w 420"/>
              <a:gd name="T25" fmla="*/ 76 h 361"/>
              <a:gd name="T26" fmla="*/ 276 w 420"/>
              <a:gd name="T27" fmla="*/ 139 h 361"/>
              <a:gd name="T28" fmla="*/ 41 w 420"/>
              <a:gd name="T29" fmla="*/ 139 h 361"/>
              <a:gd name="T30" fmla="*/ 0 w 420"/>
              <a:gd name="T31" fmla="*/ 181 h 3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420" h="361">
                <a:moveTo>
                  <a:pt x="0" y="181"/>
                </a:moveTo>
                <a:cubicBezTo>
                  <a:pt x="0" y="203"/>
                  <a:pt x="18" y="222"/>
                  <a:pt x="41" y="222"/>
                </a:cubicBezTo>
                <a:lnTo>
                  <a:pt x="275" y="222"/>
                </a:lnTo>
                <a:lnTo>
                  <a:pt x="212" y="285"/>
                </a:lnTo>
                <a:cubicBezTo>
                  <a:pt x="195" y="302"/>
                  <a:pt x="194" y="329"/>
                  <a:pt x="210" y="345"/>
                </a:cubicBezTo>
                <a:cubicBezTo>
                  <a:pt x="226" y="361"/>
                  <a:pt x="253" y="360"/>
                  <a:pt x="270" y="343"/>
                </a:cubicBezTo>
                <a:lnTo>
                  <a:pt x="402" y="211"/>
                </a:lnTo>
                <a:cubicBezTo>
                  <a:pt x="419" y="194"/>
                  <a:pt x="420" y="167"/>
                  <a:pt x="404" y="151"/>
                </a:cubicBezTo>
                <a:cubicBezTo>
                  <a:pt x="403" y="151"/>
                  <a:pt x="403" y="150"/>
                  <a:pt x="402" y="150"/>
                </a:cubicBezTo>
                <a:cubicBezTo>
                  <a:pt x="402" y="149"/>
                  <a:pt x="401" y="149"/>
                  <a:pt x="401" y="148"/>
                </a:cubicBezTo>
                <a:lnTo>
                  <a:pt x="271" y="18"/>
                </a:lnTo>
                <a:cubicBezTo>
                  <a:pt x="254" y="1"/>
                  <a:pt x="227" y="0"/>
                  <a:pt x="211" y="16"/>
                </a:cubicBezTo>
                <a:cubicBezTo>
                  <a:pt x="195" y="32"/>
                  <a:pt x="196" y="59"/>
                  <a:pt x="213" y="76"/>
                </a:cubicBezTo>
                <a:lnTo>
                  <a:pt x="276" y="139"/>
                </a:lnTo>
                <a:lnTo>
                  <a:pt x="41" y="139"/>
                </a:lnTo>
                <a:cubicBezTo>
                  <a:pt x="18" y="139"/>
                  <a:pt x="0" y="158"/>
                  <a:pt x="0" y="18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mponentBackground1"/>
          <p:cNvSpPr/>
          <p:nvPr/>
        </p:nvSpPr>
        <p:spPr>
          <a:xfrm>
            <a:off x="740534" y="1512405"/>
            <a:ext cx="5167611" cy="4421150"/>
          </a:xfrm>
          <a:custGeom>
            <a:avLst/>
            <a:gdLst>
              <a:gd name="connsiteX0" fmla="*/ 0 w 5236882"/>
              <a:gd name="connsiteY0" fmla="*/ 4501974 h 4717974"/>
              <a:gd name="connsiteX1" fmla="*/ 0 w 5236882"/>
              <a:gd name="connsiteY1" fmla="*/ 216000 h 4717974"/>
              <a:gd name="connsiteX2" fmla="*/ 216000 w 5236882"/>
              <a:gd name="connsiteY2" fmla="*/ 0 h 4717974"/>
              <a:gd name="connsiteX3" fmla="*/ 3922763 w 5236882"/>
              <a:gd name="connsiteY3" fmla="*/ 0 h 4717974"/>
              <a:gd name="connsiteX4" fmla="*/ 4132006 w 5236882"/>
              <a:gd name="connsiteY4" fmla="*/ 162395 h 4717974"/>
              <a:gd name="connsiteX5" fmla="*/ 5230007 w 5236882"/>
              <a:gd name="connsiteY5" fmla="*/ 4448369 h 4717974"/>
              <a:gd name="connsiteX6" fmla="*/ 5020765 w 5236882"/>
              <a:gd name="connsiteY6" fmla="*/ 4717974 h 4717974"/>
              <a:gd name="connsiteX7" fmla="*/ 216000 w 5236882"/>
              <a:gd name="connsiteY7" fmla="*/ 4717974 h 4717974"/>
              <a:gd name="connsiteX8" fmla="*/ 0 w 5236882"/>
              <a:gd name="connsiteY8" fmla="*/ 4501974 h 4717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236882" h="4717974">
                <a:moveTo>
                  <a:pt x="0" y="4501974"/>
                </a:moveTo>
                <a:lnTo>
                  <a:pt x="0" y="216000"/>
                </a:lnTo>
                <a:cubicBezTo>
                  <a:pt x="0" y="96768"/>
                  <a:pt x="96768" y="0"/>
                  <a:pt x="216000" y="0"/>
                </a:cubicBezTo>
                <a:lnTo>
                  <a:pt x="3922763" y="0"/>
                </a:lnTo>
                <a:cubicBezTo>
                  <a:pt x="4021335" y="0"/>
                  <a:pt x="4107543" y="66907"/>
                  <a:pt x="4132006" y="162395"/>
                </a:cubicBezTo>
                <a:lnTo>
                  <a:pt x="5230007" y="4448369"/>
                </a:lnTo>
                <a:cubicBezTo>
                  <a:pt x="5265025" y="4585059"/>
                  <a:pt x="5161868" y="4717974"/>
                  <a:pt x="5020765" y="4717974"/>
                </a:cubicBezTo>
                <a:lnTo>
                  <a:pt x="216000" y="4717974"/>
                </a:lnTo>
                <a:cubicBezTo>
                  <a:pt x="96768" y="4717974"/>
                  <a:pt x="0" y="4621206"/>
                  <a:pt x="0" y="4501974"/>
                </a:cubicBezTo>
              </a:path>
            </a:pathLst>
          </a:custGeom>
          <a:gradFill>
            <a:gsLst>
              <a:gs pos="7000">
                <a:srgbClr val="FFFFFF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1"/>
          </a:gradFill>
          <a:ln>
            <a:noFill/>
          </a:ln>
          <a:effectLst>
            <a:outerShdw blurRad="114300" dist="50800" dir="1800000" sx="101000" sy="101000" algn="ctr" rotWithShape="0">
              <a:schemeClr val="accent1">
                <a:lumMod val="75000"/>
                <a:alpha val="19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6" name="Shape1"/>
          <p:cNvSpPr/>
          <p:nvPr/>
        </p:nvSpPr>
        <p:spPr>
          <a:xfrm>
            <a:off x="740534" y="1512405"/>
            <a:ext cx="4235693" cy="739137"/>
          </a:xfrm>
          <a:custGeom>
            <a:avLst/>
            <a:gdLst>
              <a:gd name="connsiteX0" fmla="*/ 216000 w 4292472"/>
              <a:gd name="connsiteY0" fmla="*/ 0 h 788761"/>
              <a:gd name="connsiteX1" fmla="*/ 3922763 w 4292472"/>
              <a:gd name="connsiteY1" fmla="*/ 0 h 788761"/>
              <a:gd name="connsiteX2" fmla="*/ 4132006 w 4292472"/>
              <a:gd name="connsiteY2" fmla="*/ 162395 h 788761"/>
              <a:gd name="connsiteX3" fmla="*/ 4292472 w 4292472"/>
              <a:gd name="connsiteY3" fmla="*/ 788761 h 788761"/>
              <a:gd name="connsiteX4" fmla="*/ 0 w 4292472"/>
              <a:gd name="connsiteY4" fmla="*/ 788761 h 788761"/>
              <a:gd name="connsiteX5" fmla="*/ 0 w 4292472"/>
              <a:gd name="connsiteY5" fmla="*/ 216000 h 788761"/>
              <a:gd name="connsiteX6" fmla="*/ 216000 w 4292472"/>
              <a:gd name="connsiteY6" fmla="*/ 0 h 7887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92472" h="788761">
                <a:moveTo>
                  <a:pt x="216000" y="0"/>
                </a:moveTo>
                <a:lnTo>
                  <a:pt x="3922763" y="0"/>
                </a:lnTo>
                <a:cubicBezTo>
                  <a:pt x="4021335" y="0"/>
                  <a:pt x="4107543" y="66907"/>
                  <a:pt x="4132006" y="162395"/>
                </a:cubicBezTo>
                <a:lnTo>
                  <a:pt x="4292472" y="788761"/>
                </a:lnTo>
                <a:lnTo>
                  <a:pt x="0" y="788761"/>
                </a:lnTo>
                <a:lnTo>
                  <a:pt x="0" y="216000"/>
                </a:lnTo>
                <a:cubicBezTo>
                  <a:pt x="0" y="96768"/>
                  <a:pt x="96768" y="0"/>
                  <a:pt x="216000" y="0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3" name="ComponentBackground2"/>
          <p:cNvSpPr/>
          <p:nvPr/>
        </p:nvSpPr>
        <p:spPr>
          <a:xfrm>
            <a:off x="5097229" y="1512405"/>
            <a:ext cx="6301781" cy="4421150"/>
          </a:xfrm>
          <a:custGeom>
            <a:avLst/>
            <a:gdLst>
              <a:gd name="connsiteX0" fmla="*/ 6386256 w 6386256"/>
              <a:gd name="connsiteY0" fmla="*/ 216000 h 4717974"/>
              <a:gd name="connsiteX1" fmla="*/ 6386256 w 6386256"/>
              <a:gd name="connsiteY1" fmla="*/ 4501974 h 4717974"/>
              <a:gd name="connsiteX2" fmla="*/ 6170256 w 6386256"/>
              <a:gd name="connsiteY2" fmla="*/ 4717974 h 4717974"/>
              <a:gd name="connsiteX3" fmla="*/ 1397624 w 6386256"/>
              <a:gd name="connsiteY3" fmla="*/ 4717974 h 4717974"/>
              <a:gd name="connsiteX4" fmla="*/ 1189391 w 6386256"/>
              <a:gd name="connsiteY4" fmla="*/ 4559377 h 4717974"/>
              <a:gd name="connsiteX5" fmla="*/ 7889 w 6386256"/>
              <a:gd name="connsiteY5" fmla="*/ 273403 h 4717974"/>
              <a:gd name="connsiteX6" fmla="*/ 216122 w 6386256"/>
              <a:gd name="connsiteY6" fmla="*/ 0 h 4717974"/>
              <a:gd name="connsiteX7" fmla="*/ 6170256 w 6386256"/>
              <a:gd name="connsiteY7" fmla="*/ 0 h 4717974"/>
              <a:gd name="connsiteX8" fmla="*/ 6386256 w 6386256"/>
              <a:gd name="connsiteY8" fmla="*/ 216000 h 4717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386256" h="4717974">
                <a:moveTo>
                  <a:pt x="6386256" y="216000"/>
                </a:moveTo>
                <a:lnTo>
                  <a:pt x="6386256" y="4501974"/>
                </a:lnTo>
                <a:cubicBezTo>
                  <a:pt x="6386256" y="4621206"/>
                  <a:pt x="6289488" y="4717974"/>
                  <a:pt x="6170256" y="4717974"/>
                </a:cubicBezTo>
                <a:lnTo>
                  <a:pt x="1397624" y="4717974"/>
                </a:lnTo>
                <a:cubicBezTo>
                  <a:pt x="1300397" y="4717974"/>
                  <a:pt x="1215230" y="4653108"/>
                  <a:pt x="1189391" y="4559377"/>
                </a:cubicBezTo>
                <a:lnTo>
                  <a:pt x="7889" y="273403"/>
                </a:lnTo>
                <a:cubicBezTo>
                  <a:pt x="-30021" y="135881"/>
                  <a:pt x="73471" y="0"/>
                  <a:pt x="216122" y="0"/>
                </a:cubicBezTo>
                <a:lnTo>
                  <a:pt x="6170256" y="0"/>
                </a:lnTo>
                <a:cubicBezTo>
                  <a:pt x="6289488" y="0"/>
                  <a:pt x="6386256" y="96768"/>
                  <a:pt x="6386256" y="216000"/>
                </a:cubicBezTo>
              </a:path>
            </a:pathLst>
          </a:custGeom>
          <a:gradFill>
            <a:gsLst>
              <a:gs pos="7000">
                <a:srgbClr val="FFFFFF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1"/>
          </a:gradFill>
          <a:ln>
            <a:noFill/>
          </a:ln>
          <a:effectLst>
            <a:outerShdw blurRad="114300" dist="50800" dir="1800000" sx="101000" sy="101000" algn="ctr" rotWithShape="0">
              <a:schemeClr val="accent1">
                <a:lumMod val="75000"/>
                <a:alpha val="19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4" name="Shape2"/>
          <p:cNvSpPr/>
          <p:nvPr/>
        </p:nvSpPr>
        <p:spPr>
          <a:xfrm>
            <a:off x="5097229" y="1512405"/>
            <a:ext cx="6301781" cy="739137"/>
          </a:xfrm>
          <a:custGeom>
            <a:avLst/>
            <a:gdLst>
              <a:gd name="connsiteX0" fmla="*/ 216122 w 6386256"/>
              <a:gd name="connsiteY0" fmla="*/ 0 h 788761"/>
              <a:gd name="connsiteX1" fmla="*/ 6170256 w 6386256"/>
              <a:gd name="connsiteY1" fmla="*/ 0 h 788761"/>
              <a:gd name="connsiteX2" fmla="*/ 6386256 w 6386256"/>
              <a:gd name="connsiteY2" fmla="*/ 216000 h 788761"/>
              <a:gd name="connsiteX3" fmla="*/ 6386256 w 6386256"/>
              <a:gd name="connsiteY3" fmla="*/ 788761 h 788761"/>
              <a:gd name="connsiteX4" fmla="*/ 149957 w 6386256"/>
              <a:gd name="connsiteY4" fmla="*/ 788761 h 788761"/>
              <a:gd name="connsiteX5" fmla="*/ 7889 w 6386256"/>
              <a:gd name="connsiteY5" fmla="*/ 273403 h 788761"/>
              <a:gd name="connsiteX6" fmla="*/ 216122 w 6386256"/>
              <a:gd name="connsiteY6" fmla="*/ 0 h 7887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86256" h="788761">
                <a:moveTo>
                  <a:pt x="216122" y="0"/>
                </a:moveTo>
                <a:lnTo>
                  <a:pt x="6170256" y="0"/>
                </a:lnTo>
                <a:cubicBezTo>
                  <a:pt x="6289488" y="0"/>
                  <a:pt x="6386256" y="96768"/>
                  <a:pt x="6386256" y="216000"/>
                </a:cubicBezTo>
                <a:lnTo>
                  <a:pt x="6386256" y="788761"/>
                </a:lnTo>
                <a:lnTo>
                  <a:pt x="149957" y="788761"/>
                </a:lnTo>
                <a:lnTo>
                  <a:pt x="7889" y="273403"/>
                </a:lnTo>
                <a:cubicBezTo>
                  <a:pt x="-30021" y="135881"/>
                  <a:pt x="73471" y="0"/>
                  <a:pt x="216122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58496" y="398781"/>
            <a:ext cx="53549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Functions of </a:t>
            </a:r>
            <a:r>
              <a:rPr lang="en-US" altLang="zh-CN" sz="3200" b="1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Rufusy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6" name="Text2"/>
          <p:cNvSpPr txBox="1"/>
          <p:nvPr/>
        </p:nvSpPr>
        <p:spPr>
          <a:xfrm>
            <a:off x="1980317" y="1512405"/>
            <a:ext cx="1877129" cy="781671"/>
          </a:xfrm>
          <a:prstGeom prst="rect">
            <a:avLst/>
          </a:prstGeom>
          <a:noFill/>
        </p:spPr>
        <p:txBody>
          <a:bodyPr wrap="square" rtlCol="0" anchor="t" anchorCtr="0">
            <a:normAutofit/>
          </a:bodyPr>
          <a:lstStyle>
            <a:defPPr>
              <a:defRPr lang="zh-CN"/>
            </a:defPPr>
            <a:lvl1pPr algn="ctr">
              <a:lnSpc>
                <a:spcPts val="1500"/>
              </a:lnSpc>
              <a:defRPr sz="900">
                <a:solidFill>
                  <a:schemeClr val="tx1">
                    <a:lumMod val="85000"/>
                    <a:lumOff val="15000"/>
                    <a:alpha val="50000"/>
                  </a:schemeClr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l">
              <a:lnSpc>
                <a:spcPct val="120000"/>
              </a:lnSpc>
            </a:pPr>
            <a:r>
              <a:rPr lang="en-US" altLang="zh-CN" sz="2800" b="1" dirty="0">
                <a:solidFill>
                  <a:schemeClr val="tx1"/>
                </a:solidFill>
                <a:latin typeface="Times New Roman" panose="02020503050405090304" pitchFamily="18" charset="0"/>
                <a:ea typeface="Calibri" panose="020F0502020204030204" pitchFamily="34" charset="0"/>
                <a:cs typeface="Times New Roman" panose="02020503050405090304" pitchFamily="18" charset="0"/>
              </a:rPr>
              <a:t>Employee</a:t>
            </a:r>
            <a:endParaRPr lang="en-US" altLang="zh-CN" sz="2800" b="1" dirty="0">
              <a:solidFill>
                <a:schemeClr val="tx1"/>
              </a:solidFill>
              <a:latin typeface="Times New Roman" panose="02020503050405090304" pitchFamily="18" charset="0"/>
              <a:ea typeface="Calibri" panose="020F0502020204030204" pitchFamily="34" charset="0"/>
              <a:cs typeface="Times New Roman" panose="02020503050405090304" pitchFamily="18" charset="0"/>
            </a:endParaRPr>
          </a:p>
        </p:txBody>
      </p:sp>
      <p:sp>
        <p:nvSpPr>
          <p:cNvPr id="7" name="Text2"/>
          <p:cNvSpPr txBox="1"/>
          <p:nvPr/>
        </p:nvSpPr>
        <p:spPr>
          <a:xfrm>
            <a:off x="7517517" y="1512405"/>
            <a:ext cx="1877129" cy="781671"/>
          </a:xfrm>
          <a:prstGeom prst="rect">
            <a:avLst/>
          </a:prstGeom>
          <a:noFill/>
        </p:spPr>
        <p:txBody>
          <a:bodyPr wrap="square" rtlCol="0" anchor="t" anchorCtr="0">
            <a:normAutofit/>
          </a:bodyPr>
          <a:lstStyle>
            <a:defPPr>
              <a:defRPr lang="zh-CN"/>
            </a:defPPr>
            <a:lvl1pPr algn="ctr">
              <a:lnSpc>
                <a:spcPts val="1500"/>
              </a:lnSpc>
              <a:defRPr sz="900">
                <a:solidFill>
                  <a:schemeClr val="tx1">
                    <a:lumMod val="85000"/>
                    <a:lumOff val="15000"/>
                    <a:alpha val="50000"/>
                  </a:schemeClr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l">
              <a:lnSpc>
                <a:spcPct val="120000"/>
              </a:lnSpc>
            </a:pPr>
            <a:r>
              <a:rPr lang="en-US" altLang="zh-CN" sz="2800" b="1" dirty="0">
                <a:solidFill>
                  <a:schemeClr val="tx1"/>
                </a:solidFill>
                <a:latin typeface="Times New Roman" panose="02020503050405090304" pitchFamily="18" charset="0"/>
                <a:ea typeface="Calibri" panose="020F0502020204030204" pitchFamily="34" charset="0"/>
                <a:cs typeface="Times New Roman" panose="02020503050405090304" pitchFamily="18" charset="0"/>
              </a:rPr>
              <a:t>Manager</a:t>
            </a:r>
            <a:endParaRPr lang="en-US" altLang="zh-CN" sz="2800" b="1" dirty="0">
              <a:solidFill>
                <a:schemeClr val="tx1"/>
              </a:solidFill>
              <a:latin typeface="Times New Roman" panose="02020503050405090304" pitchFamily="18" charset="0"/>
              <a:ea typeface="Calibri" panose="020F0502020204030204" pitchFamily="34" charset="0"/>
              <a:cs typeface="Times New Roman" panose="02020503050405090304" pitchFamily="18" charset="0"/>
            </a:endParaRPr>
          </a:p>
        </p:txBody>
      </p:sp>
      <p:sp>
        <p:nvSpPr>
          <p:cNvPr id="13" name="矩形 12"/>
          <p:cNvSpPr/>
          <p:nvPr>
            <p:custDataLst>
              <p:tags r:id="rId1"/>
            </p:custDataLst>
          </p:nvPr>
        </p:nvSpPr>
        <p:spPr>
          <a:xfrm>
            <a:off x="1041667" y="4820089"/>
            <a:ext cx="3223773" cy="917923"/>
          </a:xfrm>
          <a:prstGeom prst="rect">
            <a:avLst/>
          </a:prstGeom>
          <a:noFill/>
        </p:spPr>
        <p:txBody>
          <a:bodyPr wrap="square" tIns="0" rIns="0" rtlCol="0" anchor="ctr">
            <a:noAutofit/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  <a:sym typeface="+mn-ea"/>
            </a:endParaRPr>
          </a:p>
        </p:txBody>
      </p:sp>
      <p:sp>
        <p:nvSpPr>
          <p:cNvPr id="14" name="矩形 13"/>
          <p:cNvSpPr/>
          <p:nvPr>
            <p:custDataLst>
              <p:tags r:id="rId2"/>
            </p:custDataLst>
          </p:nvPr>
        </p:nvSpPr>
        <p:spPr>
          <a:xfrm>
            <a:off x="1137806" y="3076089"/>
            <a:ext cx="4109031" cy="677108"/>
          </a:xfrm>
          <a:prstGeom prst="rect">
            <a:avLst/>
          </a:prstGeom>
          <a:noFill/>
        </p:spPr>
        <p:txBody>
          <a:bodyPr wrap="square" tIns="0" rIns="0" rtlCol="0" anchor="ctr">
            <a:noAutofit/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Capture and 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analyze the emotional state 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P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rovide personalized recommendations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65427" y="2499316"/>
            <a:ext cx="322377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1. Personalization</a:t>
            </a:r>
            <a:endParaRPr lang="en-US" altLang="zh-CN" sz="20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+mn-ea"/>
            </a:endParaRPr>
          </a:p>
          <a:p>
            <a:endParaRPr lang="zh-CN" altLang="en-US" dirty="0"/>
          </a:p>
        </p:txBody>
      </p:sp>
      <p:sp>
        <p:nvSpPr>
          <p:cNvPr id="16" name="文本框 15"/>
          <p:cNvSpPr txBox="1"/>
          <p:nvPr/>
        </p:nvSpPr>
        <p:spPr>
          <a:xfrm>
            <a:off x="865427" y="3858190"/>
            <a:ext cx="257234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2. Automation</a:t>
            </a:r>
            <a:endParaRPr lang="zh-CN" altLang="en-US" sz="24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  <a:sym typeface="+mn-ea"/>
            </a:endParaRPr>
          </a:p>
          <a:p>
            <a:endParaRPr lang="zh-CN" altLang="en-US" dirty="0"/>
          </a:p>
        </p:txBody>
      </p:sp>
      <p:sp>
        <p:nvSpPr>
          <p:cNvPr id="19" name="矩形 18"/>
          <p:cNvSpPr/>
          <p:nvPr>
            <p:custDataLst>
              <p:tags r:id="rId3"/>
            </p:custDataLst>
          </p:nvPr>
        </p:nvSpPr>
        <p:spPr>
          <a:xfrm>
            <a:off x="6669195" y="2909703"/>
            <a:ext cx="3553399" cy="39199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  <a:scene3d>
              <a:camera prst="orthographicFront"/>
              <a:lightRig rig="threePt" dir="t"/>
            </a:scene3d>
          </a:bodyPr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Generate sentiment trend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 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report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  <a:sym typeface="+mn-ea"/>
            </a:endParaRPr>
          </a:p>
        </p:txBody>
      </p:sp>
      <p:sp>
        <p:nvSpPr>
          <p:cNvPr id="20" name="矩形 19"/>
          <p:cNvSpPr/>
          <p:nvPr>
            <p:custDataLst>
              <p:tags r:id="rId4"/>
            </p:custDataLst>
          </p:nvPr>
        </p:nvSpPr>
        <p:spPr>
          <a:xfrm>
            <a:off x="6739934" y="3902190"/>
            <a:ext cx="3745806" cy="64706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I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dentify potential mental health crises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  <a:sym typeface="+mn-ea"/>
            </a:endParaRPr>
          </a:p>
          <a:p>
            <a:pPr algn="l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I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mplement effective interventions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  <a:sym typeface="+mn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301333" y="2494146"/>
            <a:ext cx="5246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1. Data-Driving Decision-Making</a:t>
            </a:r>
            <a:endParaRPr lang="en-US" altLang="zh-CN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+mn-ea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148067" y="4441995"/>
            <a:ext cx="302190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24/7 </a:t>
            </a:r>
            <a:r>
              <a:rPr kumimoji="0" lang="en-US" altLang="zh-CN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E</a:t>
            </a:r>
            <a:r>
              <a:rPr kumimoji="0" lang="zh-CN" altLang="zh-CN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motional </a:t>
            </a:r>
            <a:r>
              <a:rPr lang="en-US" altLang="zh-CN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S</a:t>
            </a:r>
            <a:r>
              <a:rPr kumimoji="0" lang="zh-CN" altLang="zh-CN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upport</a:t>
            </a:r>
            <a:endParaRPr kumimoji="0" lang="en-US" altLang="zh-CN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itchFamily="2" charset="-122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Reduce costs</a:t>
            </a:r>
            <a:endParaRPr kumimoji="0" lang="zh-CN" altLang="zh-CN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996023" y="3205615"/>
            <a:ext cx="91288" cy="9366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996023" y="3565742"/>
            <a:ext cx="91288" cy="9366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1039622" y="4583794"/>
            <a:ext cx="91288" cy="9366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/>
        </p:nvSpPr>
        <p:spPr>
          <a:xfrm>
            <a:off x="1039622" y="4853860"/>
            <a:ext cx="91288" cy="9366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椭圆 23"/>
          <p:cNvSpPr/>
          <p:nvPr/>
        </p:nvSpPr>
        <p:spPr>
          <a:xfrm>
            <a:off x="6429320" y="3158784"/>
            <a:ext cx="91288" cy="9366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right-arrow_226"/>
          <p:cNvSpPr/>
          <p:nvPr/>
        </p:nvSpPr>
        <p:spPr>
          <a:xfrm rot="5400000">
            <a:off x="8117895" y="3445813"/>
            <a:ext cx="605976" cy="383907"/>
          </a:xfrm>
          <a:custGeom>
            <a:avLst/>
            <a:gdLst>
              <a:gd name="T0" fmla="*/ 0 w 420"/>
              <a:gd name="T1" fmla="*/ 181 h 361"/>
              <a:gd name="T2" fmla="*/ 41 w 420"/>
              <a:gd name="T3" fmla="*/ 222 h 361"/>
              <a:gd name="T4" fmla="*/ 275 w 420"/>
              <a:gd name="T5" fmla="*/ 222 h 361"/>
              <a:gd name="T6" fmla="*/ 212 w 420"/>
              <a:gd name="T7" fmla="*/ 285 h 361"/>
              <a:gd name="T8" fmla="*/ 210 w 420"/>
              <a:gd name="T9" fmla="*/ 345 h 361"/>
              <a:gd name="T10" fmla="*/ 270 w 420"/>
              <a:gd name="T11" fmla="*/ 343 h 361"/>
              <a:gd name="T12" fmla="*/ 402 w 420"/>
              <a:gd name="T13" fmla="*/ 211 h 361"/>
              <a:gd name="T14" fmla="*/ 404 w 420"/>
              <a:gd name="T15" fmla="*/ 151 h 361"/>
              <a:gd name="T16" fmla="*/ 402 w 420"/>
              <a:gd name="T17" fmla="*/ 150 h 361"/>
              <a:gd name="T18" fmla="*/ 401 w 420"/>
              <a:gd name="T19" fmla="*/ 148 h 361"/>
              <a:gd name="T20" fmla="*/ 271 w 420"/>
              <a:gd name="T21" fmla="*/ 18 h 361"/>
              <a:gd name="T22" fmla="*/ 211 w 420"/>
              <a:gd name="T23" fmla="*/ 16 h 361"/>
              <a:gd name="T24" fmla="*/ 213 w 420"/>
              <a:gd name="T25" fmla="*/ 76 h 361"/>
              <a:gd name="T26" fmla="*/ 276 w 420"/>
              <a:gd name="T27" fmla="*/ 139 h 361"/>
              <a:gd name="T28" fmla="*/ 41 w 420"/>
              <a:gd name="T29" fmla="*/ 139 h 361"/>
              <a:gd name="T30" fmla="*/ 0 w 420"/>
              <a:gd name="T31" fmla="*/ 181 h 3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420" h="361">
                <a:moveTo>
                  <a:pt x="0" y="181"/>
                </a:moveTo>
                <a:cubicBezTo>
                  <a:pt x="0" y="203"/>
                  <a:pt x="18" y="222"/>
                  <a:pt x="41" y="222"/>
                </a:cubicBezTo>
                <a:lnTo>
                  <a:pt x="275" y="222"/>
                </a:lnTo>
                <a:lnTo>
                  <a:pt x="212" y="285"/>
                </a:lnTo>
                <a:cubicBezTo>
                  <a:pt x="195" y="302"/>
                  <a:pt x="194" y="329"/>
                  <a:pt x="210" y="345"/>
                </a:cubicBezTo>
                <a:cubicBezTo>
                  <a:pt x="226" y="361"/>
                  <a:pt x="253" y="360"/>
                  <a:pt x="270" y="343"/>
                </a:cubicBezTo>
                <a:lnTo>
                  <a:pt x="402" y="211"/>
                </a:lnTo>
                <a:cubicBezTo>
                  <a:pt x="419" y="194"/>
                  <a:pt x="420" y="167"/>
                  <a:pt x="404" y="151"/>
                </a:cubicBezTo>
                <a:cubicBezTo>
                  <a:pt x="403" y="151"/>
                  <a:pt x="403" y="150"/>
                  <a:pt x="402" y="150"/>
                </a:cubicBezTo>
                <a:cubicBezTo>
                  <a:pt x="402" y="149"/>
                  <a:pt x="401" y="149"/>
                  <a:pt x="401" y="148"/>
                </a:cubicBezTo>
                <a:lnTo>
                  <a:pt x="271" y="18"/>
                </a:lnTo>
                <a:cubicBezTo>
                  <a:pt x="254" y="1"/>
                  <a:pt x="227" y="0"/>
                  <a:pt x="211" y="16"/>
                </a:cubicBezTo>
                <a:cubicBezTo>
                  <a:pt x="195" y="32"/>
                  <a:pt x="196" y="59"/>
                  <a:pt x="213" y="76"/>
                </a:cubicBezTo>
                <a:lnTo>
                  <a:pt x="276" y="139"/>
                </a:lnTo>
                <a:lnTo>
                  <a:pt x="41" y="139"/>
                </a:lnTo>
                <a:cubicBezTo>
                  <a:pt x="18" y="139"/>
                  <a:pt x="0" y="158"/>
                  <a:pt x="0" y="18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3970"/>
            <a:ext cx="12192000" cy="6858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100000">
                  <a:srgbClr val="FAF5DB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</p:grpSp>
      <p:sp>
        <p:nvSpPr>
          <p:cNvPr id="4" name="Freeform 4"/>
          <p:cNvSpPr/>
          <p:nvPr/>
        </p:nvSpPr>
        <p:spPr>
          <a:xfrm>
            <a:off x="-1707538" y="4766650"/>
            <a:ext cx="4352921" cy="4346825"/>
          </a:xfrm>
          <a:custGeom>
            <a:avLst/>
            <a:gdLst/>
            <a:ahLst/>
            <a:cxnLst/>
            <a:rect l="l" t="t" r="r" b="b"/>
            <a:pathLst>
              <a:path w="6529382" h="6520237">
                <a:moveTo>
                  <a:pt x="0" y="0"/>
                </a:moveTo>
                <a:lnTo>
                  <a:pt x="6529382" y="0"/>
                </a:lnTo>
                <a:lnTo>
                  <a:pt x="6529382" y="6520237"/>
                </a:lnTo>
                <a:lnTo>
                  <a:pt x="0" y="6520237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642897" y="-1454544"/>
            <a:ext cx="3505504" cy="3511600"/>
          </a:xfrm>
          <a:custGeom>
            <a:avLst/>
            <a:gdLst/>
            <a:ahLst/>
            <a:cxnLst/>
            <a:rect l="l" t="t" r="r" b="b"/>
            <a:pathLst>
              <a:path w="5258256" h="5267400">
                <a:moveTo>
                  <a:pt x="0" y="0"/>
                </a:moveTo>
                <a:lnTo>
                  <a:pt x="5258255" y="0"/>
                </a:lnTo>
                <a:lnTo>
                  <a:pt x="5258255" y="5267400"/>
                </a:lnTo>
                <a:lnTo>
                  <a:pt x="0" y="526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402036" y="5288731"/>
            <a:ext cx="6262510" cy="275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5"/>
              </a:lnSpc>
            </a:pPr>
            <a:r>
              <a:rPr lang="en-US" sz="1600" spc="128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商|页|计|划|书|演|示|模|板</a:t>
            </a:r>
            <a:endParaRPr lang="en-US" sz="1600" spc="1280">
              <a:solidFill>
                <a:srgbClr val="FFFFFF"/>
              </a:solidFill>
              <a:latin typeface="思源黑体"/>
              <a:ea typeface="思源黑体"/>
              <a:cs typeface="思源黑体"/>
              <a:sym typeface="思源黑体"/>
            </a:endParaRPr>
          </a:p>
        </p:txBody>
      </p:sp>
      <p:sp>
        <p:nvSpPr>
          <p:cNvPr id="7" name="标题 1"/>
          <p:cNvSpPr txBox="1"/>
          <p:nvPr/>
        </p:nvSpPr>
        <p:spPr>
          <a:xfrm>
            <a:off x="600874" y="1833793"/>
            <a:ext cx="11272365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6600" b="1" dirty="0" err="1">
                <a:latin typeface="Times New Roman Bold" panose="02020503050405090304" charset="0"/>
                <a:cs typeface="Times New Roman Bold" panose="02020503050405090304" charset="0"/>
              </a:rPr>
              <a:t>Rufusy</a:t>
            </a:r>
            <a:r>
              <a:rPr lang="en-US" altLang="zh-CN" sz="6600" b="1" dirty="0">
                <a:latin typeface="Times New Roman Bold" panose="02020503050405090304" charset="0"/>
                <a:cs typeface="Times New Roman Bold" panose="02020503050405090304" charset="0"/>
              </a:rPr>
              <a:t> Critical Analysis</a:t>
            </a:r>
            <a:endParaRPr lang="en-US" altLang="zh-CN" sz="6600" b="1" dirty="0">
              <a:latin typeface="Times New Roman Bold" panose="02020503050405090304" charset="0"/>
              <a:cs typeface="Times New Roman Bold" panose="02020503050405090304" charset="0"/>
            </a:endParaRPr>
          </a:p>
        </p:txBody>
      </p:sp>
      <p:sp>
        <p:nvSpPr>
          <p:cNvPr id="8" name="Number1"/>
          <p:cNvSpPr/>
          <p:nvPr/>
        </p:nvSpPr>
        <p:spPr>
          <a:xfrm flipH="1">
            <a:off x="6170455" y="3685105"/>
            <a:ext cx="622589" cy="584855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accent2">
                  <a:tint val="66000"/>
                  <a:satMod val="160000"/>
                </a:schemeClr>
              </a:gs>
              <a:gs pos="50000">
                <a:schemeClr val="accent2">
                  <a:tint val="44500"/>
                  <a:satMod val="160000"/>
                </a:schemeClr>
              </a:gs>
              <a:gs pos="100000">
                <a:schemeClr val="accent2">
                  <a:tint val="23500"/>
                  <a:satMod val="160000"/>
                </a:schemeClr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8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lt"/>
              </a:rPr>
              <a:t>3</a:t>
            </a:r>
            <a:endParaRPr lang="zh-CN" altLang="en-US" sz="28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793044" y="3714053"/>
            <a:ext cx="51709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Times New Roman" panose="02020503050405090304" pitchFamily="18" charset="0"/>
                <a:ea typeface="Calibri" panose="020F0502020204030204" pitchFamily="34" charset="0"/>
                <a:cs typeface="Times New Roman" panose="02020503050405090304" pitchFamily="18" charset="0"/>
              </a:rPr>
              <a:t>Expansion of Global Business</a:t>
            </a:r>
            <a:endParaRPr lang="en-US" altLang="zh-CN" sz="2800" b="1" dirty="0">
              <a:latin typeface="Times New Roman" panose="02020503050405090304" pitchFamily="18" charset="0"/>
              <a:ea typeface="Calibri" panose="020F0502020204030204" pitchFamily="34" charset="0"/>
              <a:cs typeface="Times New Roman" panose="02020503050405090304" pitchFamily="18" charset="0"/>
            </a:endParaRPr>
          </a:p>
        </p:txBody>
      </p:sp>
      <p:sp>
        <p:nvSpPr>
          <p:cNvPr id="11" name="Number1"/>
          <p:cNvSpPr/>
          <p:nvPr/>
        </p:nvSpPr>
        <p:spPr>
          <a:xfrm flipH="1">
            <a:off x="3864709" y="3698644"/>
            <a:ext cx="603122" cy="584855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accent2">
                  <a:tint val="66000"/>
                  <a:satMod val="160000"/>
                </a:schemeClr>
              </a:gs>
              <a:gs pos="50000">
                <a:schemeClr val="accent2">
                  <a:tint val="44500"/>
                  <a:satMod val="160000"/>
                </a:schemeClr>
              </a:gs>
              <a:gs pos="100000">
                <a:schemeClr val="accent2">
                  <a:tint val="23500"/>
                  <a:satMod val="160000"/>
                </a:schemeClr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8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lt"/>
              </a:rPr>
              <a:t>2</a:t>
            </a:r>
            <a:endParaRPr lang="zh-CN" altLang="en-US" sz="28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lt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467860" y="3714115"/>
            <a:ext cx="18288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Times New Roman" panose="02020503050405090304" pitchFamily="18" charset="0"/>
                <a:ea typeface="Calibri" panose="020F0502020204030204" pitchFamily="34" charset="0"/>
                <a:cs typeface="Times New Roman" panose="02020503050405090304" pitchFamily="18" charset="0"/>
              </a:rPr>
              <a:t>Managers</a:t>
            </a:r>
            <a:endParaRPr lang="zh-CN" altLang="en-US" sz="28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3" name="Number1"/>
          <p:cNvSpPr/>
          <p:nvPr/>
        </p:nvSpPr>
        <p:spPr>
          <a:xfrm flipH="1">
            <a:off x="1412586" y="3667827"/>
            <a:ext cx="622589" cy="584855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accent2">
                  <a:tint val="66000"/>
                  <a:satMod val="160000"/>
                </a:schemeClr>
              </a:gs>
              <a:gs pos="50000">
                <a:schemeClr val="accent2">
                  <a:tint val="44500"/>
                  <a:satMod val="160000"/>
                </a:schemeClr>
              </a:gs>
              <a:gs pos="100000">
                <a:schemeClr val="accent2">
                  <a:tint val="23500"/>
                  <a:satMod val="160000"/>
                </a:schemeClr>
              </a:gs>
            </a:gsLst>
            <a:lin ang="10800000" scaled="1"/>
            <a:tileRect/>
          </a:gra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8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lt"/>
              </a:rPr>
              <a:t>1</a:t>
            </a:r>
            <a:endParaRPr lang="zh-CN" altLang="en-US" sz="28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lt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035176" y="3698644"/>
            <a:ext cx="18295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Times New Roman" panose="02020503050405090304" pitchFamily="18" charset="0"/>
                <a:ea typeface="Calibri" panose="020F0502020204030204" pitchFamily="34" charset="0"/>
                <a:cs typeface="Times New Roman" panose="02020503050405090304" pitchFamily="18" charset="0"/>
              </a:rPr>
              <a:t>Employees</a:t>
            </a:r>
            <a:endParaRPr lang="zh-CN" altLang="en-US" sz="28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/>
          <p:cNvSpPr txBox="1"/>
          <p:nvPr/>
        </p:nvSpPr>
        <p:spPr>
          <a:xfrm>
            <a:off x="308114" y="271448"/>
            <a:ext cx="5118652" cy="57172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latin typeface="Times New Roman" panose="02020503050405090304" pitchFamily="18" charset="0"/>
                <a:ea typeface="Calibri" panose="020F0502020204030204" pitchFamily="34" charset="0"/>
                <a:cs typeface="Times New Roman" panose="02020503050405090304" pitchFamily="18" charset="0"/>
              </a:rPr>
              <a:t>Employee Perspective</a:t>
            </a:r>
            <a:endParaRPr lang="en-US" altLang="zh-CN" sz="3200" b="1" dirty="0">
              <a:latin typeface="Times New Roman" panose="02020503050405090304" pitchFamily="18" charset="0"/>
              <a:ea typeface="Calibri" panose="020F0502020204030204" pitchFamily="34" charset="0"/>
              <a:cs typeface="Times New Roman" panose="02020503050405090304" pitchFamily="18" charset="0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3357187" y="1720180"/>
            <a:ext cx="8305875" cy="4019543"/>
            <a:chOff x="2906613" y="1521397"/>
            <a:chExt cx="8305875" cy="4019543"/>
          </a:xfrm>
        </p:grpSpPr>
        <p:grpSp>
          <p:nvGrpSpPr>
            <p:cNvPr id="30" name="组合 29"/>
            <p:cNvGrpSpPr/>
            <p:nvPr/>
          </p:nvGrpSpPr>
          <p:grpSpPr>
            <a:xfrm>
              <a:off x="2906613" y="1521397"/>
              <a:ext cx="8305875" cy="4019543"/>
              <a:chOff x="2906613" y="1521397"/>
              <a:chExt cx="8305875" cy="4019543"/>
            </a:xfrm>
          </p:grpSpPr>
          <p:grpSp>
            <p:nvGrpSpPr>
              <p:cNvPr id="24" name="组合 23"/>
              <p:cNvGrpSpPr/>
              <p:nvPr/>
            </p:nvGrpSpPr>
            <p:grpSpPr>
              <a:xfrm>
                <a:off x="2906880" y="3833583"/>
                <a:ext cx="8101813" cy="1598842"/>
                <a:chOff x="1972294" y="4702783"/>
                <a:chExt cx="8978330" cy="1762604"/>
              </a:xfrm>
            </p:grpSpPr>
            <p:grpSp>
              <p:nvGrpSpPr>
                <p:cNvPr id="4" name="组合 3"/>
                <p:cNvGrpSpPr/>
                <p:nvPr/>
              </p:nvGrpSpPr>
              <p:grpSpPr>
                <a:xfrm>
                  <a:off x="1972294" y="4750163"/>
                  <a:ext cx="3034823" cy="1715224"/>
                  <a:chOff x="1972294" y="4750163"/>
                  <a:chExt cx="3034823" cy="1715224"/>
                </a:xfrm>
              </p:grpSpPr>
              <p:sp>
                <p:nvSpPr>
                  <p:cNvPr id="464" name="矩形: 对角圆角 463"/>
                  <p:cNvSpPr/>
                  <p:nvPr/>
                </p:nvSpPr>
                <p:spPr>
                  <a:xfrm>
                    <a:off x="1972294" y="4750163"/>
                    <a:ext cx="2796957" cy="1649772"/>
                  </a:xfrm>
                  <a:prstGeom prst="round2DiagRect">
                    <a:avLst/>
                  </a:prstGeom>
                  <a:solidFill>
                    <a:schemeClr val="accent2">
                      <a:alpha val="15000"/>
                    </a:schemeClr>
                  </a:solidFill>
                  <a:ln w="12700" cap="flat">
                    <a:solidFill>
                      <a:schemeClr val="accent1"/>
                    </a:solidFill>
                    <a:prstDash val="solid"/>
                    <a:miter/>
                  </a:ln>
                  <a:effectLst/>
                </p:spPr>
                <p:txBody>
                  <a:bodyPr rtlCol="0" anchor="ctr"/>
                  <a:lstStyle/>
                  <a:p>
                    <a:endParaRPr lang="zh-CN" altLang="en-US" sz="1200" dirty="0"/>
                  </a:p>
                </p:txBody>
              </p:sp>
              <p:sp>
                <p:nvSpPr>
                  <p:cNvPr id="467" name="Bullet1"/>
                  <p:cNvSpPr/>
                  <p:nvPr/>
                </p:nvSpPr>
                <p:spPr>
                  <a:xfrm>
                    <a:off x="2210161" y="4966370"/>
                    <a:ext cx="2796956" cy="149901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91440" tIns="45720" rIns="91440" bIns="45720" rtlCol="0" anchor="b" anchorCtr="0">
                    <a:normAutofit/>
                  </a:bodyPr>
                  <a:lstStyle/>
                  <a:p>
                    <a:r>
                      <a:rPr kumimoji="1" lang="en-US" altLang="zh-CN" sz="2400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a:t>Differences in emotional expression</a:t>
                    </a:r>
                    <a:endParaRPr kumimoji="1" lang="en-US" altLang="zh-CN" sz="24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endParaRPr>
                  </a:p>
                  <a:p>
                    <a:endParaRPr kumimoji="1" lang="en-US" altLang="zh-CN" b="1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470" name="矩形: 对角圆角 469"/>
                <p:cNvSpPr/>
                <p:nvPr/>
              </p:nvSpPr>
              <p:spPr>
                <a:xfrm>
                  <a:off x="5400925" y="4750163"/>
                  <a:ext cx="2594488" cy="1649772"/>
                </a:xfrm>
                <a:prstGeom prst="round2DiagRect">
                  <a:avLst/>
                </a:prstGeom>
                <a:solidFill>
                  <a:schemeClr val="accent2">
                    <a:alpha val="15000"/>
                  </a:schemeClr>
                </a:solidFill>
                <a:ln w="12700" cap="flat">
                  <a:solidFill>
                    <a:schemeClr val="accent2"/>
                  </a:solidFill>
                  <a:prstDash val="solid"/>
                  <a:miter/>
                </a:ln>
                <a:effectLst/>
              </p:spPr>
              <p:txBody>
                <a:bodyPr rtlCol="0" anchor="ctr"/>
                <a:lstStyle/>
                <a:p>
                  <a:endParaRPr lang="zh-CN" altLang="en-US" sz="1200" dirty="0"/>
                </a:p>
              </p:txBody>
            </p:sp>
            <p:sp>
              <p:nvSpPr>
                <p:cNvPr id="476" name="矩形: 对角圆角 475"/>
                <p:cNvSpPr/>
                <p:nvPr/>
              </p:nvSpPr>
              <p:spPr>
                <a:xfrm>
                  <a:off x="8600387" y="4702783"/>
                  <a:ext cx="2350237" cy="1636691"/>
                </a:xfrm>
                <a:prstGeom prst="round2DiagRect">
                  <a:avLst/>
                </a:prstGeom>
                <a:solidFill>
                  <a:schemeClr val="accent3">
                    <a:alpha val="15000"/>
                  </a:schemeClr>
                </a:solidFill>
                <a:ln w="12700" cap="flat">
                  <a:solidFill>
                    <a:schemeClr val="accent3"/>
                  </a:solidFill>
                  <a:prstDash val="solid"/>
                  <a:miter/>
                </a:ln>
                <a:effectLst/>
              </p:spPr>
              <p:txBody>
                <a:bodyPr rtlCol="0" anchor="ctr"/>
                <a:lstStyle/>
                <a:p>
                  <a:endParaRPr lang="zh-CN" altLang="en-US" sz="1200" dirty="0"/>
                </a:p>
              </p:txBody>
            </p:sp>
          </p:grpSp>
          <p:grpSp>
            <p:nvGrpSpPr>
              <p:cNvPr id="12" name="组合 11"/>
              <p:cNvGrpSpPr/>
              <p:nvPr/>
            </p:nvGrpSpPr>
            <p:grpSpPr>
              <a:xfrm>
                <a:off x="2906613" y="1521397"/>
                <a:ext cx="8013713" cy="1418857"/>
                <a:chOff x="1968397" y="3874977"/>
                <a:chExt cx="8619993" cy="2063049"/>
              </a:xfrm>
            </p:grpSpPr>
            <p:grpSp>
              <p:nvGrpSpPr>
                <p:cNvPr id="16" name="组合 15"/>
                <p:cNvGrpSpPr/>
                <p:nvPr/>
              </p:nvGrpSpPr>
              <p:grpSpPr>
                <a:xfrm>
                  <a:off x="1968397" y="3874977"/>
                  <a:ext cx="3861735" cy="2063049"/>
                  <a:chOff x="1968397" y="3874977"/>
                  <a:chExt cx="3861735" cy="2063049"/>
                </a:xfrm>
              </p:grpSpPr>
              <p:sp>
                <p:nvSpPr>
                  <p:cNvPr id="23" name="矩形: 对角圆角 22"/>
                  <p:cNvSpPr/>
                  <p:nvPr/>
                </p:nvSpPr>
                <p:spPr>
                  <a:xfrm>
                    <a:off x="1968397" y="3960929"/>
                    <a:ext cx="3753433" cy="1977097"/>
                  </a:xfrm>
                  <a:prstGeom prst="round2DiagRect">
                    <a:avLst/>
                  </a:prstGeom>
                  <a:solidFill>
                    <a:schemeClr val="accent1">
                      <a:alpha val="15000"/>
                    </a:schemeClr>
                  </a:solidFill>
                  <a:ln w="12700" cap="flat">
                    <a:solidFill>
                      <a:schemeClr val="accent1"/>
                    </a:solidFill>
                    <a:prstDash val="solid"/>
                    <a:miter/>
                  </a:ln>
                  <a:effectLst/>
                </p:spPr>
                <p:txBody>
                  <a:bodyPr rtlCol="0" anchor="ctr"/>
                  <a:lstStyle/>
                  <a:p>
                    <a:endParaRPr lang="zh-CN" altLang="en-US" sz="1200" dirty="0"/>
                  </a:p>
                </p:txBody>
              </p:sp>
              <p:sp>
                <p:nvSpPr>
                  <p:cNvPr id="27" name="Bullet1"/>
                  <p:cNvSpPr/>
                  <p:nvPr/>
                </p:nvSpPr>
                <p:spPr>
                  <a:xfrm>
                    <a:off x="2076699" y="3874977"/>
                    <a:ext cx="3753433" cy="125089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108000" tIns="108000" rIns="108000" bIns="108000" rtlCol="0" anchor="b" anchorCtr="0">
                    <a:noAutofit/>
                  </a:bodyPr>
                  <a:lstStyle/>
                  <a:p>
                    <a:r>
                      <a:rPr kumimoji="1" lang="en-US" altLang="zh-CN" sz="2400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a:t>24/7 emotional support</a:t>
                    </a:r>
                    <a:endParaRPr kumimoji="1" lang="en-US" altLang="zh-CN" sz="24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18" name="矩形: 对角圆角 17"/>
                <p:cNvSpPr/>
                <p:nvPr/>
              </p:nvSpPr>
              <p:spPr>
                <a:xfrm>
                  <a:off x="6631211" y="3899664"/>
                  <a:ext cx="3957179" cy="1977097"/>
                </a:xfrm>
                <a:prstGeom prst="round2DiagRect">
                  <a:avLst/>
                </a:prstGeom>
                <a:solidFill>
                  <a:schemeClr val="accent1">
                    <a:alpha val="15000"/>
                  </a:schemeClr>
                </a:solidFill>
                <a:ln w="12700" cap="flat">
                  <a:solidFill>
                    <a:schemeClr val="accent2"/>
                  </a:solidFill>
                  <a:prstDash val="solid"/>
                  <a:miter/>
                </a:ln>
                <a:effectLst/>
              </p:spPr>
              <p:txBody>
                <a:bodyPr rtlCol="0" anchor="ctr"/>
                <a:lstStyle/>
                <a:p>
                  <a:endParaRPr lang="zh-CN" altLang="en-US" sz="1200" dirty="0"/>
                </a:p>
              </p:txBody>
            </p:sp>
          </p:grpSp>
          <p:sp>
            <p:nvSpPr>
              <p:cNvPr id="29" name="Bullet1"/>
              <p:cNvSpPr/>
              <p:nvPr/>
            </p:nvSpPr>
            <p:spPr>
              <a:xfrm>
                <a:off x="7544567" y="1739066"/>
                <a:ext cx="3393599" cy="95836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108000" bIns="108000" rtlCol="0" anchor="b" anchorCtr="0">
                <a:noAutofit/>
              </a:bodyPr>
              <a:lstStyle/>
              <a:p>
                <a:r>
                  <a:rPr kumimoji="1" lang="en-US" altLang="zh-CN" sz="2400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Improve job satisfaction and mental health</a:t>
                </a:r>
                <a:endParaRPr kumimoji="1" lang="en-US" altLang="zh-CN" sz="24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" name="Bullet1"/>
              <p:cNvSpPr/>
              <p:nvPr/>
            </p:nvSpPr>
            <p:spPr>
              <a:xfrm>
                <a:off x="6273744" y="4170573"/>
                <a:ext cx="2341199" cy="71849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normAutofit/>
              </a:bodyPr>
              <a:lstStyle/>
              <a:p>
                <a:r>
                  <a:rPr kumimoji="1" lang="en-US" altLang="zh-CN" sz="2000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1. Extroverted Employee</a:t>
                </a:r>
                <a:endParaRPr kumimoji="1" lang="en-US" altLang="zh-CN" sz="20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kumimoji="1" lang="en-US" altLang="zh-CN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" name="Bullet1"/>
              <p:cNvSpPr/>
              <p:nvPr/>
            </p:nvSpPr>
            <p:spPr>
              <a:xfrm>
                <a:off x="6285071" y="4822448"/>
                <a:ext cx="2160969" cy="71849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normAutofit/>
              </a:bodyPr>
              <a:lstStyle/>
              <a:p>
                <a:r>
                  <a:rPr kumimoji="1" lang="en-US" altLang="zh-CN" sz="2000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2. Introverted Employee</a:t>
                </a:r>
                <a:endParaRPr kumimoji="1" lang="en-US" altLang="zh-CN" sz="20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kumimoji="1" lang="en-US" altLang="zh-CN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" name="Bullet1"/>
              <p:cNvSpPr/>
              <p:nvPr/>
            </p:nvSpPr>
            <p:spPr>
              <a:xfrm>
                <a:off x="9130027" y="4101821"/>
                <a:ext cx="2082461" cy="104597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normAutofit fontScale="25000" lnSpcReduction="20000"/>
              </a:bodyPr>
              <a:lstStyle/>
              <a:p>
                <a:r>
                  <a:rPr kumimoji="1" lang="en-US" altLang="zh-CN" sz="9600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Limit the effect of the system</a:t>
                </a:r>
                <a:endParaRPr kumimoji="1" lang="en-US" altLang="zh-CN" sz="96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kumimoji="1" lang="en-US" altLang="zh-CN" b="1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0" name="上箭头 18"/>
            <p:cNvSpPr/>
            <p:nvPr>
              <p:custDataLst>
                <p:tags r:id="rId1"/>
              </p:custDataLst>
            </p:nvPr>
          </p:nvSpPr>
          <p:spPr>
            <a:xfrm rot="5400000">
              <a:off x="5427815" y="4207607"/>
              <a:ext cx="558898" cy="834398"/>
            </a:xfrm>
            <a:prstGeom prst="upArrow">
              <a:avLst>
                <a:gd name="adj1" fmla="val 44461"/>
                <a:gd name="adj2" fmla="val 500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" name="上箭头 18"/>
            <p:cNvSpPr/>
            <p:nvPr>
              <p:custDataLst>
                <p:tags r:id="rId2"/>
              </p:custDataLst>
            </p:nvPr>
          </p:nvSpPr>
          <p:spPr>
            <a:xfrm rot="5400000">
              <a:off x="8323025" y="4171258"/>
              <a:ext cx="558898" cy="809278"/>
            </a:xfrm>
            <a:prstGeom prst="upArrow">
              <a:avLst>
                <a:gd name="adj1" fmla="val 44461"/>
                <a:gd name="adj2" fmla="val 500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上箭头 18"/>
            <p:cNvSpPr/>
            <p:nvPr>
              <p:custDataLst>
                <p:tags r:id="rId3"/>
              </p:custDataLst>
            </p:nvPr>
          </p:nvSpPr>
          <p:spPr>
            <a:xfrm rot="5400000">
              <a:off x="6510121" y="1675953"/>
              <a:ext cx="558898" cy="1107253"/>
            </a:xfrm>
            <a:prstGeom prst="upArrow">
              <a:avLst>
                <a:gd name="adj1" fmla="val 44461"/>
                <a:gd name="adj2" fmla="val 50000"/>
              </a:avLst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2" name="文本框 31"/>
          <p:cNvSpPr txBox="1"/>
          <p:nvPr/>
        </p:nvSpPr>
        <p:spPr>
          <a:xfrm>
            <a:off x="1151046" y="2166752"/>
            <a:ext cx="2238826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Advantages</a:t>
            </a:r>
            <a:endParaRPr lang="en-US" altLang="zh-CN" sz="28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1007333" y="4728602"/>
            <a:ext cx="2415485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Disa</a:t>
            </a:r>
            <a:r>
              <a:rPr lang="en-US" altLang="zh-CN" sz="2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dvantages</a:t>
            </a:r>
            <a:endParaRPr lang="en-US" altLang="zh-CN" sz="28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173793" y="3343230"/>
            <a:ext cx="1860995" cy="6451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600" b="1" dirty="0" err="1">
                <a:latin typeface="Times New Roman Bold" panose="02020503050405090304" charset="0"/>
                <a:cs typeface="Times New Roman Bold" panose="02020503050405090304" charset="0"/>
              </a:rPr>
              <a:t>Rufusy</a:t>
            </a:r>
            <a:endParaRPr lang="en-US" altLang="zh-CN" sz="3600" b="1" dirty="0">
              <a:latin typeface="Times New Roman Bold" panose="02020503050405090304" charset="0"/>
              <a:cs typeface="Times New Roman Bold" panose="02020503050405090304" charset="0"/>
            </a:endParaRPr>
          </a:p>
        </p:txBody>
      </p:sp>
      <p:cxnSp>
        <p:nvCxnSpPr>
          <p:cNvPr id="39" name="直接箭头连接符 38"/>
          <p:cNvCxnSpPr>
            <a:stCxn id="34" idx="2"/>
            <a:endCxn id="33" idx="0"/>
          </p:cNvCxnSpPr>
          <p:nvPr/>
        </p:nvCxnSpPr>
        <p:spPr>
          <a:xfrm>
            <a:off x="1104291" y="3988390"/>
            <a:ext cx="1110785" cy="7402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直接箭头连接符 42"/>
          <p:cNvCxnSpPr>
            <a:stCxn id="34" idx="0"/>
            <a:endCxn id="32" idx="2"/>
          </p:cNvCxnSpPr>
          <p:nvPr/>
        </p:nvCxnSpPr>
        <p:spPr>
          <a:xfrm flipV="1">
            <a:off x="1104291" y="2689972"/>
            <a:ext cx="1166168" cy="65325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Bullet1"/>
          <p:cNvSpPr/>
          <p:nvPr/>
        </p:nvSpPr>
        <p:spPr>
          <a:xfrm>
            <a:off x="3436627" y="2180017"/>
            <a:ext cx="3489438" cy="8603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108000" rIns="108000" bIns="108000" rtlCol="0" anchor="b" anchorCtr="0">
            <a:noAutofit/>
          </a:bodyPr>
          <a:lstStyle/>
          <a:p>
            <a:r>
              <a:rPr kumimoji="1" lang="en-US" altLang="zh-CN" sz="2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Personalized Advice</a:t>
            </a:r>
            <a:endParaRPr kumimoji="1" lang="en-US" altLang="zh-CN" sz="24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Bullet1"/>
          <p:cNvSpPr/>
          <p:nvPr/>
        </p:nvSpPr>
        <p:spPr>
          <a:xfrm>
            <a:off x="4794891" y="3267782"/>
            <a:ext cx="2839845" cy="13597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b" anchorCtr="0">
            <a:normAutofit/>
          </a:bodyPr>
          <a:lstStyle/>
          <a:p>
            <a:r>
              <a:rPr kumimoji="1" lang="en-US" altLang="zh-CN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employees feel that they are being monitored</a:t>
            </a:r>
            <a:endParaRPr kumimoji="1" lang="en-US" altLang="zh-CN" sz="20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kumimoji="1" lang="en-US" altLang="zh-CN" b="1" dirty="0">
              <a:solidFill>
                <a:schemeClr val="tx1"/>
              </a:solidFill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4467540" y="1437796"/>
            <a:ext cx="6988426" cy="1411205"/>
            <a:chOff x="930402" y="5023588"/>
            <a:chExt cx="8729856" cy="2051922"/>
          </a:xfrm>
        </p:grpSpPr>
        <p:grpSp>
          <p:nvGrpSpPr>
            <p:cNvPr id="18" name="组合 17"/>
            <p:cNvGrpSpPr/>
            <p:nvPr/>
          </p:nvGrpSpPr>
          <p:grpSpPr>
            <a:xfrm>
              <a:off x="930402" y="5023588"/>
              <a:ext cx="4481240" cy="1977100"/>
              <a:chOff x="930402" y="5023588"/>
              <a:chExt cx="4481240" cy="1977100"/>
            </a:xfrm>
          </p:grpSpPr>
          <p:sp>
            <p:nvSpPr>
              <p:cNvPr id="20" name="矩形: 对角圆角 19"/>
              <p:cNvSpPr/>
              <p:nvPr/>
            </p:nvSpPr>
            <p:spPr>
              <a:xfrm>
                <a:off x="930402" y="5023588"/>
                <a:ext cx="3999700" cy="1977100"/>
              </a:xfrm>
              <a:prstGeom prst="round2DiagRect">
                <a:avLst/>
              </a:prstGeom>
              <a:solidFill>
                <a:schemeClr val="accent1">
                  <a:alpha val="15000"/>
                </a:schemeClr>
              </a:solidFill>
              <a:ln w="12700" cap="flat">
                <a:solidFill>
                  <a:schemeClr val="accent1"/>
                </a:solidFill>
                <a:prstDash val="solid"/>
                <a:miter/>
              </a:ln>
              <a:effectLst/>
            </p:spPr>
            <p:txBody>
              <a:bodyPr rtlCol="0" anchor="ctr"/>
              <a:lstStyle/>
              <a:p>
                <a:endParaRPr lang="zh-CN" altLang="en-US" sz="1200" dirty="0"/>
              </a:p>
            </p:txBody>
          </p:sp>
          <p:sp>
            <p:nvSpPr>
              <p:cNvPr id="21" name="Bullet1"/>
              <p:cNvSpPr/>
              <p:nvPr/>
            </p:nvSpPr>
            <p:spPr>
              <a:xfrm>
                <a:off x="1308472" y="5354923"/>
                <a:ext cx="4103170" cy="115408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108000" bIns="108000" rtlCol="0" anchor="b" anchorCtr="0">
                <a:noAutofit/>
              </a:bodyPr>
              <a:lstStyle/>
              <a:p>
                <a:r>
                  <a:rPr kumimoji="1" lang="en-US" altLang="zh-CN" sz="2000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Provide managers with report (LMX Theory) </a:t>
                </a:r>
                <a:endParaRPr kumimoji="1" lang="en-US" altLang="zh-CN" sz="20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9" name="矩形: 对角圆角 18"/>
            <p:cNvSpPr/>
            <p:nvPr/>
          </p:nvSpPr>
          <p:spPr>
            <a:xfrm>
              <a:off x="5715925" y="5023588"/>
              <a:ext cx="3944333" cy="2051922"/>
            </a:xfrm>
            <a:prstGeom prst="round2DiagRect">
              <a:avLst/>
            </a:prstGeom>
            <a:solidFill>
              <a:schemeClr val="accent1">
                <a:alpha val="15000"/>
              </a:schemeClr>
            </a:solidFill>
            <a:ln w="12700" cap="flat">
              <a:solidFill>
                <a:schemeClr val="accent2"/>
              </a:solidFill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zh-CN" altLang="en-US" sz="1200" dirty="0"/>
            </a:p>
          </p:txBody>
        </p:sp>
      </p:grpSp>
      <p:sp>
        <p:nvSpPr>
          <p:cNvPr id="10" name="Bullet1"/>
          <p:cNvSpPr/>
          <p:nvPr/>
        </p:nvSpPr>
        <p:spPr>
          <a:xfrm>
            <a:off x="8483298" y="1392186"/>
            <a:ext cx="3678854" cy="9583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108000" rIns="108000" bIns="108000" rtlCol="0" anchor="b" anchorCtr="0">
            <a:noAutofit/>
          </a:bodyPr>
          <a:lstStyle/>
          <a:p>
            <a:r>
              <a:rPr kumimoji="1" lang="en-US" altLang="zh-CN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Enhancing team dynamics</a:t>
            </a:r>
            <a:endParaRPr kumimoji="1" lang="en-US" altLang="zh-CN" sz="20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Bullet1"/>
          <p:cNvSpPr/>
          <p:nvPr/>
        </p:nvSpPr>
        <p:spPr>
          <a:xfrm>
            <a:off x="8503179" y="3514842"/>
            <a:ext cx="3737113" cy="8656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b" anchorCtr="0">
            <a:normAutofit/>
          </a:bodyPr>
          <a:lstStyle/>
          <a:p>
            <a:r>
              <a:rPr kumimoji="1" lang="en-US" altLang="zh-CN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Affect trust,</a:t>
            </a:r>
            <a:r>
              <a:rPr kumimoji="1" lang="zh-CN" altLang="en-US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 b="1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Effciency</a:t>
            </a:r>
            <a:r>
              <a:rPr kumimoji="1" lang="en-US" altLang="zh-CN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Relationship</a:t>
            </a:r>
            <a:endParaRPr kumimoji="1" lang="en-US" altLang="zh-CN" sz="20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kumimoji="1" lang="en-US" altLang="zh-CN" b="1" dirty="0">
              <a:solidFill>
                <a:schemeClr val="tx1"/>
              </a:solidFill>
            </a:endParaRPr>
          </a:p>
        </p:txBody>
      </p:sp>
      <p:sp>
        <p:nvSpPr>
          <p:cNvPr id="31" name="矩形: 对角圆角 30"/>
          <p:cNvSpPr/>
          <p:nvPr/>
        </p:nvSpPr>
        <p:spPr>
          <a:xfrm>
            <a:off x="4509051" y="3145374"/>
            <a:ext cx="3214630" cy="1359746"/>
          </a:xfrm>
          <a:prstGeom prst="round2DiagRect">
            <a:avLst/>
          </a:prstGeom>
          <a:solidFill>
            <a:schemeClr val="accent2">
              <a:alpha val="15000"/>
            </a:schemeClr>
          </a:solidFill>
          <a:ln w="12700" cap="flat">
            <a:solidFill>
              <a:schemeClr val="accent1"/>
            </a:solidFill>
            <a:prstDash val="solid"/>
            <a:miter/>
          </a:ln>
          <a:effectLst/>
        </p:spPr>
        <p:txBody>
          <a:bodyPr rtlCol="0" anchor="ctr"/>
          <a:lstStyle/>
          <a:p>
            <a:endParaRPr lang="zh-CN" altLang="en-US" sz="1200" dirty="0"/>
          </a:p>
        </p:txBody>
      </p:sp>
      <p:sp>
        <p:nvSpPr>
          <p:cNvPr id="32" name="矩形: 对角圆角 31"/>
          <p:cNvSpPr/>
          <p:nvPr/>
        </p:nvSpPr>
        <p:spPr>
          <a:xfrm>
            <a:off x="8298448" y="3056999"/>
            <a:ext cx="3157518" cy="1359746"/>
          </a:xfrm>
          <a:prstGeom prst="round2DiagRect">
            <a:avLst/>
          </a:prstGeom>
          <a:solidFill>
            <a:schemeClr val="accent2">
              <a:alpha val="15000"/>
            </a:schemeClr>
          </a:solidFill>
          <a:ln w="12700" cap="flat">
            <a:solidFill>
              <a:schemeClr val="accent2"/>
            </a:solidFill>
            <a:prstDash val="solid"/>
            <a:miter/>
          </a:ln>
          <a:effectLst/>
        </p:spPr>
        <p:txBody>
          <a:bodyPr rtlCol="0" anchor="ctr"/>
          <a:lstStyle/>
          <a:p>
            <a:endParaRPr lang="zh-CN" altLang="en-US" sz="1200" dirty="0"/>
          </a:p>
        </p:txBody>
      </p:sp>
      <p:sp>
        <p:nvSpPr>
          <p:cNvPr id="34" name="上箭头 18"/>
          <p:cNvSpPr/>
          <p:nvPr>
            <p:custDataLst>
              <p:tags r:id="rId1"/>
            </p:custDataLst>
          </p:nvPr>
        </p:nvSpPr>
        <p:spPr>
          <a:xfrm rot="5400000">
            <a:off x="7696101" y="3312904"/>
            <a:ext cx="558898" cy="1015495"/>
          </a:xfrm>
          <a:prstGeom prst="upArrow">
            <a:avLst>
              <a:gd name="adj1" fmla="val 44461"/>
              <a:gd name="adj2" fmla="val 50000"/>
            </a:avLst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3" name="组合 42"/>
          <p:cNvGrpSpPr/>
          <p:nvPr/>
        </p:nvGrpSpPr>
        <p:grpSpPr>
          <a:xfrm>
            <a:off x="4509051" y="4852950"/>
            <a:ext cx="6981083" cy="1342032"/>
            <a:chOff x="930402" y="4762501"/>
            <a:chExt cx="8765002" cy="1951344"/>
          </a:xfrm>
        </p:grpSpPr>
        <p:grpSp>
          <p:nvGrpSpPr>
            <p:cNvPr id="45" name="组合 44"/>
            <p:cNvGrpSpPr/>
            <p:nvPr/>
          </p:nvGrpSpPr>
          <p:grpSpPr>
            <a:xfrm>
              <a:off x="930402" y="4762501"/>
              <a:ext cx="4129853" cy="1951344"/>
              <a:chOff x="930402" y="4762501"/>
              <a:chExt cx="4129853" cy="1951344"/>
            </a:xfrm>
          </p:grpSpPr>
          <p:sp>
            <p:nvSpPr>
              <p:cNvPr id="47" name="矩形: 对角圆角 46"/>
              <p:cNvSpPr/>
              <p:nvPr/>
            </p:nvSpPr>
            <p:spPr>
              <a:xfrm>
                <a:off x="930402" y="4762501"/>
                <a:ext cx="4129853" cy="1951344"/>
              </a:xfrm>
              <a:prstGeom prst="round2DiagRect">
                <a:avLst/>
              </a:prstGeom>
              <a:solidFill>
                <a:schemeClr val="accent2">
                  <a:alpha val="15000"/>
                </a:schemeClr>
              </a:solidFill>
              <a:ln w="12700" cap="flat">
                <a:solidFill>
                  <a:schemeClr val="accent1"/>
                </a:solidFill>
                <a:prstDash val="solid"/>
                <a:miter/>
              </a:ln>
              <a:effectLst/>
            </p:spPr>
            <p:txBody>
              <a:bodyPr rtlCol="0" anchor="ctr"/>
              <a:lstStyle/>
              <a:p>
                <a:endParaRPr lang="zh-CN" altLang="en-US" sz="1200" dirty="0"/>
              </a:p>
            </p:txBody>
          </p:sp>
          <p:sp>
            <p:nvSpPr>
              <p:cNvPr id="48" name="Bullet1"/>
              <p:cNvSpPr/>
              <p:nvPr/>
            </p:nvSpPr>
            <p:spPr>
              <a:xfrm>
                <a:off x="1258275" y="5344652"/>
                <a:ext cx="3535625" cy="115408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108000" bIns="108000" rtlCol="0" anchor="b" anchorCtr="0">
                <a:noAutofit/>
              </a:bodyPr>
              <a:lstStyle/>
              <a:p>
                <a:r>
                  <a:rPr kumimoji="1" lang="en-US" altLang="zh-CN" sz="2000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If team members have different perceptions of these reports</a:t>
                </a:r>
                <a:endParaRPr kumimoji="1" lang="en-US" altLang="zh-CN" sz="20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46" name="矩形: 对角圆角 45"/>
            <p:cNvSpPr/>
            <p:nvPr/>
          </p:nvSpPr>
          <p:spPr>
            <a:xfrm>
              <a:off x="5731026" y="4767336"/>
              <a:ext cx="3964378" cy="1875065"/>
            </a:xfrm>
            <a:prstGeom prst="round2DiagRect">
              <a:avLst/>
            </a:prstGeom>
            <a:solidFill>
              <a:schemeClr val="accent2">
                <a:alpha val="15000"/>
              </a:schemeClr>
            </a:solidFill>
            <a:ln w="12700" cap="flat">
              <a:solidFill>
                <a:schemeClr val="accent2"/>
              </a:solidFill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zh-CN" altLang="en-US" sz="1200" dirty="0"/>
            </a:p>
          </p:txBody>
        </p:sp>
      </p:grpSp>
      <p:sp>
        <p:nvSpPr>
          <p:cNvPr id="50" name="Bullet1"/>
          <p:cNvSpPr/>
          <p:nvPr/>
        </p:nvSpPr>
        <p:spPr>
          <a:xfrm>
            <a:off x="8516312" y="4890000"/>
            <a:ext cx="4640949" cy="7937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108000" rIns="108000" bIns="108000" rtlCol="0" anchor="b" anchorCtr="0">
            <a:noAutofit/>
          </a:bodyPr>
          <a:lstStyle/>
          <a:p>
            <a:r>
              <a:rPr kumimoji="1" lang="en-US" altLang="zh-CN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 team tensions</a:t>
            </a:r>
            <a:endParaRPr kumimoji="1" lang="en-US" altLang="zh-CN" sz="20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2037903" y="1881788"/>
            <a:ext cx="2238826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Advantages</a:t>
            </a:r>
            <a:endParaRPr lang="en-US" altLang="zh-CN" sz="28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2001333" y="4489701"/>
            <a:ext cx="2397238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Disa</a:t>
            </a:r>
            <a:r>
              <a:rPr lang="en-US" altLang="zh-CN" sz="2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dvantages</a:t>
            </a:r>
            <a:endParaRPr lang="en-US" altLang="zh-CN" sz="28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554737" y="3210660"/>
            <a:ext cx="1483166" cy="6451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200" b="1" dirty="0" err="1">
                <a:latin typeface="Times New Roman Bold" panose="02020503050405090304" charset="0"/>
                <a:cs typeface="Times New Roman Bold" panose="02020503050405090304" charset="0"/>
              </a:rPr>
              <a:t>Rufusy</a:t>
            </a:r>
            <a:endParaRPr lang="en-US" altLang="zh-CN" sz="3200" b="1" dirty="0">
              <a:latin typeface="Times New Roman Bold" panose="02020503050405090304" charset="0"/>
              <a:cs typeface="Times New Roman Bold" panose="02020503050405090304" charset="0"/>
            </a:endParaRPr>
          </a:p>
        </p:txBody>
      </p:sp>
      <p:cxnSp>
        <p:nvCxnSpPr>
          <p:cNvPr id="55" name="直接箭头连接符 54"/>
          <p:cNvCxnSpPr>
            <a:stCxn id="54" idx="0"/>
            <a:endCxn id="52" idx="2"/>
          </p:cNvCxnSpPr>
          <p:nvPr/>
        </p:nvCxnSpPr>
        <p:spPr>
          <a:xfrm flipV="1">
            <a:off x="1296320" y="2405008"/>
            <a:ext cx="1860996" cy="80565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right-arrow_44733"/>
          <p:cNvSpPr/>
          <p:nvPr/>
        </p:nvSpPr>
        <p:spPr>
          <a:xfrm rot="20282928">
            <a:off x="3493184" y="4058189"/>
            <a:ext cx="686565" cy="334877"/>
          </a:xfrm>
          <a:custGeom>
            <a:avLst/>
            <a:gdLst>
              <a:gd name="T0" fmla="*/ 4601 w 6926"/>
              <a:gd name="T1" fmla="*/ 0 h 3810"/>
              <a:gd name="T2" fmla="*/ 4598 w 6926"/>
              <a:gd name="T3" fmla="*/ 926 h 3810"/>
              <a:gd name="T4" fmla="*/ 4102 w 6926"/>
              <a:gd name="T5" fmla="*/ 976 h 3810"/>
              <a:gd name="T6" fmla="*/ 3831 w 6926"/>
              <a:gd name="T7" fmla="*/ 1015 h 3810"/>
              <a:gd name="T8" fmla="*/ 3691 w 6926"/>
              <a:gd name="T9" fmla="*/ 1038 h 3810"/>
              <a:gd name="T10" fmla="*/ 3549 w 6926"/>
              <a:gd name="T11" fmla="*/ 1064 h 3810"/>
              <a:gd name="T12" fmla="*/ 2965 w 6926"/>
              <a:gd name="T13" fmla="*/ 1195 h 3810"/>
              <a:gd name="T14" fmla="*/ 2373 w 6926"/>
              <a:gd name="T15" fmla="*/ 1380 h 3810"/>
              <a:gd name="T16" fmla="*/ 2228 w 6926"/>
              <a:gd name="T17" fmla="*/ 1433 h 3810"/>
              <a:gd name="T18" fmla="*/ 2084 w 6926"/>
              <a:gd name="T19" fmla="*/ 1492 h 3810"/>
              <a:gd name="T20" fmla="*/ 1803 w 6926"/>
              <a:gd name="T21" fmla="*/ 1619 h 3810"/>
              <a:gd name="T22" fmla="*/ 1534 w 6926"/>
              <a:gd name="T23" fmla="*/ 1760 h 3810"/>
              <a:gd name="T24" fmla="*/ 1282 w 6926"/>
              <a:gd name="T25" fmla="*/ 1914 h 3810"/>
              <a:gd name="T26" fmla="*/ 841 w 6926"/>
              <a:gd name="T27" fmla="*/ 2252 h 3810"/>
              <a:gd name="T28" fmla="*/ 498 w 6926"/>
              <a:gd name="T29" fmla="*/ 2603 h 3810"/>
              <a:gd name="T30" fmla="*/ 364 w 6926"/>
              <a:gd name="T31" fmla="*/ 2771 h 3810"/>
              <a:gd name="T32" fmla="*/ 257 w 6926"/>
              <a:gd name="T33" fmla="*/ 2932 h 3810"/>
              <a:gd name="T34" fmla="*/ 173 w 6926"/>
              <a:gd name="T35" fmla="*/ 3077 h 3810"/>
              <a:gd name="T36" fmla="*/ 106 w 6926"/>
              <a:gd name="T37" fmla="*/ 3200 h 3810"/>
              <a:gd name="T38" fmla="*/ 0 w 6926"/>
              <a:gd name="T39" fmla="*/ 3443 h 3810"/>
              <a:gd name="T40" fmla="*/ 177 w 6926"/>
              <a:gd name="T41" fmla="*/ 3251 h 3810"/>
              <a:gd name="T42" fmla="*/ 278 w 6926"/>
              <a:gd name="T43" fmla="*/ 3159 h 3810"/>
              <a:gd name="T44" fmla="*/ 398 w 6926"/>
              <a:gd name="T45" fmla="*/ 3056 h 3810"/>
              <a:gd name="T46" fmla="*/ 541 w 6926"/>
              <a:gd name="T47" fmla="*/ 2949 h 3810"/>
              <a:gd name="T48" fmla="*/ 707 w 6926"/>
              <a:gd name="T49" fmla="*/ 2843 h 3810"/>
              <a:gd name="T50" fmla="*/ 1096 w 6926"/>
              <a:gd name="T51" fmla="*/ 2650 h 3810"/>
              <a:gd name="T52" fmla="*/ 1549 w 6926"/>
              <a:gd name="T53" fmla="*/ 2502 h 3810"/>
              <a:gd name="T54" fmla="*/ 1794 w 6926"/>
              <a:gd name="T55" fmla="*/ 2449 h 3810"/>
              <a:gd name="T56" fmla="*/ 2048 w 6926"/>
              <a:gd name="T57" fmla="*/ 2412 h 3810"/>
              <a:gd name="T58" fmla="*/ 2307 w 6926"/>
              <a:gd name="T59" fmla="*/ 2390 h 3810"/>
              <a:gd name="T60" fmla="*/ 2437 w 6926"/>
              <a:gd name="T61" fmla="*/ 2383 h 3810"/>
              <a:gd name="T62" fmla="*/ 2569 w 6926"/>
              <a:gd name="T63" fmla="*/ 2381 h 3810"/>
              <a:gd name="T64" fmla="*/ 3090 w 6926"/>
              <a:gd name="T65" fmla="*/ 2399 h 3810"/>
              <a:gd name="T66" fmla="*/ 3594 w 6926"/>
              <a:gd name="T67" fmla="*/ 2458 h 3810"/>
              <a:gd name="T68" fmla="*/ 3714 w 6926"/>
              <a:gd name="T69" fmla="*/ 2476 h 3810"/>
              <a:gd name="T70" fmla="*/ 3832 w 6926"/>
              <a:gd name="T71" fmla="*/ 2498 h 3810"/>
              <a:gd name="T72" fmla="*/ 4059 w 6926"/>
              <a:gd name="T73" fmla="*/ 2543 h 3810"/>
              <a:gd name="T74" fmla="*/ 4471 w 6926"/>
              <a:gd name="T75" fmla="*/ 2641 h 3810"/>
              <a:gd name="T76" fmla="*/ 4592 w 6926"/>
              <a:gd name="T77" fmla="*/ 2675 h 3810"/>
              <a:gd name="T78" fmla="*/ 4588 w 6926"/>
              <a:gd name="T79" fmla="*/ 3810 h 3810"/>
              <a:gd name="T80" fmla="*/ 6926 w 6926"/>
              <a:gd name="T81" fmla="*/ 1913 h 3810"/>
              <a:gd name="T82" fmla="*/ 4601 w 6926"/>
              <a:gd name="T83" fmla="*/ 0 h 38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6926" h="3810">
                <a:moveTo>
                  <a:pt x="4601" y="0"/>
                </a:moveTo>
                <a:lnTo>
                  <a:pt x="4598" y="926"/>
                </a:lnTo>
                <a:cubicBezTo>
                  <a:pt x="4444" y="937"/>
                  <a:pt x="4277" y="954"/>
                  <a:pt x="4102" y="976"/>
                </a:cubicBezTo>
                <a:cubicBezTo>
                  <a:pt x="4014" y="989"/>
                  <a:pt x="3923" y="1000"/>
                  <a:pt x="3831" y="1015"/>
                </a:cubicBezTo>
                <a:cubicBezTo>
                  <a:pt x="3785" y="1023"/>
                  <a:pt x="3738" y="1030"/>
                  <a:pt x="3691" y="1038"/>
                </a:cubicBezTo>
                <a:cubicBezTo>
                  <a:pt x="3644" y="1046"/>
                  <a:pt x="3597" y="1055"/>
                  <a:pt x="3549" y="1064"/>
                </a:cubicBezTo>
                <a:cubicBezTo>
                  <a:pt x="3358" y="1099"/>
                  <a:pt x="3162" y="1144"/>
                  <a:pt x="2965" y="1195"/>
                </a:cubicBezTo>
                <a:cubicBezTo>
                  <a:pt x="2767" y="1249"/>
                  <a:pt x="2569" y="1307"/>
                  <a:pt x="2373" y="1380"/>
                </a:cubicBezTo>
                <a:cubicBezTo>
                  <a:pt x="2325" y="1398"/>
                  <a:pt x="2276" y="1414"/>
                  <a:pt x="2228" y="1433"/>
                </a:cubicBezTo>
                <a:cubicBezTo>
                  <a:pt x="2180" y="1453"/>
                  <a:pt x="2132" y="1473"/>
                  <a:pt x="2084" y="1492"/>
                </a:cubicBezTo>
                <a:cubicBezTo>
                  <a:pt x="1988" y="1530"/>
                  <a:pt x="1895" y="1577"/>
                  <a:pt x="1803" y="1619"/>
                </a:cubicBezTo>
                <a:cubicBezTo>
                  <a:pt x="1711" y="1664"/>
                  <a:pt x="1622" y="1713"/>
                  <a:pt x="1534" y="1760"/>
                </a:cubicBezTo>
                <a:cubicBezTo>
                  <a:pt x="1448" y="1812"/>
                  <a:pt x="1363" y="1860"/>
                  <a:pt x="1282" y="1914"/>
                </a:cubicBezTo>
                <a:cubicBezTo>
                  <a:pt x="1121" y="2022"/>
                  <a:pt x="972" y="2134"/>
                  <a:pt x="841" y="2252"/>
                </a:cubicBezTo>
                <a:cubicBezTo>
                  <a:pt x="709" y="2367"/>
                  <a:pt x="595" y="2488"/>
                  <a:pt x="498" y="2603"/>
                </a:cubicBezTo>
                <a:cubicBezTo>
                  <a:pt x="451" y="2662"/>
                  <a:pt x="405" y="2717"/>
                  <a:pt x="364" y="2771"/>
                </a:cubicBezTo>
                <a:cubicBezTo>
                  <a:pt x="327" y="2828"/>
                  <a:pt x="291" y="2881"/>
                  <a:pt x="257" y="2932"/>
                </a:cubicBezTo>
                <a:cubicBezTo>
                  <a:pt x="223" y="2980"/>
                  <a:pt x="198" y="3032"/>
                  <a:pt x="173" y="3077"/>
                </a:cubicBezTo>
                <a:cubicBezTo>
                  <a:pt x="148" y="3122"/>
                  <a:pt x="126" y="3163"/>
                  <a:pt x="106" y="3200"/>
                </a:cubicBezTo>
                <a:cubicBezTo>
                  <a:pt x="38" y="3355"/>
                  <a:pt x="0" y="3443"/>
                  <a:pt x="0" y="3443"/>
                </a:cubicBezTo>
                <a:cubicBezTo>
                  <a:pt x="0" y="3443"/>
                  <a:pt x="64" y="3373"/>
                  <a:pt x="177" y="3251"/>
                </a:cubicBezTo>
                <a:cubicBezTo>
                  <a:pt x="207" y="3223"/>
                  <a:pt x="241" y="3193"/>
                  <a:pt x="278" y="3159"/>
                </a:cubicBezTo>
                <a:cubicBezTo>
                  <a:pt x="315" y="3127"/>
                  <a:pt x="351" y="3089"/>
                  <a:pt x="398" y="3056"/>
                </a:cubicBezTo>
                <a:cubicBezTo>
                  <a:pt x="443" y="3023"/>
                  <a:pt x="491" y="2987"/>
                  <a:pt x="541" y="2949"/>
                </a:cubicBezTo>
                <a:cubicBezTo>
                  <a:pt x="593" y="2914"/>
                  <a:pt x="650" y="2880"/>
                  <a:pt x="707" y="2843"/>
                </a:cubicBezTo>
                <a:cubicBezTo>
                  <a:pt x="824" y="2774"/>
                  <a:pt x="954" y="2707"/>
                  <a:pt x="1096" y="2650"/>
                </a:cubicBezTo>
                <a:cubicBezTo>
                  <a:pt x="1237" y="2591"/>
                  <a:pt x="1390" y="2543"/>
                  <a:pt x="1549" y="2502"/>
                </a:cubicBezTo>
                <a:cubicBezTo>
                  <a:pt x="1629" y="2481"/>
                  <a:pt x="1713" y="2467"/>
                  <a:pt x="1794" y="2449"/>
                </a:cubicBezTo>
                <a:cubicBezTo>
                  <a:pt x="1879" y="2436"/>
                  <a:pt x="1962" y="2422"/>
                  <a:pt x="2048" y="2412"/>
                </a:cubicBezTo>
                <a:cubicBezTo>
                  <a:pt x="2135" y="2404"/>
                  <a:pt x="2219" y="2392"/>
                  <a:pt x="2307" y="2390"/>
                </a:cubicBezTo>
                <a:cubicBezTo>
                  <a:pt x="2350" y="2387"/>
                  <a:pt x="2394" y="2385"/>
                  <a:pt x="2437" y="2383"/>
                </a:cubicBezTo>
                <a:cubicBezTo>
                  <a:pt x="2481" y="2381"/>
                  <a:pt x="2525" y="2381"/>
                  <a:pt x="2569" y="2381"/>
                </a:cubicBezTo>
                <a:cubicBezTo>
                  <a:pt x="2743" y="2377"/>
                  <a:pt x="2919" y="2387"/>
                  <a:pt x="3090" y="2399"/>
                </a:cubicBezTo>
                <a:cubicBezTo>
                  <a:pt x="3263" y="2414"/>
                  <a:pt x="3431" y="2432"/>
                  <a:pt x="3594" y="2458"/>
                </a:cubicBezTo>
                <a:cubicBezTo>
                  <a:pt x="3634" y="2464"/>
                  <a:pt x="3674" y="2470"/>
                  <a:pt x="3714" y="2476"/>
                </a:cubicBezTo>
                <a:cubicBezTo>
                  <a:pt x="3754" y="2484"/>
                  <a:pt x="3793" y="2491"/>
                  <a:pt x="3832" y="2498"/>
                </a:cubicBezTo>
                <a:cubicBezTo>
                  <a:pt x="3910" y="2511"/>
                  <a:pt x="3986" y="2528"/>
                  <a:pt x="4059" y="2543"/>
                </a:cubicBezTo>
                <a:cubicBezTo>
                  <a:pt x="4207" y="2574"/>
                  <a:pt x="4345" y="2608"/>
                  <a:pt x="4471" y="2641"/>
                </a:cubicBezTo>
                <a:cubicBezTo>
                  <a:pt x="4513" y="2653"/>
                  <a:pt x="4553" y="2664"/>
                  <a:pt x="4592" y="2675"/>
                </a:cubicBezTo>
                <a:lnTo>
                  <a:pt x="4588" y="3810"/>
                </a:lnTo>
                <a:lnTo>
                  <a:pt x="6926" y="1913"/>
                </a:lnTo>
                <a:lnTo>
                  <a:pt x="4601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ight-arrow_44733"/>
          <p:cNvSpPr/>
          <p:nvPr/>
        </p:nvSpPr>
        <p:spPr>
          <a:xfrm rot="3561466">
            <a:off x="3580918" y="5070177"/>
            <a:ext cx="609685" cy="334877"/>
          </a:xfrm>
          <a:custGeom>
            <a:avLst/>
            <a:gdLst>
              <a:gd name="T0" fmla="*/ 4601 w 6926"/>
              <a:gd name="T1" fmla="*/ 0 h 3810"/>
              <a:gd name="T2" fmla="*/ 4598 w 6926"/>
              <a:gd name="T3" fmla="*/ 926 h 3810"/>
              <a:gd name="T4" fmla="*/ 4102 w 6926"/>
              <a:gd name="T5" fmla="*/ 976 h 3810"/>
              <a:gd name="T6" fmla="*/ 3831 w 6926"/>
              <a:gd name="T7" fmla="*/ 1015 h 3810"/>
              <a:gd name="T8" fmla="*/ 3691 w 6926"/>
              <a:gd name="T9" fmla="*/ 1038 h 3810"/>
              <a:gd name="T10" fmla="*/ 3549 w 6926"/>
              <a:gd name="T11" fmla="*/ 1064 h 3810"/>
              <a:gd name="T12" fmla="*/ 2965 w 6926"/>
              <a:gd name="T13" fmla="*/ 1195 h 3810"/>
              <a:gd name="T14" fmla="*/ 2373 w 6926"/>
              <a:gd name="T15" fmla="*/ 1380 h 3810"/>
              <a:gd name="T16" fmla="*/ 2228 w 6926"/>
              <a:gd name="T17" fmla="*/ 1433 h 3810"/>
              <a:gd name="T18" fmla="*/ 2084 w 6926"/>
              <a:gd name="T19" fmla="*/ 1492 h 3810"/>
              <a:gd name="T20" fmla="*/ 1803 w 6926"/>
              <a:gd name="T21" fmla="*/ 1619 h 3810"/>
              <a:gd name="T22" fmla="*/ 1534 w 6926"/>
              <a:gd name="T23" fmla="*/ 1760 h 3810"/>
              <a:gd name="T24" fmla="*/ 1282 w 6926"/>
              <a:gd name="T25" fmla="*/ 1914 h 3810"/>
              <a:gd name="T26" fmla="*/ 841 w 6926"/>
              <a:gd name="T27" fmla="*/ 2252 h 3810"/>
              <a:gd name="T28" fmla="*/ 498 w 6926"/>
              <a:gd name="T29" fmla="*/ 2603 h 3810"/>
              <a:gd name="T30" fmla="*/ 364 w 6926"/>
              <a:gd name="T31" fmla="*/ 2771 h 3810"/>
              <a:gd name="T32" fmla="*/ 257 w 6926"/>
              <a:gd name="T33" fmla="*/ 2932 h 3810"/>
              <a:gd name="T34" fmla="*/ 173 w 6926"/>
              <a:gd name="T35" fmla="*/ 3077 h 3810"/>
              <a:gd name="T36" fmla="*/ 106 w 6926"/>
              <a:gd name="T37" fmla="*/ 3200 h 3810"/>
              <a:gd name="T38" fmla="*/ 0 w 6926"/>
              <a:gd name="T39" fmla="*/ 3443 h 3810"/>
              <a:gd name="T40" fmla="*/ 177 w 6926"/>
              <a:gd name="T41" fmla="*/ 3251 h 3810"/>
              <a:gd name="T42" fmla="*/ 278 w 6926"/>
              <a:gd name="T43" fmla="*/ 3159 h 3810"/>
              <a:gd name="T44" fmla="*/ 398 w 6926"/>
              <a:gd name="T45" fmla="*/ 3056 h 3810"/>
              <a:gd name="T46" fmla="*/ 541 w 6926"/>
              <a:gd name="T47" fmla="*/ 2949 h 3810"/>
              <a:gd name="T48" fmla="*/ 707 w 6926"/>
              <a:gd name="T49" fmla="*/ 2843 h 3810"/>
              <a:gd name="T50" fmla="*/ 1096 w 6926"/>
              <a:gd name="T51" fmla="*/ 2650 h 3810"/>
              <a:gd name="T52" fmla="*/ 1549 w 6926"/>
              <a:gd name="T53" fmla="*/ 2502 h 3810"/>
              <a:gd name="T54" fmla="*/ 1794 w 6926"/>
              <a:gd name="T55" fmla="*/ 2449 h 3810"/>
              <a:gd name="T56" fmla="*/ 2048 w 6926"/>
              <a:gd name="T57" fmla="*/ 2412 h 3810"/>
              <a:gd name="T58" fmla="*/ 2307 w 6926"/>
              <a:gd name="T59" fmla="*/ 2390 h 3810"/>
              <a:gd name="T60" fmla="*/ 2437 w 6926"/>
              <a:gd name="T61" fmla="*/ 2383 h 3810"/>
              <a:gd name="T62" fmla="*/ 2569 w 6926"/>
              <a:gd name="T63" fmla="*/ 2381 h 3810"/>
              <a:gd name="T64" fmla="*/ 3090 w 6926"/>
              <a:gd name="T65" fmla="*/ 2399 h 3810"/>
              <a:gd name="T66" fmla="*/ 3594 w 6926"/>
              <a:gd name="T67" fmla="*/ 2458 h 3810"/>
              <a:gd name="T68" fmla="*/ 3714 w 6926"/>
              <a:gd name="T69" fmla="*/ 2476 h 3810"/>
              <a:gd name="T70" fmla="*/ 3832 w 6926"/>
              <a:gd name="T71" fmla="*/ 2498 h 3810"/>
              <a:gd name="T72" fmla="*/ 4059 w 6926"/>
              <a:gd name="T73" fmla="*/ 2543 h 3810"/>
              <a:gd name="T74" fmla="*/ 4471 w 6926"/>
              <a:gd name="T75" fmla="*/ 2641 h 3810"/>
              <a:gd name="T76" fmla="*/ 4592 w 6926"/>
              <a:gd name="T77" fmla="*/ 2675 h 3810"/>
              <a:gd name="T78" fmla="*/ 4588 w 6926"/>
              <a:gd name="T79" fmla="*/ 3810 h 3810"/>
              <a:gd name="T80" fmla="*/ 6926 w 6926"/>
              <a:gd name="T81" fmla="*/ 1913 h 3810"/>
              <a:gd name="T82" fmla="*/ 4601 w 6926"/>
              <a:gd name="T83" fmla="*/ 0 h 38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6926" h="3810">
                <a:moveTo>
                  <a:pt x="4601" y="0"/>
                </a:moveTo>
                <a:lnTo>
                  <a:pt x="4598" y="926"/>
                </a:lnTo>
                <a:cubicBezTo>
                  <a:pt x="4444" y="937"/>
                  <a:pt x="4277" y="954"/>
                  <a:pt x="4102" y="976"/>
                </a:cubicBezTo>
                <a:cubicBezTo>
                  <a:pt x="4014" y="989"/>
                  <a:pt x="3923" y="1000"/>
                  <a:pt x="3831" y="1015"/>
                </a:cubicBezTo>
                <a:cubicBezTo>
                  <a:pt x="3785" y="1023"/>
                  <a:pt x="3738" y="1030"/>
                  <a:pt x="3691" y="1038"/>
                </a:cubicBezTo>
                <a:cubicBezTo>
                  <a:pt x="3644" y="1046"/>
                  <a:pt x="3597" y="1055"/>
                  <a:pt x="3549" y="1064"/>
                </a:cubicBezTo>
                <a:cubicBezTo>
                  <a:pt x="3358" y="1099"/>
                  <a:pt x="3162" y="1144"/>
                  <a:pt x="2965" y="1195"/>
                </a:cubicBezTo>
                <a:cubicBezTo>
                  <a:pt x="2767" y="1249"/>
                  <a:pt x="2569" y="1307"/>
                  <a:pt x="2373" y="1380"/>
                </a:cubicBezTo>
                <a:cubicBezTo>
                  <a:pt x="2325" y="1398"/>
                  <a:pt x="2276" y="1414"/>
                  <a:pt x="2228" y="1433"/>
                </a:cubicBezTo>
                <a:cubicBezTo>
                  <a:pt x="2180" y="1453"/>
                  <a:pt x="2132" y="1473"/>
                  <a:pt x="2084" y="1492"/>
                </a:cubicBezTo>
                <a:cubicBezTo>
                  <a:pt x="1988" y="1530"/>
                  <a:pt x="1895" y="1577"/>
                  <a:pt x="1803" y="1619"/>
                </a:cubicBezTo>
                <a:cubicBezTo>
                  <a:pt x="1711" y="1664"/>
                  <a:pt x="1622" y="1713"/>
                  <a:pt x="1534" y="1760"/>
                </a:cubicBezTo>
                <a:cubicBezTo>
                  <a:pt x="1448" y="1812"/>
                  <a:pt x="1363" y="1860"/>
                  <a:pt x="1282" y="1914"/>
                </a:cubicBezTo>
                <a:cubicBezTo>
                  <a:pt x="1121" y="2022"/>
                  <a:pt x="972" y="2134"/>
                  <a:pt x="841" y="2252"/>
                </a:cubicBezTo>
                <a:cubicBezTo>
                  <a:pt x="709" y="2367"/>
                  <a:pt x="595" y="2488"/>
                  <a:pt x="498" y="2603"/>
                </a:cubicBezTo>
                <a:cubicBezTo>
                  <a:pt x="451" y="2662"/>
                  <a:pt x="405" y="2717"/>
                  <a:pt x="364" y="2771"/>
                </a:cubicBezTo>
                <a:cubicBezTo>
                  <a:pt x="327" y="2828"/>
                  <a:pt x="291" y="2881"/>
                  <a:pt x="257" y="2932"/>
                </a:cubicBezTo>
                <a:cubicBezTo>
                  <a:pt x="223" y="2980"/>
                  <a:pt x="198" y="3032"/>
                  <a:pt x="173" y="3077"/>
                </a:cubicBezTo>
                <a:cubicBezTo>
                  <a:pt x="148" y="3122"/>
                  <a:pt x="126" y="3163"/>
                  <a:pt x="106" y="3200"/>
                </a:cubicBezTo>
                <a:cubicBezTo>
                  <a:pt x="38" y="3355"/>
                  <a:pt x="0" y="3443"/>
                  <a:pt x="0" y="3443"/>
                </a:cubicBezTo>
                <a:cubicBezTo>
                  <a:pt x="0" y="3443"/>
                  <a:pt x="64" y="3373"/>
                  <a:pt x="177" y="3251"/>
                </a:cubicBezTo>
                <a:cubicBezTo>
                  <a:pt x="207" y="3223"/>
                  <a:pt x="241" y="3193"/>
                  <a:pt x="278" y="3159"/>
                </a:cubicBezTo>
                <a:cubicBezTo>
                  <a:pt x="315" y="3127"/>
                  <a:pt x="351" y="3089"/>
                  <a:pt x="398" y="3056"/>
                </a:cubicBezTo>
                <a:cubicBezTo>
                  <a:pt x="443" y="3023"/>
                  <a:pt x="491" y="2987"/>
                  <a:pt x="541" y="2949"/>
                </a:cubicBezTo>
                <a:cubicBezTo>
                  <a:pt x="593" y="2914"/>
                  <a:pt x="650" y="2880"/>
                  <a:pt x="707" y="2843"/>
                </a:cubicBezTo>
                <a:cubicBezTo>
                  <a:pt x="824" y="2774"/>
                  <a:pt x="954" y="2707"/>
                  <a:pt x="1096" y="2650"/>
                </a:cubicBezTo>
                <a:cubicBezTo>
                  <a:pt x="1237" y="2591"/>
                  <a:pt x="1390" y="2543"/>
                  <a:pt x="1549" y="2502"/>
                </a:cubicBezTo>
                <a:cubicBezTo>
                  <a:pt x="1629" y="2481"/>
                  <a:pt x="1713" y="2467"/>
                  <a:pt x="1794" y="2449"/>
                </a:cubicBezTo>
                <a:cubicBezTo>
                  <a:pt x="1879" y="2436"/>
                  <a:pt x="1962" y="2422"/>
                  <a:pt x="2048" y="2412"/>
                </a:cubicBezTo>
                <a:cubicBezTo>
                  <a:pt x="2135" y="2404"/>
                  <a:pt x="2219" y="2392"/>
                  <a:pt x="2307" y="2390"/>
                </a:cubicBezTo>
                <a:cubicBezTo>
                  <a:pt x="2350" y="2387"/>
                  <a:pt x="2394" y="2385"/>
                  <a:pt x="2437" y="2383"/>
                </a:cubicBezTo>
                <a:cubicBezTo>
                  <a:pt x="2481" y="2381"/>
                  <a:pt x="2525" y="2381"/>
                  <a:pt x="2569" y="2381"/>
                </a:cubicBezTo>
                <a:cubicBezTo>
                  <a:pt x="2743" y="2377"/>
                  <a:pt x="2919" y="2387"/>
                  <a:pt x="3090" y="2399"/>
                </a:cubicBezTo>
                <a:cubicBezTo>
                  <a:pt x="3263" y="2414"/>
                  <a:pt x="3431" y="2432"/>
                  <a:pt x="3594" y="2458"/>
                </a:cubicBezTo>
                <a:cubicBezTo>
                  <a:pt x="3634" y="2464"/>
                  <a:pt x="3674" y="2470"/>
                  <a:pt x="3714" y="2476"/>
                </a:cubicBezTo>
                <a:cubicBezTo>
                  <a:pt x="3754" y="2484"/>
                  <a:pt x="3793" y="2491"/>
                  <a:pt x="3832" y="2498"/>
                </a:cubicBezTo>
                <a:cubicBezTo>
                  <a:pt x="3910" y="2511"/>
                  <a:pt x="3986" y="2528"/>
                  <a:pt x="4059" y="2543"/>
                </a:cubicBezTo>
                <a:cubicBezTo>
                  <a:pt x="4207" y="2574"/>
                  <a:pt x="4345" y="2608"/>
                  <a:pt x="4471" y="2641"/>
                </a:cubicBezTo>
                <a:cubicBezTo>
                  <a:pt x="4513" y="2653"/>
                  <a:pt x="4553" y="2664"/>
                  <a:pt x="4592" y="2675"/>
                </a:cubicBezTo>
                <a:lnTo>
                  <a:pt x="4588" y="3810"/>
                </a:lnTo>
                <a:lnTo>
                  <a:pt x="6926" y="1913"/>
                </a:lnTo>
                <a:lnTo>
                  <a:pt x="4601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上箭头 18"/>
          <p:cNvSpPr/>
          <p:nvPr>
            <p:custDataLst>
              <p:tags r:id="rId2"/>
            </p:custDataLst>
          </p:nvPr>
        </p:nvSpPr>
        <p:spPr>
          <a:xfrm rot="5400000">
            <a:off x="7660480" y="1608943"/>
            <a:ext cx="558898" cy="1015495"/>
          </a:xfrm>
          <a:prstGeom prst="upArrow">
            <a:avLst>
              <a:gd name="adj1" fmla="val 44461"/>
              <a:gd name="adj2" fmla="val 50000"/>
            </a:avLst>
          </a:prstGeom>
          <a:solidFill>
            <a:schemeClr val="accent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上箭头 18"/>
          <p:cNvSpPr/>
          <p:nvPr>
            <p:custDataLst>
              <p:tags r:id="rId3"/>
            </p:custDataLst>
          </p:nvPr>
        </p:nvSpPr>
        <p:spPr>
          <a:xfrm rot="5400000">
            <a:off x="7729115" y="5079187"/>
            <a:ext cx="558898" cy="1015495"/>
          </a:xfrm>
          <a:prstGeom prst="upArrow">
            <a:avLst>
              <a:gd name="adj1" fmla="val 44461"/>
              <a:gd name="adj2" fmla="val 50000"/>
            </a:avLst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0" name="直接箭头连接符 69"/>
          <p:cNvCxnSpPr>
            <a:stCxn id="54" idx="2"/>
            <a:endCxn id="53" idx="0"/>
          </p:cNvCxnSpPr>
          <p:nvPr/>
        </p:nvCxnSpPr>
        <p:spPr>
          <a:xfrm>
            <a:off x="1296320" y="3855820"/>
            <a:ext cx="1903632" cy="63388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" name="标题 1"/>
          <p:cNvSpPr txBox="1"/>
          <p:nvPr/>
        </p:nvSpPr>
        <p:spPr>
          <a:xfrm>
            <a:off x="321186" y="237873"/>
            <a:ext cx="10515600" cy="72865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latin typeface="Times New Roman Bold" panose="02020503050405090304" charset="0"/>
                <a:cs typeface="Times New Roman Bold" panose="02020503050405090304" charset="0"/>
              </a:rPr>
              <a:t>Manager Perspective</a:t>
            </a:r>
            <a:endParaRPr lang="en-US" altLang="zh-CN" sz="3200" b="1" dirty="0">
              <a:latin typeface="Times New Roman Bold" panose="02020503050405090304" charset="0"/>
              <a:cs typeface="Times New Roman Bold" panose="020205030504050903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794891" y="2364082"/>
            <a:ext cx="211533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kern="10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等线" panose="02010600030101010101" pitchFamily="2" charset="-122"/>
              </a:rPr>
              <a:t>(Aggarwal et al., 2020)</a:t>
            </a:r>
            <a:endParaRPr lang="zh-CN" alt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Bullet1"/>
          <p:cNvSpPr/>
          <p:nvPr/>
        </p:nvSpPr>
        <p:spPr>
          <a:xfrm>
            <a:off x="4944868" y="2978995"/>
            <a:ext cx="2839845" cy="13597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b" anchorCtr="0">
            <a:normAutofit/>
          </a:bodyPr>
          <a:lstStyle/>
          <a:p>
            <a:r>
              <a:rPr kumimoji="1" lang="en-US" altLang="zh-CN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Cultural differences</a:t>
            </a:r>
            <a:endParaRPr kumimoji="1" lang="en-US" altLang="zh-CN" sz="20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kumimoji="1" lang="en-US" altLang="zh-CN" b="1" dirty="0">
              <a:solidFill>
                <a:schemeClr val="tx1"/>
              </a:solidFill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4467540" y="1437796"/>
            <a:ext cx="6988426" cy="1411205"/>
            <a:chOff x="930402" y="5023588"/>
            <a:chExt cx="8729856" cy="2051922"/>
          </a:xfrm>
        </p:grpSpPr>
        <p:grpSp>
          <p:nvGrpSpPr>
            <p:cNvPr id="18" name="组合 17"/>
            <p:cNvGrpSpPr/>
            <p:nvPr/>
          </p:nvGrpSpPr>
          <p:grpSpPr>
            <a:xfrm>
              <a:off x="930402" y="5023588"/>
              <a:ext cx="4157926" cy="1977100"/>
              <a:chOff x="930402" y="5023588"/>
              <a:chExt cx="4157926" cy="1977100"/>
            </a:xfrm>
          </p:grpSpPr>
          <p:sp>
            <p:nvSpPr>
              <p:cNvPr id="20" name="矩形: 对角圆角 19"/>
              <p:cNvSpPr/>
              <p:nvPr/>
            </p:nvSpPr>
            <p:spPr>
              <a:xfrm>
                <a:off x="930402" y="5023588"/>
                <a:ext cx="3999700" cy="1977100"/>
              </a:xfrm>
              <a:prstGeom prst="round2DiagRect">
                <a:avLst/>
              </a:prstGeom>
              <a:solidFill>
                <a:schemeClr val="accent1">
                  <a:alpha val="15000"/>
                </a:schemeClr>
              </a:solidFill>
              <a:ln w="12700" cap="flat">
                <a:solidFill>
                  <a:schemeClr val="accent1"/>
                </a:solidFill>
                <a:prstDash val="solid"/>
                <a:miter/>
              </a:ln>
              <a:effectLst/>
            </p:spPr>
            <p:txBody>
              <a:bodyPr rtlCol="0" anchor="ctr"/>
              <a:lstStyle/>
              <a:p>
                <a:endParaRPr lang="zh-CN" altLang="en-US" sz="1200" dirty="0"/>
              </a:p>
            </p:txBody>
          </p:sp>
          <p:sp>
            <p:nvSpPr>
              <p:cNvPr id="21" name="Bullet1"/>
              <p:cNvSpPr/>
              <p:nvPr/>
            </p:nvSpPr>
            <p:spPr>
              <a:xfrm>
                <a:off x="985158" y="5357831"/>
                <a:ext cx="4103170" cy="115408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108000" bIns="108000" rtlCol="0" anchor="b" anchorCtr="0">
                <a:noAutofit/>
              </a:bodyPr>
              <a:lstStyle/>
              <a:p>
                <a:r>
                  <a:rPr kumimoji="1" lang="en-US" altLang="zh-CN" sz="2000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Strengthened Amazon’s employee-centered image</a:t>
                </a:r>
                <a:endParaRPr kumimoji="1" lang="en-US" altLang="zh-CN" sz="20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9" name="矩形: 对角圆角 18"/>
            <p:cNvSpPr/>
            <p:nvPr/>
          </p:nvSpPr>
          <p:spPr>
            <a:xfrm>
              <a:off x="5715925" y="5023588"/>
              <a:ext cx="3944333" cy="2051922"/>
            </a:xfrm>
            <a:prstGeom prst="round2DiagRect">
              <a:avLst/>
            </a:prstGeom>
            <a:solidFill>
              <a:schemeClr val="accent1">
                <a:alpha val="15000"/>
              </a:schemeClr>
            </a:solidFill>
            <a:ln w="12700" cap="flat">
              <a:solidFill>
                <a:schemeClr val="accent2"/>
              </a:solidFill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zh-CN" altLang="en-US" sz="1200" dirty="0"/>
            </a:p>
          </p:txBody>
        </p:sp>
      </p:grpSp>
      <p:sp>
        <p:nvSpPr>
          <p:cNvPr id="10" name="Bullet1"/>
          <p:cNvSpPr/>
          <p:nvPr/>
        </p:nvSpPr>
        <p:spPr>
          <a:xfrm>
            <a:off x="8529402" y="1527292"/>
            <a:ext cx="2972668" cy="9583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108000" rIns="108000" bIns="108000" rtlCol="0" anchor="b" anchorCtr="0">
            <a:noAutofit/>
          </a:bodyPr>
          <a:lstStyle/>
          <a:p>
            <a:r>
              <a:rPr kumimoji="1" lang="en-US" altLang="zh-CN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Making it a leader in employee care</a:t>
            </a:r>
            <a:endParaRPr kumimoji="1" lang="en-US" altLang="zh-CN" sz="20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矩形: 对角圆角 30"/>
          <p:cNvSpPr/>
          <p:nvPr/>
        </p:nvSpPr>
        <p:spPr>
          <a:xfrm>
            <a:off x="4488685" y="3186623"/>
            <a:ext cx="3214630" cy="1359746"/>
          </a:xfrm>
          <a:prstGeom prst="round2DiagRect">
            <a:avLst/>
          </a:prstGeom>
          <a:solidFill>
            <a:schemeClr val="accent2">
              <a:alpha val="15000"/>
            </a:schemeClr>
          </a:solidFill>
          <a:ln w="12700" cap="flat">
            <a:solidFill>
              <a:schemeClr val="accent1"/>
            </a:solidFill>
            <a:prstDash val="solid"/>
            <a:miter/>
          </a:ln>
          <a:effectLst/>
        </p:spPr>
        <p:txBody>
          <a:bodyPr rtlCol="0" anchor="ctr"/>
          <a:lstStyle/>
          <a:p>
            <a:endParaRPr lang="zh-CN" altLang="en-US" sz="1200" dirty="0"/>
          </a:p>
        </p:txBody>
      </p:sp>
      <p:sp>
        <p:nvSpPr>
          <p:cNvPr id="32" name="矩形: 对角圆角 31"/>
          <p:cNvSpPr/>
          <p:nvPr/>
        </p:nvSpPr>
        <p:spPr>
          <a:xfrm>
            <a:off x="8332616" y="3126508"/>
            <a:ext cx="3157518" cy="1359746"/>
          </a:xfrm>
          <a:prstGeom prst="round2DiagRect">
            <a:avLst/>
          </a:prstGeom>
          <a:solidFill>
            <a:schemeClr val="accent2">
              <a:alpha val="15000"/>
            </a:schemeClr>
          </a:solidFill>
          <a:ln w="12700" cap="flat">
            <a:solidFill>
              <a:schemeClr val="accent2"/>
            </a:solidFill>
            <a:prstDash val="solid"/>
            <a:miter/>
          </a:ln>
          <a:effectLst/>
        </p:spPr>
        <p:txBody>
          <a:bodyPr rtlCol="0" anchor="ctr"/>
          <a:lstStyle/>
          <a:p>
            <a:endParaRPr lang="zh-CN" altLang="en-US" sz="1200" dirty="0"/>
          </a:p>
        </p:txBody>
      </p:sp>
      <p:sp>
        <p:nvSpPr>
          <p:cNvPr id="34" name="上箭头 18"/>
          <p:cNvSpPr/>
          <p:nvPr>
            <p:custDataLst>
              <p:tags r:id="rId1"/>
            </p:custDataLst>
          </p:nvPr>
        </p:nvSpPr>
        <p:spPr>
          <a:xfrm rot="5400000">
            <a:off x="7712607" y="3329410"/>
            <a:ext cx="558898" cy="982483"/>
          </a:xfrm>
          <a:prstGeom prst="upArrow">
            <a:avLst>
              <a:gd name="adj1" fmla="val 44461"/>
              <a:gd name="adj2" fmla="val 50000"/>
            </a:avLst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3" name="组合 42"/>
          <p:cNvGrpSpPr/>
          <p:nvPr/>
        </p:nvGrpSpPr>
        <p:grpSpPr>
          <a:xfrm>
            <a:off x="4509051" y="4852950"/>
            <a:ext cx="6981083" cy="1342032"/>
            <a:chOff x="930402" y="4762501"/>
            <a:chExt cx="8765002" cy="1951344"/>
          </a:xfrm>
        </p:grpSpPr>
        <p:grpSp>
          <p:nvGrpSpPr>
            <p:cNvPr id="45" name="组合 44"/>
            <p:cNvGrpSpPr/>
            <p:nvPr/>
          </p:nvGrpSpPr>
          <p:grpSpPr>
            <a:xfrm>
              <a:off x="930402" y="4762501"/>
              <a:ext cx="4036085" cy="1951344"/>
              <a:chOff x="930402" y="4762501"/>
              <a:chExt cx="4036085" cy="1951344"/>
            </a:xfrm>
          </p:grpSpPr>
          <p:sp>
            <p:nvSpPr>
              <p:cNvPr id="47" name="矩形: 对角圆角 46"/>
              <p:cNvSpPr/>
              <p:nvPr/>
            </p:nvSpPr>
            <p:spPr>
              <a:xfrm>
                <a:off x="930402" y="4762501"/>
                <a:ext cx="4036085" cy="1951344"/>
              </a:xfrm>
              <a:prstGeom prst="round2DiagRect">
                <a:avLst/>
              </a:prstGeom>
              <a:solidFill>
                <a:schemeClr val="accent2">
                  <a:alpha val="15000"/>
                </a:schemeClr>
              </a:solidFill>
              <a:ln w="12700" cap="flat">
                <a:solidFill>
                  <a:schemeClr val="accent1"/>
                </a:solidFill>
                <a:prstDash val="solid"/>
                <a:miter/>
              </a:ln>
              <a:effectLst/>
            </p:spPr>
            <p:txBody>
              <a:bodyPr rtlCol="0" anchor="ctr"/>
              <a:lstStyle/>
              <a:p>
                <a:endParaRPr lang="zh-CN" altLang="en-US" sz="1200" dirty="0"/>
              </a:p>
            </p:txBody>
          </p:sp>
          <p:sp>
            <p:nvSpPr>
              <p:cNvPr id="48" name="Bullet1"/>
              <p:cNvSpPr/>
              <p:nvPr/>
            </p:nvSpPr>
            <p:spPr>
              <a:xfrm>
                <a:off x="1258275" y="5344652"/>
                <a:ext cx="3535625" cy="115408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108000" bIns="108000" rtlCol="0" anchor="b" anchorCtr="0">
                <a:noAutofit/>
              </a:bodyPr>
              <a:lstStyle/>
              <a:p>
                <a:pPr algn="ctr"/>
                <a:r>
                  <a:rPr lang="en-US" altLang="zh-CN" sz="2000" b="1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Costly</a:t>
                </a:r>
                <a:endParaRPr lang="en-US" altLang="zh-CN" sz="20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:endParaRPr lang="zh-CN" altLang="en-US" sz="2000" dirty="0">
                  <a:latin typeface="Times New Roman Regular" panose="02020503050405090304" charset="0"/>
                  <a:cs typeface="Times New Roman Regular" panose="02020503050405090304" charset="0"/>
                </a:endParaRPr>
              </a:p>
            </p:txBody>
          </p:sp>
        </p:grpSp>
        <p:sp>
          <p:nvSpPr>
            <p:cNvPr id="46" name="矩形: 对角圆角 45"/>
            <p:cNvSpPr/>
            <p:nvPr/>
          </p:nvSpPr>
          <p:spPr>
            <a:xfrm>
              <a:off x="5731026" y="4767336"/>
              <a:ext cx="3964378" cy="1875065"/>
            </a:xfrm>
            <a:prstGeom prst="round2DiagRect">
              <a:avLst/>
            </a:prstGeom>
            <a:solidFill>
              <a:schemeClr val="accent2">
                <a:alpha val="15000"/>
              </a:schemeClr>
            </a:solidFill>
            <a:ln w="12700" cap="flat">
              <a:solidFill>
                <a:schemeClr val="accent2"/>
              </a:solidFill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zh-CN" altLang="en-US" sz="1200" dirty="0"/>
            </a:p>
          </p:txBody>
        </p:sp>
      </p:grpSp>
      <p:sp>
        <p:nvSpPr>
          <p:cNvPr id="50" name="Bullet1"/>
          <p:cNvSpPr/>
          <p:nvPr/>
        </p:nvSpPr>
        <p:spPr>
          <a:xfrm>
            <a:off x="8529402" y="5127107"/>
            <a:ext cx="2973822" cy="7937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108000" rIns="108000" bIns="108000" rtlCol="0" anchor="b" anchorCtr="0">
            <a:noAutofit/>
          </a:bodyPr>
          <a:lstStyle/>
          <a:p>
            <a:r>
              <a:rPr kumimoji="1" lang="en-US" altLang="zh-CN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Adding complexity to global expand</a:t>
            </a:r>
            <a:endParaRPr kumimoji="1" lang="en-US" altLang="zh-CN" sz="20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2037903" y="1881788"/>
            <a:ext cx="2238826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Advantages</a:t>
            </a:r>
            <a:endParaRPr lang="en-US" altLang="zh-CN" sz="28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2001333" y="4489701"/>
            <a:ext cx="2397238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Disa</a:t>
            </a:r>
            <a:r>
              <a:rPr lang="en-US" altLang="zh-CN" sz="2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dvantages</a:t>
            </a:r>
            <a:endParaRPr lang="en-US" altLang="zh-CN" sz="28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554737" y="3210660"/>
            <a:ext cx="1483166" cy="6451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200" b="1" dirty="0" err="1">
                <a:latin typeface="Times New Roman Bold" panose="02020503050405090304" charset="0"/>
                <a:cs typeface="Times New Roman Bold" panose="02020503050405090304" charset="0"/>
              </a:rPr>
              <a:t>Rufusy</a:t>
            </a:r>
            <a:endParaRPr lang="en-US" altLang="zh-CN" sz="3200" b="1" dirty="0">
              <a:latin typeface="Times New Roman Bold" panose="02020503050405090304" charset="0"/>
              <a:cs typeface="Times New Roman Bold" panose="02020503050405090304" charset="0"/>
            </a:endParaRPr>
          </a:p>
        </p:txBody>
      </p:sp>
      <p:cxnSp>
        <p:nvCxnSpPr>
          <p:cNvPr id="55" name="直接箭头连接符 54"/>
          <p:cNvCxnSpPr>
            <a:stCxn id="54" idx="0"/>
            <a:endCxn id="52" idx="2"/>
          </p:cNvCxnSpPr>
          <p:nvPr/>
        </p:nvCxnSpPr>
        <p:spPr>
          <a:xfrm flipV="1">
            <a:off x="1296320" y="2405008"/>
            <a:ext cx="1860996" cy="80565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right-arrow_44733"/>
          <p:cNvSpPr/>
          <p:nvPr/>
        </p:nvSpPr>
        <p:spPr>
          <a:xfrm rot="20282928">
            <a:off x="3493184" y="4058189"/>
            <a:ext cx="686565" cy="334877"/>
          </a:xfrm>
          <a:custGeom>
            <a:avLst/>
            <a:gdLst>
              <a:gd name="T0" fmla="*/ 4601 w 6926"/>
              <a:gd name="T1" fmla="*/ 0 h 3810"/>
              <a:gd name="T2" fmla="*/ 4598 w 6926"/>
              <a:gd name="T3" fmla="*/ 926 h 3810"/>
              <a:gd name="T4" fmla="*/ 4102 w 6926"/>
              <a:gd name="T5" fmla="*/ 976 h 3810"/>
              <a:gd name="T6" fmla="*/ 3831 w 6926"/>
              <a:gd name="T7" fmla="*/ 1015 h 3810"/>
              <a:gd name="T8" fmla="*/ 3691 w 6926"/>
              <a:gd name="T9" fmla="*/ 1038 h 3810"/>
              <a:gd name="T10" fmla="*/ 3549 w 6926"/>
              <a:gd name="T11" fmla="*/ 1064 h 3810"/>
              <a:gd name="T12" fmla="*/ 2965 w 6926"/>
              <a:gd name="T13" fmla="*/ 1195 h 3810"/>
              <a:gd name="T14" fmla="*/ 2373 w 6926"/>
              <a:gd name="T15" fmla="*/ 1380 h 3810"/>
              <a:gd name="T16" fmla="*/ 2228 w 6926"/>
              <a:gd name="T17" fmla="*/ 1433 h 3810"/>
              <a:gd name="T18" fmla="*/ 2084 w 6926"/>
              <a:gd name="T19" fmla="*/ 1492 h 3810"/>
              <a:gd name="T20" fmla="*/ 1803 w 6926"/>
              <a:gd name="T21" fmla="*/ 1619 h 3810"/>
              <a:gd name="T22" fmla="*/ 1534 w 6926"/>
              <a:gd name="T23" fmla="*/ 1760 h 3810"/>
              <a:gd name="T24" fmla="*/ 1282 w 6926"/>
              <a:gd name="T25" fmla="*/ 1914 h 3810"/>
              <a:gd name="T26" fmla="*/ 841 w 6926"/>
              <a:gd name="T27" fmla="*/ 2252 h 3810"/>
              <a:gd name="T28" fmla="*/ 498 w 6926"/>
              <a:gd name="T29" fmla="*/ 2603 h 3810"/>
              <a:gd name="T30" fmla="*/ 364 w 6926"/>
              <a:gd name="T31" fmla="*/ 2771 h 3810"/>
              <a:gd name="T32" fmla="*/ 257 w 6926"/>
              <a:gd name="T33" fmla="*/ 2932 h 3810"/>
              <a:gd name="T34" fmla="*/ 173 w 6926"/>
              <a:gd name="T35" fmla="*/ 3077 h 3810"/>
              <a:gd name="T36" fmla="*/ 106 w 6926"/>
              <a:gd name="T37" fmla="*/ 3200 h 3810"/>
              <a:gd name="T38" fmla="*/ 0 w 6926"/>
              <a:gd name="T39" fmla="*/ 3443 h 3810"/>
              <a:gd name="T40" fmla="*/ 177 w 6926"/>
              <a:gd name="T41" fmla="*/ 3251 h 3810"/>
              <a:gd name="T42" fmla="*/ 278 w 6926"/>
              <a:gd name="T43" fmla="*/ 3159 h 3810"/>
              <a:gd name="T44" fmla="*/ 398 w 6926"/>
              <a:gd name="T45" fmla="*/ 3056 h 3810"/>
              <a:gd name="T46" fmla="*/ 541 w 6926"/>
              <a:gd name="T47" fmla="*/ 2949 h 3810"/>
              <a:gd name="T48" fmla="*/ 707 w 6926"/>
              <a:gd name="T49" fmla="*/ 2843 h 3810"/>
              <a:gd name="T50" fmla="*/ 1096 w 6926"/>
              <a:gd name="T51" fmla="*/ 2650 h 3810"/>
              <a:gd name="T52" fmla="*/ 1549 w 6926"/>
              <a:gd name="T53" fmla="*/ 2502 h 3810"/>
              <a:gd name="T54" fmla="*/ 1794 w 6926"/>
              <a:gd name="T55" fmla="*/ 2449 h 3810"/>
              <a:gd name="T56" fmla="*/ 2048 w 6926"/>
              <a:gd name="T57" fmla="*/ 2412 h 3810"/>
              <a:gd name="T58" fmla="*/ 2307 w 6926"/>
              <a:gd name="T59" fmla="*/ 2390 h 3810"/>
              <a:gd name="T60" fmla="*/ 2437 w 6926"/>
              <a:gd name="T61" fmla="*/ 2383 h 3810"/>
              <a:gd name="T62" fmla="*/ 2569 w 6926"/>
              <a:gd name="T63" fmla="*/ 2381 h 3810"/>
              <a:gd name="T64" fmla="*/ 3090 w 6926"/>
              <a:gd name="T65" fmla="*/ 2399 h 3810"/>
              <a:gd name="T66" fmla="*/ 3594 w 6926"/>
              <a:gd name="T67" fmla="*/ 2458 h 3810"/>
              <a:gd name="T68" fmla="*/ 3714 w 6926"/>
              <a:gd name="T69" fmla="*/ 2476 h 3810"/>
              <a:gd name="T70" fmla="*/ 3832 w 6926"/>
              <a:gd name="T71" fmla="*/ 2498 h 3810"/>
              <a:gd name="T72" fmla="*/ 4059 w 6926"/>
              <a:gd name="T73" fmla="*/ 2543 h 3810"/>
              <a:gd name="T74" fmla="*/ 4471 w 6926"/>
              <a:gd name="T75" fmla="*/ 2641 h 3810"/>
              <a:gd name="T76" fmla="*/ 4592 w 6926"/>
              <a:gd name="T77" fmla="*/ 2675 h 3810"/>
              <a:gd name="T78" fmla="*/ 4588 w 6926"/>
              <a:gd name="T79" fmla="*/ 3810 h 3810"/>
              <a:gd name="T80" fmla="*/ 6926 w 6926"/>
              <a:gd name="T81" fmla="*/ 1913 h 3810"/>
              <a:gd name="T82" fmla="*/ 4601 w 6926"/>
              <a:gd name="T83" fmla="*/ 0 h 38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6926" h="3810">
                <a:moveTo>
                  <a:pt x="4601" y="0"/>
                </a:moveTo>
                <a:lnTo>
                  <a:pt x="4598" y="926"/>
                </a:lnTo>
                <a:cubicBezTo>
                  <a:pt x="4444" y="937"/>
                  <a:pt x="4277" y="954"/>
                  <a:pt x="4102" y="976"/>
                </a:cubicBezTo>
                <a:cubicBezTo>
                  <a:pt x="4014" y="989"/>
                  <a:pt x="3923" y="1000"/>
                  <a:pt x="3831" y="1015"/>
                </a:cubicBezTo>
                <a:cubicBezTo>
                  <a:pt x="3785" y="1023"/>
                  <a:pt x="3738" y="1030"/>
                  <a:pt x="3691" y="1038"/>
                </a:cubicBezTo>
                <a:cubicBezTo>
                  <a:pt x="3644" y="1046"/>
                  <a:pt x="3597" y="1055"/>
                  <a:pt x="3549" y="1064"/>
                </a:cubicBezTo>
                <a:cubicBezTo>
                  <a:pt x="3358" y="1099"/>
                  <a:pt x="3162" y="1144"/>
                  <a:pt x="2965" y="1195"/>
                </a:cubicBezTo>
                <a:cubicBezTo>
                  <a:pt x="2767" y="1249"/>
                  <a:pt x="2569" y="1307"/>
                  <a:pt x="2373" y="1380"/>
                </a:cubicBezTo>
                <a:cubicBezTo>
                  <a:pt x="2325" y="1398"/>
                  <a:pt x="2276" y="1414"/>
                  <a:pt x="2228" y="1433"/>
                </a:cubicBezTo>
                <a:cubicBezTo>
                  <a:pt x="2180" y="1453"/>
                  <a:pt x="2132" y="1473"/>
                  <a:pt x="2084" y="1492"/>
                </a:cubicBezTo>
                <a:cubicBezTo>
                  <a:pt x="1988" y="1530"/>
                  <a:pt x="1895" y="1577"/>
                  <a:pt x="1803" y="1619"/>
                </a:cubicBezTo>
                <a:cubicBezTo>
                  <a:pt x="1711" y="1664"/>
                  <a:pt x="1622" y="1713"/>
                  <a:pt x="1534" y="1760"/>
                </a:cubicBezTo>
                <a:cubicBezTo>
                  <a:pt x="1448" y="1812"/>
                  <a:pt x="1363" y="1860"/>
                  <a:pt x="1282" y="1914"/>
                </a:cubicBezTo>
                <a:cubicBezTo>
                  <a:pt x="1121" y="2022"/>
                  <a:pt x="972" y="2134"/>
                  <a:pt x="841" y="2252"/>
                </a:cubicBezTo>
                <a:cubicBezTo>
                  <a:pt x="709" y="2367"/>
                  <a:pt x="595" y="2488"/>
                  <a:pt x="498" y="2603"/>
                </a:cubicBezTo>
                <a:cubicBezTo>
                  <a:pt x="451" y="2662"/>
                  <a:pt x="405" y="2717"/>
                  <a:pt x="364" y="2771"/>
                </a:cubicBezTo>
                <a:cubicBezTo>
                  <a:pt x="327" y="2828"/>
                  <a:pt x="291" y="2881"/>
                  <a:pt x="257" y="2932"/>
                </a:cubicBezTo>
                <a:cubicBezTo>
                  <a:pt x="223" y="2980"/>
                  <a:pt x="198" y="3032"/>
                  <a:pt x="173" y="3077"/>
                </a:cubicBezTo>
                <a:cubicBezTo>
                  <a:pt x="148" y="3122"/>
                  <a:pt x="126" y="3163"/>
                  <a:pt x="106" y="3200"/>
                </a:cubicBezTo>
                <a:cubicBezTo>
                  <a:pt x="38" y="3355"/>
                  <a:pt x="0" y="3443"/>
                  <a:pt x="0" y="3443"/>
                </a:cubicBezTo>
                <a:cubicBezTo>
                  <a:pt x="0" y="3443"/>
                  <a:pt x="64" y="3373"/>
                  <a:pt x="177" y="3251"/>
                </a:cubicBezTo>
                <a:cubicBezTo>
                  <a:pt x="207" y="3223"/>
                  <a:pt x="241" y="3193"/>
                  <a:pt x="278" y="3159"/>
                </a:cubicBezTo>
                <a:cubicBezTo>
                  <a:pt x="315" y="3127"/>
                  <a:pt x="351" y="3089"/>
                  <a:pt x="398" y="3056"/>
                </a:cubicBezTo>
                <a:cubicBezTo>
                  <a:pt x="443" y="3023"/>
                  <a:pt x="491" y="2987"/>
                  <a:pt x="541" y="2949"/>
                </a:cubicBezTo>
                <a:cubicBezTo>
                  <a:pt x="593" y="2914"/>
                  <a:pt x="650" y="2880"/>
                  <a:pt x="707" y="2843"/>
                </a:cubicBezTo>
                <a:cubicBezTo>
                  <a:pt x="824" y="2774"/>
                  <a:pt x="954" y="2707"/>
                  <a:pt x="1096" y="2650"/>
                </a:cubicBezTo>
                <a:cubicBezTo>
                  <a:pt x="1237" y="2591"/>
                  <a:pt x="1390" y="2543"/>
                  <a:pt x="1549" y="2502"/>
                </a:cubicBezTo>
                <a:cubicBezTo>
                  <a:pt x="1629" y="2481"/>
                  <a:pt x="1713" y="2467"/>
                  <a:pt x="1794" y="2449"/>
                </a:cubicBezTo>
                <a:cubicBezTo>
                  <a:pt x="1879" y="2436"/>
                  <a:pt x="1962" y="2422"/>
                  <a:pt x="2048" y="2412"/>
                </a:cubicBezTo>
                <a:cubicBezTo>
                  <a:pt x="2135" y="2404"/>
                  <a:pt x="2219" y="2392"/>
                  <a:pt x="2307" y="2390"/>
                </a:cubicBezTo>
                <a:cubicBezTo>
                  <a:pt x="2350" y="2387"/>
                  <a:pt x="2394" y="2385"/>
                  <a:pt x="2437" y="2383"/>
                </a:cubicBezTo>
                <a:cubicBezTo>
                  <a:pt x="2481" y="2381"/>
                  <a:pt x="2525" y="2381"/>
                  <a:pt x="2569" y="2381"/>
                </a:cubicBezTo>
                <a:cubicBezTo>
                  <a:pt x="2743" y="2377"/>
                  <a:pt x="2919" y="2387"/>
                  <a:pt x="3090" y="2399"/>
                </a:cubicBezTo>
                <a:cubicBezTo>
                  <a:pt x="3263" y="2414"/>
                  <a:pt x="3431" y="2432"/>
                  <a:pt x="3594" y="2458"/>
                </a:cubicBezTo>
                <a:cubicBezTo>
                  <a:pt x="3634" y="2464"/>
                  <a:pt x="3674" y="2470"/>
                  <a:pt x="3714" y="2476"/>
                </a:cubicBezTo>
                <a:cubicBezTo>
                  <a:pt x="3754" y="2484"/>
                  <a:pt x="3793" y="2491"/>
                  <a:pt x="3832" y="2498"/>
                </a:cubicBezTo>
                <a:cubicBezTo>
                  <a:pt x="3910" y="2511"/>
                  <a:pt x="3986" y="2528"/>
                  <a:pt x="4059" y="2543"/>
                </a:cubicBezTo>
                <a:cubicBezTo>
                  <a:pt x="4207" y="2574"/>
                  <a:pt x="4345" y="2608"/>
                  <a:pt x="4471" y="2641"/>
                </a:cubicBezTo>
                <a:cubicBezTo>
                  <a:pt x="4513" y="2653"/>
                  <a:pt x="4553" y="2664"/>
                  <a:pt x="4592" y="2675"/>
                </a:cubicBezTo>
                <a:lnTo>
                  <a:pt x="4588" y="3810"/>
                </a:lnTo>
                <a:lnTo>
                  <a:pt x="6926" y="1913"/>
                </a:lnTo>
                <a:lnTo>
                  <a:pt x="4601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ight-arrow_44733"/>
          <p:cNvSpPr/>
          <p:nvPr/>
        </p:nvSpPr>
        <p:spPr>
          <a:xfrm rot="3561466">
            <a:off x="3580918" y="5070177"/>
            <a:ext cx="609685" cy="334877"/>
          </a:xfrm>
          <a:custGeom>
            <a:avLst/>
            <a:gdLst>
              <a:gd name="T0" fmla="*/ 4601 w 6926"/>
              <a:gd name="T1" fmla="*/ 0 h 3810"/>
              <a:gd name="T2" fmla="*/ 4598 w 6926"/>
              <a:gd name="T3" fmla="*/ 926 h 3810"/>
              <a:gd name="T4" fmla="*/ 4102 w 6926"/>
              <a:gd name="T5" fmla="*/ 976 h 3810"/>
              <a:gd name="T6" fmla="*/ 3831 w 6926"/>
              <a:gd name="T7" fmla="*/ 1015 h 3810"/>
              <a:gd name="T8" fmla="*/ 3691 w 6926"/>
              <a:gd name="T9" fmla="*/ 1038 h 3810"/>
              <a:gd name="T10" fmla="*/ 3549 w 6926"/>
              <a:gd name="T11" fmla="*/ 1064 h 3810"/>
              <a:gd name="T12" fmla="*/ 2965 w 6926"/>
              <a:gd name="T13" fmla="*/ 1195 h 3810"/>
              <a:gd name="T14" fmla="*/ 2373 w 6926"/>
              <a:gd name="T15" fmla="*/ 1380 h 3810"/>
              <a:gd name="T16" fmla="*/ 2228 w 6926"/>
              <a:gd name="T17" fmla="*/ 1433 h 3810"/>
              <a:gd name="T18" fmla="*/ 2084 w 6926"/>
              <a:gd name="T19" fmla="*/ 1492 h 3810"/>
              <a:gd name="T20" fmla="*/ 1803 w 6926"/>
              <a:gd name="T21" fmla="*/ 1619 h 3810"/>
              <a:gd name="T22" fmla="*/ 1534 w 6926"/>
              <a:gd name="T23" fmla="*/ 1760 h 3810"/>
              <a:gd name="T24" fmla="*/ 1282 w 6926"/>
              <a:gd name="T25" fmla="*/ 1914 h 3810"/>
              <a:gd name="T26" fmla="*/ 841 w 6926"/>
              <a:gd name="T27" fmla="*/ 2252 h 3810"/>
              <a:gd name="T28" fmla="*/ 498 w 6926"/>
              <a:gd name="T29" fmla="*/ 2603 h 3810"/>
              <a:gd name="T30" fmla="*/ 364 w 6926"/>
              <a:gd name="T31" fmla="*/ 2771 h 3810"/>
              <a:gd name="T32" fmla="*/ 257 w 6926"/>
              <a:gd name="T33" fmla="*/ 2932 h 3810"/>
              <a:gd name="T34" fmla="*/ 173 w 6926"/>
              <a:gd name="T35" fmla="*/ 3077 h 3810"/>
              <a:gd name="T36" fmla="*/ 106 w 6926"/>
              <a:gd name="T37" fmla="*/ 3200 h 3810"/>
              <a:gd name="T38" fmla="*/ 0 w 6926"/>
              <a:gd name="T39" fmla="*/ 3443 h 3810"/>
              <a:gd name="T40" fmla="*/ 177 w 6926"/>
              <a:gd name="T41" fmla="*/ 3251 h 3810"/>
              <a:gd name="T42" fmla="*/ 278 w 6926"/>
              <a:gd name="T43" fmla="*/ 3159 h 3810"/>
              <a:gd name="T44" fmla="*/ 398 w 6926"/>
              <a:gd name="T45" fmla="*/ 3056 h 3810"/>
              <a:gd name="T46" fmla="*/ 541 w 6926"/>
              <a:gd name="T47" fmla="*/ 2949 h 3810"/>
              <a:gd name="T48" fmla="*/ 707 w 6926"/>
              <a:gd name="T49" fmla="*/ 2843 h 3810"/>
              <a:gd name="T50" fmla="*/ 1096 w 6926"/>
              <a:gd name="T51" fmla="*/ 2650 h 3810"/>
              <a:gd name="T52" fmla="*/ 1549 w 6926"/>
              <a:gd name="T53" fmla="*/ 2502 h 3810"/>
              <a:gd name="T54" fmla="*/ 1794 w 6926"/>
              <a:gd name="T55" fmla="*/ 2449 h 3810"/>
              <a:gd name="T56" fmla="*/ 2048 w 6926"/>
              <a:gd name="T57" fmla="*/ 2412 h 3810"/>
              <a:gd name="T58" fmla="*/ 2307 w 6926"/>
              <a:gd name="T59" fmla="*/ 2390 h 3810"/>
              <a:gd name="T60" fmla="*/ 2437 w 6926"/>
              <a:gd name="T61" fmla="*/ 2383 h 3810"/>
              <a:gd name="T62" fmla="*/ 2569 w 6926"/>
              <a:gd name="T63" fmla="*/ 2381 h 3810"/>
              <a:gd name="T64" fmla="*/ 3090 w 6926"/>
              <a:gd name="T65" fmla="*/ 2399 h 3810"/>
              <a:gd name="T66" fmla="*/ 3594 w 6926"/>
              <a:gd name="T67" fmla="*/ 2458 h 3810"/>
              <a:gd name="T68" fmla="*/ 3714 w 6926"/>
              <a:gd name="T69" fmla="*/ 2476 h 3810"/>
              <a:gd name="T70" fmla="*/ 3832 w 6926"/>
              <a:gd name="T71" fmla="*/ 2498 h 3810"/>
              <a:gd name="T72" fmla="*/ 4059 w 6926"/>
              <a:gd name="T73" fmla="*/ 2543 h 3810"/>
              <a:gd name="T74" fmla="*/ 4471 w 6926"/>
              <a:gd name="T75" fmla="*/ 2641 h 3810"/>
              <a:gd name="T76" fmla="*/ 4592 w 6926"/>
              <a:gd name="T77" fmla="*/ 2675 h 3810"/>
              <a:gd name="T78" fmla="*/ 4588 w 6926"/>
              <a:gd name="T79" fmla="*/ 3810 h 3810"/>
              <a:gd name="T80" fmla="*/ 6926 w 6926"/>
              <a:gd name="T81" fmla="*/ 1913 h 3810"/>
              <a:gd name="T82" fmla="*/ 4601 w 6926"/>
              <a:gd name="T83" fmla="*/ 0 h 38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6926" h="3810">
                <a:moveTo>
                  <a:pt x="4601" y="0"/>
                </a:moveTo>
                <a:lnTo>
                  <a:pt x="4598" y="926"/>
                </a:lnTo>
                <a:cubicBezTo>
                  <a:pt x="4444" y="937"/>
                  <a:pt x="4277" y="954"/>
                  <a:pt x="4102" y="976"/>
                </a:cubicBezTo>
                <a:cubicBezTo>
                  <a:pt x="4014" y="989"/>
                  <a:pt x="3923" y="1000"/>
                  <a:pt x="3831" y="1015"/>
                </a:cubicBezTo>
                <a:cubicBezTo>
                  <a:pt x="3785" y="1023"/>
                  <a:pt x="3738" y="1030"/>
                  <a:pt x="3691" y="1038"/>
                </a:cubicBezTo>
                <a:cubicBezTo>
                  <a:pt x="3644" y="1046"/>
                  <a:pt x="3597" y="1055"/>
                  <a:pt x="3549" y="1064"/>
                </a:cubicBezTo>
                <a:cubicBezTo>
                  <a:pt x="3358" y="1099"/>
                  <a:pt x="3162" y="1144"/>
                  <a:pt x="2965" y="1195"/>
                </a:cubicBezTo>
                <a:cubicBezTo>
                  <a:pt x="2767" y="1249"/>
                  <a:pt x="2569" y="1307"/>
                  <a:pt x="2373" y="1380"/>
                </a:cubicBezTo>
                <a:cubicBezTo>
                  <a:pt x="2325" y="1398"/>
                  <a:pt x="2276" y="1414"/>
                  <a:pt x="2228" y="1433"/>
                </a:cubicBezTo>
                <a:cubicBezTo>
                  <a:pt x="2180" y="1453"/>
                  <a:pt x="2132" y="1473"/>
                  <a:pt x="2084" y="1492"/>
                </a:cubicBezTo>
                <a:cubicBezTo>
                  <a:pt x="1988" y="1530"/>
                  <a:pt x="1895" y="1577"/>
                  <a:pt x="1803" y="1619"/>
                </a:cubicBezTo>
                <a:cubicBezTo>
                  <a:pt x="1711" y="1664"/>
                  <a:pt x="1622" y="1713"/>
                  <a:pt x="1534" y="1760"/>
                </a:cubicBezTo>
                <a:cubicBezTo>
                  <a:pt x="1448" y="1812"/>
                  <a:pt x="1363" y="1860"/>
                  <a:pt x="1282" y="1914"/>
                </a:cubicBezTo>
                <a:cubicBezTo>
                  <a:pt x="1121" y="2022"/>
                  <a:pt x="972" y="2134"/>
                  <a:pt x="841" y="2252"/>
                </a:cubicBezTo>
                <a:cubicBezTo>
                  <a:pt x="709" y="2367"/>
                  <a:pt x="595" y="2488"/>
                  <a:pt x="498" y="2603"/>
                </a:cubicBezTo>
                <a:cubicBezTo>
                  <a:pt x="451" y="2662"/>
                  <a:pt x="405" y="2717"/>
                  <a:pt x="364" y="2771"/>
                </a:cubicBezTo>
                <a:cubicBezTo>
                  <a:pt x="327" y="2828"/>
                  <a:pt x="291" y="2881"/>
                  <a:pt x="257" y="2932"/>
                </a:cubicBezTo>
                <a:cubicBezTo>
                  <a:pt x="223" y="2980"/>
                  <a:pt x="198" y="3032"/>
                  <a:pt x="173" y="3077"/>
                </a:cubicBezTo>
                <a:cubicBezTo>
                  <a:pt x="148" y="3122"/>
                  <a:pt x="126" y="3163"/>
                  <a:pt x="106" y="3200"/>
                </a:cubicBezTo>
                <a:cubicBezTo>
                  <a:pt x="38" y="3355"/>
                  <a:pt x="0" y="3443"/>
                  <a:pt x="0" y="3443"/>
                </a:cubicBezTo>
                <a:cubicBezTo>
                  <a:pt x="0" y="3443"/>
                  <a:pt x="64" y="3373"/>
                  <a:pt x="177" y="3251"/>
                </a:cubicBezTo>
                <a:cubicBezTo>
                  <a:pt x="207" y="3223"/>
                  <a:pt x="241" y="3193"/>
                  <a:pt x="278" y="3159"/>
                </a:cubicBezTo>
                <a:cubicBezTo>
                  <a:pt x="315" y="3127"/>
                  <a:pt x="351" y="3089"/>
                  <a:pt x="398" y="3056"/>
                </a:cubicBezTo>
                <a:cubicBezTo>
                  <a:pt x="443" y="3023"/>
                  <a:pt x="491" y="2987"/>
                  <a:pt x="541" y="2949"/>
                </a:cubicBezTo>
                <a:cubicBezTo>
                  <a:pt x="593" y="2914"/>
                  <a:pt x="650" y="2880"/>
                  <a:pt x="707" y="2843"/>
                </a:cubicBezTo>
                <a:cubicBezTo>
                  <a:pt x="824" y="2774"/>
                  <a:pt x="954" y="2707"/>
                  <a:pt x="1096" y="2650"/>
                </a:cubicBezTo>
                <a:cubicBezTo>
                  <a:pt x="1237" y="2591"/>
                  <a:pt x="1390" y="2543"/>
                  <a:pt x="1549" y="2502"/>
                </a:cubicBezTo>
                <a:cubicBezTo>
                  <a:pt x="1629" y="2481"/>
                  <a:pt x="1713" y="2467"/>
                  <a:pt x="1794" y="2449"/>
                </a:cubicBezTo>
                <a:cubicBezTo>
                  <a:pt x="1879" y="2436"/>
                  <a:pt x="1962" y="2422"/>
                  <a:pt x="2048" y="2412"/>
                </a:cubicBezTo>
                <a:cubicBezTo>
                  <a:pt x="2135" y="2404"/>
                  <a:pt x="2219" y="2392"/>
                  <a:pt x="2307" y="2390"/>
                </a:cubicBezTo>
                <a:cubicBezTo>
                  <a:pt x="2350" y="2387"/>
                  <a:pt x="2394" y="2385"/>
                  <a:pt x="2437" y="2383"/>
                </a:cubicBezTo>
                <a:cubicBezTo>
                  <a:pt x="2481" y="2381"/>
                  <a:pt x="2525" y="2381"/>
                  <a:pt x="2569" y="2381"/>
                </a:cubicBezTo>
                <a:cubicBezTo>
                  <a:pt x="2743" y="2377"/>
                  <a:pt x="2919" y="2387"/>
                  <a:pt x="3090" y="2399"/>
                </a:cubicBezTo>
                <a:cubicBezTo>
                  <a:pt x="3263" y="2414"/>
                  <a:pt x="3431" y="2432"/>
                  <a:pt x="3594" y="2458"/>
                </a:cubicBezTo>
                <a:cubicBezTo>
                  <a:pt x="3634" y="2464"/>
                  <a:pt x="3674" y="2470"/>
                  <a:pt x="3714" y="2476"/>
                </a:cubicBezTo>
                <a:cubicBezTo>
                  <a:pt x="3754" y="2484"/>
                  <a:pt x="3793" y="2491"/>
                  <a:pt x="3832" y="2498"/>
                </a:cubicBezTo>
                <a:cubicBezTo>
                  <a:pt x="3910" y="2511"/>
                  <a:pt x="3986" y="2528"/>
                  <a:pt x="4059" y="2543"/>
                </a:cubicBezTo>
                <a:cubicBezTo>
                  <a:pt x="4207" y="2574"/>
                  <a:pt x="4345" y="2608"/>
                  <a:pt x="4471" y="2641"/>
                </a:cubicBezTo>
                <a:cubicBezTo>
                  <a:pt x="4513" y="2653"/>
                  <a:pt x="4553" y="2664"/>
                  <a:pt x="4592" y="2675"/>
                </a:cubicBezTo>
                <a:lnTo>
                  <a:pt x="4588" y="3810"/>
                </a:lnTo>
                <a:lnTo>
                  <a:pt x="6926" y="1913"/>
                </a:lnTo>
                <a:lnTo>
                  <a:pt x="4601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上箭头 18"/>
          <p:cNvSpPr/>
          <p:nvPr>
            <p:custDataLst>
              <p:tags r:id="rId2"/>
            </p:custDataLst>
          </p:nvPr>
        </p:nvSpPr>
        <p:spPr>
          <a:xfrm rot="5400000">
            <a:off x="7694797" y="1643260"/>
            <a:ext cx="558898" cy="946861"/>
          </a:xfrm>
          <a:prstGeom prst="upArrow">
            <a:avLst>
              <a:gd name="adj1" fmla="val 44461"/>
              <a:gd name="adj2" fmla="val 50000"/>
            </a:avLst>
          </a:prstGeom>
          <a:solidFill>
            <a:schemeClr val="accent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上箭头 18"/>
          <p:cNvSpPr/>
          <p:nvPr>
            <p:custDataLst>
              <p:tags r:id="rId3"/>
            </p:custDataLst>
          </p:nvPr>
        </p:nvSpPr>
        <p:spPr>
          <a:xfrm rot="5400000">
            <a:off x="7745621" y="5095693"/>
            <a:ext cx="558898" cy="982484"/>
          </a:xfrm>
          <a:prstGeom prst="upArrow">
            <a:avLst>
              <a:gd name="adj1" fmla="val 44461"/>
              <a:gd name="adj2" fmla="val 50000"/>
            </a:avLst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0" name="直接箭头连接符 69"/>
          <p:cNvCxnSpPr>
            <a:stCxn id="54" idx="2"/>
            <a:endCxn id="53" idx="0"/>
          </p:cNvCxnSpPr>
          <p:nvPr/>
        </p:nvCxnSpPr>
        <p:spPr>
          <a:xfrm>
            <a:off x="1296320" y="3855820"/>
            <a:ext cx="1903632" cy="63388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标题 1"/>
          <p:cNvSpPr txBox="1"/>
          <p:nvPr/>
        </p:nvSpPr>
        <p:spPr>
          <a:xfrm>
            <a:off x="238261" y="316126"/>
            <a:ext cx="10515600" cy="79205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Expansion of Global Business Perspective</a:t>
            </a:r>
            <a:endParaRPr lang="zh-CN" altLang="en-US" sz="3200" dirty="0"/>
          </a:p>
        </p:txBody>
      </p:sp>
      <p:sp>
        <p:nvSpPr>
          <p:cNvPr id="3" name="文本框 2"/>
          <p:cNvSpPr txBox="1"/>
          <p:nvPr/>
        </p:nvSpPr>
        <p:spPr>
          <a:xfrm>
            <a:off x="8529402" y="3347988"/>
            <a:ext cx="302053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Asian employees may be less expressive than Western employees</a:t>
            </a:r>
            <a:endParaRPr kumimoji="1" lang="zh-CN" altLang="en-US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2192000" cy="6858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100000">
                  <a:srgbClr val="FAF5DB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</p:grpSp>
      <p:sp>
        <p:nvSpPr>
          <p:cNvPr id="4" name="Freeform 4"/>
          <p:cNvSpPr/>
          <p:nvPr/>
        </p:nvSpPr>
        <p:spPr>
          <a:xfrm>
            <a:off x="-1707538" y="4766650"/>
            <a:ext cx="4352921" cy="4346825"/>
          </a:xfrm>
          <a:custGeom>
            <a:avLst/>
            <a:gdLst/>
            <a:ahLst/>
            <a:cxnLst/>
            <a:rect l="l" t="t" r="r" b="b"/>
            <a:pathLst>
              <a:path w="6529382" h="6520237">
                <a:moveTo>
                  <a:pt x="0" y="0"/>
                </a:moveTo>
                <a:lnTo>
                  <a:pt x="6529382" y="0"/>
                </a:lnTo>
                <a:lnTo>
                  <a:pt x="6529382" y="6520237"/>
                </a:lnTo>
                <a:lnTo>
                  <a:pt x="0" y="6520237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699603" y="-1326953"/>
            <a:ext cx="3505504" cy="3511600"/>
          </a:xfrm>
          <a:custGeom>
            <a:avLst/>
            <a:gdLst/>
            <a:ahLst/>
            <a:cxnLst/>
            <a:rect l="l" t="t" r="r" b="b"/>
            <a:pathLst>
              <a:path w="5258256" h="5267400">
                <a:moveTo>
                  <a:pt x="0" y="0"/>
                </a:moveTo>
                <a:lnTo>
                  <a:pt x="5258255" y="0"/>
                </a:lnTo>
                <a:lnTo>
                  <a:pt x="5258255" y="5267400"/>
                </a:lnTo>
                <a:lnTo>
                  <a:pt x="0" y="526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402036" y="5288731"/>
            <a:ext cx="6262510" cy="275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5"/>
              </a:lnSpc>
            </a:pPr>
            <a:r>
              <a:rPr lang="en-US" sz="1600" spc="128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商|页|计|划|书|演|示|模|板</a:t>
            </a:r>
            <a:endParaRPr lang="en-US" sz="1600" spc="1280">
              <a:solidFill>
                <a:srgbClr val="FFFFFF"/>
              </a:solidFill>
              <a:latin typeface="思源黑体"/>
              <a:ea typeface="思源黑体"/>
              <a:cs typeface="思源黑体"/>
              <a:sym typeface="思源黑体"/>
            </a:endParaRPr>
          </a:p>
        </p:txBody>
      </p:sp>
      <p:sp>
        <p:nvSpPr>
          <p:cNvPr id="7" name="标题 1"/>
          <p:cNvSpPr txBox="1"/>
          <p:nvPr/>
        </p:nvSpPr>
        <p:spPr>
          <a:xfrm>
            <a:off x="402092" y="2456644"/>
            <a:ext cx="11272365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6600" b="1" dirty="0">
                <a:latin typeface="Times New Roman Bold" panose="02020503050405090304" charset="0"/>
                <a:cs typeface="Times New Roman Bold" panose="02020503050405090304" charset="0"/>
              </a:rPr>
              <a:t>Conclusion</a:t>
            </a:r>
            <a:endParaRPr lang="en-US" altLang="zh-CN" sz="6600" b="1" dirty="0">
              <a:latin typeface="Times New Roman Bold" panose="02020503050405090304" charset="0"/>
              <a:cs typeface="Times New Roman Bold" panose="0202050305040509030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90131" y="256544"/>
            <a:ext cx="75596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latin typeface="Times New Roman" panose="02020503050405090304" pitchFamily="18" charset="0"/>
                <a:ea typeface="Calibri" panose="020F0502020204030204" pitchFamily="34" charset="0"/>
                <a:cs typeface="Times New Roman" panose="02020503050405090304" pitchFamily="18" charset="0"/>
              </a:rPr>
              <a:t>Rufus</a:t>
            </a:r>
            <a:r>
              <a:rPr lang="zh-CN" altLang="en-US" sz="3200" b="1" dirty="0">
                <a:latin typeface="Times New Roman" panose="02020503050405090304" pitchFamily="18" charset="0"/>
                <a:ea typeface="Calibri" panose="020F0502020204030204" pitchFamily="34" charset="0"/>
                <a:cs typeface="Times New Roman" panose="02020503050405090304" pitchFamily="18" charset="0"/>
              </a:rPr>
              <a:t>：</a:t>
            </a:r>
            <a:r>
              <a:rPr lang="en-US" altLang="zh-CN" sz="3200" b="1" dirty="0">
                <a:latin typeface="Times New Roman" panose="02020503050405090304" pitchFamily="18" charset="0"/>
                <a:ea typeface="Calibri" panose="020F0502020204030204" pitchFamily="34" charset="0"/>
                <a:cs typeface="Times New Roman" panose="02020503050405090304" pitchFamily="18" charset="0"/>
              </a:rPr>
              <a:t>Generative AI Shopping Assistant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4014445" y="1981968"/>
            <a:ext cx="4475694" cy="868427"/>
            <a:chOff x="4319752" y="2074742"/>
            <a:chExt cx="3883496" cy="712601"/>
          </a:xfrm>
        </p:grpSpPr>
        <p:sp>
          <p:nvSpPr>
            <p:cNvPr id="6" name="椭圆 5"/>
            <p:cNvSpPr/>
            <p:nvPr/>
          </p:nvSpPr>
          <p:spPr>
            <a:xfrm>
              <a:off x="4319752" y="2074742"/>
              <a:ext cx="3638681" cy="712601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4594696" y="2251446"/>
              <a:ext cx="3608552" cy="3589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Personalization and Automation</a:t>
              </a:r>
              <a:endParaRPr lang="en-US" altLang="zh-C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590131" y="1206669"/>
            <a:ext cx="322461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Personalized abilities</a:t>
            </a:r>
            <a:endParaRPr lang="zh-CN" altLang="en-US" sz="2400" dirty="0"/>
          </a:p>
        </p:txBody>
      </p:sp>
      <p:sp>
        <p:nvSpPr>
          <p:cNvPr id="23" name="文本框 22"/>
          <p:cNvSpPr txBox="1"/>
          <p:nvPr/>
        </p:nvSpPr>
        <p:spPr>
          <a:xfrm>
            <a:off x="1097581" y="3014925"/>
            <a:ext cx="2210623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Automation</a:t>
            </a:r>
            <a:endParaRPr lang="en-US" altLang="zh-CN" sz="2400" b="1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6" name="直接箭头连接符 35"/>
          <p:cNvCxnSpPr/>
          <p:nvPr/>
        </p:nvCxnSpPr>
        <p:spPr>
          <a:xfrm flipV="1">
            <a:off x="7871791" y="1664403"/>
            <a:ext cx="682487" cy="36114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9" name="文本框 38"/>
          <p:cNvSpPr txBox="1"/>
          <p:nvPr/>
        </p:nvSpPr>
        <p:spPr>
          <a:xfrm>
            <a:off x="8671647" y="1337906"/>
            <a:ext cx="100393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Buyer:</a:t>
            </a:r>
            <a:endParaRPr lang="zh-CN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3" name="直接箭头连接符 52"/>
          <p:cNvCxnSpPr/>
          <p:nvPr/>
        </p:nvCxnSpPr>
        <p:spPr>
          <a:xfrm>
            <a:off x="7955927" y="2700444"/>
            <a:ext cx="715720" cy="44460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5" name="文本框 54"/>
          <p:cNvSpPr txBox="1"/>
          <p:nvPr/>
        </p:nvSpPr>
        <p:spPr>
          <a:xfrm>
            <a:off x="8758705" y="2851601"/>
            <a:ext cx="97663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Seller:</a:t>
            </a:r>
            <a:endParaRPr lang="zh-CN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zh-CN" altLang="en-US" sz="2000" b="1" u="sng" dirty="0"/>
          </a:p>
        </p:txBody>
      </p:sp>
      <p:grpSp>
        <p:nvGrpSpPr>
          <p:cNvPr id="10" name="组合 9"/>
          <p:cNvGrpSpPr/>
          <p:nvPr/>
        </p:nvGrpSpPr>
        <p:grpSpPr>
          <a:xfrm>
            <a:off x="4331315" y="5142454"/>
            <a:ext cx="3638681" cy="712601"/>
            <a:chOff x="4319752" y="2074742"/>
            <a:chExt cx="3638681" cy="712601"/>
          </a:xfrm>
        </p:grpSpPr>
        <p:sp>
          <p:nvSpPr>
            <p:cNvPr id="12" name="椭圆 11"/>
            <p:cNvSpPr/>
            <p:nvPr/>
          </p:nvSpPr>
          <p:spPr>
            <a:xfrm>
              <a:off x="4319752" y="2074742"/>
              <a:ext cx="3638681" cy="712601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4520981" y="2220668"/>
              <a:ext cx="325999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0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</a:t>
              </a:r>
              <a:r>
                <a:rPr lang="en-US" altLang="zh-CN" sz="2000" b="1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ata-driven </a:t>
              </a:r>
              <a:r>
                <a:rPr lang="en-US" altLang="zh-CN" sz="20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</a:t>
              </a:r>
              <a:r>
                <a:rPr lang="en-US" altLang="zh-CN" sz="2000" b="1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ecision-making</a:t>
              </a:r>
              <a:endParaRPr lang="zh-CN" altLang="en-US" sz="20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cxnSp>
        <p:nvCxnSpPr>
          <p:cNvPr id="21" name="直接箭头连接符 20"/>
          <p:cNvCxnSpPr/>
          <p:nvPr/>
        </p:nvCxnSpPr>
        <p:spPr>
          <a:xfrm flipV="1">
            <a:off x="2842589" y="5488435"/>
            <a:ext cx="1360672" cy="1031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407802" y="4845124"/>
            <a:ext cx="2419885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Amazon has l</a:t>
            </a:r>
            <a:r>
              <a:rPr lang="en-US" altLang="zh-CN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arger customer base in America</a:t>
            </a:r>
            <a:endParaRPr lang="zh-CN" altLang="en-US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9734638" y="4721325"/>
            <a:ext cx="2209708" cy="1580921"/>
            <a:chOff x="8102421" y="5049582"/>
            <a:chExt cx="2209708" cy="1580921"/>
          </a:xfrm>
        </p:grpSpPr>
        <p:sp>
          <p:nvSpPr>
            <p:cNvPr id="31" name="文本框 30"/>
            <p:cNvSpPr txBox="1"/>
            <p:nvPr/>
          </p:nvSpPr>
          <p:spPr>
            <a:xfrm>
              <a:off x="8102421" y="5049582"/>
              <a:ext cx="1627568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1" kern="1200" dirty="0">
                  <a:solidFill>
                    <a:schemeClr val="dk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Asia-Pacific</a:t>
              </a:r>
              <a:endParaRPr lang="zh-CN" altLang="en-US" sz="24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8102421" y="5625385"/>
              <a:ext cx="130085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1" kern="1200" dirty="0">
                  <a:solidFill>
                    <a:schemeClr val="dk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Europe</a:t>
              </a:r>
              <a:endParaRPr lang="zh-CN" altLang="en-US" sz="24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8112321" y="6168838"/>
              <a:ext cx="2199808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1" kern="1200" dirty="0">
                  <a:solidFill>
                    <a:schemeClr val="dk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South America</a:t>
              </a:r>
              <a:endParaRPr lang="zh-CN" altLang="en-US" sz="24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cxnSp>
        <p:nvCxnSpPr>
          <p:cNvPr id="70" name="直接箭头连接符 69"/>
          <p:cNvCxnSpPr/>
          <p:nvPr/>
        </p:nvCxnSpPr>
        <p:spPr>
          <a:xfrm flipH="1" flipV="1">
            <a:off x="8114882" y="5518497"/>
            <a:ext cx="1416676" cy="460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3" name="文本框 72"/>
          <p:cNvSpPr txBox="1"/>
          <p:nvPr/>
        </p:nvSpPr>
        <p:spPr>
          <a:xfrm>
            <a:off x="2965805" y="5129421"/>
            <a:ext cx="9723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Success</a:t>
            </a:r>
            <a:endParaRPr lang="zh-CN" altLang="en-US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8388574" y="5142454"/>
            <a:ext cx="1075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Exploring</a:t>
            </a:r>
            <a:endParaRPr lang="zh-CN" altLang="en-US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" name="直接箭头连接符 1"/>
          <p:cNvCxnSpPr/>
          <p:nvPr/>
        </p:nvCxnSpPr>
        <p:spPr>
          <a:xfrm flipH="1" flipV="1">
            <a:off x="3057929" y="1672152"/>
            <a:ext cx="1045210" cy="40259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 flipH="1">
            <a:off x="3108729" y="2694045"/>
            <a:ext cx="979805" cy="57721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8761029" y="3211471"/>
            <a:ext cx="26082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Keyword Ranking </a:t>
            </a:r>
            <a:endParaRPr lang="en-US" altLang="zh-C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Invalidation</a:t>
            </a:r>
            <a:endParaRPr lang="zh-CN" alt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9734490" y="1342681"/>
            <a:ext cx="218513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Limitations of algorithms</a:t>
            </a:r>
            <a:endParaRPr lang="zh-CN" altLang="en-US" sz="2400" dirty="0"/>
          </a:p>
        </p:txBody>
      </p:sp>
      <p:cxnSp>
        <p:nvCxnSpPr>
          <p:cNvPr id="48" name="直接连接符 47"/>
          <p:cNvCxnSpPr/>
          <p:nvPr/>
        </p:nvCxnSpPr>
        <p:spPr>
          <a:xfrm flipV="1">
            <a:off x="1534032" y="4378795"/>
            <a:ext cx="9154372" cy="5906"/>
          </a:xfrm>
          <a:prstGeom prst="line">
            <a:avLst/>
          </a:prstGeom>
          <a:ln w="381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45902" y="291517"/>
            <a:ext cx="631634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 err="1">
                <a:latin typeface="Times New Roman" panose="02020503050405090304" pitchFamily="18" charset="0"/>
                <a:ea typeface="Calibri" panose="020F0502020204030204" pitchFamily="34" charset="0"/>
                <a:cs typeface="Times New Roman" panose="02020503050405090304" pitchFamily="18" charset="0"/>
              </a:rPr>
              <a:t>Rufusy</a:t>
            </a:r>
            <a:r>
              <a:rPr lang="zh-CN" altLang="en-US" sz="3200" b="1" dirty="0">
                <a:latin typeface="Times New Roman" panose="02020503050405090304" pitchFamily="18" charset="0"/>
                <a:ea typeface="Calibri" panose="020F0502020204030204" pitchFamily="34" charset="0"/>
                <a:cs typeface="Times New Roman" panose="02020503050405090304" pitchFamily="18" charset="0"/>
              </a:rPr>
              <a:t>：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Emotional Support in HR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4769497" y="5213022"/>
            <a:ext cx="2199231" cy="843432"/>
            <a:chOff x="4319749" y="1929909"/>
            <a:chExt cx="5567214" cy="857435"/>
          </a:xfrm>
        </p:grpSpPr>
        <p:sp>
          <p:nvSpPr>
            <p:cNvPr id="6" name="椭圆 5"/>
            <p:cNvSpPr/>
            <p:nvPr/>
          </p:nvSpPr>
          <p:spPr>
            <a:xfrm>
              <a:off x="4319749" y="1929909"/>
              <a:ext cx="5567214" cy="857435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4757482" y="2123028"/>
              <a:ext cx="4691744" cy="4067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+mn-ea"/>
                </a:rPr>
                <a:t>Global Business</a:t>
              </a:r>
              <a:endParaRPr lang="en-US" altLang="zh-CN" sz="1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927017" y="1534200"/>
            <a:ext cx="3663336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Personalized abilities</a:t>
            </a:r>
            <a:endParaRPr lang="en-US" altLang="zh-CN" sz="2000" b="1" u="sng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377378" y="2304349"/>
            <a:ext cx="3728722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Automation</a:t>
            </a:r>
            <a:endParaRPr lang="zh-CN" altLang="en-US" sz="2000" b="1" u="sng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  <a:sym typeface="+mn-ea"/>
            </a:endParaRPr>
          </a:p>
        </p:txBody>
      </p:sp>
      <p:cxnSp>
        <p:nvCxnSpPr>
          <p:cNvPr id="19" name="直接箭头连接符 18"/>
          <p:cNvCxnSpPr/>
          <p:nvPr/>
        </p:nvCxnSpPr>
        <p:spPr>
          <a:xfrm>
            <a:off x="6850030" y="2163580"/>
            <a:ext cx="913401" cy="812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7688210" y="1819798"/>
            <a:ext cx="317438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>
                <a:latin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lang="zh-CN" alt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ifferences in </a:t>
            </a:r>
            <a:r>
              <a:rPr lang="en-US" altLang="zh-CN" sz="2000" b="1" dirty="0">
                <a:latin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lang="zh-CN" alt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motional </a:t>
            </a:r>
            <a:r>
              <a:rPr lang="en-US" altLang="zh-CN" sz="2000" b="1" dirty="0">
                <a:latin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lang="zh-CN" alt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xpression</a:t>
            </a:r>
            <a:endParaRPr lang="zh-CN" altLang="en-US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5078380" y="3399303"/>
            <a:ext cx="1437397" cy="700964"/>
            <a:chOff x="4319752" y="2074742"/>
            <a:chExt cx="3638681" cy="712601"/>
          </a:xfrm>
        </p:grpSpPr>
        <p:sp>
          <p:nvSpPr>
            <p:cNvPr id="24" name="椭圆 23"/>
            <p:cNvSpPr/>
            <p:nvPr/>
          </p:nvSpPr>
          <p:spPr>
            <a:xfrm>
              <a:off x="4319752" y="2074742"/>
              <a:ext cx="3638681" cy="712601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4790377" y="2211616"/>
              <a:ext cx="2887117" cy="4067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Manager</a:t>
              </a:r>
              <a:endParaRPr lang="en-US" altLang="zh-C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cxnSp>
        <p:nvCxnSpPr>
          <p:cNvPr id="26" name="直接箭头连接符 25"/>
          <p:cNvCxnSpPr/>
          <p:nvPr/>
        </p:nvCxnSpPr>
        <p:spPr>
          <a:xfrm flipV="1">
            <a:off x="6529486" y="3411381"/>
            <a:ext cx="822325" cy="17780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6948088" y="3192724"/>
            <a:ext cx="44579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>
                <a:latin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lang="zh-CN" alt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mployees are </a:t>
            </a:r>
            <a:r>
              <a:rPr lang="en-US" altLang="zh-CN" sz="2000" b="1" dirty="0">
                <a:latin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zh-CN" alt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eing </a:t>
            </a:r>
            <a:r>
              <a:rPr lang="en-US" altLang="zh-CN" sz="2000" b="1" dirty="0">
                <a:latin typeface="Calibri" panose="020F0502020204030204" pitchFamily="34" charset="0"/>
                <a:cs typeface="Calibri" panose="020F0502020204030204" pitchFamily="34" charset="0"/>
              </a:rPr>
              <a:t>M</a:t>
            </a:r>
            <a:r>
              <a:rPr lang="zh-CN" alt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onitored</a:t>
            </a:r>
            <a:endParaRPr lang="zh-CN" altLang="en-US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7244796" y="3933947"/>
            <a:ext cx="307527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zh-CN" alt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eam </a:t>
            </a:r>
            <a:r>
              <a:rPr lang="en-US" altLang="zh-CN" sz="2000" b="1" dirty="0">
                <a:latin typeface="Calibri" panose="020F0502020204030204" pitchFamily="34" charset="0"/>
                <a:cs typeface="Calibri" panose="020F0502020204030204" pitchFamily="34" charset="0"/>
              </a:rPr>
              <a:t>M</a:t>
            </a:r>
            <a:r>
              <a:rPr lang="zh-CN" alt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embers </a:t>
            </a:r>
            <a:r>
              <a:rPr lang="en-US" altLang="zh-CN" sz="2000" b="1" dirty="0"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r>
              <a:rPr lang="zh-CN" alt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ave </a:t>
            </a:r>
            <a:r>
              <a:rPr lang="en-US" altLang="zh-CN" sz="2000" b="1" dirty="0">
                <a:latin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lang="zh-CN" alt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ifferent </a:t>
            </a:r>
            <a:r>
              <a:rPr lang="en-US" altLang="zh-CN" sz="2000" b="1" dirty="0">
                <a:latin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zh-CN" alt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erceptions</a:t>
            </a:r>
            <a:endParaRPr lang="zh-CN" altLang="en-US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4" name="直接箭头连接符 33"/>
          <p:cNvCxnSpPr/>
          <p:nvPr/>
        </p:nvCxnSpPr>
        <p:spPr>
          <a:xfrm>
            <a:off x="6515793" y="3989190"/>
            <a:ext cx="774065" cy="26479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56" name="组合 55"/>
          <p:cNvGrpSpPr/>
          <p:nvPr/>
        </p:nvGrpSpPr>
        <p:grpSpPr>
          <a:xfrm>
            <a:off x="5023505" y="1782648"/>
            <a:ext cx="1773865" cy="809393"/>
            <a:chOff x="4319752" y="2074742"/>
            <a:chExt cx="3703041" cy="712601"/>
          </a:xfrm>
        </p:grpSpPr>
        <p:sp>
          <p:nvSpPr>
            <p:cNvPr id="57" name="椭圆 56"/>
            <p:cNvSpPr/>
            <p:nvPr/>
          </p:nvSpPr>
          <p:spPr>
            <a:xfrm>
              <a:off x="4319752" y="2074742"/>
              <a:ext cx="3638681" cy="712601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4900318" y="2219465"/>
              <a:ext cx="3122475" cy="4067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Employee</a:t>
              </a:r>
              <a:endParaRPr lang="en-US" altLang="zh-C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60" name="文本框 59"/>
          <p:cNvSpPr txBox="1"/>
          <p:nvPr/>
        </p:nvSpPr>
        <p:spPr>
          <a:xfrm>
            <a:off x="1361978" y="5205982"/>
            <a:ext cx="2417647" cy="1014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>
                <a:latin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zh-CN" alt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trengthened </a:t>
            </a:r>
            <a:r>
              <a:rPr lang="en-US" altLang="zh-CN" sz="2000" b="1" dirty="0">
                <a:latin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lang="zh-CN" alt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mploye</a:t>
            </a:r>
            <a:r>
              <a:rPr lang="en-US" altLang="zh-CN" sz="2000" b="1" dirty="0">
                <a:latin typeface="Calibri" panose="020F0502020204030204" pitchFamily="34" charset="0"/>
                <a:cs typeface="Calibri" panose="020F0502020204030204" pitchFamily="34" charset="0"/>
              </a:rPr>
              <a:t>e C</a:t>
            </a:r>
            <a:r>
              <a:rPr lang="zh-CN" alt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entered </a:t>
            </a:r>
            <a:r>
              <a:rPr lang="en-US" altLang="zh-CN" sz="2000" b="1" dirty="0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zh-CN" alt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mage</a:t>
            </a:r>
            <a:endParaRPr lang="zh-CN" altLang="en-US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63" name="直接箭头连接符 62"/>
          <p:cNvCxnSpPr>
            <a:endCxn id="66" idx="1"/>
          </p:cNvCxnSpPr>
          <p:nvPr/>
        </p:nvCxnSpPr>
        <p:spPr>
          <a:xfrm flipV="1">
            <a:off x="7026927" y="5300594"/>
            <a:ext cx="792095" cy="13760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6" name="文本框 65"/>
          <p:cNvSpPr txBox="1"/>
          <p:nvPr/>
        </p:nvSpPr>
        <p:spPr>
          <a:xfrm>
            <a:off x="7819022" y="5100539"/>
            <a:ext cx="22747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zh-CN" alt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ultural </a:t>
            </a:r>
            <a:r>
              <a:rPr lang="en-US" altLang="zh-CN" sz="2000" b="1" dirty="0">
                <a:latin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lang="zh-CN" alt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ifferences</a:t>
            </a:r>
            <a:endParaRPr lang="zh-CN" altLang="en-US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67" name="直接箭头连接符 66"/>
          <p:cNvCxnSpPr>
            <a:endCxn id="70" idx="1"/>
          </p:cNvCxnSpPr>
          <p:nvPr/>
        </p:nvCxnSpPr>
        <p:spPr>
          <a:xfrm>
            <a:off x="7038210" y="5755228"/>
            <a:ext cx="766225" cy="14648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0" name="文本框 69"/>
          <p:cNvSpPr txBox="1"/>
          <p:nvPr/>
        </p:nvSpPr>
        <p:spPr>
          <a:xfrm>
            <a:off x="7804435" y="5701654"/>
            <a:ext cx="104407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zh-CN" alt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ostly</a:t>
            </a:r>
            <a:endParaRPr lang="zh-CN" altLang="en-US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8" name="直接箭头连接符 27"/>
          <p:cNvCxnSpPr/>
          <p:nvPr/>
        </p:nvCxnSpPr>
        <p:spPr>
          <a:xfrm flipH="1" flipV="1">
            <a:off x="4238664" y="1844242"/>
            <a:ext cx="699135" cy="17589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/>
          <p:nvPr/>
        </p:nvCxnSpPr>
        <p:spPr>
          <a:xfrm flipH="1">
            <a:off x="4231355" y="2377306"/>
            <a:ext cx="709295" cy="15684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1" name="直接箭头连接符 70"/>
          <p:cNvCxnSpPr>
            <a:endCxn id="2" idx="3"/>
          </p:cNvCxnSpPr>
          <p:nvPr/>
        </p:nvCxnSpPr>
        <p:spPr>
          <a:xfrm flipH="1" flipV="1">
            <a:off x="4231495" y="3680003"/>
            <a:ext cx="706120" cy="3365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7" name="直接箭头连接符 76"/>
          <p:cNvCxnSpPr/>
          <p:nvPr/>
        </p:nvCxnSpPr>
        <p:spPr>
          <a:xfrm flipH="1">
            <a:off x="3827963" y="5630703"/>
            <a:ext cx="823226" cy="403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433195" y="3326130"/>
            <a:ext cx="279844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20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D</a:t>
            </a:r>
            <a:r>
              <a:rPr lang="en-US" altLang="zh-CN" sz="2000" b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ata-driven </a:t>
            </a:r>
            <a:r>
              <a:rPr lang="en-US" altLang="zh-CN" sz="20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D</a:t>
            </a:r>
            <a:r>
              <a:rPr lang="en-US" altLang="zh-CN" sz="2000" b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ecision-making</a:t>
            </a:r>
            <a:endParaRPr lang="en-US" altLang="zh-CN" sz="2000" b="1" u="sng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+mn-ea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1120775" y="1471295"/>
            <a:ext cx="3007360" cy="2713355"/>
          </a:xfrm>
          <a:prstGeom prst="roundRect">
            <a:avLst/>
          </a:prstGeom>
          <a:noFill/>
          <a:ln w="3810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2192000" cy="6858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100000">
                  <a:srgbClr val="FAF5DB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</p:grpSp>
      <p:sp>
        <p:nvSpPr>
          <p:cNvPr id="4" name="Freeform 4"/>
          <p:cNvSpPr/>
          <p:nvPr/>
        </p:nvSpPr>
        <p:spPr>
          <a:xfrm>
            <a:off x="-1707538" y="4766650"/>
            <a:ext cx="4352921" cy="4346825"/>
          </a:xfrm>
          <a:custGeom>
            <a:avLst/>
            <a:gdLst/>
            <a:ahLst/>
            <a:cxnLst/>
            <a:rect l="l" t="t" r="r" b="b"/>
            <a:pathLst>
              <a:path w="6529382" h="6520237">
                <a:moveTo>
                  <a:pt x="0" y="0"/>
                </a:moveTo>
                <a:lnTo>
                  <a:pt x="6529382" y="0"/>
                </a:lnTo>
                <a:lnTo>
                  <a:pt x="6529382" y="6520237"/>
                </a:lnTo>
                <a:lnTo>
                  <a:pt x="0" y="6520237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706617" y="-1305016"/>
            <a:ext cx="3505504" cy="3511600"/>
          </a:xfrm>
          <a:custGeom>
            <a:avLst/>
            <a:gdLst/>
            <a:ahLst/>
            <a:cxnLst/>
            <a:rect l="l" t="t" r="r" b="b"/>
            <a:pathLst>
              <a:path w="5258256" h="5267400">
                <a:moveTo>
                  <a:pt x="0" y="0"/>
                </a:moveTo>
                <a:lnTo>
                  <a:pt x="5258255" y="0"/>
                </a:lnTo>
                <a:lnTo>
                  <a:pt x="5258255" y="5267400"/>
                </a:lnTo>
                <a:lnTo>
                  <a:pt x="0" y="526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402036" y="5288731"/>
            <a:ext cx="6262510" cy="275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5"/>
              </a:lnSpc>
            </a:pPr>
            <a:r>
              <a:rPr lang="en-US" sz="1600" spc="1280" dirty="0" err="1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商|页|计|划|书|演|示|模|板</a:t>
            </a:r>
            <a:endParaRPr lang="en-US" sz="1600" spc="1280" dirty="0">
              <a:solidFill>
                <a:srgbClr val="FFFFFF"/>
              </a:solidFill>
              <a:latin typeface="思源黑体"/>
              <a:ea typeface="思源黑体"/>
              <a:cs typeface="思源黑体"/>
              <a:sym typeface="思源黑体"/>
            </a:endParaRPr>
          </a:p>
        </p:txBody>
      </p:sp>
      <p:sp>
        <p:nvSpPr>
          <p:cNvPr id="7" name="标题 1"/>
          <p:cNvSpPr txBox="1"/>
          <p:nvPr/>
        </p:nvSpPr>
        <p:spPr>
          <a:xfrm>
            <a:off x="51253" y="516407"/>
            <a:ext cx="3521287" cy="70279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3200" b="1" dirty="0">
                <a:latin typeface="Times New Roman Bold" panose="02020503050405090304" charset="0"/>
                <a:cs typeface="Times New Roman Bold" panose="02020503050405090304" charset="0"/>
              </a:rPr>
              <a:t>Reference List</a:t>
            </a:r>
            <a:endParaRPr lang="en-US" altLang="zh-CN" sz="3200" b="1" dirty="0">
              <a:latin typeface="Times New Roman Bold" panose="02020503050405090304" charset="0"/>
              <a:cs typeface="Times New Roman Bold" panose="0202050305040509030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68922" y="1237450"/>
            <a:ext cx="109485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1800" kern="0" dirty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Arun Aggarwal </a:t>
            </a:r>
            <a:r>
              <a:rPr lang="en-US" altLang="zh-CN" sz="1800" i="1" kern="0" dirty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et al.</a:t>
            </a:r>
            <a:r>
              <a:rPr lang="en-US" altLang="zh-CN" sz="1800" kern="0" dirty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 (2020) ‘Leader–Member Exchange, Work Engagement, and Psychological Withdrawal Behavior: The Mediating Role of Psychological Empowerment’, </a:t>
            </a:r>
            <a:r>
              <a:rPr lang="en-US" altLang="zh-CN" sz="1800" i="1" kern="0" dirty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Frontiers in Psychology</a:t>
            </a:r>
            <a:r>
              <a:rPr lang="en-US" altLang="zh-CN" sz="1800" kern="0" dirty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, 11. doi:10.3389/fpsyg.2020.00423.</a:t>
            </a:r>
            <a:endParaRPr lang="zh-CN" alt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503050405090304" pitchFamily="18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68921" y="4925806"/>
            <a:ext cx="1032851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1800" kern="0" dirty="0" err="1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Zaczkiewicz</a:t>
            </a:r>
            <a:r>
              <a:rPr lang="en-US" altLang="zh-CN" sz="1800" kern="0" dirty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, A. (2024) </a:t>
            </a:r>
            <a:r>
              <a:rPr lang="zh-CN" altLang="zh-CN" sz="1800" kern="0" dirty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‘</a:t>
            </a:r>
            <a:r>
              <a:rPr lang="en-US" altLang="zh-CN" sz="1800" kern="0" dirty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AI Can Revolutionize E-commerce, According to Founder of Pixyle.ai</a:t>
            </a:r>
            <a:r>
              <a:rPr lang="zh-CN" altLang="zh-CN" sz="1800" kern="0" dirty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’</a:t>
            </a:r>
            <a:r>
              <a:rPr lang="en-US" altLang="zh-CN" sz="1800" kern="0" dirty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, </a:t>
            </a:r>
            <a:r>
              <a:rPr lang="en-US" altLang="zh-CN" sz="1800" i="1" kern="0" dirty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WWD: Women</a:t>
            </a:r>
            <a:r>
              <a:rPr lang="zh-CN" altLang="zh-CN" sz="1800" i="1" kern="0" dirty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’</a:t>
            </a:r>
            <a:r>
              <a:rPr lang="en-US" altLang="zh-CN" sz="1800" i="1" kern="0" dirty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 Wear Daily</a:t>
            </a:r>
            <a:r>
              <a:rPr lang="en-US" altLang="zh-CN" sz="1800" kern="0" dirty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, p. 20. Available at: https://search.ebscohost.com/login.aspx?direct=true&amp;db=bsu&amp;AN=176626744&amp;site=eds-live&amp;scope=site (Accessed: 25 October 2024).</a:t>
            </a:r>
            <a:endParaRPr lang="zh-CN" alt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503050405090304" pitchFamily="18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68921" y="3429295"/>
            <a:ext cx="1048508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i="1" dirty="0">
                <a:solidFill>
                  <a:srgbClr val="0F2741"/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</a:rPr>
              <a:t>Top online stores in the United States in 2023, by e-commerce net sales (2024) </a:t>
            </a:r>
            <a:r>
              <a:rPr lang="en-US" altLang="zh-CN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Available at: https://www.statista.com/forecasts/646030/united-states-top-online-stores-united-states-ecommercedb (</a:t>
            </a:r>
            <a:r>
              <a:rPr lang="en-US" altLang="zh-CN" sz="1800" kern="0" dirty="0"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Accessed: 25 October 2024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).</a:t>
            </a:r>
            <a:endParaRPr lang="zh-CN" alt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68390" y="2450805"/>
            <a:ext cx="104349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China Academy of Cyberspace Studies. (2023). </a:t>
            </a:r>
            <a:r>
              <a:rPr lang="en-US" altLang="zh-CN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World Internet Development Report 2023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. Beijing: The Commercial Press.</a:t>
            </a:r>
            <a:endParaRPr lang="zh-CN" alt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2192000" cy="6858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100000">
                  <a:srgbClr val="FAF5DB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</p:grpSp>
      <p:sp>
        <p:nvSpPr>
          <p:cNvPr id="4" name="Freeform 4"/>
          <p:cNvSpPr/>
          <p:nvPr/>
        </p:nvSpPr>
        <p:spPr>
          <a:xfrm>
            <a:off x="-1707538" y="4766650"/>
            <a:ext cx="4352921" cy="4346825"/>
          </a:xfrm>
          <a:custGeom>
            <a:avLst/>
            <a:gdLst/>
            <a:ahLst/>
            <a:cxnLst/>
            <a:rect l="l" t="t" r="r" b="b"/>
            <a:pathLst>
              <a:path w="6529382" h="6520237">
                <a:moveTo>
                  <a:pt x="0" y="0"/>
                </a:moveTo>
                <a:lnTo>
                  <a:pt x="6529382" y="0"/>
                </a:lnTo>
                <a:lnTo>
                  <a:pt x="6529382" y="6520237"/>
                </a:lnTo>
                <a:lnTo>
                  <a:pt x="0" y="6520237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706617" y="-1305016"/>
            <a:ext cx="3505504" cy="3511600"/>
          </a:xfrm>
          <a:custGeom>
            <a:avLst/>
            <a:gdLst/>
            <a:ahLst/>
            <a:cxnLst/>
            <a:rect l="l" t="t" r="r" b="b"/>
            <a:pathLst>
              <a:path w="5258256" h="5267400">
                <a:moveTo>
                  <a:pt x="0" y="0"/>
                </a:moveTo>
                <a:lnTo>
                  <a:pt x="5258255" y="0"/>
                </a:lnTo>
                <a:lnTo>
                  <a:pt x="5258255" y="5267400"/>
                </a:lnTo>
                <a:lnTo>
                  <a:pt x="0" y="526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402036" y="5288731"/>
            <a:ext cx="6262510" cy="275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5"/>
              </a:lnSpc>
            </a:pPr>
            <a:r>
              <a:rPr lang="en-US" sz="1600" spc="128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商|页|计|划|书|演|示|模|板</a:t>
            </a:r>
            <a:endParaRPr lang="en-US" sz="1600" spc="1280">
              <a:solidFill>
                <a:srgbClr val="FFFFFF"/>
              </a:solidFill>
              <a:latin typeface="思源黑体"/>
              <a:ea typeface="思源黑体"/>
              <a:cs typeface="思源黑体"/>
              <a:sym typeface="思源黑体"/>
            </a:endParaRPr>
          </a:p>
        </p:txBody>
      </p:sp>
      <p:sp>
        <p:nvSpPr>
          <p:cNvPr id="7" name="标题 1"/>
          <p:cNvSpPr txBox="1"/>
          <p:nvPr/>
        </p:nvSpPr>
        <p:spPr>
          <a:xfrm>
            <a:off x="402092" y="2456644"/>
            <a:ext cx="11272365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6600" b="1" dirty="0">
                <a:latin typeface="Times New Roman Bold" panose="02020503050405090304" charset="0"/>
                <a:cs typeface="Times New Roman Bold" panose="02020503050405090304" charset="0"/>
              </a:rPr>
              <a:t>Thank You</a:t>
            </a:r>
            <a:endParaRPr lang="en-US" altLang="zh-CN" sz="6600" b="1" dirty="0">
              <a:latin typeface="Times New Roman Bold" panose="02020503050405090304" charset="0"/>
              <a:cs typeface="Times New Roman Bold" panose="0202050305040509030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19.5568503937008,&quot;left&quot;:180.53805374912184,&quot;top&quot;:51.628188976377956,&quot;width&quot;:755.9518675107208}"/>
</p:tagLst>
</file>

<file path=ppt/tags/tag2.xml><?xml version="1.0" encoding="utf-8"?>
<p:tagLst xmlns:p="http://schemas.openxmlformats.org/presentationml/2006/main">
  <p:tag name="KSO_WM_DIAGRAM_VIRTUALLY_FRAME" val="{&quot;height&quot;:419.5568503937008,&quot;left&quot;:180.53805374912184,&quot;top&quot;:51.628188976377956,&quot;width&quot;:755.9518675107208}"/>
</p:tagLst>
</file>

<file path=ppt/tags/tag3.xml><?xml version="1.0" encoding="utf-8"?>
<p:tagLst xmlns:p="http://schemas.openxmlformats.org/presentationml/2006/main">
  <p:tag name="KSO_WM_DIAGRAM_VIRTUALLY_FRAME" val="{&quot;height&quot;:419.5568503937008,&quot;left&quot;:180.53805374912184,&quot;top&quot;:51.628188976377956,&quot;width&quot;:755.9518675107208}"/>
</p:tagLst>
</file>

<file path=ppt/tags/tag4.xml><?xml version="1.0" encoding="utf-8"?>
<p:tagLst xmlns:p="http://schemas.openxmlformats.org/presentationml/2006/main">
  <p:tag name="KSO_WM_DIAGRAM_VIRTUALLY_FRAME" val="{&quot;height&quot;:419.5568503937008,&quot;left&quot;:180.53805374912184,&quot;top&quot;:51.628188976377956,&quot;width&quot;:755.9518675107208}"/>
</p:tagLst>
</file>

<file path=ppt/tags/tag5.xml><?xml version="1.0" encoding="utf-8"?>
<p:tagLst xmlns:p="http://schemas.openxmlformats.org/presentationml/2006/main">
  <p:tag name="KSO_WM_DIAGRAM_VIRTUALLY_FRAME" val="{&quot;height&quot;:419.5568503937008,&quot;left&quot;:180.53805374912184,&quot;top&quot;:51.628188976377956,&quot;width&quot;:755.9518675107208}"/>
</p:tagLst>
</file>

<file path=ppt/tags/tag6.xml><?xml version="1.0" encoding="utf-8"?>
<p:tagLst xmlns:p="http://schemas.openxmlformats.org/presentationml/2006/main">
  <p:tag name="KSO_WM_DIAGRAM_VIRTUALLY_FRAME" val="{&quot;height&quot;:419.5568503937008,&quot;left&quot;:180.53805374912184,&quot;top&quot;:51.628188976377956,&quot;width&quot;:755.9518675107208}"/>
</p:tagLst>
</file>

<file path=ppt/tags/tag7.xml><?xml version="1.0" encoding="utf-8"?>
<p:tagLst xmlns:p="http://schemas.openxmlformats.org/presentationml/2006/main">
  <p:tag name="KSO_WM_DIAGRAM_VIRTUALLY_FRAME" val="{&quot;height&quot;:419.5568503937008,&quot;left&quot;:180.53805374912184,&quot;top&quot;:51.628188976377956,&quot;width&quot;:755.9518675107208}"/>
</p:tagLst>
</file>

<file path=ppt/tags/tag8.xml><?xml version="1.0" encoding="utf-8"?>
<p:tagLst xmlns:p="http://schemas.openxmlformats.org/presentationml/2006/main">
  <p:tag name="KSO_WM_DIAGRAM_VIRTUALLY_FRAME" val="{&quot;height&quot;:419.5568503937008,&quot;left&quot;:180.53805374912184,&quot;top&quot;:51.628188976377956,&quot;width&quot;:755.9518675107208}"/>
</p:tagLst>
</file>

<file path=ppt/tags/tag9.xml><?xml version="1.0" encoding="utf-8"?>
<p:tagLst xmlns:p="http://schemas.openxmlformats.org/presentationml/2006/main">
  <p:tag name="KSO_WM_DIAGRAM_VIRTUALLY_FRAME" val="{&quot;height&quot;:419.5568503937008,&quot;left&quot;:180.53805374912184,&quot;top&quot;:51.628188976377956,&quot;width&quot;:755.9518675107208}"/>
</p:tagLst>
</file>

<file path=ppt/tags/tag10.xml><?xml version="1.0" encoding="utf-8"?>
<p:tagLst xmlns:p="http://schemas.openxmlformats.org/presentationml/2006/main">
  <p:tag name="KSO_WM_DIAGRAM_VIRTUALLY_FRAME" val="{&quot;height&quot;:419.5568503937008,&quot;left&quot;:180.53805374912184,&quot;top&quot;:51.628188976377956,&quot;width&quot;:755.9518675107208}"/>
</p:tagLst>
</file>

<file path=ppt/tags/tag11.xml><?xml version="1.0" encoding="utf-8"?>
<p:tagLst xmlns:p="http://schemas.openxmlformats.org/presentationml/2006/main">
  <p:tag name="KSO_WM_DIAGRAM_VIRTUALLY_FRAME" val="{&quot;height&quot;:419.5568503937008,&quot;left&quot;:180.53805374912184,&quot;top&quot;:51.628188976377956,&quot;width&quot;:755.9518675107208}"/>
</p:tagLst>
</file>

<file path=ppt/tags/tag12.xml><?xml version="1.0" encoding="utf-8"?>
<p:tagLst xmlns:p="http://schemas.openxmlformats.org/presentationml/2006/main">
  <p:tag name="KSO_WM_DIAGRAM_VIRTUALLY_FRAME" val="{&quot;height&quot;:419.5568503937008,&quot;left&quot;:180.53805374912184,&quot;top&quot;:51.628188976377956,&quot;width&quot;:755.9518675107208}"/>
</p:tagLst>
</file>

<file path=ppt/tags/tag13.xml><?xml version="1.0" encoding="utf-8"?>
<p:tagLst xmlns:p="http://schemas.openxmlformats.org/presentationml/2006/main">
  <p:tag name="KSO_WM_DIAGRAM_VIRTUALLY_FRAME" val="{&quot;height&quot;:419.5568503937008,&quot;left&quot;:180.53805374912184,&quot;top&quot;:51.628188976377956,&quot;width&quot;:755.9518675107208}"/>
</p:tagLst>
</file>

<file path=ppt/tags/tag14.xml><?xml version="1.0" encoding="utf-8"?>
<p:tagLst xmlns:p="http://schemas.openxmlformats.org/presentationml/2006/main">
  <p:tag name="KSO_WM_DIAGRAM_VIRTUALLY_FRAME" val="{&quot;height&quot;:419.5568503937008,&quot;left&quot;:180.53805374912184,&quot;top&quot;:51.628188976377956,&quot;width&quot;:755.9518675107208}"/>
</p:tagLst>
</file>

<file path=ppt/tags/tag15.xml><?xml version="1.0" encoding="utf-8"?>
<p:tagLst xmlns:p="http://schemas.openxmlformats.org/presentationml/2006/main">
  <p:tag name="KSO_WM_DIAGRAM_VIRTUALLY_FRAME" val="{&quot;height&quot;:419.5568503937008,&quot;left&quot;:180.53805374912184,&quot;top&quot;:51.628188976377956,&quot;width&quot;:755.9518675107208}"/>
</p:tagLst>
</file>

<file path=ppt/tags/tag16.xml><?xml version="1.0" encoding="utf-8"?>
<p:tagLst xmlns:p="http://schemas.openxmlformats.org/presentationml/2006/main">
  <p:tag name="KSO_WM_DIAGRAM_VIRTUALLY_FRAME" val="{&quot;height&quot;:419.5568503937008,&quot;left&quot;:180.53805374912184,&quot;top&quot;:51.628188976377956,&quot;width&quot;:755.9518675107208}"/>
</p:tagLst>
</file>

<file path=ppt/tags/tag17.xml><?xml version="1.0" encoding="utf-8"?>
<p:tagLst xmlns:p="http://schemas.openxmlformats.org/presentationml/2006/main">
  <p:tag name="KSO_WM_DIAGRAM_VIRTUALLY_FRAME" val="{&quot;height&quot;:419.5568503937008,&quot;left&quot;:180.53805374912184,&quot;top&quot;:51.628188976377956,&quot;width&quot;:755.9518675107208}"/>
</p:tagLst>
</file>

<file path=ppt/tags/tag18.xml><?xml version="1.0" encoding="utf-8"?>
<p:tagLst xmlns:p="http://schemas.openxmlformats.org/presentationml/2006/main">
  <p:tag name="KSO_WM_DIAGRAM_VIRTUALLY_FRAME" val="{&quot;height&quot;:419.5568503937008,&quot;left&quot;:180.53805374912184,&quot;top&quot;:51.628188976377956,&quot;width&quot;:755.9518675107208}"/>
</p:tagLst>
</file>

<file path=ppt/tags/tag19.xml><?xml version="1.0" encoding="utf-8"?>
<p:tagLst xmlns:p="http://schemas.openxmlformats.org/presentationml/2006/main">
  <p:tag name="KSO_WM_DIAGRAM_VIRTUALLY_FRAME" val="{&quot;height&quot;:419.5568503937008,&quot;left&quot;:180.53805374912184,&quot;top&quot;:51.628188976377956,&quot;width&quot;:755.9518675107208}"/>
</p:tagLst>
</file>

<file path=ppt/tags/tag20.xml><?xml version="1.0" encoding="utf-8"?>
<p:tagLst xmlns:p="http://schemas.openxmlformats.org/presentationml/2006/main">
  <p:tag name="KSO_WM_DIAGRAM_VIRTUALLY_FRAME" val="{&quot;height&quot;:419.5568503937008,&quot;left&quot;:180.53805374912184,&quot;top&quot;:51.628188976377956,&quot;width&quot;:755.9518675107208}"/>
</p:tagLst>
</file>

<file path=ppt/tags/tag21.xml><?xml version="1.0" encoding="utf-8"?>
<p:tagLst xmlns:p="http://schemas.openxmlformats.org/presentationml/2006/main">
  <p:tag name="KSO_WM_DIAGRAM_VIRTUALLY_FRAME" val="{&quot;height&quot;:419.5568503937008,&quot;left&quot;:180.53805374912184,&quot;top&quot;:51.628188976377956,&quot;width&quot;:755.9518675107208}"/>
</p:tagLst>
</file>

<file path=ppt/tags/tag22.xml><?xml version="1.0" encoding="utf-8"?>
<p:tagLst xmlns:p="http://schemas.openxmlformats.org/presentationml/2006/main">
  <p:tag name="KSO_WM_DIAGRAM_VIRTUALLY_FRAME" val="{&quot;height&quot;:444.1889763779527,&quot;left&quot;:412.8166141732283,&quot;top&quot;:6.301653543307066,&quot;width&quot;:683.6455905511812}"/>
</p:tagLst>
</file>

<file path=ppt/tags/tag23.xml><?xml version="1.0" encoding="utf-8"?>
<p:tagLst xmlns:p="http://schemas.openxmlformats.org/presentationml/2006/main">
  <p:tag name="KSO_WM_DIAGRAM_VIRTUALLY_FRAME" val="{&quot;height&quot;:444.1889763779527,&quot;left&quot;:412.8166141732283,&quot;top&quot;:6.301653543307066,&quot;width&quot;:683.6455905511812}"/>
</p:tagLst>
</file>

<file path=ppt/tags/tag24.xml><?xml version="1.0" encoding="utf-8"?>
<p:tagLst xmlns:p="http://schemas.openxmlformats.org/presentationml/2006/main">
  <p:tag name="KSO_WM_DIAGRAM_VIRTUALLY_FRAME" val="{&quot;height&quot;:444.1889763779527,&quot;left&quot;:412.8166141732283,&quot;top&quot;:6.301653543307066,&quot;width&quot;:683.6455905511812}"/>
</p:tagLst>
</file>

<file path=ppt/tags/tag25.xml><?xml version="1.0" encoding="utf-8"?>
<p:tagLst xmlns:p="http://schemas.openxmlformats.org/presentationml/2006/main">
  <p:tag name="KSO_WM_DIAGRAM_VIRTUALLY_FRAME" val="{&quot;height&quot;:444.1889763779527,&quot;left&quot;:412.8166141732283,&quot;top&quot;:6.301653543307066,&quot;width&quot;:683.6455905511812}"/>
</p:tagLst>
</file>

<file path=ppt/tags/tag26.xml><?xml version="1.0" encoding="utf-8"?>
<p:tagLst xmlns:p="http://schemas.openxmlformats.org/presentationml/2006/main">
  <p:tag name="KSO_WM_DIAGRAM_VIRTUALLY_FRAME" val="{&quot;height&quot;:444.1889763779527,&quot;left&quot;:412.8166141732283,&quot;top&quot;:6.301653543307066,&quot;width&quot;:683.6455905511812}"/>
</p:tagLst>
</file>

<file path=ppt/tags/tag27.xml><?xml version="1.0" encoding="utf-8"?>
<p:tagLst xmlns:p="http://schemas.openxmlformats.org/presentationml/2006/main">
  <p:tag name="KSO_WM_DIAGRAM_VIRTUALLY_FRAME" val="{&quot;height&quot;:444.1889763779527,&quot;left&quot;:412.8166141732283,&quot;top&quot;:6.301653543307066,&quot;width&quot;:683.6455905511812}"/>
</p:tagLst>
</file>

<file path=ppt/tags/tag28.xml><?xml version="1.0" encoding="utf-8"?>
<p:tagLst xmlns:p="http://schemas.openxmlformats.org/presentationml/2006/main">
  <p:tag name="KSO_WM_DIAGRAM_VIRTUALLY_FRAME" val="{&quot;height&quot;:444.1889763779527,&quot;left&quot;:412.8166141732283,&quot;top&quot;:6.301653543307066,&quot;width&quot;:683.6455905511812}"/>
</p:tagLst>
</file>

<file path=ppt/tags/tag29.xml><?xml version="1.0" encoding="utf-8"?>
<p:tagLst xmlns:p="http://schemas.openxmlformats.org/presentationml/2006/main">
  <p:tag name="KSO_WM_DIAGRAM_VIRTUALLY_FRAME" val="{&quot;height&quot;:444.1889763779527,&quot;left&quot;:412.8166141732283,&quot;top&quot;:6.301653543307066,&quot;width&quot;:683.6455905511812}"/>
</p:tagLst>
</file>

<file path=ppt/tags/tag30.xml><?xml version="1.0" encoding="utf-8"?>
<p:tagLst xmlns:p="http://schemas.openxmlformats.org/presentationml/2006/main">
  <p:tag name="KSO_WM_DIAGRAM_VIRTUALLY_FRAME" val="{&quot;height&quot;:444.1889763779527,&quot;left&quot;:412.8166141732283,&quot;top&quot;:6.301653543307066,&quot;width&quot;:683.6455905511812}"/>
</p:tagLst>
</file>

<file path=ppt/tags/tag31.xml><?xml version="1.0" encoding="utf-8"?>
<p:tagLst xmlns:p="http://schemas.openxmlformats.org/presentationml/2006/main">
  <p:tag name="KSO_WM_DIAGRAM_VIRTUALLY_FRAME" val="{&quot;height&quot;:444.1889763779527,&quot;left&quot;:412.8166141732283,&quot;top&quot;:6.301653543307066,&quot;width&quot;:683.6455905511812}"/>
</p:tagLst>
</file>

<file path=ppt/tags/tag32.xml><?xml version="1.0" encoding="utf-8"?>
<p:tagLst xmlns:p="http://schemas.openxmlformats.org/presentationml/2006/main">
  <p:tag name="ISLIDE.SMARTDIAGRAM" val="#275246;"/>
  <p:tag name="ISLIDE.ICON" val="#133156;#133156;#133150;"/>
</p:tagLst>
</file>

<file path=ppt/tags/tag33.xml><?xml version="1.0" encoding="utf-8"?>
<p:tagLst xmlns:p="http://schemas.openxmlformats.org/presentationml/2006/main">
  <p:tag name="ISLIDE.ICON" val="#137393;#399082;#393928;#136181;"/>
</p:tagLst>
</file>

<file path=ppt/tags/tag34.xml><?xml version="1.0" encoding="utf-8"?>
<p:tagLst xmlns:p="http://schemas.openxmlformats.org/presentationml/2006/main">
  <p:tag name="KSO_WM_UNIT_TEXT_FILL_FORE_SCHEMECOLOR_INDEX_BRIGHTNESS" val="-0.5"/>
  <p:tag name="KSO_WM_UNIT_SUBTYPE" val="a"/>
  <p:tag name="KSO_WM_UNIT_NOCLEAR" val="0"/>
  <p:tag name="KSO_WM_UNIT_VALUE" val="23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2_1_1"/>
  <p:tag name="KSO_WM_UNIT_ID" val="diagram20231486_2*n_h_h_f*1_2_1_1"/>
  <p:tag name="KSO_WM_TEMPLATE_CATEGORY" val="diagram"/>
  <p:tag name="KSO_WM_TEMPLATE_INDEX" val="20231486"/>
  <p:tag name="KSO_WM_UNIT_LAYERLEVEL" val="1_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6"/>
  <p:tag name="KSO_WM_DIAGRAM_MIN_ITEMCNT" val="1"/>
  <p:tag name="KSO_WM_DIAGRAM_VIRTUALLY_FRAME" val="{&quot;height&quot;:409.04998779296875,&quot;left&quot;:-109.09003169022208,&quot;top&quot;:-40.73656869963397,&quot;width&quot;:937.24163818359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单击此处输入你的正文，文字是您思想的提炼"/>
  <p:tag name="KSO_WM_UNIT_TEXT_TYPE" val="1"/>
  <p:tag name="KSO_WM_DIAGRAM_USE_COLOR_VALUE" val="{&quot;color_scheme&quot;:1,&quot;color_type&quot;:1,&quot;theme_color_indexes&quot;:[5,6,5,6,5,6]}"/>
</p:tagLst>
</file>

<file path=ppt/tags/tag35.xml><?xml version="1.0" encoding="utf-8"?>
<p:tagLst xmlns:p="http://schemas.openxmlformats.org/presentationml/2006/main">
  <p:tag name="KSO_WM_UNIT_TEXT_FILL_FORE_SCHEMECOLOR_INDEX_BRIGHTNESS" val="-0.5"/>
  <p:tag name="KSO_WM_UNIT_SUBTYPE" val="a"/>
  <p:tag name="KSO_WM_UNIT_NOCLEAR" val="0"/>
  <p:tag name="KSO_WM_UNIT_VALUE" val="23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2_2_1"/>
  <p:tag name="KSO_WM_UNIT_ID" val="diagram20231486_2*n_h_h_f*1_2_2_1"/>
  <p:tag name="KSO_WM_TEMPLATE_CATEGORY" val="diagram"/>
  <p:tag name="KSO_WM_TEMPLATE_INDEX" val="20231486"/>
  <p:tag name="KSO_WM_UNIT_LAYERLEVEL" val="1_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6"/>
  <p:tag name="KSO_WM_DIAGRAM_MIN_ITEMCNT" val="1"/>
  <p:tag name="KSO_WM_DIAGRAM_VIRTUALLY_FRAME" val="{&quot;height&quot;:409.04998779296875,&quot;left&quot;:-109.09003169022208,&quot;top&quot;:-40.73656869963397,&quot;width&quot;:937.24163818359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PRESET_TEXT" val="单击此处输入你的正文，文字是您思想的提炼"/>
  <p:tag name="KSO_WM_UNIT_TEXT_TYPE" val="1"/>
  <p:tag name="KSO_WM_DIAGRAM_USE_COLOR_VALUE" val="{&quot;color_scheme&quot;:1,&quot;color_type&quot;:1,&quot;theme_color_indexes&quot;:[5,6,5,6,5,6]}"/>
</p:tagLst>
</file>

<file path=ppt/tags/tag3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h_a"/>
  <p:tag name="KSO_WM_UNIT_INDEX" val="1_2_1_1"/>
  <p:tag name="KSO_WM_UNIT_ID" val="diagram20231084_1*n_h_h_a*1_2_1_1"/>
  <p:tag name="KSO_WM_TEMPLATE_CATEGORY" val="diagram"/>
  <p:tag name="KSO_WM_TEMPLATE_INDEX" val="20231084"/>
  <p:tag name="KSO_WM_UNIT_LAYERLEVEL" val="1_1_1_1"/>
  <p:tag name="KSO_WM_TAG_VERSION" val="3.0"/>
  <p:tag name="KSO_WM_BEAUTIFY_FLAG" val="#wm#"/>
  <p:tag name="KSO_WM_DIAGRAM_GROUP_CODE" val="n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03.6000061035156,&quot;left&quot;:-22.527822438638033,&quot;top&quot;:247.0971623025729,&quot;width&quot;:763.349975585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项标题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3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1_1"/>
  <p:tag name="KSO_WM_UNIT_ID" val="diagram20231084_1*n_h_h_f*1_2_1_1"/>
  <p:tag name="KSO_WM_TEMPLATE_CATEGORY" val="diagram"/>
  <p:tag name="KSO_WM_TEMPLATE_INDEX" val="20231084"/>
  <p:tag name="KSO_WM_UNIT_LAYERLEVEL" val="1_1_1_1"/>
  <p:tag name="KSO_WM_TAG_VERSION" val="3.0"/>
  <p:tag name="KSO_WM_BEAUTIFY_FLAG" val="#wm#"/>
  <p:tag name="KSO_WM_DIAGRAM_GROUP_CODE" val="n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03.6000061035156,&quot;left&quot;:-22.527822438638033,&quot;top&quot;:247.0971623025729,&quot;width&quot;:763.349975585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输入你的智能图形项正文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5,6,5,6,5,6]}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ISLIDE.VECTOR" val="#849254;#836768;#849260;#849262;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EB7515"/>
      </a:accent1>
      <a:accent2>
        <a:srgbClr val="F49217"/>
      </a:accent2>
      <a:accent3>
        <a:srgbClr val="F6A61B"/>
      </a:accent3>
      <a:accent4>
        <a:srgbClr val="EEC71A"/>
      </a:accent4>
      <a:accent5>
        <a:srgbClr val="ECDD0E"/>
      </a:accent5>
      <a:accent6>
        <a:srgbClr val="D9D9D9"/>
      </a:accent6>
      <a:hlink>
        <a:srgbClr val="F84D4D"/>
      </a:hlink>
      <a:folHlink>
        <a:srgbClr val="BFBFBF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778495"/>
    </a:dk2>
    <a:lt2>
      <a:srgbClr val="F0F0F0"/>
    </a:lt2>
    <a:accent1>
      <a:srgbClr val="EB7515"/>
    </a:accent1>
    <a:accent2>
      <a:srgbClr val="F49217"/>
    </a:accent2>
    <a:accent3>
      <a:srgbClr val="F6A61B"/>
    </a:accent3>
    <a:accent4>
      <a:srgbClr val="EEC71A"/>
    </a:accent4>
    <a:accent5>
      <a:srgbClr val="ECDD0E"/>
    </a:accent5>
    <a:accent6>
      <a:srgbClr val="D9D9D9"/>
    </a:accent6>
    <a:hlink>
      <a:srgbClr val="F84D4D"/>
    </a:hlink>
    <a:folHlink>
      <a:srgbClr val="BFBFBF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778495"/>
    </a:dk2>
    <a:lt2>
      <a:srgbClr val="F0F0F0"/>
    </a:lt2>
    <a:accent1>
      <a:srgbClr val="EB7515"/>
    </a:accent1>
    <a:accent2>
      <a:srgbClr val="F49217"/>
    </a:accent2>
    <a:accent3>
      <a:srgbClr val="F6A61B"/>
    </a:accent3>
    <a:accent4>
      <a:srgbClr val="EEC71A"/>
    </a:accent4>
    <a:accent5>
      <a:srgbClr val="ECDD0E"/>
    </a:accent5>
    <a:accent6>
      <a:srgbClr val="D9D9D9"/>
    </a:accent6>
    <a:hlink>
      <a:srgbClr val="F84D4D"/>
    </a:hlink>
    <a:folHlink>
      <a:srgbClr val="BFBFBF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778495"/>
    </a:dk2>
    <a:lt2>
      <a:srgbClr val="F0F0F0"/>
    </a:lt2>
    <a:accent1>
      <a:srgbClr val="F8AD68"/>
    </a:accent1>
    <a:accent2>
      <a:srgbClr val="FAC56E"/>
    </a:accent2>
    <a:accent3>
      <a:srgbClr val="FCE28E"/>
    </a:accent3>
    <a:accent4>
      <a:srgbClr val="9CBAF8"/>
    </a:accent4>
    <a:accent5>
      <a:srgbClr val="BCBCBC"/>
    </a:accent5>
    <a:accent6>
      <a:srgbClr val="D9D9D9"/>
    </a:accent6>
    <a:hlink>
      <a:srgbClr val="F84D4D"/>
    </a:hlink>
    <a:folHlink>
      <a:srgbClr val="BFBFB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4941</Words>
  <Application>WPS 表格</Application>
  <PresentationFormat>宽屏</PresentationFormat>
  <Paragraphs>450</Paragraphs>
  <Slides>24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27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52" baseType="lpstr">
      <vt:lpstr>Arial</vt:lpstr>
      <vt:lpstr>宋体</vt:lpstr>
      <vt:lpstr>Wingdings</vt:lpstr>
      <vt:lpstr>Times New Roman</vt:lpstr>
      <vt:lpstr>等线</vt:lpstr>
      <vt:lpstr>汉仪中等线KW</vt:lpstr>
      <vt:lpstr>Times New Roman Bold</vt:lpstr>
      <vt:lpstr>Calibri</vt:lpstr>
      <vt:lpstr>Helvetica Neue</vt:lpstr>
      <vt:lpstr>Cambria Bold</vt:lpstr>
      <vt:lpstr>思源黑体 Bold</vt:lpstr>
      <vt:lpstr>Berlin Sans FB Demi</vt:lpstr>
      <vt:lpstr>CAT Neuzeit</vt:lpstr>
      <vt:lpstr>字由点字典黑</vt:lpstr>
      <vt:lpstr>汉仪中黑KW</vt:lpstr>
      <vt:lpstr>Impact</vt:lpstr>
      <vt:lpstr>微软雅黑</vt:lpstr>
      <vt:lpstr>汉仪旗黑</vt:lpstr>
      <vt:lpstr>宋体</vt:lpstr>
      <vt:lpstr>Arial Unicode MS</vt:lpstr>
      <vt:lpstr>等线 Light</vt:lpstr>
      <vt:lpstr>思源黑体</vt:lpstr>
      <vt:lpstr>Times New Roman Regular</vt:lpstr>
      <vt:lpstr>汉仪书宋二KW</vt:lpstr>
      <vt:lpstr>苹方-简</vt:lpstr>
      <vt:lpstr>等线</vt:lpstr>
      <vt:lpstr>Thonburi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易杭 徐</dc:creator>
  <cp:lastModifiedBy>ernestlin</cp:lastModifiedBy>
  <cp:revision>57</cp:revision>
  <dcterms:created xsi:type="dcterms:W3CDTF">2024-11-11T14:01:02Z</dcterms:created>
  <dcterms:modified xsi:type="dcterms:W3CDTF">2024-11-11T14:01:02Z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086095408544E9B05502326711910BD1_43</vt:lpwstr>
  </property>
  <property fmtid="{D5CDD505-2E9C-101B-9397-08002B2CF9AE}" pid="3" name="KSOProductBuildVer">
    <vt:lpwstr>2052-6.11.0.8885</vt:lpwstr>
  </property>
</Properties>
</file>