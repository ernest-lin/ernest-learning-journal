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7" r:id="rId24"/>
  </p:sldIdLst>
  <p:sldSz cx="12192000" cy="6858000"/>
  <p:notesSz cx="6858000" cy="12192000"/>
  <p:embeddedFontLst>
    <p:embeddedFont>
      <p:font typeface="Sorts Mill Goudy" panose="02000503000000000000" pitchFamily="34" charset="0"/>
      <p:regular r:id="rId28"/>
    </p:embeddedFont>
    <p:embeddedFont>
      <p:font typeface="Sorts Mill Goudy" panose="02000503000000000000" pitchFamily="34" charset="-122"/>
      <p:regular r:id="rId29"/>
    </p:embeddedFont>
    <p:embeddedFont>
      <p:font typeface="Sorts Mill Goudy" panose="02000503000000000000" pitchFamily="34" charset="-120"/>
      <p:regular r:id="rId30"/>
    </p:embeddedFont>
    <p:embeddedFont>
      <p:font typeface="MiSans" pitchFamily="34" charset="-122"/>
      <p:regular r:id="rId31"/>
    </p:embeddedFont>
    <p:embeddedFont>
      <p:font typeface="MiSans" pitchFamily="34" charset="-120"/>
      <p:regular r:id="rId3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2" Type="http://schemas.openxmlformats.org/officeDocument/2006/relationships/font" Target="fonts/font5.fntdata"/><Relationship Id="rId31" Type="http://schemas.openxmlformats.org/officeDocument/2006/relationships/font" Target="fonts/font4.fntdata"/><Relationship Id="rId30" Type="http://schemas.openxmlformats.org/officeDocument/2006/relationships/font" Target="fonts/font3.fntdata"/><Relationship Id="rId3" Type="http://schemas.openxmlformats.org/officeDocument/2006/relationships/slide" Target="slides/slide1.xml"/><Relationship Id="rId29" Type="http://schemas.openxmlformats.org/officeDocument/2006/relationships/font" Target="fonts/font2.fntdata"/><Relationship Id="rId28" Type="http://schemas.openxmlformats.org/officeDocument/2006/relationships/font" Target="fonts/font1.fntdata"/><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0" descr="https://kimi-web-img.moonshot.cn/img/img.freepik.com/3f72739424cc6b0e92a8db2764ea77c7b1c26e98.jpg"/>
          <p:cNvPicPr>
            <a:picLocks noChangeAspect="1"/>
          </p:cNvPicPr>
          <p:nvPr/>
        </p:nvPicPr>
        <p:blipFill>
          <a:blip r:embed="rId1">
            <a:alphaModFix amt="15000"/>
          </a:blip>
          <a:srcRect l="160" r="160"/>
          <a:stretch>
            <a:fillRect/>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flip="none" rotWithShape="1">
            <a:gsLst>
              <a:gs pos="0">
                <a:srgbClr val="FFFFFF">
                  <a:alpha val="95000"/>
                </a:srgbClr>
              </a:gs>
              <a:gs pos="50000">
                <a:srgbClr val="FFFFFF">
                  <a:alpha val="90000"/>
                </a:srgbClr>
              </a:gs>
              <a:gs pos="100000">
                <a:srgbClr val="FFFFFF">
                  <a:alpha val="85000"/>
                </a:srgbClr>
              </a:gs>
            </a:gsLst>
            <a:lin ang="2700000" scaled="1"/>
          </a:gradFill>
        </p:spPr>
      </p:sp>
      <p:sp>
        <p:nvSpPr>
          <p:cNvPr id="4" name="Shape 1"/>
          <p:cNvSpPr/>
          <p:nvPr/>
        </p:nvSpPr>
        <p:spPr>
          <a:xfrm>
            <a:off x="400050" y="1390650"/>
            <a:ext cx="4248150" cy="381000"/>
          </a:xfrm>
          <a:custGeom>
            <a:avLst/>
            <a:gdLst/>
            <a:ahLst/>
            <a:cxnLst/>
            <a:rect l="l" t="t" r="r" b="b"/>
            <a:pathLst>
              <a:path w="4248150" h="381000">
                <a:moveTo>
                  <a:pt x="0" y="0"/>
                </a:moveTo>
                <a:lnTo>
                  <a:pt x="4248150" y="0"/>
                </a:lnTo>
                <a:lnTo>
                  <a:pt x="4248150" y="381000"/>
                </a:lnTo>
                <a:lnTo>
                  <a:pt x="0" y="381000"/>
                </a:lnTo>
                <a:lnTo>
                  <a:pt x="0" y="0"/>
                </a:lnTo>
                <a:close/>
              </a:path>
            </a:pathLst>
          </a:custGeom>
          <a:solidFill>
            <a:srgbClr val="8B0000">
              <a:alpha val="10196"/>
            </a:srgbClr>
          </a:solidFill>
        </p:spPr>
      </p:sp>
      <p:sp>
        <p:nvSpPr>
          <p:cNvPr id="5" name="Shape 2"/>
          <p:cNvSpPr/>
          <p:nvPr/>
        </p:nvSpPr>
        <p:spPr>
          <a:xfrm>
            <a:off x="400050" y="1390650"/>
            <a:ext cx="38100" cy="381000"/>
          </a:xfrm>
          <a:custGeom>
            <a:avLst/>
            <a:gdLst/>
            <a:ahLst/>
            <a:cxnLst/>
            <a:rect l="l" t="t" r="r" b="b"/>
            <a:pathLst>
              <a:path w="38100" h="381000">
                <a:moveTo>
                  <a:pt x="0" y="0"/>
                </a:moveTo>
                <a:lnTo>
                  <a:pt x="38100" y="0"/>
                </a:lnTo>
                <a:lnTo>
                  <a:pt x="38100" y="381000"/>
                </a:lnTo>
                <a:lnTo>
                  <a:pt x="0" y="381000"/>
                </a:lnTo>
                <a:lnTo>
                  <a:pt x="0" y="0"/>
                </a:lnTo>
                <a:close/>
              </a:path>
            </a:pathLst>
          </a:custGeom>
          <a:solidFill>
            <a:srgbClr val="8B0000"/>
          </a:solidFill>
        </p:spPr>
      </p:sp>
      <p:sp>
        <p:nvSpPr>
          <p:cNvPr id="6" name="Text 3"/>
          <p:cNvSpPr/>
          <p:nvPr/>
        </p:nvSpPr>
        <p:spPr>
          <a:xfrm>
            <a:off x="571500" y="1466850"/>
            <a:ext cx="40005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BUS303 FINAL YEAR PROJECT PRESENTATION</a:t>
            </a:r>
            <a:endParaRPr lang="en-US" sz="1600" dirty="0"/>
          </a:p>
        </p:txBody>
      </p:sp>
      <p:sp>
        <p:nvSpPr>
          <p:cNvPr id="7" name="Text 4"/>
          <p:cNvSpPr/>
          <p:nvPr/>
        </p:nvSpPr>
        <p:spPr>
          <a:xfrm>
            <a:off x="381000" y="2000250"/>
            <a:ext cx="11658600" cy="1143000"/>
          </a:xfrm>
          <a:prstGeom prst="rect">
            <a:avLst/>
          </a:prstGeom>
          <a:noFill/>
        </p:spPr>
        <p:txBody>
          <a:bodyPr wrap="square" lIns="0" tIns="0" rIns="0" bIns="0" rtlCol="0" anchor="ctr"/>
          <a:lstStyle/>
          <a:p>
            <a:pPr>
              <a:lnSpc>
                <a:spcPct val="100000"/>
              </a:lnSpc>
            </a:pPr>
            <a:r>
              <a:rPr lang="en-US" sz="36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AI Exposure and Capital Flows:</a:t>
            </a:r>
            <a:endParaRPr lang="en-US" sz="1600" dirty="0"/>
          </a:p>
          <a:p>
            <a:pPr>
              <a:lnSpc>
                <a:spcPct val="10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Role of Investor Attention after the ChatGPT Shock</a:t>
            </a:r>
            <a:endParaRPr lang="en-US" sz="1600" dirty="0"/>
          </a:p>
        </p:txBody>
      </p:sp>
      <p:sp>
        <p:nvSpPr>
          <p:cNvPr id="8" name="Shape 5"/>
          <p:cNvSpPr/>
          <p:nvPr/>
        </p:nvSpPr>
        <p:spPr>
          <a:xfrm>
            <a:off x="381000" y="3371850"/>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solidFill>
            <a:srgbClr val="8B0000"/>
          </a:solidFill>
        </p:spPr>
      </p:sp>
      <p:sp>
        <p:nvSpPr>
          <p:cNvPr id="9" name="Text 6"/>
          <p:cNvSpPr/>
          <p:nvPr/>
        </p:nvSpPr>
        <p:spPr>
          <a:xfrm>
            <a:off x="381000" y="40195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Presenter</a:t>
            </a:r>
            <a:endParaRPr lang="en-US" sz="1600" dirty="0"/>
          </a:p>
        </p:txBody>
      </p:sp>
      <p:sp>
        <p:nvSpPr>
          <p:cNvPr id="10" name="Text 7"/>
          <p:cNvSpPr/>
          <p:nvPr/>
        </p:nvSpPr>
        <p:spPr>
          <a:xfrm>
            <a:off x="381000" y="42862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Nan Lin</a:t>
            </a:r>
            <a:endParaRPr lang="en-US" sz="1600" dirty="0"/>
          </a:p>
        </p:txBody>
      </p:sp>
      <p:sp>
        <p:nvSpPr>
          <p:cNvPr id="11" name="Text 8"/>
          <p:cNvSpPr/>
          <p:nvPr/>
        </p:nvSpPr>
        <p:spPr>
          <a:xfrm>
            <a:off x="6400800" y="40195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Student ID</a:t>
            </a:r>
            <a:endParaRPr lang="en-US" sz="1600" dirty="0"/>
          </a:p>
        </p:txBody>
      </p:sp>
      <p:sp>
        <p:nvSpPr>
          <p:cNvPr id="12" name="Text 9"/>
          <p:cNvSpPr/>
          <p:nvPr/>
        </p:nvSpPr>
        <p:spPr>
          <a:xfrm>
            <a:off x="6400800" y="42862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2252173</a:t>
            </a:r>
            <a:endParaRPr lang="en-US" sz="1600" dirty="0"/>
          </a:p>
        </p:txBody>
      </p:sp>
      <p:sp>
        <p:nvSpPr>
          <p:cNvPr id="13" name="Text 10"/>
          <p:cNvSpPr/>
          <p:nvPr/>
        </p:nvSpPr>
        <p:spPr>
          <a:xfrm>
            <a:off x="381000" y="47053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Programme</a:t>
            </a:r>
            <a:endParaRPr lang="en-US" sz="1600" dirty="0"/>
          </a:p>
        </p:txBody>
      </p:sp>
      <p:sp>
        <p:nvSpPr>
          <p:cNvPr id="14" name="Text 11"/>
          <p:cNvSpPr/>
          <p:nvPr/>
        </p:nvSpPr>
        <p:spPr>
          <a:xfrm>
            <a:off x="381000" y="49720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BSc Information Management and Information Systems</a:t>
            </a:r>
            <a:endParaRPr lang="en-US" sz="1600" dirty="0"/>
          </a:p>
        </p:txBody>
      </p:sp>
      <p:sp>
        <p:nvSpPr>
          <p:cNvPr id="15" name="Text 12"/>
          <p:cNvSpPr/>
          <p:nvPr/>
        </p:nvSpPr>
        <p:spPr>
          <a:xfrm>
            <a:off x="6400800" y="4705350"/>
            <a:ext cx="5486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Date</a:t>
            </a:r>
            <a:endParaRPr lang="en-US" sz="1600" dirty="0"/>
          </a:p>
        </p:txBody>
      </p:sp>
      <p:sp>
        <p:nvSpPr>
          <p:cNvPr id="16" name="Text 13"/>
          <p:cNvSpPr/>
          <p:nvPr/>
        </p:nvSpPr>
        <p:spPr>
          <a:xfrm>
            <a:off x="6400800" y="4972050"/>
            <a:ext cx="549592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April 2026</a:t>
            </a:r>
            <a:endParaRPr lang="en-US" sz="1600" dirty="0"/>
          </a:p>
        </p:txBody>
      </p:sp>
      <p:sp>
        <p:nvSpPr>
          <p:cNvPr id="17" name="Shape 14"/>
          <p:cNvSpPr/>
          <p:nvPr/>
        </p:nvSpPr>
        <p:spPr>
          <a:xfrm>
            <a:off x="400050" y="6286500"/>
            <a:ext cx="152400" cy="152400"/>
          </a:xfrm>
          <a:custGeom>
            <a:avLst/>
            <a:gdLst/>
            <a:ahLst/>
            <a:cxnLst/>
            <a:rect l="l" t="t" r="r" b="b"/>
            <a:pathLst>
              <a:path w="152400" h="152400">
                <a:moveTo>
                  <a:pt x="80933" y="6013"/>
                </a:moveTo>
                <a:cubicBezTo>
                  <a:pt x="78016" y="4346"/>
                  <a:pt x="74414" y="4346"/>
                  <a:pt x="71467" y="6013"/>
                </a:cubicBezTo>
                <a:lnTo>
                  <a:pt x="4792" y="44113"/>
                </a:lnTo>
                <a:cubicBezTo>
                  <a:pt x="1042" y="46256"/>
                  <a:pt x="-804" y="50661"/>
                  <a:pt x="298" y="54828"/>
                </a:cubicBezTo>
                <a:cubicBezTo>
                  <a:pt x="1399" y="58995"/>
                  <a:pt x="5209" y="61912"/>
                  <a:pt x="9525" y="61912"/>
                </a:cubicBezTo>
                <a:lnTo>
                  <a:pt x="19050" y="61912"/>
                </a:lnTo>
                <a:lnTo>
                  <a:pt x="19050" y="123825"/>
                </a:lnTo>
                <a:lnTo>
                  <a:pt x="19050" y="123825"/>
                </a:lnTo>
                <a:lnTo>
                  <a:pt x="3810" y="135255"/>
                </a:lnTo>
                <a:cubicBezTo>
                  <a:pt x="1399" y="137041"/>
                  <a:pt x="0" y="139869"/>
                  <a:pt x="0" y="142875"/>
                </a:cubicBezTo>
                <a:cubicBezTo>
                  <a:pt x="0" y="148144"/>
                  <a:pt x="4256" y="152400"/>
                  <a:pt x="9525" y="152400"/>
                </a:cubicBezTo>
                <a:lnTo>
                  <a:pt x="142875" y="152400"/>
                </a:lnTo>
                <a:cubicBezTo>
                  <a:pt x="148144" y="152400"/>
                  <a:pt x="152400" y="148144"/>
                  <a:pt x="152400" y="142875"/>
                </a:cubicBezTo>
                <a:cubicBezTo>
                  <a:pt x="152400" y="139869"/>
                  <a:pt x="151001" y="137041"/>
                  <a:pt x="148590" y="135255"/>
                </a:cubicBezTo>
                <a:lnTo>
                  <a:pt x="133350" y="123825"/>
                </a:lnTo>
                <a:lnTo>
                  <a:pt x="133350" y="61912"/>
                </a:lnTo>
                <a:lnTo>
                  <a:pt x="142875" y="61912"/>
                </a:lnTo>
                <a:cubicBezTo>
                  <a:pt x="147191" y="61912"/>
                  <a:pt x="150971" y="58995"/>
                  <a:pt x="152073" y="54828"/>
                </a:cubicBezTo>
                <a:cubicBezTo>
                  <a:pt x="153174" y="50661"/>
                  <a:pt x="151328" y="46256"/>
                  <a:pt x="147578" y="44113"/>
                </a:cubicBezTo>
                <a:lnTo>
                  <a:pt x="80903" y="6013"/>
                </a:lnTo>
                <a:close/>
                <a:moveTo>
                  <a:pt x="119062" y="61912"/>
                </a:moveTo>
                <a:lnTo>
                  <a:pt x="119062" y="123825"/>
                </a:lnTo>
                <a:lnTo>
                  <a:pt x="100013" y="123825"/>
                </a:lnTo>
                <a:lnTo>
                  <a:pt x="100013" y="61912"/>
                </a:lnTo>
                <a:lnTo>
                  <a:pt x="119062" y="61912"/>
                </a:lnTo>
                <a:close/>
                <a:moveTo>
                  <a:pt x="85725" y="61912"/>
                </a:moveTo>
                <a:lnTo>
                  <a:pt x="85725" y="123825"/>
                </a:lnTo>
                <a:lnTo>
                  <a:pt x="66675" y="123825"/>
                </a:lnTo>
                <a:lnTo>
                  <a:pt x="66675" y="61912"/>
                </a:lnTo>
                <a:lnTo>
                  <a:pt x="85725" y="61912"/>
                </a:lnTo>
                <a:close/>
                <a:moveTo>
                  <a:pt x="52388" y="61912"/>
                </a:moveTo>
                <a:lnTo>
                  <a:pt x="52388" y="123825"/>
                </a:lnTo>
                <a:lnTo>
                  <a:pt x="33338" y="123825"/>
                </a:lnTo>
                <a:lnTo>
                  <a:pt x="33338" y="61912"/>
                </a:lnTo>
                <a:lnTo>
                  <a:pt x="52388" y="61912"/>
                </a:lnTo>
                <a:close/>
                <a:moveTo>
                  <a:pt x="76200" y="28575"/>
                </a:moveTo>
                <a:cubicBezTo>
                  <a:pt x="81457" y="28575"/>
                  <a:pt x="85725" y="32843"/>
                  <a:pt x="85725" y="38100"/>
                </a:cubicBezTo>
                <a:cubicBezTo>
                  <a:pt x="85725" y="43357"/>
                  <a:pt x="81457" y="47625"/>
                  <a:pt x="76200" y="47625"/>
                </a:cubicBezTo>
                <a:cubicBezTo>
                  <a:pt x="70943" y="47625"/>
                  <a:pt x="66675" y="43357"/>
                  <a:pt x="66675" y="38100"/>
                </a:cubicBezTo>
                <a:cubicBezTo>
                  <a:pt x="66675" y="32843"/>
                  <a:pt x="70943" y="28575"/>
                  <a:pt x="76200" y="28575"/>
                </a:cubicBezTo>
                <a:close/>
              </a:path>
            </a:pathLst>
          </a:custGeom>
          <a:solidFill>
            <a:srgbClr val="8B0000"/>
          </a:solidFill>
        </p:spPr>
      </p:sp>
      <p:sp>
        <p:nvSpPr>
          <p:cNvPr id="18" name="Text 15"/>
          <p:cNvSpPr/>
          <p:nvPr/>
        </p:nvSpPr>
        <p:spPr>
          <a:xfrm>
            <a:off x="685800" y="6248400"/>
            <a:ext cx="50101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Xi'an Jiaotong-Liverpool University | International Business School Suzhou</a:t>
            </a:r>
            <a:endParaRPr lang="en-US" sz="1600" dirty="0"/>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7302" y="327302"/>
            <a:ext cx="11602856" cy="196381"/>
          </a:xfrm>
          <a:prstGeom prst="rect">
            <a:avLst/>
          </a:prstGeom>
          <a:noFill/>
        </p:spPr>
        <p:txBody>
          <a:bodyPr wrap="square" lIns="0" tIns="0" rIns="0" bIns="0" rtlCol="0" anchor="ctr"/>
          <a:lstStyle/>
          <a:p>
            <a:pPr>
              <a:lnSpc>
                <a:spcPct val="130000"/>
              </a:lnSpc>
            </a:pPr>
            <a:r>
              <a:rPr lang="en-US" sz="1030" b="1" kern="0" spc="52"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PRESENTATION ROADMAP</a:t>
            </a:r>
            <a:endParaRPr lang="en-US" sz="1600" dirty="0"/>
          </a:p>
        </p:txBody>
      </p:sp>
      <p:sp>
        <p:nvSpPr>
          <p:cNvPr id="3" name="Text 1"/>
          <p:cNvSpPr/>
          <p:nvPr/>
        </p:nvSpPr>
        <p:spPr>
          <a:xfrm>
            <a:off x="327302" y="589144"/>
            <a:ext cx="11684682" cy="327302"/>
          </a:xfrm>
          <a:prstGeom prst="rect">
            <a:avLst/>
          </a:prstGeom>
          <a:noFill/>
        </p:spPr>
        <p:txBody>
          <a:bodyPr wrap="square" lIns="0" tIns="0" rIns="0" bIns="0" rtlCol="0" anchor="ctr"/>
          <a:lstStyle/>
          <a:p>
            <a:pPr>
              <a:lnSpc>
                <a:spcPct val="90000"/>
              </a:lnSpc>
            </a:pPr>
            <a:r>
              <a:rPr lang="en-US" sz="23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Outline</a:t>
            </a:r>
            <a:endParaRPr lang="en-US" sz="1600" dirty="0"/>
          </a:p>
        </p:txBody>
      </p:sp>
      <p:sp>
        <p:nvSpPr>
          <p:cNvPr id="4" name="Shape 2"/>
          <p:cNvSpPr/>
          <p:nvPr/>
        </p:nvSpPr>
        <p:spPr>
          <a:xfrm>
            <a:off x="327302" y="1014636"/>
            <a:ext cx="785525" cy="32730"/>
          </a:xfrm>
          <a:custGeom>
            <a:avLst/>
            <a:gdLst/>
            <a:ahLst/>
            <a:cxnLst/>
            <a:rect l="l" t="t" r="r" b="b"/>
            <a:pathLst>
              <a:path w="785525" h="32730">
                <a:moveTo>
                  <a:pt x="0" y="0"/>
                </a:moveTo>
                <a:lnTo>
                  <a:pt x="785525" y="0"/>
                </a:lnTo>
                <a:lnTo>
                  <a:pt x="785525" y="32730"/>
                </a:lnTo>
                <a:lnTo>
                  <a:pt x="0" y="32730"/>
                </a:lnTo>
                <a:lnTo>
                  <a:pt x="0" y="0"/>
                </a:lnTo>
                <a:close/>
              </a:path>
            </a:pathLst>
          </a:custGeom>
          <a:solidFill>
            <a:srgbClr val="8B0000"/>
          </a:solidFill>
        </p:spPr>
      </p:sp>
      <p:sp>
        <p:nvSpPr>
          <p:cNvPr id="5" name="Shape 3"/>
          <p:cNvSpPr/>
          <p:nvPr/>
        </p:nvSpPr>
        <p:spPr>
          <a:xfrm>
            <a:off x="343667" y="1243748"/>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6" name="Shape 4"/>
          <p:cNvSpPr/>
          <p:nvPr/>
        </p:nvSpPr>
        <p:spPr>
          <a:xfrm>
            <a:off x="343667" y="1243748"/>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7" name="Shape 5"/>
          <p:cNvSpPr/>
          <p:nvPr/>
        </p:nvSpPr>
        <p:spPr>
          <a:xfrm>
            <a:off x="523683" y="1407399"/>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8" name="Text 6"/>
          <p:cNvSpPr/>
          <p:nvPr/>
        </p:nvSpPr>
        <p:spPr>
          <a:xfrm>
            <a:off x="482770" y="1407399"/>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1</a:t>
            </a:r>
            <a:endParaRPr lang="en-US" sz="1600" dirty="0"/>
          </a:p>
        </p:txBody>
      </p:sp>
      <p:sp>
        <p:nvSpPr>
          <p:cNvPr id="9" name="Text 7"/>
          <p:cNvSpPr/>
          <p:nvPr/>
        </p:nvSpPr>
        <p:spPr>
          <a:xfrm>
            <a:off x="1047366" y="1407399"/>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Background &amp; Motivations</a:t>
            </a:r>
            <a:endParaRPr lang="en-US" sz="1600" dirty="0"/>
          </a:p>
        </p:txBody>
      </p:sp>
      <p:sp>
        <p:nvSpPr>
          <p:cNvPr id="10" name="Text 8"/>
          <p:cNvSpPr/>
          <p:nvPr/>
        </p:nvSpPr>
        <p:spPr>
          <a:xfrm>
            <a:off x="1047366" y="1701970"/>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 as a transformative AI shock and the research gap in understanding its impact on mutual fund capital allocation</a:t>
            </a:r>
            <a:endParaRPr lang="en-US" sz="1600" dirty="0"/>
          </a:p>
        </p:txBody>
      </p:sp>
      <p:sp>
        <p:nvSpPr>
          <p:cNvPr id="11" name="Shape 9"/>
          <p:cNvSpPr/>
          <p:nvPr/>
        </p:nvSpPr>
        <p:spPr>
          <a:xfrm>
            <a:off x="1063732" y="2209289"/>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12" name="Text 10"/>
          <p:cNvSpPr/>
          <p:nvPr/>
        </p:nvSpPr>
        <p:spPr>
          <a:xfrm>
            <a:off x="1215740" y="2192923"/>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minutes</a:t>
            </a:r>
            <a:endParaRPr lang="en-US" sz="1600" dirty="0"/>
          </a:p>
        </p:txBody>
      </p:sp>
      <p:sp>
        <p:nvSpPr>
          <p:cNvPr id="13" name="Shape 11"/>
          <p:cNvSpPr/>
          <p:nvPr/>
        </p:nvSpPr>
        <p:spPr>
          <a:xfrm>
            <a:off x="6242263" y="1243748"/>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14" name="Shape 12"/>
          <p:cNvSpPr/>
          <p:nvPr/>
        </p:nvSpPr>
        <p:spPr>
          <a:xfrm>
            <a:off x="6242263" y="1243748"/>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15" name="Shape 13"/>
          <p:cNvSpPr/>
          <p:nvPr/>
        </p:nvSpPr>
        <p:spPr>
          <a:xfrm>
            <a:off x="6422279" y="1407399"/>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16" name="Text 14"/>
          <p:cNvSpPr/>
          <p:nvPr/>
        </p:nvSpPr>
        <p:spPr>
          <a:xfrm>
            <a:off x="6381366" y="1407399"/>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2</a:t>
            </a:r>
            <a:endParaRPr lang="en-US" sz="1600" dirty="0"/>
          </a:p>
        </p:txBody>
      </p:sp>
      <p:sp>
        <p:nvSpPr>
          <p:cNvPr id="17" name="Text 15"/>
          <p:cNvSpPr/>
          <p:nvPr/>
        </p:nvSpPr>
        <p:spPr>
          <a:xfrm>
            <a:off x="6945962" y="1407399"/>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Research Questions</a:t>
            </a:r>
            <a:endParaRPr lang="en-US" sz="1600" dirty="0"/>
          </a:p>
        </p:txBody>
      </p:sp>
      <p:sp>
        <p:nvSpPr>
          <p:cNvPr id="18" name="Text 16"/>
          <p:cNvSpPr/>
          <p:nvPr/>
        </p:nvSpPr>
        <p:spPr>
          <a:xfrm>
            <a:off x="6945962" y="1701970"/>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Three core questions addressing investor behavior, performance contingency, and managerial adaptation</a:t>
            </a:r>
            <a:endParaRPr lang="en-US" sz="1600" dirty="0"/>
          </a:p>
        </p:txBody>
      </p:sp>
      <p:sp>
        <p:nvSpPr>
          <p:cNvPr id="19" name="Shape 17"/>
          <p:cNvSpPr/>
          <p:nvPr/>
        </p:nvSpPr>
        <p:spPr>
          <a:xfrm>
            <a:off x="6962328" y="2209289"/>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20" name="Text 18"/>
          <p:cNvSpPr/>
          <p:nvPr/>
        </p:nvSpPr>
        <p:spPr>
          <a:xfrm>
            <a:off x="7114336" y="2192923"/>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minute</a:t>
            </a:r>
            <a:endParaRPr lang="en-US" sz="1600" dirty="0"/>
          </a:p>
        </p:txBody>
      </p:sp>
      <p:sp>
        <p:nvSpPr>
          <p:cNvPr id="21" name="Shape 19"/>
          <p:cNvSpPr/>
          <p:nvPr/>
        </p:nvSpPr>
        <p:spPr>
          <a:xfrm>
            <a:off x="343667" y="2651146"/>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22" name="Shape 20"/>
          <p:cNvSpPr/>
          <p:nvPr/>
        </p:nvSpPr>
        <p:spPr>
          <a:xfrm>
            <a:off x="343667" y="2651146"/>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23" name="Shape 21"/>
          <p:cNvSpPr/>
          <p:nvPr/>
        </p:nvSpPr>
        <p:spPr>
          <a:xfrm>
            <a:off x="523683" y="2814797"/>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24" name="Text 22"/>
          <p:cNvSpPr/>
          <p:nvPr/>
        </p:nvSpPr>
        <p:spPr>
          <a:xfrm>
            <a:off x="482770" y="2814797"/>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3</a:t>
            </a:r>
            <a:endParaRPr lang="en-US" sz="1600" dirty="0"/>
          </a:p>
        </p:txBody>
      </p:sp>
      <p:sp>
        <p:nvSpPr>
          <p:cNvPr id="25" name="Text 23"/>
          <p:cNvSpPr/>
          <p:nvPr/>
        </p:nvSpPr>
        <p:spPr>
          <a:xfrm>
            <a:off x="1047366" y="2814797"/>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Hypotheses Development</a:t>
            </a:r>
            <a:endParaRPr lang="en-US" sz="1600" dirty="0"/>
          </a:p>
        </p:txBody>
      </p:sp>
      <p:sp>
        <p:nvSpPr>
          <p:cNvPr id="26" name="Text 24"/>
          <p:cNvSpPr/>
          <p:nvPr/>
        </p:nvSpPr>
        <p:spPr>
          <a:xfrm>
            <a:off x="1047366" y="3109369"/>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Theoretical foundations from attention theory, performance-chasing literature, and organizational learning theory</a:t>
            </a:r>
            <a:endParaRPr lang="en-US" sz="1600" dirty="0"/>
          </a:p>
        </p:txBody>
      </p:sp>
      <p:sp>
        <p:nvSpPr>
          <p:cNvPr id="27" name="Shape 25"/>
          <p:cNvSpPr/>
          <p:nvPr/>
        </p:nvSpPr>
        <p:spPr>
          <a:xfrm>
            <a:off x="1063732" y="3616687"/>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28" name="Text 26"/>
          <p:cNvSpPr/>
          <p:nvPr/>
        </p:nvSpPr>
        <p:spPr>
          <a:xfrm>
            <a:off x="1215740" y="3600322"/>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minutes</a:t>
            </a:r>
            <a:endParaRPr lang="en-US" sz="1600" dirty="0"/>
          </a:p>
        </p:txBody>
      </p:sp>
      <p:sp>
        <p:nvSpPr>
          <p:cNvPr id="29" name="Shape 27"/>
          <p:cNvSpPr/>
          <p:nvPr/>
        </p:nvSpPr>
        <p:spPr>
          <a:xfrm>
            <a:off x="6242263" y="2651146"/>
            <a:ext cx="5621412" cy="1276478"/>
          </a:xfrm>
          <a:custGeom>
            <a:avLst/>
            <a:gdLst/>
            <a:ahLst/>
            <a:cxnLst/>
            <a:rect l="l" t="t" r="r" b="b"/>
            <a:pathLst>
              <a:path w="5621412" h="1276478">
                <a:moveTo>
                  <a:pt x="32730" y="0"/>
                </a:moveTo>
                <a:lnTo>
                  <a:pt x="5555954" y="0"/>
                </a:lnTo>
                <a:cubicBezTo>
                  <a:pt x="5592106" y="0"/>
                  <a:pt x="5621412" y="29306"/>
                  <a:pt x="5621412" y="65458"/>
                </a:cubicBezTo>
                <a:lnTo>
                  <a:pt x="5621412" y="1211020"/>
                </a:lnTo>
                <a:cubicBezTo>
                  <a:pt x="5621412" y="1247171"/>
                  <a:pt x="5592106" y="1276478"/>
                  <a:pt x="5555954" y="1276478"/>
                </a:cubicBezTo>
                <a:lnTo>
                  <a:pt x="32730" y="1276478"/>
                </a:lnTo>
                <a:cubicBezTo>
                  <a:pt x="14654" y="1276478"/>
                  <a:pt x="0" y="1261824"/>
                  <a:pt x="0" y="1243748"/>
                </a:cubicBezTo>
                <a:lnTo>
                  <a:pt x="0" y="32730"/>
                </a:lnTo>
                <a:cubicBezTo>
                  <a:pt x="0" y="14666"/>
                  <a:pt x="14666" y="0"/>
                  <a:pt x="32730" y="0"/>
                </a:cubicBezTo>
                <a:close/>
              </a:path>
            </a:pathLst>
          </a:custGeom>
          <a:solidFill>
            <a:srgbClr val="F9FAFB"/>
          </a:solidFill>
        </p:spPr>
      </p:sp>
      <p:sp>
        <p:nvSpPr>
          <p:cNvPr id="30" name="Shape 28"/>
          <p:cNvSpPr/>
          <p:nvPr/>
        </p:nvSpPr>
        <p:spPr>
          <a:xfrm>
            <a:off x="6242263" y="2651146"/>
            <a:ext cx="32730" cy="1276478"/>
          </a:xfrm>
          <a:custGeom>
            <a:avLst/>
            <a:gdLst/>
            <a:ahLst/>
            <a:cxnLst/>
            <a:rect l="l" t="t" r="r" b="b"/>
            <a:pathLst>
              <a:path w="32730" h="1276478">
                <a:moveTo>
                  <a:pt x="32730" y="0"/>
                </a:moveTo>
                <a:lnTo>
                  <a:pt x="32730" y="0"/>
                </a:lnTo>
                <a:lnTo>
                  <a:pt x="32730" y="1276478"/>
                </a:lnTo>
                <a:lnTo>
                  <a:pt x="32730" y="1276478"/>
                </a:lnTo>
                <a:cubicBezTo>
                  <a:pt x="14654" y="1276478"/>
                  <a:pt x="0" y="1261824"/>
                  <a:pt x="0" y="1243748"/>
                </a:cubicBezTo>
                <a:lnTo>
                  <a:pt x="0" y="32730"/>
                </a:lnTo>
                <a:cubicBezTo>
                  <a:pt x="0" y="14666"/>
                  <a:pt x="14666" y="0"/>
                  <a:pt x="32730" y="0"/>
                </a:cubicBezTo>
                <a:close/>
              </a:path>
            </a:pathLst>
          </a:custGeom>
          <a:solidFill>
            <a:srgbClr val="8B0000"/>
          </a:solidFill>
        </p:spPr>
      </p:sp>
      <p:sp>
        <p:nvSpPr>
          <p:cNvPr id="31" name="Shape 29"/>
          <p:cNvSpPr/>
          <p:nvPr/>
        </p:nvSpPr>
        <p:spPr>
          <a:xfrm>
            <a:off x="6422279" y="2814797"/>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32" name="Text 30"/>
          <p:cNvSpPr/>
          <p:nvPr/>
        </p:nvSpPr>
        <p:spPr>
          <a:xfrm>
            <a:off x="6381366" y="2814797"/>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4</a:t>
            </a:r>
            <a:endParaRPr lang="en-US" sz="1600" dirty="0"/>
          </a:p>
        </p:txBody>
      </p:sp>
      <p:sp>
        <p:nvSpPr>
          <p:cNvPr id="33" name="Text 31"/>
          <p:cNvSpPr/>
          <p:nvPr/>
        </p:nvSpPr>
        <p:spPr>
          <a:xfrm>
            <a:off x="6945962" y="2814797"/>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Data &amp; Empirical Model</a:t>
            </a:r>
            <a:endParaRPr lang="en-US" sz="1600" dirty="0"/>
          </a:p>
        </p:txBody>
      </p:sp>
      <p:sp>
        <p:nvSpPr>
          <p:cNvPr id="34" name="Text 32"/>
          <p:cNvSpPr/>
          <p:nvPr/>
        </p:nvSpPr>
        <p:spPr>
          <a:xfrm>
            <a:off x="6945962" y="3109369"/>
            <a:ext cx="4819522" cy="42549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construction, variable definitions, and difference-in-differences framework with fixed effects</a:t>
            </a:r>
            <a:endParaRPr lang="en-US" sz="1600" dirty="0"/>
          </a:p>
        </p:txBody>
      </p:sp>
      <p:sp>
        <p:nvSpPr>
          <p:cNvPr id="35" name="Shape 33"/>
          <p:cNvSpPr/>
          <p:nvPr/>
        </p:nvSpPr>
        <p:spPr>
          <a:xfrm>
            <a:off x="6962328" y="3616687"/>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36" name="Text 34"/>
          <p:cNvSpPr/>
          <p:nvPr/>
        </p:nvSpPr>
        <p:spPr>
          <a:xfrm>
            <a:off x="7114336" y="3600322"/>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minutes</a:t>
            </a:r>
            <a:endParaRPr lang="en-US" sz="1600" dirty="0"/>
          </a:p>
        </p:txBody>
      </p:sp>
      <p:sp>
        <p:nvSpPr>
          <p:cNvPr id="37" name="Shape 35"/>
          <p:cNvSpPr/>
          <p:nvPr/>
        </p:nvSpPr>
        <p:spPr>
          <a:xfrm>
            <a:off x="327302" y="4058545"/>
            <a:ext cx="11537396" cy="1063732"/>
          </a:xfrm>
          <a:custGeom>
            <a:avLst/>
            <a:gdLst/>
            <a:ahLst/>
            <a:cxnLst/>
            <a:rect l="l" t="t" r="r" b="b"/>
            <a:pathLst>
              <a:path w="11537396" h="1063732">
                <a:moveTo>
                  <a:pt x="65462" y="0"/>
                </a:moveTo>
                <a:lnTo>
                  <a:pt x="11471934" y="0"/>
                </a:lnTo>
                <a:cubicBezTo>
                  <a:pt x="11508088" y="0"/>
                  <a:pt x="11537396" y="29308"/>
                  <a:pt x="11537396" y="65462"/>
                </a:cubicBezTo>
                <a:lnTo>
                  <a:pt x="11537396" y="998270"/>
                </a:lnTo>
                <a:cubicBezTo>
                  <a:pt x="11537396" y="1034423"/>
                  <a:pt x="11508088" y="1063732"/>
                  <a:pt x="11471934" y="1063732"/>
                </a:cubicBezTo>
                <a:lnTo>
                  <a:pt x="65462" y="1063732"/>
                </a:lnTo>
                <a:cubicBezTo>
                  <a:pt x="29333" y="1063732"/>
                  <a:pt x="0" y="1034399"/>
                  <a:pt x="0" y="998270"/>
                </a:cubicBezTo>
                <a:lnTo>
                  <a:pt x="0" y="65462"/>
                </a:lnTo>
                <a:cubicBezTo>
                  <a:pt x="0" y="29333"/>
                  <a:pt x="29333" y="0"/>
                  <a:pt x="65462" y="0"/>
                </a:cubicBezTo>
                <a:close/>
              </a:path>
            </a:pathLst>
          </a:custGeom>
          <a:solidFill>
            <a:srgbClr val="8B0000"/>
          </a:solidFill>
        </p:spPr>
      </p:sp>
      <p:sp>
        <p:nvSpPr>
          <p:cNvPr id="38" name="Shape 36"/>
          <p:cNvSpPr/>
          <p:nvPr/>
        </p:nvSpPr>
        <p:spPr>
          <a:xfrm>
            <a:off x="490953" y="4222196"/>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FFFFFF">
              <a:alpha val="20000"/>
            </a:srgbClr>
          </a:solidFill>
        </p:spPr>
      </p:sp>
      <p:sp>
        <p:nvSpPr>
          <p:cNvPr id="39" name="Text 37"/>
          <p:cNvSpPr/>
          <p:nvPr/>
        </p:nvSpPr>
        <p:spPr>
          <a:xfrm>
            <a:off x="450040" y="4222196"/>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5</a:t>
            </a:r>
            <a:endParaRPr lang="en-US" sz="1600" dirty="0"/>
          </a:p>
        </p:txBody>
      </p:sp>
      <p:sp>
        <p:nvSpPr>
          <p:cNvPr id="40" name="Text 38"/>
          <p:cNvSpPr/>
          <p:nvPr/>
        </p:nvSpPr>
        <p:spPr>
          <a:xfrm>
            <a:off x="1014636" y="4222196"/>
            <a:ext cx="10768236" cy="229111"/>
          </a:xfrm>
          <a:prstGeom prst="rect">
            <a:avLst/>
          </a:prstGeom>
          <a:noFill/>
        </p:spPr>
        <p:txBody>
          <a:bodyPr wrap="square" lIns="0" tIns="0" rIns="0" bIns="0" rtlCol="0" anchor="ctr"/>
          <a:lstStyle/>
          <a:p>
            <a:pP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Empirical Results &amp; Discussion</a:t>
            </a:r>
            <a:endParaRPr lang="en-US" sz="1600" dirty="0"/>
          </a:p>
        </p:txBody>
      </p:sp>
      <p:sp>
        <p:nvSpPr>
          <p:cNvPr id="41" name="Text 39"/>
          <p:cNvSpPr/>
          <p:nvPr/>
        </p:nvSpPr>
        <p:spPr>
          <a:xfrm>
            <a:off x="1014636" y="4516768"/>
            <a:ext cx="10751871" cy="212746"/>
          </a:xfrm>
          <a:prstGeom prst="rect">
            <a:avLst/>
          </a:prstGeom>
          <a:noFill/>
        </p:spPr>
        <p:txBody>
          <a:bodyPr wrap="square" lIns="0" tIns="0" rIns="0" bIns="0" rtlCol="0" anchor="ctr"/>
          <a:lstStyle/>
          <a:p>
            <a:pPr>
              <a:lnSpc>
                <a:spcPct val="140000"/>
              </a:lnSpc>
            </a:pPr>
            <a:r>
              <a:rPr lang="en-US" sz="103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Summary statistics, correlation analysis, main regression results (H1), cross-section analysis (H2 &amp; H3), robustness checks, and parallel trends validation</a:t>
            </a:r>
            <a:endParaRPr lang="en-US" sz="1600" dirty="0"/>
          </a:p>
        </p:txBody>
      </p:sp>
      <p:sp>
        <p:nvSpPr>
          <p:cNvPr id="42" name="Shape 40"/>
          <p:cNvSpPr/>
          <p:nvPr/>
        </p:nvSpPr>
        <p:spPr>
          <a:xfrm>
            <a:off x="1031001" y="4811340"/>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FFFFFF"/>
          </a:solidFill>
        </p:spPr>
      </p:sp>
      <p:sp>
        <p:nvSpPr>
          <p:cNvPr id="43" name="Text 41"/>
          <p:cNvSpPr/>
          <p:nvPr/>
        </p:nvSpPr>
        <p:spPr>
          <a:xfrm>
            <a:off x="1183010" y="4794974"/>
            <a:ext cx="10575315" cy="163651"/>
          </a:xfrm>
          <a:prstGeom prst="rect">
            <a:avLst/>
          </a:prstGeom>
          <a:noFill/>
        </p:spPr>
        <p:txBody>
          <a:bodyPr wrap="square" lIns="0" tIns="0" rIns="0" bIns="0" rtlCol="0" anchor="ctr"/>
          <a:lstStyle/>
          <a:p>
            <a:pPr>
              <a:lnSpc>
                <a:spcPct val="120000"/>
              </a:lnSpc>
            </a:pPr>
            <a:r>
              <a:rPr lang="en-US" sz="900" b="1" dirty="0">
                <a:solidFill>
                  <a:srgbClr val="FFFFFF">
                    <a:alpha val="80000"/>
                  </a:srgbClr>
                </a:solidFill>
                <a:latin typeface="Sorts Mill Goudy" panose="02000503000000000000" pitchFamily="34" charset="0"/>
                <a:ea typeface="Sorts Mill Goudy" panose="02000503000000000000" pitchFamily="34" charset="-122"/>
                <a:cs typeface="Sorts Mill Goudy" panose="02000503000000000000" pitchFamily="34" charset="-120"/>
              </a:rPr>
              <a:t>8 minutes</a:t>
            </a:r>
            <a:endParaRPr lang="en-US" sz="1600" dirty="0"/>
          </a:p>
        </p:txBody>
      </p:sp>
      <p:sp>
        <p:nvSpPr>
          <p:cNvPr id="44" name="Shape 42"/>
          <p:cNvSpPr/>
          <p:nvPr/>
        </p:nvSpPr>
        <p:spPr>
          <a:xfrm>
            <a:off x="343667" y="5253197"/>
            <a:ext cx="5621412" cy="1063732"/>
          </a:xfrm>
          <a:custGeom>
            <a:avLst/>
            <a:gdLst/>
            <a:ahLst/>
            <a:cxnLst/>
            <a:rect l="l" t="t" r="r" b="b"/>
            <a:pathLst>
              <a:path w="5621412" h="1063732">
                <a:moveTo>
                  <a:pt x="32730" y="0"/>
                </a:moveTo>
                <a:lnTo>
                  <a:pt x="5555950" y="0"/>
                </a:lnTo>
                <a:cubicBezTo>
                  <a:pt x="5592104" y="0"/>
                  <a:pt x="5621412" y="29308"/>
                  <a:pt x="5621412" y="65462"/>
                </a:cubicBezTo>
                <a:lnTo>
                  <a:pt x="5621412" y="998270"/>
                </a:lnTo>
                <a:cubicBezTo>
                  <a:pt x="5621412" y="1034423"/>
                  <a:pt x="5592104" y="1063732"/>
                  <a:pt x="5555950" y="1063732"/>
                </a:cubicBezTo>
                <a:lnTo>
                  <a:pt x="32730" y="1063732"/>
                </a:lnTo>
                <a:cubicBezTo>
                  <a:pt x="14654" y="1063732"/>
                  <a:pt x="0" y="1049078"/>
                  <a:pt x="0" y="1031001"/>
                </a:cubicBezTo>
                <a:lnTo>
                  <a:pt x="0" y="32730"/>
                </a:lnTo>
                <a:cubicBezTo>
                  <a:pt x="0" y="14666"/>
                  <a:pt x="14666" y="0"/>
                  <a:pt x="32730" y="0"/>
                </a:cubicBezTo>
                <a:close/>
              </a:path>
            </a:pathLst>
          </a:custGeom>
          <a:solidFill>
            <a:srgbClr val="F9FAFB"/>
          </a:solidFill>
        </p:spPr>
      </p:sp>
      <p:sp>
        <p:nvSpPr>
          <p:cNvPr id="45" name="Shape 43"/>
          <p:cNvSpPr/>
          <p:nvPr/>
        </p:nvSpPr>
        <p:spPr>
          <a:xfrm>
            <a:off x="343667" y="5253197"/>
            <a:ext cx="32730" cy="1063732"/>
          </a:xfrm>
          <a:custGeom>
            <a:avLst/>
            <a:gdLst/>
            <a:ahLst/>
            <a:cxnLst/>
            <a:rect l="l" t="t" r="r" b="b"/>
            <a:pathLst>
              <a:path w="32730" h="1063732">
                <a:moveTo>
                  <a:pt x="32730" y="0"/>
                </a:moveTo>
                <a:lnTo>
                  <a:pt x="32730" y="0"/>
                </a:lnTo>
                <a:lnTo>
                  <a:pt x="32730" y="1063732"/>
                </a:lnTo>
                <a:lnTo>
                  <a:pt x="32730" y="1063732"/>
                </a:lnTo>
                <a:cubicBezTo>
                  <a:pt x="14654" y="1063732"/>
                  <a:pt x="0" y="1049078"/>
                  <a:pt x="0" y="1031001"/>
                </a:cubicBezTo>
                <a:lnTo>
                  <a:pt x="0" y="32730"/>
                </a:lnTo>
                <a:cubicBezTo>
                  <a:pt x="0" y="14666"/>
                  <a:pt x="14666" y="0"/>
                  <a:pt x="32730" y="0"/>
                </a:cubicBezTo>
                <a:close/>
              </a:path>
            </a:pathLst>
          </a:custGeom>
          <a:solidFill>
            <a:srgbClr val="8B0000"/>
          </a:solidFill>
        </p:spPr>
      </p:sp>
      <p:sp>
        <p:nvSpPr>
          <p:cNvPr id="46" name="Shape 44"/>
          <p:cNvSpPr/>
          <p:nvPr/>
        </p:nvSpPr>
        <p:spPr>
          <a:xfrm>
            <a:off x="523683" y="5416848"/>
            <a:ext cx="392762" cy="392762"/>
          </a:xfrm>
          <a:custGeom>
            <a:avLst/>
            <a:gdLst/>
            <a:ahLst/>
            <a:cxnLst/>
            <a:rect l="l" t="t" r="r" b="b"/>
            <a:pathLst>
              <a:path w="392762" h="392762">
                <a:moveTo>
                  <a:pt x="196381" y="0"/>
                </a:moveTo>
                <a:lnTo>
                  <a:pt x="196381" y="0"/>
                </a:lnTo>
                <a:cubicBezTo>
                  <a:pt x="304767" y="0"/>
                  <a:pt x="392762" y="87995"/>
                  <a:pt x="392762" y="196381"/>
                </a:cubicBezTo>
                <a:lnTo>
                  <a:pt x="392762" y="196381"/>
                </a:lnTo>
                <a:cubicBezTo>
                  <a:pt x="392762" y="304767"/>
                  <a:pt x="304767" y="392762"/>
                  <a:pt x="196381" y="392762"/>
                </a:cubicBezTo>
                <a:lnTo>
                  <a:pt x="196381" y="392762"/>
                </a:lnTo>
                <a:cubicBezTo>
                  <a:pt x="87995" y="392762"/>
                  <a:pt x="0" y="304767"/>
                  <a:pt x="0" y="196381"/>
                </a:cubicBezTo>
                <a:lnTo>
                  <a:pt x="0" y="196381"/>
                </a:lnTo>
                <a:cubicBezTo>
                  <a:pt x="0" y="87995"/>
                  <a:pt x="87995" y="0"/>
                  <a:pt x="196381" y="0"/>
                </a:cubicBezTo>
                <a:close/>
              </a:path>
            </a:pathLst>
          </a:custGeom>
          <a:solidFill>
            <a:srgbClr val="8B0000"/>
          </a:solidFill>
        </p:spPr>
      </p:sp>
      <p:sp>
        <p:nvSpPr>
          <p:cNvPr id="47" name="Text 45"/>
          <p:cNvSpPr/>
          <p:nvPr/>
        </p:nvSpPr>
        <p:spPr>
          <a:xfrm>
            <a:off x="482770" y="5416848"/>
            <a:ext cx="474588" cy="392762"/>
          </a:xfrm>
          <a:prstGeom prst="rect">
            <a:avLst/>
          </a:prstGeom>
          <a:noFill/>
        </p:spPr>
        <p:txBody>
          <a:bodyPr wrap="square" lIns="0" tIns="0" rIns="0" bIns="0" rtlCol="0" anchor="ctr"/>
          <a:lstStyle/>
          <a:p>
            <a:pPr algn="ctr">
              <a:lnSpc>
                <a:spcPct val="120000"/>
              </a:lnSpc>
            </a:pPr>
            <a:r>
              <a:rPr lang="en-US" sz="129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6</a:t>
            </a:r>
            <a:endParaRPr lang="en-US" sz="1600" dirty="0"/>
          </a:p>
        </p:txBody>
      </p:sp>
      <p:sp>
        <p:nvSpPr>
          <p:cNvPr id="48" name="Text 46"/>
          <p:cNvSpPr/>
          <p:nvPr/>
        </p:nvSpPr>
        <p:spPr>
          <a:xfrm>
            <a:off x="1047366" y="5416848"/>
            <a:ext cx="4835887" cy="229111"/>
          </a:xfrm>
          <a:prstGeom prst="rect">
            <a:avLst/>
          </a:prstGeom>
          <a:noFill/>
        </p:spPr>
        <p:txBody>
          <a:bodyPr wrap="square" lIns="0" tIns="0" rIns="0" bIns="0" rtlCol="0" anchor="ctr"/>
          <a:lstStyle/>
          <a:p>
            <a:pPr>
              <a:lnSpc>
                <a:spcPct val="120000"/>
              </a:lnSpc>
            </a:pPr>
            <a:r>
              <a:rPr lang="en-US" sz="12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Conclusions</a:t>
            </a:r>
            <a:endParaRPr lang="en-US" sz="1600" dirty="0"/>
          </a:p>
        </p:txBody>
      </p:sp>
      <p:sp>
        <p:nvSpPr>
          <p:cNvPr id="49" name="Text 47"/>
          <p:cNvSpPr/>
          <p:nvPr/>
        </p:nvSpPr>
        <p:spPr>
          <a:xfrm>
            <a:off x="1047366" y="5711420"/>
            <a:ext cx="4819522" cy="212746"/>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Key findings, contributions, limitations, and future research directions</a:t>
            </a:r>
            <a:endParaRPr lang="en-US" sz="1600" dirty="0"/>
          </a:p>
        </p:txBody>
      </p:sp>
      <p:sp>
        <p:nvSpPr>
          <p:cNvPr id="50" name="Shape 48"/>
          <p:cNvSpPr/>
          <p:nvPr/>
        </p:nvSpPr>
        <p:spPr>
          <a:xfrm>
            <a:off x="1063732" y="6005992"/>
            <a:ext cx="114556" cy="114556"/>
          </a:xfrm>
          <a:custGeom>
            <a:avLst/>
            <a:gdLst/>
            <a:ahLst/>
            <a:cxnLst/>
            <a:rect l="l" t="t" r="r" b="b"/>
            <a:pathLst>
              <a:path w="114556" h="114556">
                <a:moveTo>
                  <a:pt x="103816" y="57278"/>
                </a:moveTo>
                <a:cubicBezTo>
                  <a:pt x="103816" y="82963"/>
                  <a:pt x="82963" y="103816"/>
                  <a:pt x="57278" y="103816"/>
                </a:cubicBezTo>
                <a:cubicBezTo>
                  <a:pt x="31593" y="103816"/>
                  <a:pt x="10740" y="82963"/>
                  <a:pt x="10740" y="57278"/>
                </a:cubicBezTo>
                <a:cubicBezTo>
                  <a:pt x="10740" y="31593"/>
                  <a:pt x="31593" y="10740"/>
                  <a:pt x="57278" y="10740"/>
                </a:cubicBezTo>
                <a:cubicBezTo>
                  <a:pt x="82963" y="10740"/>
                  <a:pt x="103816" y="31593"/>
                  <a:pt x="103816" y="57278"/>
                </a:cubicBezTo>
                <a:close/>
                <a:moveTo>
                  <a:pt x="0" y="57278"/>
                </a:moveTo>
                <a:cubicBezTo>
                  <a:pt x="0" y="88890"/>
                  <a:pt x="25665" y="114556"/>
                  <a:pt x="57278" y="114556"/>
                </a:cubicBezTo>
                <a:cubicBezTo>
                  <a:pt x="88890" y="114556"/>
                  <a:pt x="114556" y="88890"/>
                  <a:pt x="114556" y="57278"/>
                </a:cubicBezTo>
                <a:cubicBezTo>
                  <a:pt x="114556" y="25665"/>
                  <a:pt x="88890" y="0"/>
                  <a:pt x="57278" y="0"/>
                </a:cubicBezTo>
                <a:cubicBezTo>
                  <a:pt x="25665" y="0"/>
                  <a:pt x="0" y="25665"/>
                  <a:pt x="0" y="57278"/>
                </a:cubicBezTo>
                <a:close/>
                <a:moveTo>
                  <a:pt x="51908" y="26849"/>
                </a:moveTo>
                <a:lnTo>
                  <a:pt x="51908" y="57278"/>
                </a:lnTo>
                <a:cubicBezTo>
                  <a:pt x="51908" y="59068"/>
                  <a:pt x="52803" y="60746"/>
                  <a:pt x="54302" y="61753"/>
                </a:cubicBezTo>
                <a:lnTo>
                  <a:pt x="75781" y="76072"/>
                </a:lnTo>
                <a:cubicBezTo>
                  <a:pt x="78242" y="77728"/>
                  <a:pt x="81576" y="77057"/>
                  <a:pt x="83232" y="74573"/>
                </a:cubicBezTo>
                <a:cubicBezTo>
                  <a:pt x="84888" y="72090"/>
                  <a:pt x="84216" y="68778"/>
                  <a:pt x="81733" y="67122"/>
                </a:cubicBezTo>
                <a:lnTo>
                  <a:pt x="62648" y="54414"/>
                </a:lnTo>
                <a:lnTo>
                  <a:pt x="62648" y="26849"/>
                </a:lnTo>
                <a:cubicBezTo>
                  <a:pt x="62648" y="23873"/>
                  <a:pt x="60254" y="21479"/>
                  <a:pt x="57278" y="21479"/>
                </a:cubicBezTo>
                <a:cubicBezTo>
                  <a:pt x="54302" y="21479"/>
                  <a:pt x="51908" y="23873"/>
                  <a:pt x="51908" y="26849"/>
                </a:cubicBezTo>
                <a:close/>
              </a:path>
            </a:pathLst>
          </a:custGeom>
          <a:solidFill>
            <a:srgbClr val="8B0000"/>
          </a:solidFill>
        </p:spPr>
      </p:sp>
      <p:sp>
        <p:nvSpPr>
          <p:cNvPr id="51" name="Text 49"/>
          <p:cNvSpPr/>
          <p:nvPr/>
        </p:nvSpPr>
        <p:spPr>
          <a:xfrm>
            <a:off x="1215740" y="5989627"/>
            <a:ext cx="4642966" cy="163651"/>
          </a:xfrm>
          <a:prstGeom prst="rect">
            <a:avLst/>
          </a:prstGeom>
          <a:noFill/>
        </p:spPr>
        <p:txBody>
          <a:bodyPr wrap="square" lIns="0" tIns="0" rIns="0" bIns="0" rtlCol="0" anchor="ctr"/>
          <a:lstStyle/>
          <a:p>
            <a:pPr>
              <a:lnSpc>
                <a:spcPct val="120000"/>
              </a:lnSpc>
            </a:pPr>
            <a:r>
              <a:rPr lang="en-US" sz="9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minute</a:t>
            </a:r>
            <a:endParaRPr lang="en-US" sz="1600" dirty="0"/>
          </a:p>
        </p:txBody>
      </p:sp>
      <p:sp>
        <p:nvSpPr>
          <p:cNvPr id="52" name="Shape 50"/>
          <p:cNvSpPr/>
          <p:nvPr/>
        </p:nvSpPr>
        <p:spPr>
          <a:xfrm>
            <a:off x="4192151" y="6464215"/>
            <a:ext cx="130921" cy="130921"/>
          </a:xfrm>
          <a:custGeom>
            <a:avLst/>
            <a:gdLst/>
            <a:ahLst/>
            <a:cxnLst/>
            <a:rect l="l" t="t" r="r" b="b"/>
            <a:pathLst>
              <a:path w="130921" h="130921">
                <a:moveTo>
                  <a:pt x="65460" y="130921"/>
                </a:moveTo>
                <a:cubicBezTo>
                  <a:pt x="101589" y="130921"/>
                  <a:pt x="130921" y="101589"/>
                  <a:pt x="130921" y="65460"/>
                </a:cubicBezTo>
                <a:cubicBezTo>
                  <a:pt x="130921" y="29332"/>
                  <a:pt x="101589" y="0"/>
                  <a:pt x="65460" y="0"/>
                </a:cubicBezTo>
                <a:cubicBezTo>
                  <a:pt x="29332" y="0"/>
                  <a:pt x="0" y="29332"/>
                  <a:pt x="0" y="65460"/>
                </a:cubicBezTo>
                <a:cubicBezTo>
                  <a:pt x="0" y="101589"/>
                  <a:pt x="29332" y="130921"/>
                  <a:pt x="65460" y="130921"/>
                </a:cubicBezTo>
                <a:close/>
                <a:moveTo>
                  <a:pt x="57278" y="40913"/>
                </a:moveTo>
                <a:cubicBezTo>
                  <a:pt x="57278" y="36397"/>
                  <a:pt x="60944" y="32730"/>
                  <a:pt x="65460" y="32730"/>
                </a:cubicBezTo>
                <a:cubicBezTo>
                  <a:pt x="69976" y="32730"/>
                  <a:pt x="73643" y="36397"/>
                  <a:pt x="73643" y="40913"/>
                </a:cubicBezTo>
                <a:cubicBezTo>
                  <a:pt x="73643" y="45429"/>
                  <a:pt x="69976" y="49095"/>
                  <a:pt x="65460" y="49095"/>
                </a:cubicBezTo>
                <a:cubicBezTo>
                  <a:pt x="60944" y="49095"/>
                  <a:pt x="57278" y="45429"/>
                  <a:pt x="57278" y="40913"/>
                </a:cubicBezTo>
                <a:close/>
                <a:moveTo>
                  <a:pt x="55232" y="57278"/>
                </a:moveTo>
                <a:lnTo>
                  <a:pt x="67506" y="57278"/>
                </a:lnTo>
                <a:cubicBezTo>
                  <a:pt x="70907" y="57278"/>
                  <a:pt x="73643" y="60014"/>
                  <a:pt x="73643" y="63415"/>
                </a:cubicBezTo>
                <a:lnTo>
                  <a:pt x="73643" y="85917"/>
                </a:lnTo>
                <a:lnTo>
                  <a:pt x="75689" y="85917"/>
                </a:lnTo>
                <a:cubicBezTo>
                  <a:pt x="79089" y="85917"/>
                  <a:pt x="81826" y="88653"/>
                  <a:pt x="81826" y="92054"/>
                </a:cubicBezTo>
                <a:cubicBezTo>
                  <a:pt x="81826" y="95455"/>
                  <a:pt x="79089" y="98191"/>
                  <a:pt x="75689" y="98191"/>
                </a:cubicBezTo>
                <a:lnTo>
                  <a:pt x="55232" y="98191"/>
                </a:lnTo>
                <a:cubicBezTo>
                  <a:pt x="51831" y="98191"/>
                  <a:pt x="49095" y="95455"/>
                  <a:pt x="49095" y="92054"/>
                </a:cubicBezTo>
                <a:cubicBezTo>
                  <a:pt x="49095" y="88653"/>
                  <a:pt x="51831" y="85917"/>
                  <a:pt x="55232" y="85917"/>
                </a:cubicBezTo>
                <a:lnTo>
                  <a:pt x="61369" y="85917"/>
                </a:lnTo>
                <a:lnTo>
                  <a:pt x="61369" y="69552"/>
                </a:lnTo>
                <a:lnTo>
                  <a:pt x="55232" y="69552"/>
                </a:lnTo>
                <a:cubicBezTo>
                  <a:pt x="51831" y="69552"/>
                  <a:pt x="49095" y="66816"/>
                  <a:pt x="49095" y="63415"/>
                </a:cubicBezTo>
                <a:cubicBezTo>
                  <a:pt x="49095" y="60014"/>
                  <a:pt x="51831" y="57278"/>
                  <a:pt x="55232" y="57278"/>
                </a:cubicBezTo>
                <a:close/>
              </a:path>
            </a:pathLst>
          </a:custGeom>
          <a:solidFill>
            <a:srgbClr val="8B0000"/>
          </a:solidFill>
        </p:spPr>
      </p:sp>
      <p:sp>
        <p:nvSpPr>
          <p:cNvPr id="53" name="Text 51"/>
          <p:cNvSpPr/>
          <p:nvPr/>
        </p:nvSpPr>
        <p:spPr>
          <a:xfrm>
            <a:off x="500399" y="6447850"/>
            <a:ext cx="11397030" cy="196381"/>
          </a:xfrm>
          <a:prstGeom prst="rect">
            <a:avLst/>
          </a:prstGeom>
          <a:noFill/>
        </p:spPr>
        <p:txBody>
          <a:bodyPr wrap="square" lIns="0" tIns="0" rIns="0" bIns="0" rtlCol="0" anchor="ctr"/>
          <a:lstStyle/>
          <a:p>
            <a:pPr algn="ctr">
              <a:lnSpc>
                <a:spcPct val="13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Total presentation time: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20 minutes</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Q&amp;A session: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10 minutes</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BACKGROUND &amp; MOTIVATIONS</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ChatGPT Revolution</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400050" y="1409700"/>
            <a:ext cx="6743700" cy="2362200"/>
          </a:xfrm>
          <a:custGeom>
            <a:avLst/>
            <a:gdLst/>
            <a:ahLst/>
            <a:cxnLst/>
            <a:rect l="l" t="t" r="r" b="b"/>
            <a:pathLst>
              <a:path w="6743700" h="2362200">
                <a:moveTo>
                  <a:pt x="38100" y="0"/>
                </a:moveTo>
                <a:lnTo>
                  <a:pt x="6667495" y="0"/>
                </a:lnTo>
                <a:cubicBezTo>
                  <a:pt x="6709554" y="0"/>
                  <a:pt x="6743700" y="34146"/>
                  <a:pt x="6743700" y="76205"/>
                </a:cubicBezTo>
                <a:lnTo>
                  <a:pt x="6743700" y="2285995"/>
                </a:lnTo>
                <a:cubicBezTo>
                  <a:pt x="6743700" y="2328082"/>
                  <a:pt x="6709582" y="2362200"/>
                  <a:pt x="6667495" y="2362200"/>
                </a:cubicBezTo>
                <a:lnTo>
                  <a:pt x="38100" y="2362200"/>
                </a:lnTo>
                <a:cubicBezTo>
                  <a:pt x="17072" y="2362200"/>
                  <a:pt x="0" y="2345128"/>
                  <a:pt x="0" y="2324100"/>
                </a:cubicBezTo>
                <a:lnTo>
                  <a:pt x="0" y="38100"/>
                </a:lnTo>
                <a:cubicBezTo>
                  <a:pt x="0" y="17072"/>
                  <a:pt x="17072" y="0"/>
                  <a:pt x="38100" y="0"/>
                </a:cubicBezTo>
                <a:close/>
              </a:path>
            </a:pathLst>
          </a:custGeom>
          <a:solidFill>
            <a:srgbClr val="F9FAFB"/>
          </a:solidFill>
        </p:spPr>
      </p:sp>
      <p:sp>
        <p:nvSpPr>
          <p:cNvPr id="6" name="Shape 4"/>
          <p:cNvSpPr/>
          <p:nvPr/>
        </p:nvSpPr>
        <p:spPr>
          <a:xfrm>
            <a:off x="400050" y="14097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8B0000"/>
          </a:solidFill>
        </p:spPr>
      </p:sp>
      <p:sp>
        <p:nvSpPr>
          <p:cNvPr id="7" name="Shape 5"/>
          <p:cNvSpPr/>
          <p:nvPr/>
        </p:nvSpPr>
        <p:spPr>
          <a:xfrm>
            <a:off x="633413" y="1638300"/>
            <a:ext cx="190500" cy="190500"/>
          </a:xfrm>
          <a:custGeom>
            <a:avLst/>
            <a:gdLst/>
            <a:ahLst/>
            <a:cxnLst/>
            <a:rect l="l" t="t" r="r" b="b"/>
            <a:pathLst>
              <a:path w="190500" h="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8B0000"/>
          </a:solidFill>
        </p:spPr>
      </p:sp>
      <p:sp>
        <p:nvSpPr>
          <p:cNvPr id="8" name="Text 6"/>
          <p:cNvSpPr/>
          <p:nvPr/>
        </p:nvSpPr>
        <p:spPr>
          <a:xfrm>
            <a:off x="847725" y="1600200"/>
            <a:ext cx="6200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 Transformative AI Shock</a:t>
            </a:r>
            <a:endParaRPr lang="en-US" sz="1600" dirty="0"/>
          </a:p>
        </p:txBody>
      </p:sp>
      <p:sp>
        <p:nvSpPr>
          <p:cNvPr id="9" name="Text 7"/>
          <p:cNvSpPr/>
          <p:nvPr/>
        </p:nvSpPr>
        <p:spPr>
          <a:xfrm>
            <a:off x="609600" y="1981200"/>
            <a:ext cx="6419850" cy="7429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November 30, 2022:</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OpenAI released ChatGPT, marking a pivotal moment in artificial intelligence adoption. Within five days, the platform attracted </a:t>
            </a:r>
            <a:r>
              <a:rPr lang="en-US" sz="12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one million users</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within two months, it reached </a:t>
            </a:r>
            <a:r>
              <a:rPr lang="en-US" sz="12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100 million users</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fastest-growing consumer application in history.</a:t>
            </a:r>
            <a:endParaRPr lang="en-US" sz="1600" dirty="0"/>
          </a:p>
        </p:txBody>
      </p:sp>
      <p:sp>
        <p:nvSpPr>
          <p:cNvPr id="10" name="Text 8"/>
          <p:cNvSpPr/>
          <p:nvPr/>
        </p:nvSpPr>
        <p:spPr>
          <a:xfrm>
            <a:off x="609600" y="2838450"/>
            <a:ext cx="6419850" cy="74295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This unprecedented adoption transformed AI from a niche technology into a mainstream phenomenon, fundamentally altering how investors perceive information processing and future productivity growth (Wahyono et al., 2023; Lopez-Lira &amp; Tang, 2024).</a:t>
            </a:r>
            <a:endParaRPr lang="en-US" sz="1600" dirty="0"/>
          </a:p>
        </p:txBody>
      </p:sp>
      <p:sp>
        <p:nvSpPr>
          <p:cNvPr id="11" name="Shape 9"/>
          <p:cNvSpPr/>
          <p:nvPr/>
        </p:nvSpPr>
        <p:spPr>
          <a:xfrm>
            <a:off x="400050" y="3924300"/>
            <a:ext cx="6743700" cy="2114550"/>
          </a:xfrm>
          <a:custGeom>
            <a:avLst/>
            <a:gdLst/>
            <a:ahLst/>
            <a:cxnLst/>
            <a:rect l="l" t="t" r="r" b="b"/>
            <a:pathLst>
              <a:path w="6743700" h="2114550">
                <a:moveTo>
                  <a:pt x="38100" y="0"/>
                </a:moveTo>
                <a:lnTo>
                  <a:pt x="6667492" y="0"/>
                </a:lnTo>
                <a:cubicBezTo>
                  <a:pt x="6709580" y="0"/>
                  <a:pt x="6743700" y="34120"/>
                  <a:pt x="6743700" y="76208"/>
                </a:cubicBezTo>
                <a:lnTo>
                  <a:pt x="6743700" y="2038342"/>
                </a:lnTo>
                <a:cubicBezTo>
                  <a:pt x="6743700" y="2080430"/>
                  <a:pt x="6709580" y="2114550"/>
                  <a:pt x="6667492" y="2114550"/>
                </a:cubicBezTo>
                <a:lnTo>
                  <a:pt x="38100" y="2114550"/>
                </a:lnTo>
                <a:cubicBezTo>
                  <a:pt x="17072" y="2114550"/>
                  <a:pt x="0" y="2097478"/>
                  <a:pt x="0" y="2076450"/>
                </a:cubicBezTo>
                <a:lnTo>
                  <a:pt x="0" y="38100"/>
                </a:lnTo>
                <a:cubicBezTo>
                  <a:pt x="0" y="17072"/>
                  <a:pt x="17072" y="0"/>
                  <a:pt x="38100" y="0"/>
                </a:cubicBezTo>
                <a:close/>
              </a:path>
            </a:pathLst>
          </a:custGeom>
          <a:solidFill>
            <a:srgbClr val="F9FAFB"/>
          </a:solidFill>
        </p:spPr>
      </p:sp>
      <p:sp>
        <p:nvSpPr>
          <p:cNvPr id="12" name="Shape 10"/>
          <p:cNvSpPr/>
          <p:nvPr/>
        </p:nvSpPr>
        <p:spPr>
          <a:xfrm>
            <a:off x="400050" y="3924300"/>
            <a:ext cx="38100" cy="2114550"/>
          </a:xfrm>
          <a:custGeom>
            <a:avLst/>
            <a:gdLst/>
            <a:ahLst/>
            <a:cxnLst/>
            <a:rect l="l" t="t" r="r" b="b"/>
            <a:pathLst>
              <a:path w="38100" h="2114550">
                <a:moveTo>
                  <a:pt x="38100" y="0"/>
                </a:moveTo>
                <a:lnTo>
                  <a:pt x="38100" y="0"/>
                </a:lnTo>
                <a:lnTo>
                  <a:pt x="38100" y="2114550"/>
                </a:lnTo>
                <a:lnTo>
                  <a:pt x="38100" y="2114550"/>
                </a:lnTo>
                <a:cubicBezTo>
                  <a:pt x="17072" y="2114550"/>
                  <a:pt x="0" y="2097478"/>
                  <a:pt x="0" y="2076450"/>
                </a:cubicBezTo>
                <a:lnTo>
                  <a:pt x="0" y="38100"/>
                </a:lnTo>
                <a:cubicBezTo>
                  <a:pt x="0" y="17072"/>
                  <a:pt x="17072" y="0"/>
                  <a:pt x="38100" y="0"/>
                </a:cubicBezTo>
                <a:close/>
              </a:path>
            </a:pathLst>
          </a:custGeom>
          <a:solidFill>
            <a:srgbClr val="8B0000"/>
          </a:solidFill>
        </p:spPr>
      </p:sp>
      <p:sp>
        <p:nvSpPr>
          <p:cNvPr id="13" name="Shape 11"/>
          <p:cNvSpPr/>
          <p:nvPr/>
        </p:nvSpPr>
        <p:spPr>
          <a:xfrm>
            <a:off x="633413" y="4152900"/>
            <a:ext cx="190500" cy="190500"/>
          </a:xfrm>
          <a:custGeom>
            <a:avLst/>
            <a:gdLst/>
            <a:ahLst/>
            <a:cxnLst/>
            <a:rect l="l" t="t" r="r" b="b"/>
            <a:pathLst>
              <a:path w="190500" h="190500">
                <a:moveTo>
                  <a:pt x="23812" y="23812"/>
                </a:moveTo>
                <a:cubicBezTo>
                  <a:pt x="23812" y="17227"/>
                  <a:pt x="18492" y="11906"/>
                  <a:pt x="11906" y="11906"/>
                </a:cubicBezTo>
                <a:cubicBezTo>
                  <a:pt x="5321" y="11906"/>
                  <a:pt x="0" y="17227"/>
                  <a:pt x="0" y="23812"/>
                </a:cubicBezTo>
                <a:lnTo>
                  <a:pt x="0" y="148828"/>
                </a:lnTo>
                <a:cubicBezTo>
                  <a:pt x="0" y="165274"/>
                  <a:pt x="13320" y="178594"/>
                  <a:pt x="29766" y="178594"/>
                </a:cubicBezTo>
                <a:lnTo>
                  <a:pt x="178594" y="178594"/>
                </a:lnTo>
                <a:cubicBezTo>
                  <a:pt x="185179" y="178594"/>
                  <a:pt x="190500" y="173273"/>
                  <a:pt x="190500" y="166688"/>
                </a:cubicBezTo>
                <a:cubicBezTo>
                  <a:pt x="190500" y="160102"/>
                  <a:pt x="185179" y="154781"/>
                  <a:pt x="178594" y="154781"/>
                </a:cubicBezTo>
                <a:lnTo>
                  <a:pt x="29766" y="154781"/>
                </a:lnTo>
                <a:cubicBezTo>
                  <a:pt x="26491" y="154781"/>
                  <a:pt x="23812" y="152102"/>
                  <a:pt x="23812" y="148828"/>
                </a:cubicBezTo>
                <a:lnTo>
                  <a:pt x="23812" y="23812"/>
                </a:lnTo>
                <a:close/>
                <a:moveTo>
                  <a:pt x="175096" y="56034"/>
                </a:moveTo>
                <a:cubicBezTo>
                  <a:pt x="179747" y="51383"/>
                  <a:pt x="179747" y="43830"/>
                  <a:pt x="175096" y="39179"/>
                </a:cubicBezTo>
                <a:cubicBezTo>
                  <a:pt x="170445" y="34528"/>
                  <a:pt x="162892" y="34528"/>
                  <a:pt x="158242" y="39179"/>
                </a:cubicBezTo>
                <a:lnTo>
                  <a:pt x="119063" y="78395"/>
                </a:lnTo>
                <a:lnTo>
                  <a:pt x="97706" y="57076"/>
                </a:lnTo>
                <a:cubicBezTo>
                  <a:pt x="93055" y="52425"/>
                  <a:pt x="85502" y="52425"/>
                  <a:pt x="80851" y="57076"/>
                </a:cubicBezTo>
                <a:lnTo>
                  <a:pt x="45132" y="92794"/>
                </a:lnTo>
                <a:cubicBezTo>
                  <a:pt x="40481" y="97445"/>
                  <a:pt x="40481" y="104998"/>
                  <a:pt x="45132" y="109649"/>
                </a:cubicBezTo>
                <a:cubicBezTo>
                  <a:pt x="49783" y="114300"/>
                  <a:pt x="57336" y="114300"/>
                  <a:pt x="61987" y="109649"/>
                </a:cubicBezTo>
                <a:lnTo>
                  <a:pt x="89297" y="82339"/>
                </a:lnTo>
                <a:lnTo>
                  <a:pt x="110654" y="103696"/>
                </a:lnTo>
                <a:cubicBezTo>
                  <a:pt x="115305" y="108347"/>
                  <a:pt x="122858" y="108347"/>
                  <a:pt x="127508" y="103696"/>
                </a:cubicBezTo>
                <a:lnTo>
                  <a:pt x="175133" y="56071"/>
                </a:lnTo>
                <a:close/>
              </a:path>
            </a:pathLst>
          </a:custGeom>
          <a:solidFill>
            <a:srgbClr val="8B0000"/>
          </a:solidFill>
        </p:spPr>
      </p:sp>
      <p:sp>
        <p:nvSpPr>
          <p:cNvPr id="14" name="Text 12"/>
          <p:cNvSpPr/>
          <p:nvPr/>
        </p:nvSpPr>
        <p:spPr>
          <a:xfrm>
            <a:off x="847725" y="4114800"/>
            <a:ext cx="6200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Market Response to AI Innovation</a:t>
            </a:r>
            <a:endParaRPr lang="en-US" sz="1600" dirty="0"/>
          </a:p>
        </p:txBody>
      </p:sp>
      <p:sp>
        <p:nvSpPr>
          <p:cNvPr id="15" name="Text 13"/>
          <p:cNvSpPr/>
          <p:nvPr/>
        </p:nvSpPr>
        <p:spPr>
          <a:xfrm>
            <a:off x="609600" y="4495800"/>
            <a:ext cx="6419850"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ChatGPT launch generated significant market reactions across sectors. Investors rapidly reallocated capital toward AI-related assets, anticipating transformative impacts on business models and productivity (Lopez-Lira &amp; Tang, 2024).</a:t>
            </a:r>
            <a:endParaRPr lang="en-US" sz="1600" dirty="0"/>
          </a:p>
        </p:txBody>
      </p:sp>
      <p:sp>
        <p:nvSpPr>
          <p:cNvPr id="16" name="Text 14"/>
          <p:cNvSpPr/>
          <p:nvPr/>
        </p:nvSpPr>
        <p:spPr>
          <a:xfrm>
            <a:off x="609600" y="5353050"/>
            <a:ext cx="64198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This shock created a unique quasi-natural experiment to examine how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 attention</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capital flows</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respond to disruptive technological innovations in financial markets.</a:t>
            </a:r>
            <a:endParaRPr lang="en-US" sz="1600" dirty="0"/>
          </a:p>
        </p:txBody>
      </p:sp>
      <p:sp>
        <p:nvSpPr>
          <p:cNvPr id="17" name="Shape 15"/>
          <p:cNvSpPr/>
          <p:nvPr/>
        </p:nvSpPr>
        <p:spPr>
          <a:xfrm>
            <a:off x="7380833" y="1414463"/>
            <a:ext cx="4429125" cy="2295525"/>
          </a:xfrm>
          <a:custGeom>
            <a:avLst/>
            <a:gdLst/>
            <a:ahLst/>
            <a:cxnLst/>
            <a:rect l="l" t="t" r="r" b="b"/>
            <a:pathLst>
              <a:path w="4429125" h="2295525">
                <a:moveTo>
                  <a:pt x="76211" y="0"/>
                </a:moveTo>
                <a:lnTo>
                  <a:pt x="4352914" y="0"/>
                </a:lnTo>
                <a:cubicBezTo>
                  <a:pt x="4395004" y="0"/>
                  <a:pt x="4429125" y="34121"/>
                  <a:pt x="4429125" y="76211"/>
                </a:cubicBezTo>
                <a:lnTo>
                  <a:pt x="4429125" y="2219314"/>
                </a:lnTo>
                <a:cubicBezTo>
                  <a:pt x="4429125" y="2261404"/>
                  <a:pt x="4395004" y="2295525"/>
                  <a:pt x="4352914" y="2295525"/>
                </a:cubicBezTo>
                <a:lnTo>
                  <a:pt x="76211" y="2295525"/>
                </a:lnTo>
                <a:cubicBezTo>
                  <a:pt x="34121" y="2295525"/>
                  <a:pt x="0" y="2261404"/>
                  <a:pt x="0" y="2219314"/>
                </a:cubicBezTo>
                <a:lnTo>
                  <a:pt x="0" y="76211"/>
                </a:lnTo>
                <a:cubicBezTo>
                  <a:pt x="0" y="34121"/>
                  <a:pt x="34121" y="0"/>
                  <a:pt x="76211" y="0"/>
                </a:cubicBezTo>
                <a:close/>
              </a:path>
            </a:pathLst>
          </a:custGeom>
          <a:solidFill>
            <a:srgbClr val="8B0000">
              <a:alpha val="5098"/>
            </a:srgbClr>
          </a:solidFill>
          <a:ln w="12700">
            <a:solidFill>
              <a:srgbClr val="8B0000">
                <a:alpha val="20000"/>
              </a:srgbClr>
            </a:solidFill>
            <a:prstDash val="solid"/>
          </a:ln>
        </p:spPr>
      </p:sp>
      <p:sp>
        <p:nvSpPr>
          <p:cNvPr id="18" name="Shape 16"/>
          <p:cNvSpPr/>
          <p:nvPr/>
        </p:nvSpPr>
        <p:spPr>
          <a:xfrm>
            <a:off x="7621339" y="1657350"/>
            <a:ext cx="128588" cy="171450"/>
          </a:xfrm>
          <a:custGeom>
            <a:avLst/>
            <a:gdLst/>
            <a:ahLst/>
            <a:cxnLst/>
            <a:rect l="l" t="t" r="r" b="b"/>
            <a:pathLst>
              <a:path w="128588" h="171450">
                <a:moveTo>
                  <a:pt x="98081" y="128588"/>
                </a:moveTo>
                <a:cubicBezTo>
                  <a:pt x="100526" y="121120"/>
                  <a:pt x="105415" y="114356"/>
                  <a:pt x="110940" y="108529"/>
                </a:cubicBezTo>
                <a:cubicBezTo>
                  <a:pt x="121890" y="97010"/>
                  <a:pt x="128587" y="81439"/>
                  <a:pt x="128587" y="64294"/>
                </a:cubicBezTo>
                <a:cubicBezTo>
                  <a:pt x="128587" y="28798"/>
                  <a:pt x="99789" y="0"/>
                  <a:pt x="64294" y="0"/>
                </a:cubicBezTo>
                <a:cubicBezTo>
                  <a:pt x="28798" y="0"/>
                  <a:pt x="0" y="28798"/>
                  <a:pt x="0" y="64294"/>
                </a:cubicBezTo>
                <a:cubicBezTo>
                  <a:pt x="0" y="81439"/>
                  <a:pt x="6697" y="97010"/>
                  <a:pt x="17647" y="108529"/>
                </a:cubicBezTo>
                <a:cubicBezTo>
                  <a:pt x="23173" y="114356"/>
                  <a:pt x="28095" y="121120"/>
                  <a:pt x="30506" y="128588"/>
                </a:cubicBezTo>
                <a:lnTo>
                  <a:pt x="98048" y="128588"/>
                </a:lnTo>
                <a:close/>
                <a:moveTo>
                  <a:pt x="96441" y="144661"/>
                </a:moveTo>
                <a:lnTo>
                  <a:pt x="32147" y="144661"/>
                </a:lnTo>
                <a:lnTo>
                  <a:pt x="32147" y="150019"/>
                </a:lnTo>
                <a:cubicBezTo>
                  <a:pt x="32147" y="164820"/>
                  <a:pt x="44135" y="176808"/>
                  <a:pt x="58936" y="176808"/>
                </a:cubicBezTo>
                <a:lnTo>
                  <a:pt x="69652" y="176808"/>
                </a:lnTo>
                <a:cubicBezTo>
                  <a:pt x="84453" y="176808"/>
                  <a:pt x="96441" y="164820"/>
                  <a:pt x="96441" y="150019"/>
                </a:cubicBezTo>
                <a:lnTo>
                  <a:pt x="96441" y="144661"/>
                </a:lnTo>
                <a:close/>
                <a:moveTo>
                  <a:pt x="61615" y="37505"/>
                </a:moveTo>
                <a:cubicBezTo>
                  <a:pt x="48287" y="37505"/>
                  <a:pt x="37505" y="48287"/>
                  <a:pt x="37505" y="61615"/>
                </a:cubicBezTo>
                <a:cubicBezTo>
                  <a:pt x="37505" y="66069"/>
                  <a:pt x="33922" y="69652"/>
                  <a:pt x="29468" y="69652"/>
                </a:cubicBezTo>
                <a:cubicBezTo>
                  <a:pt x="25014" y="69652"/>
                  <a:pt x="21431" y="66069"/>
                  <a:pt x="21431" y="61615"/>
                </a:cubicBezTo>
                <a:cubicBezTo>
                  <a:pt x="21431" y="39413"/>
                  <a:pt x="39413" y="21431"/>
                  <a:pt x="61615" y="21431"/>
                </a:cubicBezTo>
                <a:cubicBezTo>
                  <a:pt x="66069" y="21431"/>
                  <a:pt x="69652" y="25014"/>
                  <a:pt x="69652" y="29468"/>
                </a:cubicBezTo>
                <a:cubicBezTo>
                  <a:pt x="69652" y="33922"/>
                  <a:pt x="66069" y="37505"/>
                  <a:pt x="61615" y="37505"/>
                </a:cubicBezTo>
                <a:close/>
              </a:path>
            </a:pathLst>
          </a:custGeom>
          <a:solidFill>
            <a:srgbClr val="8B0000"/>
          </a:solidFill>
        </p:spPr>
      </p:sp>
      <p:sp>
        <p:nvSpPr>
          <p:cNvPr id="19" name="Text 17"/>
          <p:cNvSpPr/>
          <p:nvPr/>
        </p:nvSpPr>
        <p:spPr>
          <a:xfrm>
            <a:off x="7795171" y="1609725"/>
            <a:ext cx="3905250"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Timeline</a:t>
            </a:r>
            <a:endParaRPr lang="en-US" sz="1600" dirty="0"/>
          </a:p>
        </p:txBody>
      </p:sp>
      <p:sp>
        <p:nvSpPr>
          <p:cNvPr id="20" name="Shape 18"/>
          <p:cNvSpPr/>
          <p:nvPr/>
        </p:nvSpPr>
        <p:spPr>
          <a:xfrm>
            <a:off x="7576096" y="208597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0000"/>
          </a:solidFill>
        </p:spPr>
      </p:sp>
      <p:sp>
        <p:nvSpPr>
          <p:cNvPr id="21" name="Text 19"/>
          <p:cNvSpPr/>
          <p:nvPr/>
        </p:nvSpPr>
        <p:spPr>
          <a:xfrm>
            <a:off x="7804696" y="2028825"/>
            <a:ext cx="14478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Nov 2022</a:t>
            </a:r>
            <a:endParaRPr lang="en-US" sz="1600" dirty="0"/>
          </a:p>
        </p:txBody>
      </p:sp>
      <p:sp>
        <p:nvSpPr>
          <p:cNvPr id="22" name="Text 20"/>
          <p:cNvSpPr/>
          <p:nvPr/>
        </p:nvSpPr>
        <p:spPr>
          <a:xfrm>
            <a:off x="7804696" y="2257425"/>
            <a:ext cx="1438275"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 public release</a:t>
            </a:r>
            <a:endParaRPr lang="en-US" sz="1600" dirty="0"/>
          </a:p>
        </p:txBody>
      </p:sp>
      <p:sp>
        <p:nvSpPr>
          <p:cNvPr id="23" name="Shape 21"/>
          <p:cNvSpPr/>
          <p:nvPr/>
        </p:nvSpPr>
        <p:spPr>
          <a:xfrm>
            <a:off x="7576096" y="261937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0000"/>
          </a:solidFill>
        </p:spPr>
      </p:sp>
      <p:sp>
        <p:nvSpPr>
          <p:cNvPr id="24" name="Text 22"/>
          <p:cNvSpPr/>
          <p:nvPr/>
        </p:nvSpPr>
        <p:spPr>
          <a:xfrm>
            <a:off x="7804696" y="2562225"/>
            <a:ext cx="12954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Dec 2022</a:t>
            </a:r>
            <a:endParaRPr lang="en-US" sz="1600" dirty="0"/>
          </a:p>
        </p:txBody>
      </p:sp>
      <p:sp>
        <p:nvSpPr>
          <p:cNvPr id="25" name="Text 23"/>
          <p:cNvSpPr/>
          <p:nvPr/>
        </p:nvSpPr>
        <p:spPr>
          <a:xfrm>
            <a:off x="7804696" y="2790825"/>
            <a:ext cx="1285875"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100M users milestone</a:t>
            </a:r>
            <a:endParaRPr lang="en-US" sz="1600" dirty="0"/>
          </a:p>
        </p:txBody>
      </p:sp>
      <p:sp>
        <p:nvSpPr>
          <p:cNvPr id="26" name="Shape 24"/>
          <p:cNvSpPr/>
          <p:nvPr/>
        </p:nvSpPr>
        <p:spPr>
          <a:xfrm>
            <a:off x="7576096" y="3152775"/>
            <a:ext cx="114300" cy="114300"/>
          </a:xfrm>
          <a:custGeom>
            <a:avLst/>
            <a:gdLst/>
            <a:ahLst/>
            <a:cxnLst/>
            <a:rect l="l" t="t" r="r" b="b"/>
            <a:pathLst>
              <a:path w="114300" h="114300">
                <a:moveTo>
                  <a:pt x="57150" y="0"/>
                </a:moveTo>
                <a:lnTo>
                  <a:pt x="57150" y="0"/>
                </a:lnTo>
                <a:cubicBezTo>
                  <a:pt x="88692" y="0"/>
                  <a:pt x="114300" y="25608"/>
                  <a:pt x="114300" y="57150"/>
                </a:cubicBezTo>
                <a:lnTo>
                  <a:pt x="114300" y="57150"/>
                </a:lnTo>
                <a:cubicBezTo>
                  <a:pt x="114300" y="88692"/>
                  <a:pt x="88692" y="114300"/>
                  <a:pt x="57150" y="114300"/>
                </a:cubicBezTo>
                <a:lnTo>
                  <a:pt x="57150" y="114300"/>
                </a:lnTo>
                <a:cubicBezTo>
                  <a:pt x="25608" y="114300"/>
                  <a:pt x="0" y="88692"/>
                  <a:pt x="0" y="57150"/>
                </a:cubicBezTo>
                <a:lnTo>
                  <a:pt x="0" y="57150"/>
                </a:lnTo>
                <a:cubicBezTo>
                  <a:pt x="0" y="25608"/>
                  <a:pt x="25608" y="0"/>
                  <a:pt x="57150" y="0"/>
                </a:cubicBezTo>
                <a:close/>
              </a:path>
            </a:pathLst>
          </a:custGeom>
          <a:solidFill>
            <a:srgbClr val="8B0000"/>
          </a:solidFill>
        </p:spPr>
      </p:sp>
      <p:sp>
        <p:nvSpPr>
          <p:cNvPr id="27" name="Text 25"/>
          <p:cNvSpPr/>
          <p:nvPr/>
        </p:nvSpPr>
        <p:spPr>
          <a:xfrm>
            <a:off x="7804696" y="3095625"/>
            <a:ext cx="2143125"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2023-2024</a:t>
            </a:r>
            <a:endParaRPr lang="en-US" sz="1600" dirty="0"/>
          </a:p>
        </p:txBody>
      </p:sp>
      <p:sp>
        <p:nvSpPr>
          <p:cNvPr id="28" name="Text 26"/>
          <p:cNvSpPr/>
          <p:nvPr/>
        </p:nvSpPr>
        <p:spPr>
          <a:xfrm>
            <a:off x="7804696" y="3324225"/>
            <a:ext cx="2133600"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Generative AI mainstream adoption</a:t>
            </a:r>
            <a:endParaRPr lang="en-US" sz="1600" dirty="0"/>
          </a:p>
        </p:txBody>
      </p:sp>
      <p:sp>
        <p:nvSpPr>
          <p:cNvPr id="29" name="Shape 27"/>
          <p:cNvSpPr/>
          <p:nvPr/>
        </p:nvSpPr>
        <p:spPr>
          <a:xfrm>
            <a:off x="7385596" y="3876675"/>
            <a:ext cx="4419600" cy="2590800"/>
          </a:xfrm>
          <a:custGeom>
            <a:avLst/>
            <a:gdLst/>
            <a:ahLst/>
            <a:cxnLst/>
            <a:rect l="l" t="t" r="r" b="b"/>
            <a:pathLst>
              <a:path w="4419600" h="2590800">
                <a:moveTo>
                  <a:pt x="76195" y="0"/>
                </a:moveTo>
                <a:lnTo>
                  <a:pt x="4343405" y="0"/>
                </a:lnTo>
                <a:cubicBezTo>
                  <a:pt x="4385458" y="0"/>
                  <a:pt x="4419600" y="34142"/>
                  <a:pt x="4419600" y="76195"/>
                </a:cubicBezTo>
                <a:lnTo>
                  <a:pt x="4419600" y="2514605"/>
                </a:lnTo>
                <a:cubicBezTo>
                  <a:pt x="4419600" y="2556686"/>
                  <a:pt x="4385486" y="2590800"/>
                  <a:pt x="4343405" y="2590800"/>
                </a:cubicBezTo>
                <a:lnTo>
                  <a:pt x="76195" y="2590800"/>
                </a:lnTo>
                <a:cubicBezTo>
                  <a:pt x="34142" y="2590800"/>
                  <a:pt x="0" y="2556658"/>
                  <a:pt x="0" y="2514605"/>
                </a:cubicBezTo>
                <a:lnTo>
                  <a:pt x="0" y="76195"/>
                </a:lnTo>
                <a:cubicBezTo>
                  <a:pt x="0" y="34142"/>
                  <a:pt x="34142" y="0"/>
                  <a:pt x="76195" y="0"/>
                </a:cubicBezTo>
                <a:close/>
              </a:path>
            </a:pathLst>
          </a:custGeom>
          <a:solidFill>
            <a:srgbClr val="FFFFFF"/>
          </a:solidFill>
          <a:ln w="25400">
            <a:solidFill>
              <a:srgbClr val="8B0000">
                <a:alpha val="20000"/>
              </a:srgbClr>
            </a:solidFill>
            <a:prstDash val="solid"/>
          </a:ln>
        </p:spPr>
      </p:sp>
      <p:sp>
        <p:nvSpPr>
          <p:cNvPr id="30" name="Shape 28"/>
          <p:cNvSpPr/>
          <p:nvPr/>
        </p:nvSpPr>
        <p:spPr>
          <a:xfrm>
            <a:off x="7620149" y="4124325"/>
            <a:ext cx="150019" cy="171450"/>
          </a:xfrm>
          <a:custGeom>
            <a:avLst/>
            <a:gdLst/>
            <a:ahLst/>
            <a:cxnLst/>
            <a:rect l="l" t="t" r="r" b="b"/>
            <a:pathLst>
              <a:path w="150019" h="171450">
                <a:moveTo>
                  <a:pt x="128588" y="171450"/>
                </a:moveTo>
                <a:lnTo>
                  <a:pt x="32147" y="171450"/>
                </a:lnTo>
                <a:cubicBezTo>
                  <a:pt x="14399" y="171450"/>
                  <a:pt x="0" y="157051"/>
                  <a:pt x="0" y="139303"/>
                </a:cubicBezTo>
                <a:lnTo>
                  <a:pt x="0" y="32147"/>
                </a:lnTo>
                <a:cubicBezTo>
                  <a:pt x="0" y="14399"/>
                  <a:pt x="14399" y="0"/>
                  <a:pt x="32147" y="0"/>
                </a:cubicBezTo>
                <a:lnTo>
                  <a:pt x="133945" y="0"/>
                </a:lnTo>
                <a:cubicBezTo>
                  <a:pt x="142819" y="0"/>
                  <a:pt x="150019" y="7200"/>
                  <a:pt x="150019" y="16073"/>
                </a:cubicBezTo>
                <a:lnTo>
                  <a:pt x="150019" y="112514"/>
                </a:lnTo>
                <a:cubicBezTo>
                  <a:pt x="150019" y="119513"/>
                  <a:pt x="145532" y="125473"/>
                  <a:pt x="139303" y="127683"/>
                </a:cubicBezTo>
                <a:lnTo>
                  <a:pt x="139303" y="150019"/>
                </a:lnTo>
                <a:cubicBezTo>
                  <a:pt x="145230" y="150019"/>
                  <a:pt x="150019" y="154807"/>
                  <a:pt x="150019" y="160734"/>
                </a:cubicBezTo>
                <a:cubicBezTo>
                  <a:pt x="150019" y="166661"/>
                  <a:pt x="145230" y="171450"/>
                  <a:pt x="139303" y="171450"/>
                </a:cubicBezTo>
                <a:lnTo>
                  <a:pt x="128588" y="171450"/>
                </a:lnTo>
                <a:close/>
                <a:moveTo>
                  <a:pt x="32147" y="128588"/>
                </a:moveTo>
                <a:cubicBezTo>
                  <a:pt x="26220" y="128588"/>
                  <a:pt x="21431" y="133376"/>
                  <a:pt x="21431" y="139303"/>
                </a:cubicBezTo>
                <a:cubicBezTo>
                  <a:pt x="21431" y="145230"/>
                  <a:pt x="26220" y="150019"/>
                  <a:pt x="32147" y="150019"/>
                </a:cubicBezTo>
                <a:lnTo>
                  <a:pt x="117872" y="150019"/>
                </a:lnTo>
                <a:lnTo>
                  <a:pt x="117872" y="128588"/>
                </a:lnTo>
                <a:lnTo>
                  <a:pt x="32147" y="128588"/>
                </a:lnTo>
                <a:close/>
                <a:moveTo>
                  <a:pt x="42863" y="50899"/>
                </a:moveTo>
                <a:cubicBezTo>
                  <a:pt x="42863" y="55353"/>
                  <a:pt x="46446" y="58936"/>
                  <a:pt x="50899" y="58936"/>
                </a:cubicBezTo>
                <a:lnTo>
                  <a:pt x="109835" y="58936"/>
                </a:lnTo>
                <a:cubicBezTo>
                  <a:pt x="114289" y="58936"/>
                  <a:pt x="117872" y="55353"/>
                  <a:pt x="117872" y="50899"/>
                </a:cubicBezTo>
                <a:cubicBezTo>
                  <a:pt x="117872" y="46446"/>
                  <a:pt x="114289" y="42863"/>
                  <a:pt x="109835" y="42863"/>
                </a:cubicBezTo>
                <a:lnTo>
                  <a:pt x="50899" y="42863"/>
                </a:lnTo>
                <a:cubicBezTo>
                  <a:pt x="46446" y="42863"/>
                  <a:pt x="42863" y="46446"/>
                  <a:pt x="42863" y="50899"/>
                </a:cubicBezTo>
                <a:close/>
                <a:moveTo>
                  <a:pt x="50899" y="75009"/>
                </a:moveTo>
                <a:cubicBezTo>
                  <a:pt x="46446" y="75009"/>
                  <a:pt x="42863" y="78592"/>
                  <a:pt x="42863" y="83046"/>
                </a:cubicBezTo>
                <a:cubicBezTo>
                  <a:pt x="42863" y="87500"/>
                  <a:pt x="46446" y="91083"/>
                  <a:pt x="50899" y="91083"/>
                </a:cubicBezTo>
                <a:lnTo>
                  <a:pt x="109835" y="91083"/>
                </a:lnTo>
                <a:cubicBezTo>
                  <a:pt x="114289" y="91083"/>
                  <a:pt x="117872" y="87500"/>
                  <a:pt x="117872" y="83046"/>
                </a:cubicBezTo>
                <a:cubicBezTo>
                  <a:pt x="117872" y="78592"/>
                  <a:pt x="114289" y="75009"/>
                  <a:pt x="109835" y="75009"/>
                </a:cubicBezTo>
                <a:lnTo>
                  <a:pt x="50899" y="75009"/>
                </a:lnTo>
                <a:close/>
              </a:path>
            </a:pathLst>
          </a:custGeom>
          <a:solidFill>
            <a:srgbClr val="8B0000"/>
          </a:solidFill>
        </p:spPr>
      </p:sp>
      <p:sp>
        <p:nvSpPr>
          <p:cNvPr id="31" name="Text 29"/>
          <p:cNvSpPr/>
          <p:nvPr/>
        </p:nvSpPr>
        <p:spPr>
          <a:xfrm>
            <a:off x="7804696" y="4076700"/>
            <a:ext cx="3886200"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Theoretical Foundation</a:t>
            </a:r>
            <a:endParaRPr lang="en-US" sz="1600" dirty="0"/>
          </a:p>
        </p:txBody>
      </p:sp>
      <p:sp>
        <p:nvSpPr>
          <p:cNvPr id="32" name="Text 30"/>
          <p:cNvSpPr/>
          <p:nvPr/>
        </p:nvSpPr>
        <p:spPr>
          <a:xfrm>
            <a:off x="7585621" y="4457700"/>
            <a:ext cx="4095750" cy="2476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Investor Attention Theory</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(Barber &amp; Odean, 2008):</a:t>
            </a:r>
            <a:endParaRPr lang="en-US" sz="1600" dirty="0"/>
          </a:p>
        </p:txBody>
      </p:sp>
      <p:sp>
        <p:nvSpPr>
          <p:cNvPr id="33" name="Text 31"/>
          <p:cNvSpPr/>
          <p:nvPr/>
        </p:nvSpPr>
        <p:spPr>
          <a:xfrm>
            <a:off x="7585621" y="4819650"/>
            <a:ext cx="4095750" cy="74295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"Investors face attention constraints and tend to buy stocks that catch their attention, leading to price pressure and return predictability."</a:t>
            </a:r>
            <a:endParaRPr lang="en-US" sz="1600" dirty="0"/>
          </a:p>
        </p:txBody>
      </p:sp>
      <p:sp>
        <p:nvSpPr>
          <p:cNvPr id="34" name="Shape 32"/>
          <p:cNvSpPr/>
          <p:nvPr/>
        </p:nvSpPr>
        <p:spPr>
          <a:xfrm>
            <a:off x="7585621" y="5681663"/>
            <a:ext cx="4019550" cy="9525"/>
          </a:xfrm>
          <a:custGeom>
            <a:avLst/>
            <a:gdLst/>
            <a:ahLst/>
            <a:cxnLst/>
            <a:rect l="l" t="t" r="r" b="b"/>
            <a:pathLst>
              <a:path w="4019550" h="9525">
                <a:moveTo>
                  <a:pt x="0" y="0"/>
                </a:moveTo>
                <a:lnTo>
                  <a:pt x="4019550" y="0"/>
                </a:lnTo>
                <a:lnTo>
                  <a:pt x="4019550" y="9525"/>
                </a:lnTo>
                <a:lnTo>
                  <a:pt x="0" y="9525"/>
                </a:lnTo>
                <a:lnTo>
                  <a:pt x="0" y="0"/>
                </a:lnTo>
                <a:close/>
              </a:path>
            </a:pathLst>
          </a:custGeom>
          <a:solidFill>
            <a:srgbClr val="8B0000">
              <a:alpha val="20000"/>
            </a:srgbClr>
          </a:solidFill>
        </p:spPr>
      </p:sp>
      <p:sp>
        <p:nvSpPr>
          <p:cNvPr id="35" name="Shape 33"/>
          <p:cNvSpPr/>
          <p:nvPr/>
        </p:nvSpPr>
        <p:spPr>
          <a:xfrm>
            <a:off x="7604671" y="5819775"/>
            <a:ext cx="133350" cy="133350"/>
          </a:xfrm>
          <a:custGeom>
            <a:avLst/>
            <a:gdLst/>
            <a:ahLst/>
            <a:cxnLst/>
            <a:rect l="l" t="t" r="r" b="b"/>
            <a:pathLst>
              <a:path w="133350" h="133350">
                <a:moveTo>
                  <a:pt x="130902" y="72561"/>
                </a:moveTo>
                <a:cubicBezTo>
                  <a:pt x="134157" y="69306"/>
                  <a:pt x="134157" y="64018"/>
                  <a:pt x="130902" y="60763"/>
                </a:cubicBezTo>
                <a:lnTo>
                  <a:pt x="89230" y="19091"/>
                </a:lnTo>
                <a:cubicBezTo>
                  <a:pt x="85974" y="15835"/>
                  <a:pt x="80687" y="15835"/>
                  <a:pt x="77432" y="19091"/>
                </a:cubicBezTo>
                <a:cubicBezTo>
                  <a:pt x="74176" y="22347"/>
                  <a:pt x="74176" y="27634"/>
                  <a:pt x="77432" y="30889"/>
                </a:cubicBezTo>
                <a:lnTo>
                  <a:pt x="104883" y="58341"/>
                </a:lnTo>
                <a:lnTo>
                  <a:pt x="8334" y="58341"/>
                </a:lnTo>
                <a:cubicBezTo>
                  <a:pt x="3724" y="58341"/>
                  <a:pt x="0" y="62065"/>
                  <a:pt x="0" y="66675"/>
                </a:cubicBezTo>
                <a:cubicBezTo>
                  <a:pt x="0" y="71285"/>
                  <a:pt x="3724" y="75009"/>
                  <a:pt x="8334" y="75009"/>
                </a:cubicBezTo>
                <a:lnTo>
                  <a:pt x="104883" y="75009"/>
                </a:lnTo>
                <a:lnTo>
                  <a:pt x="77432" y="102461"/>
                </a:lnTo>
                <a:cubicBezTo>
                  <a:pt x="74176" y="105716"/>
                  <a:pt x="74176" y="111003"/>
                  <a:pt x="77432" y="114259"/>
                </a:cubicBezTo>
                <a:cubicBezTo>
                  <a:pt x="80687" y="117515"/>
                  <a:pt x="85974" y="117515"/>
                  <a:pt x="89230" y="114259"/>
                </a:cubicBezTo>
                <a:lnTo>
                  <a:pt x="130902" y="72587"/>
                </a:lnTo>
                <a:close/>
              </a:path>
            </a:pathLst>
          </a:custGeom>
          <a:solidFill>
            <a:srgbClr val="8B0000"/>
          </a:solidFill>
        </p:spPr>
      </p:sp>
      <p:sp>
        <p:nvSpPr>
          <p:cNvPr id="36" name="Text 34"/>
          <p:cNvSpPr/>
          <p:nvPr/>
        </p:nvSpPr>
        <p:spPr>
          <a:xfrm>
            <a:off x="7814221" y="5800725"/>
            <a:ext cx="3857625"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Attention-driven capital allocation</a:t>
            </a:r>
            <a:endParaRPr lang="en-US" sz="1600" dirty="0"/>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 BACKGROUND &amp; MOTIVATIONS</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Research Motivations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381000" y="1428750"/>
            <a:ext cx="3686175" cy="2495550"/>
          </a:xfrm>
          <a:custGeom>
            <a:avLst/>
            <a:gdLst/>
            <a:ahLst/>
            <a:cxnLst/>
            <a:rect l="l" t="t" r="r" b="b"/>
            <a:pathLst>
              <a:path w="3686175" h="2495550">
                <a:moveTo>
                  <a:pt x="38100" y="0"/>
                </a:moveTo>
                <a:lnTo>
                  <a:pt x="3648075" y="0"/>
                </a:lnTo>
                <a:cubicBezTo>
                  <a:pt x="3669103" y="0"/>
                  <a:pt x="3686175" y="17072"/>
                  <a:pt x="3686175" y="38100"/>
                </a:cubicBezTo>
                <a:lnTo>
                  <a:pt x="3686175" y="2419361"/>
                </a:lnTo>
                <a:cubicBezTo>
                  <a:pt x="3686175" y="2461439"/>
                  <a:pt x="3652064" y="2495550"/>
                  <a:pt x="3609986" y="2495550"/>
                </a:cubicBezTo>
                <a:lnTo>
                  <a:pt x="76189" y="2495550"/>
                </a:lnTo>
                <a:cubicBezTo>
                  <a:pt x="34139" y="2495550"/>
                  <a:pt x="0" y="2461411"/>
                  <a:pt x="0" y="2419361"/>
                </a:cubicBezTo>
                <a:lnTo>
                  <a:pt x="0" y="38100"/>
                </a:lnTo>
                <a:cubicBezTo>
                  <a:pt x="0" y="17072"/>
                  <a:pt x="17072" y="0"/>
                  <a:pt x="38100" y="0"/>
                </a:cubicBezTo>
                <a:close/>
              </a:path>
            </a:pathLst>
          </a:custGeom>
          <a:solidFill>
            <a:srgbClr val="F9FAFB"/>
          </a:solidFill>
        </p:spPr>
      </p:sp>
      <p:sp>
        <p:nvSpPr>
          <p:cNvPr id="6" name="Shape 4"/>
          <p:cNvSpPr/>
          <p:nvPr/>
        </p:nvSpPr>
        <p:spPr>
          <a:xfrm>
            <a:off x="381000" y="14287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8B0000"/>
          </a:solidFill>
        </p:spPr>
      </p:sp>
      <p:sp>
        <p:nvSpPr>
          <p:cNvPr id="7" name="Shape 5"/>
          <p:cNvSpPr/>
          <p:nvPr/>
        </p:nvSpPr>
        <p:spPr>
          <a:xfrm>
            <a:off x="571500" y="16383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196"/>
            </a:srgbClr>
          </a:solidFill>
        </p:spPr>
      </p:sp>
      <p:sp>
        <p:nvSpPr>
          <p:cNvPr id="8" name="Shape 6"/>
          <p:cNvSpPr/>
          <p:nvPr/>
        </p:nvSpPr>
        <p:spPr>
          <a:xfrm>
            <a:off x="692944" y="1771650"/>
            <a:ext cx="214313" cy="190500"/>
          </a:xfrm>
          <a:custGeom>
            <a:avLst/>
            <a:gdLst/>
            <a:ahLst/>
            <a:cxnLst/>
            <a:rect l="l" t="t" r="r" b="b"/>
            <a:pathLst>
              <a:path w="214313" h="190500">
                <a:moveTo>
                  <a:pt x="107156" y="11906"/>
                </a:moveTo>
                <a:cubicBezTo>
                  <a:pt x="77093" y="11906"/>
                  <a:pt x="53020" y="25598"/>
                  <a:pt x="35496" y="41895"/>
                </a:cubicBezTo>
                <a:cubicBezTo>
                  <a:pt x="18083" y="58080"/>
                  <a:pt x="6437" y="77391"/>
                  <a:pt x="893" y="90674"/>
                </a:cubicBezTo>
                <a:cubicBezTo>
                  <a:pt x="-335" y="93613"/>
                  <a:pt x="-335" y="96887"/>
                  <a:pt x="893" y="99826"/>
                </a:cubicBezTo>
                <a:cubicBezTo>
                  <a:pt x="6437" y="113109"/>
                  <a:pt x="18083" y="132457"/>
                  <a:pt x="35496" y="148605"/>
                </a:cubicBezTo>
                <a:cubicBezTo>
                  <a:pt x="53020" y="164864"/>
                  <a:pt x="77093" y="178594"/>
                  <a:pt x="107156" y="178594"/>
                </a:cubicBezTo>
                <a:cubicBezTo>
                  <a:pt x="137220" y="178594"/>
                  <a:pt x="161292" y="164902"/>
                  <a:pt x="178817" y="148605"/>
                </a:cubicBezTo>
                <a:cubicBezTo>
                  <a:pt x="196230" y="132420"/>
                  <a:pt x="207876" y="113109"/>
                  <a:pt x="213420" y="99826"/>
                </a:cubicBezTo>
                <a:cubicBezTo>
                  <a:pt x="214647" y="96887"/>
                  <a:pt x="214647" y="93613"/>
                  <a:pt x="213420" y="90674"/>
                </a:cubicBezTo>
                <a:cubicBezTo>
                  <a:pt x="207876" y="77391"/>
                  <a:pt x="196230" y="58043"/>
                  <a:pt x="178817" y="41895"/>
                </a:cubicBezTo>
                <a:cubicBezTo>
                  <a:pt x="161292" y="25636"/>
                  <a:pt x="137220" y="11906"/>
                  <a:pt x="107156" y="11906"/>
                </a:cubicBezTo>
                <a:close/>
                <a:moveTo>
                  <a:pt x="53578" y="95250"/>
                </a:moveTo>
                <a:cubicBezTo>
                  <a:pt x="53578" y="65679"/>
                  <a:pt x="77586" y="41672"/>
                  <a:pt x="107156" y="41672"/>
                </a:cubicBezTo>
                <a:cubicBezTo>
                  <a:pt x="136727" y="41672"/>
                  <a:pt x="160734" y="65679"/>
                  <a:pt x="160734" y="95250"/>
                </a:cubicBezTo>
                <a:cubicBezTo>
                  <a:pt x="160734" y="124821"/>
                  <a:pt x="136727" y="148828"/>
                  <a:pt x="107156" y="148828"/>
                </a:cubicBezTo>
                <a:cubicBezTo>
                  <a:pt x="77586" y="148828"/>
                  <a:pt x="53578" y="124821"/>
                  <a:pt x="53578" y="95250"/>
                </a:cubicBezTo>
                <a:close/>
                <a:moveTo>
                  <a:pt x="107156" y="71438"/>
                </a:moveTo>
                <a:cubicBezTo>
                  <a:pt x="107156" y="84572"/>
                  <a:pt x="96478" y="95250"/>
                  <a:pt x="83344" y="95250"/>
                </a:cubicBezTo>
                <a:cubicBezTo>
                  <a:pt x="79065" y="95250"/>
                  <a:pt x="75047" y="94134"/>
                  <a:pt x="71549" y="92125"/>
                </a:cubicBezTo>
                <a:cubicBezTo>
                  <a:pt x="71177" y="96180"/>
                  <a:pt x="71512" y="100347"/>
                  <a:pt x="72628" y="104477"/>
                </a:cubicBezTo>
                <a:cubicBezTo>
                  <a:pt x="77725" y="123527"/>
                  <a:pt x="97334" y="134838"/>
                  <a:pt x="116384" y="129741"/>
                </a:cubicBezTo>
                <a:cubicBezTo>
                  <a:pt x="135434" y="124644"/>
                  <a:pt x="146745" y="105035"/>
                  <a:pt x="141647" y="85985"/>
                </a:cubicBezTo>
                <a:cubicBezTo>
                  <a:pt x="137108" y="68982"/>
                  <a:pt x="120997" y="58155"/>
                  <a:pt x="104031" y="59643"/>
                </a:cubicBezTo>
                <a:cubicBezTo>
                  <a:pt x="106003" y="63103"/>
                  <a:pt x="107156" y="67121"/>
                  <a:pt x="107156" y="71438"/>
                </a:cubicBezTo>
                <a:close/>
              </a:path>
            </a:pathLst>
          </a:custGeom>
          <a:solidFill>
            <a:srgbClr val="8B0000"/>
          </a:solidFill>
        </p:spPr>
      </p:sp>
      <p:sp>
        <p:nvSpPr>
          <p:cNvPr id="9" name="Text 7"/>
          <p:cNvSpPr/>
          <p:nvPr/>
        </p:nvSpPr>
        <p:spPr>
          <a:xfrm>
            <a:off x="1143000" y="1733550"/>
            <a:ext cx="2133600"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Attention Drives Flows</a:t>
            </a:r>
            <a:endParaRPr lang="en-US" sz="1600" dirty="0"/>
          </a:p>
        </p:txBody>
      </p:sp>
      <p:sp>
        <p:nvSpPr>
          <p:cNvPr id="10" name="Text 8"/>
          <p:cNvSpPr/>
          <p:nvPr/>
        </p:nvSpPr>
        <p:spPr>
          <a:xfrm>
            <a:off x="571500" y="2247900"/>
            <a:ext cx="3381375"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When new technology captures public interest,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capital follows attention</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Investors seek assets that dominate headlines and media coverage.</a:t>
            </a:r>
            <a:endParaRPr lang="en-US" sz="1600" dirty="0"/>
          </a:p>
        </p:txBody>
      </p:sp>
      <p:sp>
        <p:nvSpPr>
          <p:cNvPr id="11" name="Text 9"/>
          <p:cNvSpPr/>
          <p:nvPr/>
        </p:nvSpPr>
        <p:spPr>
          <a:xfrm>
            <a:off x="571500" y="3105150"/>
            <a:ext cx="3371850" cy="628650"/>
          </a:xfrm>
          <a:prstGeom prst="rect">
            <a:avLst/>
          </a:prstGeom>
          <a:noFill/>
        </p:spPr>
        <p:txBody>
          <a:bodyPr wrap="square" lIns="0" tIns="0" rIns="0" bIns="0" rtlCol="0" anchor="ctr"/>
          <a:lstStyle/>
          <a:p>
            <a:pPr>
              <a:lnSpc>
                <a:spcPct val="14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"Shifts in communal concentration can prompt the shift of funds across various kinds of assets" (Cabrera, 2017; Kaniel et al., 2007)</a:t>
            </a:r>
            <a:endParaRPr lang="en-US" sz="1600" dirty="0"/>
          </a:p>
        </p:txBody>
      </p:sp>
      <p:sp>
        <p:nvSpPr>
          <p:cNvPr id="12" name="Shape 10"/>
          <p:cNvSpPr/>
          <p:nvPr/>
        </p:nvSpPr>
        <p:spPr>
          <a:xfrm>
            <a:off x="4254401" y="1428750"/>
            <a:ext cx="3686175" cy="2495550"/>
          </a:xfrm>
          <a:custGeom>
            <a:avLst/>
            <a:gdLst/>
            <a:ahLst/>
            <a:cxnLst/>
            <a:rect l="l" t="t" r="r" b="b"/>
            <a:pathLst>
              <a:path w="3686175" h="2495550">
                <a:moveTo>
                  <a:pt x="38100" y="0"/>
                </a:moveTo>
                <a:lnTo>
                  <a:pt x="3648075" y="0"/>
                </a:lnTo>
                <a:cubicBezTo>
                  <a:pt x="3669103" y="0"/>
                  <a:pt x="3686175" y="17072"/>
                  <a:pt x="3686175" y="38100"/>
                </a:cubicBezTo>
                <a:lnTo>
                  <a:pt x="3686175" y="2419361"/>
                </a:lnTo>
                <a:cubicBezTo>
                  <a:pt x="3686175" y="2461439"/>
                  <a:pt x="3652064" y="2495550"/>
                  <a:pt x="3609986" y="2495550"/>
                </a:cubicBezTo>
                <a:lnTo>
                  <a:pt x="76189" y="2495550"/>
                </a:lnTo>
                <a:cubicBezTo>
                  <a:pt x="34139" y="2495550"/>
                  <a:pt x="0" y="2461411"/>
                  <a:pt x="0" y="2419361"/>
                </a:cubicBezTo>
                <a:lnTo>
                  <a:pt x="0" y="38100"/>
                </a:lnTo>
                <a:cubicBezTo>
                  <a:pt x="0" y="17072"/>
                  <a:pt x="17072" y="0"/>
                  <a:pt x="38100" y="0"/>
                </a:cubicBezTo>
                <a:close/>
              </a:path>
            </a:pathLst>
          </a:custGeom>
          <a:solidFill>
            <a:srgbClr val="F9FAFB"/>
          </a:solidFill>
        </p:spPr>
      </p:sp>
      <p:sp>
        <p:nvSpPr>
          <p:cNvPr id="13" name="Shape 11"/>
          <p:cNvSpPr/>
          <p:nvPr/>
        </p:nvSpPr>
        <p:spPr>
          <a:xfrm>
            <a:off x="4254401" y="14287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8B0000"/>
          </a:solidFill>
        </p:spPr>
      </p:sp>
      <p:sp>
        <p:nvSpPr>
          <p:cNvPr id="14" name="Shape 12"/>
          <p:cNvSpPr/>
          <p:nvPr/>
        </p:nvSpPr>
        <p:spPr>
          <a:xfrm>
            <a:off x="4444901" y="16383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196"/>
            </a:srgbClr>
          </a:solidFill>
        </p:spPr>
      </p:sp>
      <p:sp>
        <p:nvSpPr>
          <p:cNvPr id="15" name="Shape 13"/>
          <p:cNvSpPr/>
          <p:nvPr/>
        </p:nvSpPr>
        <p:spPr>
          <a:xfrm>
            <a:off x="4578251" y="1771650"/>
            <a:ext cx="190500" cy="190500"/>
          </a:xfrm>
          <a:custGeom>
            <a:avLst/>
            <a:gdLst/>
            <a:ahLst/>
            <a:cxnLst/>
            <a:rect l="l" t="t" r="r" b="b"/>
            <a:pathLst>
              <a:path w="190500" h="190500">
                <a:moveTo>
                  <a:pt x="175357" y="2493"/>
                </a:moveTo>
                <a:cubicBezTo>
                  <a:pt x="177738" y="223"/>
                  <a:pt x="181198" y="-595"/>
                  <a:pt x="184398" y="446"/>
                </a:cubicBezTo>
                <a:cubicBezTo>
                  <a:pt x="188044" y="1674"/>
                  <a:pt x="190500" y="5097"/>
                  <a:pt x="190500" y="8930"/>
                </a:cubicBezTo>
                <a:lnTo>
                  <a:pt x="190500" y="78470"/>
                </a:lnTo>
                <a:cubicBezTo>
                  <a:pt x="190500" y="127285"/>
                  <a:pt x="150279" y="166688"/>
                  <a:pt x="101650" y="166688"/>
                </a:cubicBezTo>
                <a:cubicBezTo>
                  <a:pt x="73000" y="166688"/>
                  <a:pt x="48295" y="148270"/>
                  <a:pt x="39328" y="122523"/>
                </a:cubicBezTo>
                <a:cubicBezTo>
                  <a:pt x="26157" y="133983"/>
                  <a:pt x="17859" y="150837"/>
                  <a:pt x="17859" y="169664"/>
                </a:cubicBezTo>
                <a:cubicBezTo>
                  <a:pt x="17859" y="174613"/>
                  <a:pt x="13878" y="178594"/>
                  <a:pt x="8930" y="178594"/>
                </a:cubicBezTo>
                <a:cubicBezTo>
                  <a:pt x="3981" y="178594"/>
                  <a:pt x="0" y="174613"/>
                  <a:pt x="0" y="169664"/>
                </a:cubicBezTo>
                <a:cubicBezTo>
                  <a:pt x="0" y="141796"/>
                  <a:pt x="14213" y="117239"/>
                  <a:pt x="35756" y="102803"/>
                </a:cubicBezTo>
                <a:cubicBezTo>
                  <a:pt x="48890" y="94022"/>
                  <a:pt x="64554" y="89297"/>
                  <a:pt x="80367" y="89297"/>
                </a:cubicBezTo>
                <a:lnTo>
                  <a:pt x="110133" y="89297"/>
                </a:lnTo>
                <a:cubicBezTo>
                  <a:pt x="115081" y="89297"/>
                  <a:pt x="119063" y="85316"/>
                  <a:pt x="119063" y="80367"/>
                </a:cubicBezTo>
                <a:cubicBezTo>
                  <a:pt x="119063" y="75419"/>
                  <a:pt x="115081" y="71438"/>
                  <a:pt x="110133" y="71438"/>
                </a:cubicBezTo>
                <a:lnTo>
                  <a:pt x="80367" y="71438"/>
                </a:lnTo>
                <a:cubicBezTo>
                  <a:pt x="65596" y="71438"/>
                  <a:pt x="51606" y="74712"/>
                  <a:pt x="39067" y="80553"/>
                </a:cubicBezTo>
                <a:cubicBezTo>
                  <a:pt x="47737" y="54508"/>
                  <a:pt x="72256" y="35719"/>
                  <a:pt x="101203" y="35719"/>
                </a:cubicBezTo>
                <a:cubicBezTo>
                  <a:pt x="125909" y="35719"/>
                  <a:pt x="144289" y="27496"/>
                  <a:pt x="156530" y="19348"/>
                </a:cubicBezTo>
                <a:cubicBezTo>
                  <a:pt x="163674" y="14585"/>
                  <a:pt x="169738" y="8892"/>
                  <a:pt x="175394" y="2493"/>
                </a:cubicBezTo>
                <a:close/>
              </a:path>
            </a:pathLst>
          </a:custGeom>
          <a:solidFill>
            <a:srgbClr val="8B0000"/>
          </a:solidFill>
        </p:spPr>
      </p:sp>
      <p:sp>
        <p:nvSpPr>
          <p:cNvPr id="16" name="Text 14"/>
          <p:cNvSpPr/>
          <p:nvPr/>
        </p:nvSpPr>
        <p:spPr>
          <a:xfrm>
            <a:off x="5016401" y="1733550"/>
            <a:ext cx="19526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Thematic Investment</a:t>
            </a:r>
            <a:endParaRPr lang="en-US" sz="1600" dirty="0"/>
          </a:p>
        </p:txBody>
      </p:sp>
      <p:sp>
        <p:nvSpPr>
          <p:cNvPr id="17" name="Text 15"/>
          <p:cNvSpPr/>
          <p:nvPr/>
        </p:nvSpPr>
        <p:spPr>
          <a:xfrm>
            <a:off x="4444901" y="2247900"/>
            <a:ext cx="3381375"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Themed funds based on narratives like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ESG</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renewable energy</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or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sustainability</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attract capital inflows independent of fundamental value.</a:t>
            </a:r>
            <a:endParaRPr lang="en-US" sz="1600" dirty="0"/>
          </a:p>
        </p:txBody>
      </p:sp>
      <p:sp>
        <p:nvSpPr>
          <p:cNvPr id="18" name="Text 16"/>
          <p:cNvSpPr/>
          <p:nvPr/>
        </p:nvSpPr>
        <p:spPr>
          <a:xfrm>
            <a:off x="4444901" y="3105150"/>
            <a:ext cx="3371850" cy="628650"/>
          </a:xfrm>
          <a:prstGeom prst="rect">
            <a:avLst/>
          </a:prstGeom>
          <a:noFill/>
        </p:spPr>
        <p:txBody>
          <a:bodyPr wrap="square" lIns="0" tIns="0" rIns="0" bIns="0" rtlCol="0" anchor="ctr"/>
          <a:lstStyle/>
          <a:p>
            <a:pPr>
              <a:lnSpc>
                <a:spcPct val="14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Qu &amp; Su (2024) demonstrate that ESG-rated funds receive disproportionate flows despite similar risk-adjusted returns.</a:t>
            </a:r>
            <a:endParaRPr lang="en-US" sz="1600" dirty="0"/>
          </a:p>
        </p:txBody>
      </p:sp>
      <p:sp>
        <p:nvSpPr>
          <p:cNvPr id="19" name="Shape 17"/>
          <p:cNvSpPr/>
          <p:nvPr/>
        </p:nvSpPr>
        <p:spPr>
          <a:xfrm>
            <a:off x="8127950" y="1428750"/>
            <a:ext cx="3686175" cy="2495550"/>
          </a:xfrm>
          <a:custGeom>
            <a:avLst/>
            <a:gdLst/>
            <a:ahLst/>
            <a:cxnLst/>
            <a:rect l="l" t="t" r="r" b="b"/>
            <a:pathLst>
              <a:path w="3686175" h="2495550">
                <a:moveTo>
                  <a:pt x="38100" y="0"/>
                </a:moveTo>
                <a:lnTo>
                  <a:pt x="3648075" y="0"/>
                </a:lnTo>
                <a:cubicBezTo>
                  <a:pt x="3669103" y="0"/>
                  <a:pt x="3686175" y="17072"/>
                  <a:pt x="3686175" y="38100"/>
                </a:cubicBezTo>
                <a:lnTo>
                  <a:pt x="3686175" y="2419361"/>
                </a:lnTo>
                <a:cubicBezTo>
                  <a:pt x="3686175" y="2461439"/>
                  <a:pt x="3652064" y="2495550"/>
                  <a:pt x="3609986" y="2495550"/>
                </a:cubicBezTo>
                <a:lnTo>
                  <a:pt x="76189" y="2495550"/>
                </a:lnTo>
                <a:cubicBezTo>
                  <a:pt x="34139" y="2495550"/>
                  <a:pt x="0" y="2461411"/>
                  <a:pt x="0" y="2419361"/>
                </a:cubicBezTo>
                <a:lnTo>
                  <a:pt x="0" y="38100"/>
                </a:lnTo>
                <a:cubicBezTo>
                  <a:pt x="0" y="17072"/>
                  <a:pt x="17072" y="0"/>
                  <a:pt x="38100" y="0"/>
                </a:cubicBezTo>
                <a:close/>
              </a:path>
            </a:pathLst>
          </a:custGeom>
          <a:solidFill>
            <a:srgbClr val="F9FAFB"/>
          </a:solidFill>
        </p:spPr>
      </p:sp>
      <p:sp>
        <p:nvSpPr>
          <p:cNvPr id="20" name="Shape 18"/>
          <p:cNvSpPr/>
          <p:nvPr/>
        </p:nvSpPr>
        <p:spPr>
          <a:xfrm>
            <a:off x="8127950" y="1428750"/>
            <a:ext cx="3686175" cy="38100"/>
          </a:xfrm>
          <a:custGeom>
            <a:avLst/>
            <a:gdLst/>
            <a:ahLst/>
            <a:cxnLst/>
            <a:rect l="l" t="t" r="r" b="b"/>
            <a:pathLst>
              <a:path w="3686175" h="38100">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8B0000"/>
          </a:solidFill>
        </p:spPr>
      </p:sp>
      <p:sp>
        <p:nvSpPr>
          <p:cNvPr id="21" name="Shape 19"/>
          <p:cNvSpPr/>
          <p:nvPr/>
        </p:nvSpPr>
        <p:spPr>
          <a:xfrm>
            <a:off x="8318450" y="1638300"/>
            <a:ext cx="457200" cy="457200"/>
          </a:xfrm>
          <a:custGeom>
            <a:avLst/>
            <a:gdLst/>
            <a:ahLst/>
            <a:cxnLst/>
            <a:rect l="l" t="t" r="r" b="b"/>
            <a:pathLst>
              <a:path w="457200" h="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8B0000">
              <a:alpha val="10196"/>
            </a:srgbClr>
          </a:solidFill>
        </p:spPr>
      </p:sp>
      <p:sp>
        <p:nvSpPr>
          <p:cNvPr id="22" name="Shape 20"/>
          <p:cNvSpPr/>
          <p:nvPr/>
        </p:nvSpPr>
        <p:spPr>
          <a:xfrm>
            <a:off x="8451800" y="1771650"/>
            <a:ext cx="190500" cy="190500"/>
          </a:xfrm>
          <a:custGeom>
            <a:avLst/>
            <a:gdLst/>
            <a:ahLst/>
            <a:cxnLst/>
            <a:rect l="l" t="t" r="r" b="b"/>
            <a:pathLst>
              <a:path w="190500" h="190500">
                <a:moveTo>
                  <a:pt x="178631" y="71438"/>
                </a:moveTo>
                <a:lnTo>
                  <a:pt x="181570" y="71438"/>
                </a:lnTo>
                <a:cubicBezTo>
                  <a:pt x="186519" y="71438"/>
                  <a:pt x="190500" y="67456"/>
                  <a:pt x="190500" y="62508"/>
                </a:cubicBezTo>
                <a:lnTo>
                  <a:pt x="190500" y="8930"/>
                </a:lnTo>
                <a:cubicBezTo>
                  <a:pt x="190500" y="5321"/>
                  <a:pt x="188342" y="2046"/>
                  <a:pt x="184993" y="670"/>
                </a:cubicBezTo>
                <a:cubicBezTo>
                  <a:pt x="181645" y="-707"/>
                  <a:pt x="177812" y="74"/>
                  <a:pt x="175245" y="2604"/>
                </a:cubicBezTo>
                <a:lnTo>
                  <a:pt x="156009" y="21878"/>
                </a:lnTo>
                <a:cubicBezTo>
                  <a:pt x="139526" y="8223"/>
                  <a:pt x="118318" y="0"/>
                  <a:pt x="95250" y="0"/>
                </a:cubicBezTo>
                <a:cubicBezTo>
                  <a:pt x="47253" y="0"/>
                  <a:pt x="7553" y="35496"/>
                  <a:pt x="967" y="81669"/>
                </a:cubicBezTo>
                <a:cubicBezTo>
                  <a:pt x="37" y="88181"/>
                  <a:pt x="4539" y="94208"/>
                  <a:pt x="11050" y="95138"/>
                </a:cubicBezTo>
                <a:cubicBezTo>
                  <a:pt x="17562" y="96069"/>
                  <a:pt x="23589" y="91529"/>
                  <a:pt x="24519" y="85055"/>
                </a:cubicBezTo>
                <a:cubicBezTo>
                  <a:pt x="29468" y="50416"/>
                  <a:pt x="59271" y="23812"/>
                  <a:pt x="95250" y="23812"/>
                </a:cubicBezTo>
                <a:cubicBezTo>
                  <a:pt x="111770" y="23812"/>
                  <a:pt x="126950" y="29394"/>
                  <a:pt x="139043" y="38807"/>
                </a:cubicBezTo>
                <a:lnTo>
                  <a:pt x="121667" y="56183"/>
                </a:lnTo>
                <a:cubicBezTo>
                  <a:pt x="119100" y="58750"/>
                  <a:pt x="118356" y="62582"/>
                  <a:pt x="119732" y="65931"/>
                </a:cubicBezTo>
                <a:cubicBezTo>
                  <a:pt x="121109" y="69279"/>
                  <a:pt x="124383" y="71438"/>
                  <a:pt x="127992" y="71438"/>
                </a:cubicBezTo>
                <a:lnTo>
                  <a:pt x="178631" y="71438"/>
                </a:lnTo>
                <a:close/>
                <a:moveTo>
                  <a:pt x="189570" y="108831"/>
                </a:moveTo>
                <a:cubicBezTo>
                  <a:pt x="190500" y="102319"/>
                  <a:pt x="185961" y="96292"/>
                  <a:pt x="179487" y="95362"/>
                </a:cubicBezTo>
                <a:cubicBezTo>
                  <a:pt x="173013" y="94431"/>
                  <a:pt x="166948" y="98971"/>
                  <a:pt x="166018" y="105445"/>
                </a:cubicBezTo>
                <a:cubicBezTo>
                  <a:pt x="161069" y="140047"/>
                  <a:pt x="131266" y="166650"/>
                  <a:pt x="95287" y="166650"/>
                </a:cubicBezTo>
                <a:cubicBezTo>
                  <a:pt x="78767" y="166650"/>
                  <a:pt x="63587" y="161069"/>
                  <a:pt x="51495" y="151656"/>
                </a:cubicBezTo>
                <a:lnTo>
                  <a:pt x="68833" y="134317"/>
                </a:lnTo>
                <a:cubicBezTo>
                  <a:pt x="71400" y="131750"/>
                  <a:pt x="72144" y="127918"/>
                  <a:pt x="70768" y="124569"/>
                </a:cubicBezTo>
                <a:cubicBezTo>
                  <a:pt x="69391" y="121221"/>
                  <a:pt x="66117" y="119063"/>
                  <a:pt x="62508" y="119063"/>
                </a:cubicBezTo>
                <a:lnTo>
                  <a:pt x="8930" y="119063"/>
                </a:lnTo>
                <a:cubicBezTo>
                  <a:pt x="3981" y="119063"/>
                  <a:pt x="0" y="123044"/>
                  <a:pt x="0" y="127992"/>
                </a:cubicBezTo>
                <a:lnTo>
                  <a:pt x="0" y="181570"/>
                </a:lnTo>
                <a:cubicBezTo>
                  <a:pt x="0" y="185179"/>
                  <a:pt x="2158" y="188454"/>
                  <a:pt x="5507" y="189830"/>
                </a:cubicBezTo>
                <a:cubicBezTo>
                  <a:pt x="8855" y="191207"/>
                  <a:pt x="12688" y="190426"/>
                  <a:pt x="15255" y="187896"/>
                </a:cubicBezTo>
                <a:lnTo>
                  <a:pt x="34528" y="168622"/>
                </a:lnTo>
                <a:cubicBezTo>
                  <a:pt x="50974" y="182277"/>
                  <a:pt x="72182" y="190500"/>
                  <a:pt x="95250" y="190500"/>
                </a:cubicBezTo>
                <a:cubicBezTo>
                  <a:pt x="143247" y="190500"/>
                  <a:pt x="182947" y="155004"/>
                  <a:pt x="189533" y="108831"/>
                </a:cubicBezTo>
                <a:close/>
              </a:path>
            </a:pathLst>
          </a:custGeom>
          <a:solidFill>
            <a:srgbClr val="8B0000"/>
          </a:solidFill>
        </p:spPr>
      </p:sp>
      <p:sp>
        <p:nvSpPr>
          <p:cNvPr id="23" name="Text 21"/>
          <p:cNvSpPr/>
          <p:nvPr/>
        </p:nvSpPr>
        <p:spPr>
          <a:xfrm>
            <a:off x="8889950" y="1733550"/>
            <a:ext cx="19145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Strategic Adaptation</a:t>
            </a:r>
            <a:endParaRPr lang="en-US" sz="1600" dirty="0"/>
          </a:p>
        </p:txBody>
      </p:sp>
      <p:sp>
        <p:nvSpPr>
          <p:cNvPr id="24" name="Text 22"/>
          <p:cNvSpPr/>
          <p:nvPr/>
        </p:nvSpPr>
        <p:spPr>
          <a:xfrm>
            <a:off x="8318450" y="2247900"/>
            <a:ext cx="3381375" cy="742950"/>
          </a:xfrm>
          <a:prstGeom prst="rect">
            <a:avLst/>
          </a:prstGeom>
          <a:noFill/>
        </p:spPr>
        <p:txBody>
          <a:bodyPr wrap="square" lIns="0" tIns="0" rIns="0" bIns="0" rtlCol="0" anchor="ctr"/>
          <a:lstStyle/>
          <a:p>
            <a:pPr>
              <a:lnSpc>
                <a:spcPct val="140000"/>
              </a:lnSpc>
            </a:pP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Technological disruptions induce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organizational learning</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—funds may shift from efficiency-focused routines to exploratory behavior.</a:t>
            </a:r>
            <a:endParaRPr lang="en-US" sz="1600" dirty="0"/>
          </a:p>
        </p:txBody>
      </p:sp>
      <p:sp>
        <p:nvSpPr>
          <p:cNvPr id="25" name="Text 23"/>
          <p:cNvSpPr/>
          <p:nvPr/>
        </p:nvSpPr>
        <p:spPr>
          <a:xfrm>
            <a:off x="8318450" y="3105150"/>
            <a:ext cx="3371850" cy="628650"/>
          </a:xfrm>
          <a:prstGeom prst="rect">
            <a:avLst/>
          </a:prstGeom>
          <a:noFill/>
        </p:spPr>
        <p:txBody>
          <a:bodyPr wrap="square" lIns="0" tIns="0" rIns="0" bIns="0" rtlCol="0" anchor="ctr"/>
          <a:lstStyle/>
          <a:p>
            <a:pPr>
              <a:lnSpc>
                <a:spcPct val="14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"Discontinuous change induces organizations to leave efficiency-focused routines in favour of exploration" (Xiao et al., 2021; Scholten et al., 2019)</a:t>
            </a:r>
            <a:endParaRPr lang="en-US" sz="1600" dirty="0"/>
          </a:p>
        </p:txBody>
      </p:sp>
      <p:sp>
        <p:nvSpPr>
          <p:cNvPr id="26" name="Shape 24"/>
          <p:cNvSpPr/>
          <p:nvPr/>
        </p:nvSpPr>
        <p:spPr>
          <a:xfrm>
            <a:off x="400050" y="4076700"/>
            <a:ext cx="11410950" cy="2247900"/>
          </a:xfrm>
          <a:custGeom>
            <a:avLst/>
            <a:gdLst/>
            <a:ahLst/>
            <a:cxnLst/>
            <a:rect l="l" t="t" r="r" b="b"/>
            <a:pathLst>
              <a:path w="11410950" h="2247900">
                <a:moveTo>
                  <a:pt x="38100" y="0"/>
                </a:moveTo>
                <a:lnTo>
                  <a:pt x="11334746" y="0"/>
                </a:lnTo>
                <a:cubicBezTo>
                  <a:pt x="11376832" y="0"/>
                  <a:pt x="11410950" y="34118"/>
                  <a:pt x="11410950" y="76204"/>
                </a:cubicBezTo>
                <a:lnTo>
                  <a:pt x="11410950" y="2171696"/>
                </a:lnTo>
                <a:cubicBezTo>
                  <a:pt x="11410950" y="2213782"/>
                  <a:pt x="11376832" y="2247900"/>
                  <a:pt x="11334746" y="2247900"/>
                </a:cubicBezTo>
                <a:lnTo>
                  <a:pt x="38100" y="2247900"/>
                </a:lnTo>
                <a:cubicBezTo>
                  <a:pt x="17072" y="2247900"/>
                  <a:pt x="0" y="2230828"/>
                  <a:pt x="0" y="2209800"/>
                </a:cubicBezTo>
                <a:lnTo>
                  <a:pt x="0" y="38100"/>
                </a:lnTo>
                <a:cubicBezTo>
                  <a:pt x="0" y="17072"/>
                  <a:pt x="17072" y="0"/>
                  <a:pt x="38100" y="0"/>
                </a:cubicBezTo>
                <a:close/>
              </a:path>
            </a:pathLst>
          </a:custGeom>
          <a:solidFill>
            <a:srgbClr val="8B0000">
              <a:alpha val="5098"/>
            </a:srgbClr>
          </a:solidFill>
        </p:spPr>
      </p:sp>
      <p:sp>
        <p:nvSpPr>
          <p:cNvPr id="27" name="Shape 25"/>
          <p:cNvSpPr/>
          <p:nvPr/>
        </p:nvSpPr>
        <p:spPr>
          <a:xfrm>
            <a:off x="400050" y="4076700"/>
            <a:ext cx="38100" cy="2247900"/>
          </a:xfrm>
          <a:custGeom>
            <a:avLst/>
            <a:gdLst/>
            <a:ahLst/>
            <a:cxnLst/>
            <a:rect l="l" t="t" r="r" b="b"/>
            <a:pathLst>
              <a:path w="38100" h="2247900">
                <a:moveTo>
                  <a:pt x="38100" y="0"/>
                </a:moveTo>
                <a:lnTo>
                  <a:pt x="38100" y="0"/>
                </a:lnTo>
                <a:lnTo>
                  <a:pt x="38100" y="2247900"/>
                </a:lnTo>
                <a:lnTo>
                  <a:pt x="38100" y="2247900"/>
                </a:lnTo>
                <a:cubicBezTo>
                  <a:pt x="17072" y="2247900"/>
                  <a:pt x="0" y="2230828"/>
                  <a:pt x="0" y="2209800"/>
                </a:cubicBezTo>
                <a:lnTo>
                  <a:pt x="0" y="38100"/>
                </a:lnTo>
                <a:cubicBezTo>
                  <a:pt x="0" y="17072"/>
                  <a:pt x="17072" y="0"/>
                  <a:pt x="38100" y="0"/>
                </a:cubicBezTo>
                <a:close/>
              </a:path>
            </a:pathLst>
          </a:custGeom>
          <a:solidFill>
            <a:srgbClr val="8B0000"/>
          </a:solidFill>
        </p:spPr>
      </p:sp>
      <p:sp>
        <p:nvSpPr>
          <p:cNvPr id="28" name="Shape 26"/>
          <p:cNvSpPr/>
          <p:nvPr/>
        </p:nvSpPr>
        <p:spPr>
          <a:xfrm>
            <a:off x="633413" y="4305300"/>
            <a:ext cx="190500" cy="190500"/>
          </a:xfrm>
          <a:custGeom>
            <a:avLst/>
            <a:gdLst/>
            <a:ahLst/>
            <a:cxnLst/>
            <a:rect l="l" t="t" r="r" b="b"/>
            <a:pathLst>
              <a:path w="190500" h="190500">
                <a:moveTo>
                  <a:pt x="95250" y="0"/>
                </a:moveTo>
                <a:cubicBezTo>
                  <a:pt x="100719" y="0"/>
                  <a:pt x="105742" y="3014"/>
                  <a:pt x="108347" y="7813"/>
                </a:cubicBezTo>
                <a:lnTo>
                  <a:pt x="188714" y="156642"/>
                </a:lnTo>
                <a:cubicBezTo>
                  <a:pt x="191207" y="161255"/>
                  <a:pt x="191095" y="166836"/>
                  <a:pt x="188416" y="171338"/>
                </a:cubicBezTo>
                <a:cubicBezTo>
                  <a:pt x="185737" y="175840"/>
                  <a:pt x="180863" y="178594"/>
                  <a:pt x="175617" y="178594"/>
                </a:cubicBezTo>
                <a:lnTo>
                  <a:pt x="14883" y="178594"/>
                </a:lnTo>
                <a:cubicBezTo>
                  <a:pt x="9637" y="178594"/>
                  <a:pt x="4800" y="175840"/>
                  <a:pt x="2084" y="171338"/>
                </a:cubicBezTo>
                <a:cubicBezTo>
                  <a:pt x="-633" y="166836"/>
                  <a:pt x="-707" y="161255"/>
                  <a:pt x="1786" y="156642"/>
                </a:cubicBezTo>
                <a:lnTo>
                  <a:pt x="82153" y="7813"/>
                </a:lnTo>
                <a:cubicBezTo>
                  <a:pt x="84758" y="3014"/>
                  <a:pt x="89781" y="0"/>
                  <a:pt x="95250" y="0"/>
                </a:cubicBezTo>
                <a:close/>
                <a:moveTo>
                  <a:pt x="95250" y="62508"/>
                </a:moveTo>
                <a:cubicBezTo>
                  <a:pt x="90301" y="62508"/>
                  <a:pt x="86320" y="66489"/>
                  <a:pt x="86320" y="71438"/>
                </a:cubicBezTo>
                <a:lnTo>
                  <a:pt x="86320" y="113109"/>
                </a:lnTo>
                <a:cubicBezTo>
                  <a:pt x="86320" y="118058"/>
                  <a:pt x="90301" y="122039"/>
                  <a:pt x="95250" y="122039"/>
                </a:cubicBezTo>
                <a:cubicBezTo>
                  <a:pt x="100199" y="122039"/>
                  <a:pt x="104180" y="118058"/>
                  <a:pt x="104180" y="113109"/>
                </a:cubicBezTo>
                <a:lnTo>
                  <a:pt x="104180" y="71438"/>
                </a:lnTo>
                <a:cubicBezTo>
                  <a:pt x="104180" y="66489"/>
                  <a:pt x="100199" y="62508"/>
                  <a:pt x="95250" y="62508"/>
                </a:cubicBezTo>
                <a:close/>
                <a:moveTo>
                  <a:pt x="105184" y="142875"/>
                </a:moveTo>
                <a:cubicBezTo>
                  <a:pt x="105410" y="139188"/>
                  <a:pt x="103571" y="135679"/>
                  <a:pt x="100410" y="133767"/>
                </a:cubicBezTo>
                <a:cubicBezTo>
                  <a:pt x="97249" y="131855"/>
                  <a:pt x="93288" y="131855"/>
                  <a:pt x="90127" y="133767"/>
                </a:cubicBezTo>
                <a:cubicBezTo>
                  <a:pt x="86966" y="135679"/>
                  <a:pt x="85127" y="139188"/>
                  <a:pt x="85353" y="142875"/>
                </a:cubicBezTo>
                <a:cubicBezTo>
                  <a:pt x="85127" y="146562"/>
                  <a:pt x="86966" y="150071"/>
                  <a:pt x="90127" y="151983"/>
                </a:cubicBezTo>
                <a:cubicBezTo>
                  <a:pt x="93288" y="153895"/>
                  <a:pt x="97249" y="153895"/>
                  <a:pt x="100410" y="151983"/>
                </a:cubicBezTo>
                <a:cubicBezTo>
                  <a:pt x="103571" y="150071"/>
                  <a:pt x="105410" y="146562"/>
                  <a:pt x="105184" y="142875"/>
                </a:cubicBezTo>
                <a:close/>
              </a:path>
            </a:pathLst>
          </a:custGeom>
          <a:solidFill>
            <a:srgbClr val="8B0000"/>
          </a:solidFill>
        </p:spPr>
      </p:sp>
      <p:sp>
        <p:nvSpPr>
          <p:cNvPr id="29" name="Text 27"/>
          <p:cNvSpPr/>
          <p:nvPr/>
        </p:nvSpPr>
        <p:spPr>
          <a:xfrm>
            <a:off x="847725" y="4267200"/>
            <a:ext cx="108680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Research Gap</a:t>
            </a:r>
            <a:endParaRPr lang="en-US" sz="1600" dirty="0"/>
          </a:p>
        </p:txBody>
      </p:sp>
      <p:sp>
        <p:nvSpPr>
          <p:cNvPr id="30" name="Text 28"/>
          <p:cNvSpPr/>
          <p:nvPr/>
        </p:nvSpPr>
        <p:spPr>
          <a:xfrm>
            <a:off x="609600" y="4686300"/>
            <a:ext cx="5467350" cy="7429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Current literature gap:</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Despite extensive research on investor attention and thematic investment, </a:t>
            </a:r>
            <a:r>
              <a:rPr lang="en-US" sz="12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no studies examine how AI exposure affects mutual fund capital flows and managerial responses</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
            </a:r>
            <a:endParaRPr lang="en-US" sz="1600" dirty="0"/>
          </a:p>
        </p:txBody>
      </p:sp>
      <p:sp>
        <p:nvSpPr>
          <p:cNvPr id="31" name="Text 29"/>
          <p:cNvSpPr/>
          <p:nvPr/>
        </p:nvSpPr>
        <p:spPr>
          <a:xfrm>
            <a:off x="609600" y="5543550"/>
            <a:ext cx="54673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Existing work focuses on enterprise-level AI adoption (Harb, 2025) but overlooks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managers' strategic adaptation</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to technological shocks.</a:t>
            </a:r>
            <a:endParaRPr lang="en-US" sz="1600" dirty="0"/>
          </a:p>
        </p:txBody>
      </p:sp>
      <p:sp>
        <p:nvSpPr>
          <p:cNvPr id="32" name="Shape 30"/>
          <p:cNvSpPr/>
          <p:nvPr/>
        </p:nvSpPr>
        <p:spPr>
          <a:xfrm>
            <a:off x="6229350" y="4686300"/>
            <a:ext cx="5391150" cy="1447800"/>
          </a:xfrm>
          <a:custGeom>
            <a:avLst/>
            <a:gdLst/>
            <a:ahLst/>
            <a:cxnLst/>
            <a:rect l="l" t="t" r="r" b="b"/>
            <a:pathLst>
              <a:path w="5391150" h="1447800">
                <a:moveTo>
                  <a:pt x="76198" y="0"/>
                </a:moveTo>
                <a:lnTo>
                  <a:pt x="5314952" y="0"/>
                </a:lnTo>
                <a:cubicBezTo>
                  <a:pt x="5357007" y="0"/>
                  <a:pt x="5391150" y="34143"/>
                  <a:pt x="5391150" y="76198"/>
                </a:cubicBezTo>
                <a:lnTo>
                  <a:pt x="5391150" y="1371602"/>
                </a:lnTo>
                <a:cubicBezTo>
                  <a:pt x="5391150" y="1413657"/>
                  <a:pt x="5357007" y="1447800"/>
                  <a:pt x="5314952" y="1447800"/>
                </a:cubicBezTo>
                <a:lnTo>
                  <a:pt x="76198" y="1447800"/>
                </a:lnTo>
                <a:cubicBezTo>
                  <a:pt x="34143" y="1447800"/>
                  <a:pt x="0" y="1413657"/>
                  <a:pt x="0" y="1371602"/>
                </a:cubicBezTo>
                <a:lnTo>
                  <a:pt x="0" y="76198"/>
                </a:lnTo>
                <a:cubicBezTo>
                  <a:pt x="0" y="34143"/>
                  <a:pt x="34143" y="0"/>
                  <a:pt x="76198" y="0"/>
                </a:cubicBezTo>
                <a:close/>
              </a:path>
            </a:pathLst>
          </a:custGeom>
          <a:solidFill>
            <a:srgbClr val="FFFFFF"/>
          </a:solidFill>
        </p:spPr>
      </p:sp>
      <p:sp>
        <p:nvSpPr>
          <p:cNvPr id="33" name="Text 31"/>
          <p:cNvSpPr/>
          <p:nvPr/>
        </p:nvSpPr>
        <p:spPr>
          <a:xfrm>
            <a:off x="6381750" y="4838700"/>
            <a:ext cx="516255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This Study Addresses:</a:t>
            </a:r>
            <a:endParaRPr lang="en-US" sz="1600" dirty="0"/>
          </a:p>
        </p:txBody>
      </p:sp>
      <p:sp>
        <p:nvSpPr>
          <p:cNvPr id="34" name="Shape 32"/>
          <p:cNvSpPr/>
          <p:nvPr/>
        </p:nvSpPr>
        <p:spPr>
          <a:xfrm>
            <a:off x="6410325" y="51816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0000"/>
          </a:solidFill>
        </p:spPr>
      </p:sp>
      <p:sp>
        <p:nvSpPr>
          <p:cNvPr id="35" name="Text 33"/>
          <p:cNvSpPr/>
          <p:nvPr/>
        </p:nvSpPr>
        <p:spPr>
          <a:xfrm>
            <a:off x="6648450" y="5143500"/>
            <a:ext cx="30670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How AI exposure influences capital allocation</a:t>
            </a:r>
            <a:endParaRPr lang="en-US" sz="1600" dirty="0"/>
          </a:p>
        </p:txBody>
      </p:sp>
      <p:sp>
        <p:nvSpPr>
          <p:cNvPr id="36" name="Shape 34"/>
          <p:cNvSpPr/>
          <p:nvPr/>
        </p:nvSpPr>
        <p:spPr>
          <a:xfrm>
            <a:off x="6410325" y="54864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0000"/>
          </a:solidFill>
        </p:spPr>
      </p:sp>
      <p:sp>
        <p:nvSpPr>
          <p:cNvPr id="37" name="Text 35"/>
          <p:cNvSpPr/>
          <p:nvPr/>
        </p:nvSpPr>
        <p:spPr>
          <a:xfrm>
            <a:off x="6648450" y="5448300"/>
            <a:ext cx="32766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Performance-flow relationship under tech shocks</a:t>
            </a:r>
            <a:endParaRPr lang="en-US" sz="1600" dirty="0"/>
          </a:p>
        </p:txBody>
      </p:sp>
      <p:sp>
        <p:nvSpPr>
          <p:cNvPr id="38" name="Shape 36"/>
          <p:cNvSpPr/>
          <p:nvPr/>
        </p:nvSpPr>
        <p:spPr>
          <a:xfrm>
            <a:off x="6410325" y="5791200"/>
            <a:ext cx="133350" cy="152400"/>
          </a:xfrm>
          <a:custGeom>
            <a:avLst/>
            <a:gdLst/>
            <a:ahLst/>
            <a:cxnLst/>
            <a:rect l="l" t="t" r="r" b="b"/>
            <a:pathLst>
              <a:path w="133350" h="152400">
                <a:moveTo>
                  <a:pt x="129421" y="20866"/>
                </a:moveTo>
                <a:cubicBezTo>
                  <a:pt x="133677" y="23961"/>
                  <a:pt x="134630" y="29914"/>
                  <a:pt x="131534" y="34171"/>
                </a:cubicBezTo>
                <a:lnTo>
                  <a:pt x="55334" y="138946"/>
                </a:lnTo>
                <a:cubicBezTo>
                  <a:pt x="53697" y="141208"/>
                  <a:pt x="51167" y="142607"/>
                  <a:pt x="48369" y="142845"/>
                </a:cubicBezTo>
                <a:cubicBezTo>
                  <a:pt x="45571" y="143083"/>
                  <a:pt x="42863" y="142042"/>
                  <a:pt x="40898" y="140077"/>
                </a:cubicBezTo>
                <a:lnTo>
                  <a:pt x="2798" y="101977"/>
                </a:lnTo>
                <a:cubicBezTo>
                  <a:pt x="-923" y="98256"/>
                  <a:pt x="-923" y="92214"/>
                  <a:pt x="2798" y="88493"/>
                </a:cubicBezTo>
                <a:cubicBezTo>
                  <a:pt x="6519" y="84773"/>
                  <a:pt x="12561" y="84773"/>
                  <a:pt x="16282" y="88493"/>
                </a:cubicBezTo>
                <a:lnTo>
                  <a:pt x="46494" y="118705"/>
                </a:lnTo>
                <a:lnTo>
                  <a:pt x="116145" y="22949"/>
                </a:lnTo>
                <a:cubicBezTo>
                  <a:pt x="119241" y="18693"/>
                  <a:pt x="125194" y="17740"/>
                  <a:pt x="129451" y="20836"/>
                </a:cubicBezTo>
                <a:close/>
              </a:path>
            </a:pathLst>
          </a:custGeom>
          <a:solidFill>
            <a:srgbClr val="8B0000"/>
          </a:solidFill>
        </p:spPr>
      </p:sp>
      <p:sp>
        <p:nvSpPr>
          <p:cNvPr id="39" name="Text 37"/>
          <p:cNvSpPr/>
          <p:nvPr/>
        </p:nvSpPr>
        <p:spPr>
          <a:xfrm>
            <a:off x="6648450" y="5753100"/>
            <a:ext cx="322897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Managerial exploratory vs. exploitative behavior</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3679" y="343679"/>
            <a:ext cx="11573378" cy="206207"/>
          </a:xfrm>
          <a:prstGeom prst="rect">
            <a:avLst/>
          </a:prstGeom>
          <a:noFill/>
        </p:spPr>
        <p:txBody>
          <a:bodyPr wrap="square" lIns="0" tIns="0" rIns="0" bIns="0" rtlCol="0" anchor="ctr"/>
          <a:lstStyle/>
          <a:p>
            <a:pPr>
              <a:lnSpc>
                <a:spcPct val="130000"/>
              </a:lnSpc>
            </a:pPr>
            <a:r>
              <a:rPr lang="en-US" sz="1080" b="1" kern="0" spc="54"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2. RESEARCH QUESTIONS</a:t>
            </a:r>
            <a:endParaRPr lang="en-US" sz="1600" dirty="0"/>
          </a:p>
        </p:txBody>
      </p:sp>
      <p:sp>
        <p:nvSpPr>
          <p:cNvPr id="3" name="Text 1"/>
          <p:cNvSpPr/>
          <p:nvPr/>
        </p:nvSpPr>
        <p:spPr>
          <a:xfrm>
            <a:off x="343679" y="618622"/>
            <a:ext cx="11659298" cy="343679"/>
          </a:xfrm>
          <a:prstGeom prst="rect">
            <a:avLst/>
          </a:prstGeom>
          <a:noFill/>
        </p:spPr>
        <p:txBody>
          <a:bodyPr wrap="square" lIns="0" tIns="0" rIns="0" bIns="0" rtlCol="0" anchor="ctr"/>
          <a:lstStyle/>
          <a:p>
            <a:pPr>
              <a:lnSpc>
                <a:spcPct val="90000"/>
              </a:lnSpc>
            </a:pPr>
            <a:r>
              <a:rPr lang="en-US" sz="24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Research Questions</a:t>
            </a:r>
            <a:endParaRPr lang="en-US" sz="1600" dirty="0"/>
          </a:p>
        </p:txBody>
      </p:sp>
      <p:sp>
        <p:nvSpPr>
          <p:cNvPr id="4" name="Shape 2"/>
          <p:cNvSpPr/>
          <p:nvPr/>
        </p:nvSpPr>
        <p:spPr>
          <a:xfrm>
            <a:off x="343679" y="1065404"/>
            <a:ext cx="824829" cy="34368"/>
          </a:xfrm>
          <a:custGeom>
            <a:avLst/>
            <a:gdLst/>
            <a:ahLst/>
            <a:cxnLst/>
            <a:rect l="l" t="t" r="r" b="b"/>
            <a:pathLst>
              <a:path w="824829" h="34368">
                <a:moveTo>
                  <a:pt x="0" y="0"/>
                </a:moveTo>
                <a:lnTo>
                  <a:pt x="824829" y="0"/>
                </a:lnTo>
                <a:lnTo>
                  <a:pt x="824829" y="34368"/>
                </a:lnTo>
                <a:lnTo>
                  <a:pt x="0" y="34368"/>
                </a:lnTo>
                <a:lnTo>
                  <a:pt x="0" y="0"/>
                </a:lnTo>
                <a:close/>
              </a:path>
            </a:pathLst>
          </a:custGeom>
          <a:solidFill>
            <a:srgbClr val="8B0000"/>
          </a:solidFill>
        </p:spPr>
      </p:sp>
      <p:sp>
        <p:nvSpPr>
          <p:cNvPr id="5" name="Shape 3"/>
          <p:cNvSpPr/>
          <p:nvPr/>
        </p:nvSpPr>
        <p:spPr>
          <a:xfrm>
            <a:off x="360863" y="1305979"/>
            <a:ext cx="11487459" cy="1357531"/>
          </a:xfrm>
          <a:custGeom>
            <a:avLst/>
            <a:gdLst/>
            <a:ahLst/>
            <a:cxnLst/>
            <a:rect l="l" t="t" r="r" b="b"/>
            <a:pathLst>
              <a:path w="11487459" h="1357531">
                <a:moveTo>
                  <a:pt x="34368" y="0"/>
                </a:moveTo>
                <a:lnTo>
                  <a:pt x="11418727" y="0"/>
                </a:lnTo>
                <a:cubicBezTo>
                  <a:pt x="11456687" y="0"/>
                  <a:pt x="11487459" y="30772"/>
                  <a:pt x="11487459" y="68732"/>
                </a:cubicBezTo>
                <a:lnTo>
                  <a:pt x="11487459" y="1288799"/>
                </a:lnTo>
                <a:cubicBezTo>
                  <a:pt x="11487459" y="1326758"/>
                  <a:pt x="11456687" y="1357531"/>
                  <a:pt x="11418727" y="1357531"/>
                </a:cubicBezTo>
                <a:lnTo>
                  <a:pt x="34368" y="1357531"/>
                </a:lnTo>
                <a:cubicBezTo>
                  <a:pt x="15387" y="1357531"/>
                  <a:pt x="0" y="1342144"/>
                  <a:pt x="0" y="1323163"/>
                </a:cubicBezTo>
                <a:lnTo>
                  <a:pt x="0" y="34368"/>
                </a:lnTo>
                <a:cubicBezTo>
                  <a:pt x="0" y="15400"/>
                  <a:pt x="15400" y="0"/>
                  <a:pt x="34368" y="0"/>
                </a:cubicBezTo>
                <a:close/>
              </a:path>
            </a:pathLst>
          </a:custGeom>
          <a:solidFill>
            <a:srgbClr val="F9FAFB"/>
          </a:solidFill>
        </p:spPr>
      </p:sp>
      <p:sp>
        <p:nvSpPr>
          <p:cNvPr id="6" name="Shape 4"/>
          <p:cNvSpPr/>
          <p:nvPr/>
        </p:nvSpPr>
        <p:spPr>
          <a:xfrm>
            <a:off x="360863" y="1305979"/>
            <a:ext cx="34368" cy="1357531"/>
          </a:xfrm>
          <a:custGeom>
            <a:avLst/>
            <a:gdLst/>
            <a:ahLst/>
            <a:cxnLst/>
            <a:rect l="l" t="t" r="r" b="b"/>
            <a:pathLst>
              <a:path w="34368" h="1357531">
                <a:moveTo>
                  <a:pt x="34368" y="0"/>
                </a:moveTo>
                <a:lnTo>
                  <a:pt x="34368" y="0"/>
                </a:lnTo>
                <a:lnTo>
                  <a:pt x="34368" y="1357531"/>
                </a:lnTo>
                <a:lnTo>
                  <a:pt x="34368" y="1357531"/>
                </a:lnTo>
                <a:cubicBezTo>
                  <a:pt x="15387" y="1357531"/>
                  <a:pt x="0" y="1342144"/>
                  <a:pt x="0" y="1323163"/>
                </a:cubicBezTo>
                <a:lnTo>
                  <a:pt x="0" y="34368"/>
                </a:lnTo>
                <a:cubicBezTo>
                  <a:pt x="0" y="15400"/>
                  <a:pt x="15400" y="0"/>
                  <a:pt x="34368" y="0"/>
                </a:cubicBezTo>
                <a:close/>
              </a:path>
            </a:pathLst>
          </a:custGeom>
          <a:solidFill>
            <a:srgbClr val="8B0000"/>
          </a:solidFill>
        </p:spPr>
      </p:sp>
      <p:sp>
        <p:nvSpPr>
          <p:cNvPr id="7" name="Shape 5"/>
          <p:cNvSpPr/>
          <p:nvPr/>
        </p:nvSpPr>
        <p:spPr>
          <a:xfrm>
            <a:off x="584254" y="1512186"/>
            <a:ext cx="549886" cy="549886"/>
          </a:xfrm>
          <a:custGeom>
            <a:avLst/>
            <a:gdLst/>
            <a:ahLst/>
            <a:cxnLst/>
            <a:rect l="l" t="t" r="r" b="b"/>
            <a:pathLst>
              <a:path w="549886" h="549886">
                <a:moveTo>
                  <a:pt x="274943" y="0"/>
                </a:moveTo>
                <a:lnTo>
                  <a:pt x="274943" y="0"/>
                </a:lnTo>
                <a:cubicBezTo>
                  <a:pt x="426688" y="0"/>
                  <a:pt x="549886" y="123198"/>
                  <a:pt x="549886" y="274943"/>
                </a:cubicBezTo>
                <a:lnTo>
                  <a:pt x="549886" y="274943"/>
                </a:lnTo>
                <a:cubicBezTo>
                  <a:pt x="549886" y="426688"/>
                  <a:pt x="426688" y="549886"/>
                  <a:pt x="274943" y="549886"/>
                </a:cubicBezTo>
                <a:lnTo>
                  <a:pt x="274943" y="549886"/>
                </a:lnTo>
                <a:cubicBezTo>
                  <a:pt x="123198" y="549886"/>
                  <a:pt x="0" y="426688"/>
                  <a:pt x="0" y="274943"/>
                </a:cubicBezTo>
                <a:lnTo>
                  <a:pt x="0" y="274943"/>
                </a:lnTo>
                <a:cubicBezTo>
                  <a:pt x="0" y="123198"/>
                  <a:pt x="123198" y="0"/>
                  <a:pt x="274943" y="0"/>
                </a:cubicBezTo>
                <a:close/>
              </a:path>
            </a:pathLst>
          </a:custGeom>
          <a:solidFill>
            <a:srgbClr val="8B0000"/>
          </a:solidFill>
        </p:spPr>
      </p:sp>
      <p:sp>
        <p:nvSpPr>
          <p:cNvPr id="8" name="Text 6"/>
          <p:cNvSpPr/>
          <p:nvPr/>
        </p:nvSpPr>
        <p:spPr>
          <a:xfrm>
            <a:off x="532702" y="1512186"/>
            <a:ext cx="652989" cy="549886"/>
          </a:xfrm>
          <a:prstGeom prst="rect">
            <a:avLst/>
          </a:prstGeom>
          <a:noFill/>
        </p:spPr>
        <p:txBody>
          <a:bodyPr wrap="square" lIns="0" tIns="0" rIns="0" bIns="0" rtlCol="0" anchor="ctr"/>
          <a:lstStyle/>
          <a:p>
            <a:pPr algn="ctr">
              <a:lnSpc>
                <a:spcPct val="110000"/>
              </a:lnSpc>
            </a:pPr>
            <a:r>
              <a:rPr lang="en-US" sz="162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RQ1</a:t>
            </a:r>
            <a:endParaRPr lang="en-US" sz="1600" dirty="0"/>
          </a:p>
        </p:txBody>
      </p:sp>
      <p:sp>
        <p:nvSpPr>
          <p:cNvPr id="9" name="Text 7"/>
          <p:cNvSpPr/>
          <p:nvPr/>
        </p:nvSpPr>
        <p:spPr>
          <a:xfrm>
            <a:off x="1305979" y="1512186"/>
            <a:ext cx="10439239" cy="266351"/>
          </a:xfrm>
          <a:prstGeom prst="rect">
            <a:avLst/>
          </a:prstGeom>
          <a:noFill/>
        </p:spPr>
        <p:txBody>
          <a:bodyPr wrap="square" lIns="0" tIns="0" rIns="0" bIns="0" rtlCol="0" anchor="ctr"/>
          <a:lstStyle/>
          <a:p>
            <a:pPr>
              <a:lnSpc>
                <a:spcPct val="110000"/>
              </a:lnSpc>
            </a:pPr>
            <a:r>
              <a:rPr lang="en-US" sz="16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Capital Flow Effect</a:t>
            </a:r>
            <a:endParaRPr lang="en-US" sz="1600" dirty="0"/>
          </a:p>
        </p:txBody>
      </p:sp>
      <p:sp>
        <p:nvSpPr>
          <p:cNvPr id="10" name="Text 8"/>
          <p:cNvSpPr/>
          <p:nvPr/>
        </p:nvSpPr>
        <p:spPr>
          <a:xfrm>
            <a:off x="1305979" y="1890233"/>
            <a:ext cx="8834208" cy="223391"/>
          </a:xfrm>
          <a:prstGeom prst="rect">
            <a:avLst/>
          </a:prstGeom>
          <a:noFill/>
        </p:spPr>
        <p:txBody>
          <a:bodyPr wrap="square" lIns="0" tIns="0" rIns="0" bIns="0" rtlCol="0" anchor="ctr"/>
          <a:lstStyle/>
          <a:p>
            <a:pPr>
              <a:lnSpc>
                <a:spcPct val="140000"/>
              </a:lnSpc>
            </a:pPr>
            <a:r>
              <a:rPr lang="en-US" sz="12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Since ChatGPT's release, have funds with higher levels of AI-related investment experienced more favorable capital inflows?</a:t>
            </a:r>
            <a:endParaRPr lang="en-US" sz="1600" dirty="0"/>
          </a:p>
        </p:txBody>
      </p:sp>
      <p:sp>
        <p:nvSpPr>
          <p:cNvPr id="11" name="Shape 9"/>
          <p:cNvSpPr/>
          <p:nvPr/>
        </p:nvSpPr>
        <p:spPr>
          <a:xfrm>
            <a:off x="1323163" y="2259687"/>
            <a:ext cx="137471" cy="137471"/>
          </a:xfrm>
          <a:custGeom>
            <a:avLst/>
            <a:gdLst/>
            <a:ahLst/>
            <a:cxnLst/>
            <a:rect l="l" t="t" r="r" b="b"/>
            <a:pathLst>
              <a:path w="137471" h="137471">
                <a:moveTo>
                  <a:pt x="134948" y="74804"/>
                </a:moveTo>
                <a:cubicBezTo>
                  <a:pt x="138304" y="71448"/>
                  <a:pt x="138304" y="65997"/>
                  <a:pt x="134948" y="62641"/>
                </a:cubicBezTo>
                <a:lnTo>
                  <a:pt x="91988" y="19681"/>
                </a:lnTo>
                <a:cubicBezTo>
                  <a:pt x="88632" y="16325"/>
                  <a:pt x="83181" y="16325"/>
                  <a:pt x="79825" y="19681"/>
                </a:cubicBezTo>
                <a:cubicBezTo>
                  <a:pt x="76468" y="23037"/>
                  <a:pt x="76468" y="28488"/>
                  <a:pt x="79825" y="31844"/>
                </a:cubicBezTo>
                <a:lnTo>
                  <a:pt x="108125" y="60144"/>
                </a:lnTo>
                <a:lnTo>
                  <a:pt x="8592" y="60144"/>
                </a:lnTo>
                <a:cubicBezTo>
                  <a:pt x="3840" y="60144"/>
                  <a:pt x="0" y="63983"/>
                  <a:pt x="0" y="68736"/>
                </a:cubicBezTo>
                <a:cubicBezTo>
                  <a:pt x="0" y="73488"/>
                  <a:pt x="3840" y="77328"/>
                  <a:pt x="8592" y="77328"/>
                </a:cubicBezTo>
                <a:lnTo>
                  <a:pt x="108125" y="77328"/>
                </a:lnTo>
                <a:lnTo>
                  <a:pt x="79825" y="105627"/>
                </a:lnTo>
                <a:cubicBezTo>
                  <a:pt x="76468" y="108984"/>
                  <a:pt x="76468" y="114434"/>
                  <a:pt x="79825" y="117790"/>
                </a:cubicBezTo>
                <a:cubicBezTo>
                  <a:pt x="83181" y="121147"/>
                  <a:pt x="88632" y="121147"/>
                  <a:pt x="91988" y="117790"/>
                </a:cubicBezTo>
                <a:lnTo>
                  <a:pt x="134948" y="74831"/>
                </a:lnTo>
                <a:close/>
              </a:path>
            </a:pathLst>
          </a:custGeom>
          <a:solidFill>
            <a:srgbClr val="8B0000"/>
          </a:solidFill>
        </p:spPr>
      </p:sp>
      <p:sp>
        <p:nvSpPr>
          <p:cNvPr id="12" name="Text 10"/>
          <p:cNvSpPr/>
          <p:nvPr/>
        </p:nvSpPr>
        <p:spPr>
          <a:xfrm>
            <a:off x="1524320" y="2233911"/>
            <a:ext cx="10186530" cy="223391"/>
          </a:xfrm>
          <a:prstGeom prst="rect">
            <a:avLst/>
          </a:prstGeom>
          <a:noFill/>
        </p:spPr>
        <p:txBody>
          <a:bodyPr wrap="square" lIns="0" tIns="0" rIns="0" bIns="0" rtlCol="0" anchor="ctr"/>
          <a:lstStyle/>
          <a:p>
            <a:pPr>
              <a:lnSpc>
                <a:spcPct val="140000"/>
              </a:lnSpc>
            </a:pP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Tests whether the AI narrative redirected investor attention and capital toward AI-exposed funds, consistent with attention-driven allocation theory.</a:t>
            </a:r>
            <a:endParaRPr lang="en-US" sz="1600" dirty="0"/>
          </a:p>
        </p:txBody>
      </p:sp>
      <p:sp>
        <p:nvSpPr>
          <p:cNvPr id="13" name="Shape 11"/>
          <p:cNvSpPr/>
          <p:nvPr/>
        </p:nvSpPr>
        <p:spPr>
          <a:xfrm>
            <a:off x="360863" y="2869717"/>
            <a:ext cx="11487459" cy="1357531"/>
          </a:xfrm>
          <a:custGeom>
            <a:avLst/>
            <a:gdLst/>
            <a:ahLst/>
            <a:cxnLst/>
            <a:rect l="l" t="t" r="r" b="b"/>
            <a:pathLst>
              <a:path w="11487459" h="1357531">
                <a:moveTo>
                  <a:pt x="34368" y="0"/>
                </a:moveTo>
                <a:lnTo>
                  <a:pt x="11418727" y="0"/>
                </a:lnTo>
                <a:cubicBezTo>
                  <a:pt x="11456687" y="0"/>
                  <a:pt x="11487459" y="30772"/>
                  <a:pt x="11487459" y="68732"/>
                </a:cubicBezTo>
                <a:lnTo>
                  <a:pt x="11487459" y="1288799"/>
                </a:lnTo>
                <a:cubicBezTo>
                  <a:pt x="11487459" y="1326758"/>
                  <a:pt x="11456687" y="1357531"/>
                  <a:pt x="11418727" y="1357531"/>
                </a:cubicBezTo>
                <a:lnTo>
                  <a:pt x="34368" y="1357531"/>
                </a:lnTo>
                <a:cubicBezTo>
                  <a:pt x="15387" y="1357531"/>
                  <a:pt x="0" y="1342144"/>
                  <a:pt x="0" y="1323163"/>
                </a:cubicBezTo>
                <a:lnTo>
                  <a:pt x="0" y="34368"/>
                </a:lnTo>
                <a:cubicBezTo>
                  <a:pt x="0" y="15400"/>
                  <a:pt x="15400" y="0"/>
                  <a:pt x="34368" y="0"/>
                </a:cubicBezTo>
                <a:close/>
              </a:path>
            </a:pathLst>
          </a:custGeom>
          <a:solidFill>
            <a:srgbClr val="F9FAFB"/>
          </a:solidFill>
        </p:spPr>
      </p:sp>
      <p:sp>
        <p:nvSpPr>
          <p:cNvPr id="14" name="Shape 12"/>
          <p:cNvSpPr/>
          <p:nvPr/>
        </p:nvSpPr>
        <p:spPr>
          <a:xfrm>
            <a:off x="360863" y="2869717"/>
            <a:ext cx="34368" cy="1357531"/>
          </a:xfrm>
          <a:custGeom>
            <a:avLst/>
            <a:gdLst/>
            <a:ahLst/>
            <a:cxnLst/>
            <a:rect l="l" t="t" r="r" b="b"/>
            <a:pathLst>
              <a:path w="34368" h="1357531">
                <a:moveTo>
                  <a:pt x="34368" y="0"/>
                </a:moveTo>
                <a:lnTo>
                  <a:pt x="34368" y="0"/>
                </a:lnTo>
                <a:lnTo>
                  <a:pt x="34368" y="1357531"/>
                </a:lnTo>
                <a:lnTo>
                  <a:pt x="34368" y="1357531"/>
                </a:lnTo>
                <a:cubicBezTo>
                  <a:pt x="15387" y="1357531"/>
                  <a:pt x="0" y="1342144"/>
                  <a:pt x="0" y="1323163"/>
                </a:cubicBezTo>
                <a:lnTo>
                  <a:pt x="0" y="34368"/>
                </a:lnTo>
                <a:cubicBezTo>
                  <a:pt x="0" y="15400"/>
                  <a:pt x="15400" y="0"/>
                  <a:pt x="34368" y="0"/>
                </a:cubicBezTo>
                <a:close/>
              </a:path>
            </a:pathLst>
          </a:custGeom>
          <a:solidFill>
            <a:srgbClr val="8B0000"/>
          </a:solidFill>
        </p:spPr>
      </p:sp>
      <p:sp>
        <p:nvSpPr>
          <p:cNvPr id="15" name="Shape 13"/>
          <p:cNvSpPr/>
          <p:nvPr/>
        </p:nvSpPr>
        <p:spPr>
          <a:xfrm>
            <a:off x="584254" y="3075924"/>
            <a:ext cx="549886" cy="549886"/>
          </a:xfrm>
          <a:custGeom>
            <a:avLst/>
            <a:gdLst/>
            <a:ahLst/>
            <a:cxnLst/>
            <a:rect l="l" t="t" r="r" b="b"/>
            <a:pathLst>
              <a:path w="549886" h="549886">
                <a:moveTo>
                  <a:pt x="274943" y="0"/>
                </a:moveTo>
                <a:lnTo>
                  <a:pt x="274943" y="0"/>
                </a:lnTo>
                <a:cubicBezTo>
                  <a:pt x="426688" y="0"/>
                  <a:pt x="549886" y="123198"/>
                  <a:pt x="549886" y="274943"/>
                </a:cubicBezTo>
                <a:lnTo>
                  <a:pt x="549886" y="274943"/>
                </a:lnTo>
                <a:cubicBezTo>
                  <a:pt x="549886" y="426688"/>
                  <a:pt x="426688" y="549886"/>
                  <a:pt x="274943" y="549886"/>
                </a:cubicBezTo>
                <a:lnTo>
                  <a:pt x="274943" y="549886"/>
                </a:lnTo>
                <a:cubicBezTo>
                  <a:pt x="123198" y="549886"/>
                  <a:pt x="0" y="426688"/>
                  <a:pt x="0" y="274943"/>
                </a:cubicBezTo>
                <a:lnTo>
                  <a:pt x="0" y="274943"/>
                </a:lnTo>
                <a:cubicBezTo>
                  <a:pt x="0" y="123198"/>
                  <a:pt x="123198" y="0"/>
                  <a:pt x="274943" y="0"/>
                </a:cubicBezTo>
                <a:close/>
              </a:path>
            </a:pathLst>
          </a:custGeom>
          <a:solidFill>
            <a:srgbClr val="8B0000"/>
          </a:solidFill>
        </p:spPr>
      </p:sp>
      <p:sp>
        <p:nvSpPr>
          <p:cNvPr id="16" name="Text 14"/>
          <p:cNvSpPr/>
          <p:nvPr/>
        </p:nvSpPr>
        <p:spPr>
          <a:xfrm>
            <a:off x="532702" y="3075924"/>
            <a:ext cx="652989" cy="549886"/>
          </a:xfrm>
          <a:prstGeom prst="rect">
            <a:avLst/>
          </a:prstGeom>
          <a:noFill/>
        </p:spPr>
        <p:txBody>
          <a:bodyPr wrap="square" lIns="0" tIns="0" rIns="0" bIns="0" rtlCol="0" anchor="ctr"/>
          <a:lstStyle/>
          <a:p>
            <a:pPr algn="ctr">
              <a:lnSpc>
                <a:spcPct val="110000"/>
              </a:lnSpc>
            </a:pPr>
            <a:r>
              <a:rPr lang="en-US" sz="162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RQ2</a:t>
            </a:r>
            <a:endParaRPr lang="en-US" sz="1600" dirty="0"/>
          </a:p>
        </p:txBody>
      </p:sp>
      <p:sp>
        <p:nvSpPr>
          <p:cNvPr id="17" name="Text 15"/>
          <p:cNvSpPr/>
          <p:nvPr/>
        </p:nvSpPr>
        <p:spPr>
          <a:xfrm>
            <a:off x="1305979" y="3075924"/>
            <a:ext cx="10439239" cy="266351"/>
          </a:xfrm>
          <a:prstGeom prst="rect">
            <a:avLst/>
          </a:prstGeom>
          <a:noFill/>
        </p:spPr>
        <p:txBody>
          <a:bodyPr wrap="square" lIns="0" tIns="0" rIns="0" bIns="0" rtlCol="0" anchor="ctr"/>
          <a:lstStyle/>
          <a:p>
            <a:pPr>
              <a:lnSpc>
                <a:spcPct val="110000"/>
              </a:lnSpc>
            </a:pPr>
            <a:r>
              <a:rPr lang="en-US" sz="16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Performance Contingency</a:t>
            </a:r>
            <a:endParaRPr lang="en-US" sz="1600" dirty="0"/>
          </a:p>
        </p:txBody>
      </p:sp>
      <p:sp>
        <p:nvSpPr>
          <p:cNvPr id="18" name="Text 16"/>
          <p:cNvSpPr/>
          <p:nvPr/>
        </p:nvSpPr>
        <p:spPr>
          <a:xfrm>
            <a:off x="1305979" y="3453970"/>
            <a:ext cx="5201835" cy="223391"/>
          </a:xfrm>
          <a:prstGeom prst="rect">
            <a:avLst/>
          </a:prstGeom>
          <a:noFill/>
        </p:spPr>
        <p:txBody>
          <a:bodyPr wrap="square" lIns="0" tIns="0" rIns="0" bIns="0" rtlCol="0" anchor="ctr"/>
          <a:lstStyle/>
          <a:p>
            <a:pPr>
              <a:lnSpc>
                <a:spcPct val="140000"/>
              </a:lnSpc>
            </a:pPr>
            <a:r>
              <a:rPr lang="en-US" sz="12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To what extent is that effect contingent on the fund's prior performance?</a:t>
            </a:r>
            <a:endParaRPr lang="en-US" sz="1600" dirty="0"/>
          </a:p>
        </p:txBody>
      </p:sp>
      <p:sp>
        <p:nvSpPr>
          <p:cNvPr id="19" name="Shape 17"/>
          <p:cNvSpPr/>
          <p:nvPr/>
        </p:nvSpPr>
        <p:spPr>
          <a:xfrm>
            <a:off x="1323163" y="3823425"/>
            <a:ext cx="137471" cy="137471"/>
          </a:xfrm>
          <a:custGeom>
            <a:avLst/>
            <a:gdLst/>
            <a:ahLst/>
            <a:cxnLst/>
            <a:rect l="l" t="t" r="r" b="b"/>
            <a:pathLst>
              <a:path w="137471" h="137471">
                <a:moveTo>
                  <a:pt x="134948" y="74804"/>
                </a:moveTo>
                <a:cubicBezTo>
                  <a:pt x="138304" y="71448"/>
                  <a:pt x="138304" y="65997"/>
                  <a:pt x="134948" y="62641"/>
                </a:cubicBezTo>
                <a:lnTo>
                  <a:pt x="91988" y="19681"/>
                </a:lnTo>
                <a:cubicBezTo>
                  <a:pt x="88632" y="16325"/>
                  <a:pt x="83181" y="16325"/>
                  <a:pt x="79825" y="19681"/>
                </a:cubicBezTo>
                <a:cubicBezTo>
                  <a:pt x="76468" y="23037"/>
                  <a:pt x="76468" y="28488"/>
                  <a:pt x="79825" y="31844"/>
                </a:cubicBezTo>
                <a:lnTo>
                  <a:pt x="108125" y="60144"/>
                </a:lnTo>
                <a:lnTo>
                  <a:pt x="8592" y="60144"/>
                </a:lnTo>
                <a:cubicBezTo>
                  <a:pt x="3840" y="60144"/>
                  <a:pt x="0" y="63983"/>
                  <a:pt x="0" y="68736"/>
                </a:cubicBezTo>
                <a:cubicBezTo>
                  <a:pt x="0" y="73488"/>
                  <a:pt x="3840" y="77328"/>
                  <a:pt x="8592" y="77328"/>
                </a:cubicBezTo>
                <a:lnTo>
                  <a:pt x="108125" y="77328"/>
                </a:lnTo>
                <a:lnTo>
                  <a:pt x="79825" y="105627"/>
                </a:lnTo>
                <a:cubicBezTo>
                  <a:pt x="76468" y="108984"/>
                  <a:pt x="76468" y="114434"/>
                  <a:pt x="79825" y="117790"/>
                </a:cubicBezTo>
                <a:cubicBezTo>
                  <a:pt x="83181" y="121147"/>
                  <a:pt x="88632" y="121147"/>
                  <a:pt x="91988" y="117790"/>
                </a:cubicBezTo>
                <a:lnTo>
                  <a:pt x="134948" y="74831"/>
                </a:lnTo>
                <a:close/>
              </a:path>
            </a:pathLst>
          </a:custGeom>
          <a:solidFill>
            <a:srgbClr val="8B0000"/>
          </a:solidFill>
        </p:spPr>
      </p:sp>
      <p:sp>
        <p:nvSpPr>
          <p:cNvPr id="20" name="Text 18"/>
          <p:cNvSpPr/>
          <p:nvPr/>
        </p:nvSpPr>
        <p:spPr>
          <a:xfrm>
            <a:off x="1524320" y="3797649"/>
            <a:ext cx="10186530" cy="223391"/>
          </a:xfrm>
          <a:prstGeom prst="rect">
            <a:avLst/>
          </a:prstGeom>
          <a:noFill/>
        </p:spPr>
        <p:txBody>
          <a:bodyPr wrap="square" lIns="0" tIns="0" rIns="0" bIns="0" rtlCol="0" anchor="ctr"/>
          <a:lstStyle/>
          <a:p>
            <a:pPr>
              <a:lnSpc>
                <a:spcPct val="140000"/>
              </a:lnSpc>
            </a:pP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Examines whether high-performing funds attract disproportionately larger inflows, reflecting investor confidence in their ability to capitalize on AI opportunities.</a:t>
            </a:r>
            <a:endParaRPr lang="en-US" sz="1600" dirty="0"/>
          </a:p>
        </p:txBody>
      </p:sp>
      <p:sp>
        <p:nvSpPr>
          <p:cNvPr id="21" name="Shape 19"/>
          <p:cNvSpPr/>
          <p:nvPr/>
        </p:nvSpPr>
        <p:spPr>
          <a:xfrm>
            <a:off x="360863" y="4433455"/>
            <a:ext cx="11487459" cy="1580922"/>
          </a:xfrm>
          <a:custGeom>
            <a:avLst/>
            <a:gdLst/>
            <a:ahLst/>
            <a:cxnLst/>
            <a:rect l="l" t="t" r="r" b="b"/>
            <a:pathLst>
              <a:path w="11487459" h="1580922">
                <a:moveTo>
                  <a:pt x="34368" y="0"/>
                </a:moveTo>
                <a:lnTo>
                  <a:pt x="11418720" y="0"/>
                </a:lnTo>
                <a:cubicBezTo>
                  <a:pt x="11456658" y="0"/>
                  <a:pt x="11487459" y="30801"/>
                  <a:pt x="11487459" y="68738"/>
                </a:cubicBezTo>
                <a:lnTo>
                  <a:pt x="11487459" y="1512183"/>
                </a:lnTo>
                <a:cubicBezTo>
                  <a:pt x="11487459" y="1550147"/>
                  <a:pt x="11456684" y="1580922"/>
                  <a:pt x="11418720" y="1580922"/>
                </a:cubicBezTo>
                <a:lnTo>
                  <a:pt x="34368" y="1580922"/>
                </a:lnTo>
                <a:cubicBezTo>
                  <a:pt x="15387" y="1580922"/>
                  <a:pt x="0" y="1565535"/>
                  <a:pt x="0" y="1546554"/>
                </a:cubicBezTo>
                <a:lnTo>
                  <a:pt x="0" y="34368"/>
                </a:lnTo>
                <a:cubicBezTo>
                  <a:pt x="0" y="15400"/>
                  <a:pt x="15400" y="0"/>
                  <a:pt x="34368" y="0"/>
                </a:cubicBezTo>
                <a:close/>
              </a:path>
            </a:pathLst>
          </a:custGeom>
          <a:solidFill>
            <a:srgbClr val="F9FAFB"/>
          </a:solidFill>
        </p:spPr>
      </p:sp>
      <p:sp>
        <p:nvSpPr>
          <p:cNvPr id="22" name="Shape 20"/>
          <p:cNvSpPr/>
          <p:nvPr/>
        </p:nvSpPr>
        <p:spPr>
          <a:xfrm>
            <a:off x="360863" y="4433455"/>
            <a:ext cx="34368" cy="1580922"/>
          </a:xfrm>
          <a:custGeom>
            <a:avLst/>
            <a:gdLst/>
            <a:ahLst/>
            <a:cxnLst/>
            <a:rect l="l" t="t" r="r" b="b"/>
            <a:pathLst>
              <a:path w="34368" h="1580922">
                <a:moveTo>
                  <a:pt x="34368" y="0"/>
                </a:moveTo>
                <a:lnTo>
                  <a:pt x="34368" y="0"/>
                </a:lnTo>
                <a:lnTo>
                  <a:pt x="34368" y="1580922"/>
                </a:lnTo>
                <a:lnTo>
                  <a:pt x="34368" y="1580922"/>
                </a:lnTo>
                <a:cubicBezTo>
                  <a:pt x="15387" y="1580922"/>
                  <a:pt x="0" y="1565535"/>
                  <a:pt x="0" y="1546554"/>
                </a:cubicBezTo>
                <a:lnTo>
                  <a:pt x="0" y="34368"/>
                </a:lnTo>
                <a:cubicBezTo>
                  <a:pt x="0" y="15400"/>
                  <a:pt x="15400" y="0"/>
                  <a:pt x="34368" y="0"/>
                </a:cubicBezTo>
                <a:close/>
              </a:path>
            </a:pathLst>
          </a:custGeom>
          <a:solidFill>
            <a:srgbClr val="8B0000"/>
          </a:solidFill>
        </p:spPr>
      </p:sp>
      <p:sp>
        <p:nvSpPr>
          <p:cNvPr id="23" name="Shape 21"/>
          <p:cNvSpPr/>
          <p:nvPr/>
        </p:nvSpPr>
        <p:spPr>
          <a:xfrm>
            <a:off x="584254" y="4639662"/>
            <a:ext cx="549886" cy="549886"/>
          </a:xfrm>
          <a:custGeom>
            <a:avLst/>
            <a:gdLst/>
            <a:ahLst/>
            <a:cxnLst/>
            <a:rect l="l" t="t" r="r" b="b"/>
            <a:pathLst>
              <a:path w="549886" h="549886">
                <a:moveTo>
                  <a:pt x="274943" y="0"/>
                </a:moveTo>
                <a:lnTo>
                  <a:pt x="274943" y="0"/>
                </a:lnTo>
                <a:cubicBezTo>
                  <a:pt x="426688" y="0"/>
                  <a:pt x="549886" y="123198"/>
                  <a:pt x="549886" y="274943"/>
                </a:cubicBezTo>
                <a:lnTo>
                  <a:pt x="549886" y="274943"/>
                </a:lnTo>
                <a:cubicBezTo>
                  <a:pt x="549886" y="426688"/>
                  <a:pt x="426688" y="549886"/>
                  <a:pt x="274943" y="549886"/>
                </a:cubicBezTo>
                <a:lnTo>
                  <a:pt x="274943" y="549886"/>
                </a:lnTo>
                <a:cubicBezTo>
                  <a:pt x="123198" y="549886"/>
                  <a:pt x="0" y="426688"/>
                  <a:pt x="0" y="274943"/>
                </a:cubicBezTo>
                <a:lnTo>
                  <a:pt x="0" y="274943"/>
                </a:lnTo>
                <a:cubicBezTo>
                  <a:pt x="0" y="123198"/>
                  <a:pt x="123198" y="0"/>
                  <a:pt x="274943" y="0"/>
                </a:cubicBezTo>
                <a:close/>
              </a:path>
            </a:pathLst>
          </a:custGeom>
          <a:solidFill>
            <a:srgbClr val="8B0000"/>
          </a:solidFill>
        </p:spPr>
      </p:sp>
      <p:sp>
        <p:nvSpPr>
          <p:cNvPr id="24" name="Text 22"/>
          <p:cNvSpPr/>
          <p:nvPr/>
        </p:nvSpPr>
        <p:spPr>
          <a:xfrm>
            <a:off x="532702" y="4639662"/>
            <a:ext cx="652989" cy="549886"/>
          </a:xfrm>
          <a:prstGeom prst="rect">
            <a:avLst/>
          </a:prstGeom>
          <a:noFill/>
        </p:spPr>
        <p:txBody>
          <a:bodyPr wrap="square" lIns="0" tIns="0" rIns="0" bIns="0" rtlCol="0" anchor="ctr"/>
          <a:lstStyle/>
          <a:p>
            <a:pPr algn="ctr">
              <a:lnSpc>
                <a:spcPct val="110000"/>
              </a:lnSpc>
            </a:pPr>
            <a:r>
              <a:rPr lang="en-US" sz="162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RQ3</a:t>
            </a:r>
            <a:endParaRPr lang="en-US" sz="1600" dirty="0"/>
          </a:p>
        </p:txBody>
      </p:sp>
      <p:sp>
        <p:nvSpPr>
          <p:cNvPr id="25" name="Text 23"/>
          <p:cNvSpPr/>
          <p:nvPr/>
        </p:nvSpPr>
        <p:spPr>
          <a:xfrm>
            <a:off x="1305979" y="4639662"/>
            <a:ext cx="10439239" cy="266351"/>
          </a:xfrm>
          <a:prstGeom prst="rect">
            <a:avLst/>
          </a:prstGeom>
          <a:noFill/>
        </p:spPr>
        <p:txBody>
          <a:bodyPr wrap="square" lIns="0" tIns="0" rIns="0" bIns="0" rtlCol="0" anchor="ctr"/>
          <a:lstStyle/>
          <a:p>
            <a:pPr>
              <a:lnSpc>
                <a:spcPct val="110000"/>
              </a:lnSpc>
            </a:pPr>
            <a:r>
              <a:rPr lang="en-US" sz="16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Managerial Adaptation</a:t>
            </a:r>
            <a:endParaRPr lang="en-US" sz="1600" dirty="0"/>
          </a:p>
        </p:txBody>
      </p:sp>
      <p:sp>
        <p:nvSpPr>
          <p:cNvPr id="26" name="Text 24"/>
          <p:cNvSpPr/>
          <p:nvPr/>
        </p:nvSpPr>
        <p:spPr>
          <a:xfrm>
            <a:off x="1305979" y="5017708"/>
            <a:ext cx="6057422" cy="223391"/>
          </a:xfrm>
          <a:prstGeom prst="rect">
            <a:avLst/>
          </a:prstGeom>
          <a:noFill/>
        </p:spPr>
        <p:txBody>
          <a:bodyPr wrap="square" lIns="0" tIns="0" rIns="0" bIns="0" rtlCol="0" anchor="ctr"/>
          <a:lstStyle/>
          <a:p>
            <a:pPr>
              <a:lnSpc>
                <a:spcPct val="140000"/>
              </a:lnSpc>
            </a:pPr>
            <a:r>
              <a:rPr lang="en-US" sz="12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After ChatGPT's release, have AI-exposed funds changed their investment methods?</a:t>
            </a:r>
            <a:endParaRPr lang="en-US" sz="1600" dirty="0"/>
          </a:p>
        </p:txBody>
      </p:sp>
      <p:sp>
        <p:nvSpPr>
          <p:cNvPr id="27" name="Shape 25"/>
          <p:cNvSpPr/>
          <p:nvPr/>
        </p:nvSpPr>
        <p:spPr>
          <a:xfrm>
            <a:off x="1323163" y="5387163"/>
            <a:ext cx="137471" cy="137471"/>
          </a:xfrm>
          <a:custGeom>
            <a:avLst/>
            <a:gdLst/>
            <a:ahLst/>
            <a:cxnLst/>
            <a:rect l="l" t="t" r="r" b="b"/>
            <a:pathLst>
              <a:path w="137471" h="137471">
                <a:moveTo>
                  <a:pt x="134948" y="74804"/>
                </a:moveTo>
                <a:cubicBezTo>
                  <a:pt x="138304" y="71448"/>
                  <a:pt x="138304" y="65997"/>
                  <a:pt x="134948" y="62641"/>
                </a:cubicBezTo>
                <a:lnTo>
                  <a:pt x="91988" y="19681"/>
                </a:lnTo>
                <a:cubicBezTo>
                  <a:pt x="88632" y="16325"/>
                  <a:pt x="83181" y="16325"/>
                  <a:pt x="79825" y="19681"/>
                </a:cubicBezTo>
                <a:cubicBezTo>
                  <a:pt x="76468" y="23037"/>
                  <a:pt x="76468" y="28488"/>
                  <a:pt x="79825" y="31844"/>
                </a:cubicBezTo>
                <a:lnTo>
                  <a:pt x="108125" y="60144"/>
                </a:lnTo>
                <a:lnTo>
                  <a:pt x="8592" y="60144"/>
                </a:lnTo>
                <a:cubicBezTo>
                  <a:pt x="3840" y="60144"/>
                  <a:pt x="0" y="63983"/>
                  <a:pt x="0" y="68736"/>
                </a:cubicBezTo>
                <a:cubicBezTo>
                  <a:pt x="0" y="73488"/>
                  <a:pt x="3840" y="77328"/>
                  <a:pt x="8592" y="77328"/>
                </a:cubicBezTo>
                <a:lnTo>
                  <a:pt x="108125" y="77328"/>
                </a:lnTo>
                <a:lnTo>
                  <a:pt x="79825" y="105627"/>
                </a:lnTo>
                <a:cubicBezTo>
                  <a:pt x="76468" y="108984"/>
                  <a:pt x="76468" y="114434"/>
                  <a:pt x="79825" y="117790"/>
                </a:cubicBezTo>
                <a:cubicBezTo>
                  <a:pt x="83181" y="121147"/>
                  <a:pt x="88632" y="121147"/>
                  <a:pt x="91988" y="117790"/>
                </a:cubicBezTo>
                <a:lnTo>
                  <a:pt x="134948" y="74831"/>
                </a:lnTo>
                <a:close/>
              </a:path>
            </a:pathLst>
          </a:custGeom>
          <a:solidFill>
            <a:srgbClr val="8B0000"/>
          </a:solidFill>
        </p:spPr>
      </p:sp>
      <p:sp>
        <p:nvSpPr>
          <p:cNvPr id="28" name="Text 26"/>
          <p:cNvSpPr/>
          <p:nvPr/>
        </p:nvSpPr>
        <p:spPr>
          <a:xfrm>
            <a:off x="1524320" y="5361387"/>
            <a:ext cx="10186530" cy="446782"/>
          </a:xfrm>
          <a:prstGeom prst="rect">
            <a:avLst/>
          </a:prstGeom>
          <a:noFill/>
        </p:spPr>
        <p:txBody>
          <a:bodyPr wrap="square" lIns="0" tIns="0" rIns="0" bIns="0" rtlCol="0" anchor="ctr"/>
          <a:lstStyle/>
          <a:p>
            <a:pPr>
              <a:lnSpc>
                <a:spcPct val="140000"/>
              </a:lnSpc>
            </a:pP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Investigates whether managers exhibit more </a:t>
            </a:r>
            <a:r>
              <a:rPr lang="en-US" sz="10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exploratory behavior</a:t>
            </a:r>
            <a:r>
              <a:rPr lang="en-US" sz="10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(higher turnover, sector reallocation, concentration changes) in response to new capital and AI opportunities.</a:t>
            </a:r>
            <a:endParaRPr lang="en-US" sz="1600" dirty="0"/>
          </a:p>
        </p:txBody>
      </p:sp>
      <p:sp>
        <p:nvSpPr>
          <p:cNvPr id="29" name="Shape 27"/>
          <p:cNvSpPr/>
          <p:nvPr/>
        </p:nvSpPr>
        <p:spPr>
          <a:xfrm>
            <a:off x="343679" y="6151848"/>
            <a:ext cx="11504643" cy="481150"/>
          </a:xfrm>
          <a:custGeom>
            <a:avLst/>
            <a:gdLst/>
            <a:ahLst/>
            <a:cxnLst/>
            <a:rect l="l" t="t" r="r" b="b"/>
            <a:pathLst>
              <a:path w="11504643" h="481150">
                <a:moveTo>
                  <a:pt x="68737" y="0"/>
                </a:moveTo>
                <a:lnTo>
                  <a:pt x="11435906" y="0"/>
                </a:lnTo>
                <a:cubicBezTo>
                  <a:pt x="11473868" y="0"/>
                  <a:pt x="11504643" y="30775"/>
                  <a:pt x="11504643" y="68737"/>
                </a:cubicBezTo>
                <a:lnTo>
                  <a:pt x="11504643" y="412413"/>
                </a:lnTo>
                <a:cubicBezTo>
                  <a:pt x="11504643" y="450375"/>
                  <a:pt x="11473868" y="481150"/>
                  <a:pt x="11435906" y="481150"/>
                </a:cubicBezTo>
                <a:lnTo>
                  <a:pt x="68737" y="481150"/>
                </a:lnTo>
                <a:cubicBezTo>
                  <a:pt x="30775" y="481150"/>
                  <a:pt x="0" y="450375"/>
                  <a:pt x="0" y="412413"/>
                </a:cubicBezTo>
                <a:lnTo>
                  <a:pt x="0" y="68737"/>
                </a:lnTo>
                <a:cubicBezTo>
                  <a:pt x="0" y="30775"/>
                  <a:pt x="30775" y="0"/>
                  <a:pt x="68737" y="0"/>
                </a:cubicBezTo>
                <a:close/>
              </a:path>
            </a:pathLst>
          </a:custGeom>
          <a:solidFill>
            <a:srgbClr val="8B0000">
              <a:alpha val="5098"/>
            </a:srgbClr>
          </a:solidFill>
        </p:spPr>
      </p:sp>
      <p:sp>
        <p:nvSpPr>
          <p:cNvPr id="30" name="Shape 28"/>
          <p:cNvSpPr/>
          <p:nvPr/>
        </p:nvSpPr>
        <p:spPr>
          <a:xfrm>
            <a:off x="2131882" y="6306503"/>
            <a:ext cx="137471" cy="137471"/>
          </a:xfrm>
          <a:custGeom>
            <a:avLst/>
            <a:gdLst/>
            <a:ahLst/>
            <a:cxnLst/>
            <a:rect l="l" t="t" r="r" b="b"/>
            <a:pathLst>
              <a:path w="137471" h="137471">
                <a:moveTo>
                  <a:pt x="68736" y="137471"/>
                </a:moveTo>
                <a:cubicBezTo>
                  <a:pt x="106672" y="137471"/>
                  <a:pt x="137471" y="106672"/>
                  <a:pt x="137471" y="68736"/>
                </a:cubicBezTo>
                <a:cubicBezTo>
                  <a:pt x="137471" y="30799"/>
                  <a:pt x="106672" y="0"/>
                  <a:pt x="68736" y="0"/>
                </a:cubicBezTo>
                <a:cubicBezTo>
                  <a:pt x="30799" y="0"/>
                  <a:pt x="0" y="30799"/>
                  <a:pt x="0" y="68736"/>
                </a:cubicBezTo>
                <a:cubicBezTo>
                  <a:pt x="0" y="106672"/>
                  <a:pt x="30799" y="137471"/>
                  <a:pt x="68736" y="137471"/>
                </a:cubicBezTo>
                <a:close/>
                <a:moveTo>
                  <a:pt x="60144" y="42960"/>
                </a:moveTo>
                <a:cubicBezTo>
                  <a:pt x="60144" y="38218"/>
                  <a:pt x="63994" y="34368"/>
                  <a:pt x="68736" y="34368"/>
                </a:cubicBezTo>
                <a:cubicBezTo>
                  <a:pt x="73478" y="34368"/>
                  <a:pt x="77328" y="38218"/>
                  <a:pt x="77328" y="42960"/>
                </a:cubicBezTo>
                <a:cubicBezTo>
                  <a:pt x="77328" y="47702"/>
                  <a:pt x="73478" y="51552"/>
                  <a:pt x="68736" y="51552"/>
                </a:cubicBezTo>
                <a:cubicBezTo>
                  <a:pt x="63994" y="51552"/>
                  <a:pt x="60144" y="47702"/>
                  <a:pt x="60144" y="42960"/>
                </a:cubicBezTo>
                <a:close/>
                <a:moveTo>
                  <a:pt x="57996" y="60144"/>
                </a:moveTo>
                <a:lnTo>
                  <a:pt x="70884" y="60144"/>
                </a:lnTo>
                <a:cubicBezTo>
                  <a:pt x="74455" y="60144"/>
                  <a:pt x="77328" y="63017"/>
                  <a:pt x="77328" y="66588"/>
                </a:cubicBezTo>
                <a:lnTo>
                  <a:pt x="77328" y="90216"/>
                </a:lnTo>
                <a:lnTo>
                  <a:pt x="79476" y="90216"/>
                </a:lnTo>
                <a:cubicBezTo>
                  <a:pt x="83047" y="90216"/>
                  <a:pt x="85920" y="93089"/>
                  <a:pt x="85920" y="96660"/>
                </a:cubicBezTo>
                <a:cubicBezTo>
                  <a:pt x="85920" y="100231"/>
                  <a:pt x="83047" y="103104"/>
                  <a:pt x="79476" y="103104"/>
                </a:cubicBezTo>
                <a:lnTo>
                  <a:pt x="57996" y="103104"/>
                </a:lnTo>
                <a:cubicBezTo>
                  <a:pt x="54425" y="103104"/>
                  <a:pt x="51552" y="100231"/>
                  <a:pt x="51552" y="96660"/>
                </a:cubicBezTo>
                <a:cubicBezTo>
                  <a:pt x="51552" y="93089"/>
                  <a:pt x="54425" y="90216"/>
                  <a:pt x="57996" y="90216"/>
                </a:cubicBezTo>
                <a:lnTo>
                  <a:pt x="64440" y="90216"/>
                </a:lnTo>
                <a:lnTo>
                  <a:pt x="64440" y="73032"/>
                </a:lnTo>
                <a:lnTo>
                  <a:pt x="57996" y="73032"/>
                </a:lnTo>
                <a:cubicBezTo>
                  <a:pt x="54425" y="73032"/>
                  <a:pt x="51552" y="70159"/>
                  <a:pt x="51552" y="66588"/>
                </a:cubicBezTo>
                <a:cubicBezTo>
                  <a:pt x="51552" y="63017"/>
                  <a:pt x="54425" y="60144"/>
                  <a:pt x="57996" y="60144"/>
                </a:cubicBezTo>
                <a:close/>
              </a:path>
            </a:pathLst>
          </a:custGeom>
          <a:solidFill>
            <a:srgbClr val="8B0000"/>
          </a:solidFill>
        </p:spPr>
      </p:sp>
      <p:sp>
        <p:nvSpPr>
          <p:cNvPr id="31" name="Text 29"/>
          <p:cNvSpPr/>
          <p:nvPr/>
        </p:nvSpPr>
        <p:spPr>
          <a:xfrm>
            <a:off x="665124" y="6289319"/>
            <a:ext cx="11080094" cy="206207"/>
          </a:xfrm>
          <a:prstGeom prst="rect">
            <a:avLst/>
          </a:prstGeom>
          <a:noFill/>
        </p:spPr>
        <p:txBody>
          <a:bodyPr wrap="square" lIns="0" tIns="0" rIns="0" bIns="0" rtlCol="0" anchor="ctr"/>
          <a:lstStyle/>
          <a:p>
            <a:pPr algn="ctr">
              <a:lnSpc>
                <a:spcPct val="130000"/>
              </a:lnSpc>
            </a:pPr>
            <a:r>
              <a:rPr lang="en-US" sz="10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Core Theme:</a:t>
            </a:r>
            <a:r>
              <a:rPr lang="en-US" sz="10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How a single technological innovation reshapes both </a:t>
            </a:r>
            <a:r>
              <a:rPr lang="en-US" sz="108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investor choice</a:t>
            </a:r>
            <a:r>
              <a:rPr lang="en-US" sz="10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08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professional judgment</a:t>
            </a:r>
            <a:r>
              <a:rPr lang="en-US" sz="10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in capital markets</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HYPOTHESES DEVELOPMENT</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H1: AI Exposure and Capital Inflows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400050" y="1371600"/>
            <a:ext cx="5600700" cy="2609850"/>
          </a:xfrm>
          <a:custGeom>
            <a:avLst/>
            <a:gdLst/>
            <a:ahLst/>
            <a:cxnLst/>
            <a:rect l="l" t="t" r="r" b="b"/>
            <a:pathLst>
              <a:path w="5600700" h="2609850">
                <a:moveTo>
                  <a:pt x="38100" y="0"/>
                </a:moveTo>
                <a:lnTo>
                  <a:pt x="5524492" y="0"/>
                </a:lnTo>
                <a:cubicBezTo>
                  <a:pt x="5566581" y="0"/>
                  <a:pt x="5600700" y="34119"/>
                  <a:pt x="5600700" y="76208"/>
                </a:cubicBezTo>
                <a:lnTo>
                  <a:pt x="5600700" y="2533642"/>
                </a:lnTo>
                <a:cubicBezTo>
                  <a:pt x="5600700" y="2575731"/>
                  <a:pt x="5566581" y="2609850"/>
                  <a:pt x="5524492" y="2609850"/>
                </a:cubicBezTo>
                <a:lnTo>
                  <a:pt x="38100" y="2609850"/>
                </a:lnTo>
                <a:cubicBezTo>
                  <a:pt x="17072" y="2609850"/>
                  <a:pt x="0" y="2592778"/>
                  <a:pt x="0" y="2571750"/>
                </a:cubicBezTo>
                <a:lnTo>
                  <a:pt x="0" y="38100"/>
                </a:lnTo>
                <a:cubicBezTo>
                  <a:pt x="0" y="17072"/>
                  <a:pt x="17072" y="0"/>
                  <a:pt x="38100" y="0"/>
                </a:cubicBezTo>
                <a:close/>
              </a:path>
            </a:pathLst>
          </a:custGeom>
          <a:solidFill>
            <a:srgbClr val="8B0000">
              <a:alpha val="5098"/>
            </a:srgbClr>
          </a:solidFill>
        </p:spPr>
      </p:sp>
      <p:sp>
        <p:nvSpPr>
          <p:cNvPr id="6" name="Shape 4"/>
          <p:cNvSpPr/>
          <p:nvPr/>
        </p:nvSpPr>
        <p:spPr>
          <a:xfrm>
            <a:off x="400050" y="1371600"/>
            <a:ext cx="38100" cy="2609850"/>
          </a:xfrm>
          <a:custGeom>
            <a:avLst/>
            <a:gdLst/>
            <a:ahLst/>
            <a:cxnLst/>
            <a:rect l="l" t="t" r="r" b="b"/>
            <a:pathLst>
              <a:path w="38100" h="2609850">
                <a:moveTo>
                  <a:pt x="38100" y="0"/>
                </a:moveTo>
                <a:lnTo>
                  <a:pt x="38100" y="0"/>
                </a:lnTo>
                <a:lnTo>
                  <a:pt x="38100" y="2609850"/>
                </a:lnTo>
                <a:lnTo>
                  <a:pt x="38100" y="2609850"/>
                </a:lnTo>
                <a:cubicBezTo>
                  <a:pt x="17072" y="2609850"/>
                  <a:pt x="0" y="2592778"/>
                  <a:pt x="0" y="2571750"/>
                </a:cubicBezTo>
                <a:lnTo>
                  <a:pt x="0" y="38100"/>
                </a:lnTo>
                <a:cubicBezTo>
                  <a:pt x="0" y="17072"/>
                  <a:pt x="17072" y="0"/>
                  <a:pt x="38100" y="0"/>
                </a:cubicBezTo>
                <a:close/>
              </a:path>
            </a:pathLst>
          </a:custGeom>
          <a:solidFill>
            <a:srgbClr val="8B0000"/>
          </a:solidFill>
        </p:spPr>
      </p:sp>
      <p:sp>
        <p:nvSpPr>
          <p:cNvPr id="7" name="Shape 5"/>
          <p:cNvSpPr/>
          <p:nvPr/>
        </p:nvSpPr>
        <p:spPr>
          <a:xfrm>
            <a:off x="633413" y="1600200"/>
            <a:ext cx="190500" cy="190500"/>
          </a:xfrm>
          <a:custGeom>
            <a:avLst/>
            <a:gdLst/>
            <a:ahLst/>
            <a:cxnLst/>
            <a:rect l="l" t="t" r="r" b="b"/>
            <a:pathLst>
              <a:path w="190500" h="190500">
                <a:moveTo>
                  <a:pt x="44648" y="20836"/>
                </a:moveTo>
                <a:cubicBezTo>
                  <a:pt x="44648" y="9339"/>
                  <a:pt x="53987" y="0"/>
                  <a:pt x="65484" y="0"/>
                </a:cubicBezTo>
                <a:lnTo>
                  <a:pt x="74414" y="0"/>
                </a:lnTo>
                <a:cubicBezTo>
                  <a:pt x="81000" y="0"/>
                  <a:pt x="86320" y="5321"/>
                  <a:pt x="86320" y="11906"/>
                </a:cubicBezTo>
                <a:lnTo>
                  <a:pt x="86320" y="178594"/>
                </a:lnTo>
                <a:cubicBezTo>
                  <a:pt x="86320" y="185179"/>
                  <a:pt x="81000" y="190500"/>
                  <a:pt x="74414" y="190500"/>
                </a:cubicBezTo>
                <a:lnTo>
                  <a:pt x="62508" y="190500"/>
                </a:lnTo>
                <a:cubicBezTo>
                  <a:pt x="51420" y="190500"/>
                  <a:pt x="42081" y="182910"/>
                  <a:pt x="39439" y="172641"/>
                </a:cubicBezTo>
                <a:cubicBezTo>
                  <a:pt x="39179" y="172641"/>
                  <a:pt x="38956" y="172641"/>
                  <a:pt x="38695" y="172641"/>
                </a:cubicBezTo>
                <a:cubicBezTo>
                  <a:pt x="22250" y="172641"/>
                  <a:pt x="8930" y="159321"/>
                  <a:pt x="8930" y="142875"/>
                </a:cubicBezTo>
                <a:cubicBezTo>
                  <a:pt x="8930" y="136178"/>
                  <a:pt x="11162" y="130001"/>
                  <a:pt x="14883" y="125016"/>
                </a:cubicBezTo>
                <a:cubicBezTo>
                  <a:pt x="7665" y="119583"/>
                  <a:pt x="2977" y="110951"/>
                  <a:pt x="2977" y="101203"/>
                </a:cubicBezTo>
                <a:cubicBezTo>
                  <a:pt x="2977" y="89706"/>
                  <a:pt x="9525" y="79697"/>
                  <a:pt x="19050" y="74749"/>
                </a:cubicBezTo>
                <a:cubicBezTo>
                  <a:pt x="16408" y="70284"/>
                  <a:pt x="14883" y="65075"/>
                  <a:pt x="14883" y="59531"/>
                </a:cubicBezTo>
                <a:cubicBezTo>
                  <a:pt x="14883" y="43086"/>
                  <a:pt x="28203" y="29766"/>
                  <a:pt x="44648" y="29766"/>
                </a:cubicBezTo>
                <a:lnTo>
                  <a:pt x="44648" y="20836"/>
                </a:lnTo>
                <a:close/>
                <a:moveTo>
                  <a:pt x="145852" y="20836"/>
                </a:moveTo>
                <a:lnTo>
                  <a:pt x="145852" y="29766"/>
                </a:lnTo>
                <a:cubicBezTo>
                  <a:pt x="162297" y="29766"/>
                  <a:pt x="175617" y="43086"/>
                  <a:pt x="175617" y="59531"/>
                </a:cubicBezTo>
                <a:cubicBezTo>
                  <a:pt x="175617" y="65112"/>
                  <a:pt x="174092" y="70321"/>
                  <a:pt x="171450" y="74749"/>
                </a:cubicBezTo>
                <a:cubicBezTo>
                  <a:pt x="181012" y="79697"/>
                  <a:pt x="187523" y="89669"/>
                  <a:pt x="187523" y="101203"/>
                </a:cubicBezTo>
                <a:cubicBezTo>
                  <a:pt x="187523" y="110951"/>
                  <a:pt x="182835" y="119583"/>
                  <a:pt x="175617" y="125016"/>
                </a:cubicBezTo>
                <a:cubicBezTo>
                  <a:pt x="179338" y="130001"/>
                  <a:pt x="181570" y="136178"/>
                  <a:pt x="181570" y="142875"/>
                </a:cubicBezTo>
                <a:cubicBezTo>
                  <a:pt x="181570" y="159321"/>
                  <a:pt x="168250" y="172641"/>
                  <a:pt x="151805" y="172641"/>
                </a:cubicBezTo>
                <a:cubicBezTo>
                  <a:pt x="151544" y="172641"/>
                  <a:pt x="151321" y="172641"/>
                  <a:pt x="151061" y="172641"/>
                </a:cubicBezTo>
                <a:cubicBezTo>
                  <a:pt x="148419" y="182910"/>
                  <a:pt x="139080" y="190500"/>
                  <a:pt x="127992" y="190500"/>
                </a:cubicBezTo>
                <a:lnTo>
                  <a:pt x="116086" y="190500"/>
                </a:lnTo>
                <a:cubicBezTo>
                  <a:pt x="109500" y="190500"/>
                  <a:pt x="104180" y="185179"/>
                  <a:pt x="104180" y="178594"/>
                </a:cubicBezTo>
                <a:lnTo>
                  <a:pt x="104180" y="11906"/>
                </a:lnTo>
                <a:cubicBezTo>
                  <a:pt x="104180" y="5321"/>
                  <a:pt x="109500" y="0"/>
                  <a:pt x="116086" y="0"/>
                </a:cubicBezTo>
                <a:lnTo>
                  <a:pt x="125016" y="0"/>
                </a:lnTo>
                <a:cubicBezTo>
                  <a:pt x="136513" y="0"/>
                  <a:pt x="145852" y="9339"/>
                  <a:pt x="145852" y="20836"/>
                </a:cubicBezTo>
                <a:close/>
              </a:path>
            </a:pathLst>
          </a:custGeom>
          <a:solidFill>
            <a:srgbClr val="8B0000"/>
          </a:solidFill>
        </p:spPr>
      </p:sp>
      <p:sp>
        <p:nvSpPr>
          <p:cNvPr id="8" name="Text 6"/>
          <p:cNvSpPr/>
          <p:nvPr/>
        </p:nvSpPr>
        <p:spPr>
          <a:xfrm>
            <a:off x="847725" y="156210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Theoretical Foundation</a:t>
            </a:r>
            <a:endParaRPr lang="en-US" sz="1600" dirty="0"/>
          </a:p>
        </p:txBody>
      </p:sp>
      <p:sp>
        <p:nvSpPr>
          <p:cNvPr id="9" name="Text 7"/>
          <p:cNvSpPr/>
          <p:nvPr/>
        </p:nvSpPr>
        <p:spPr>
          <a:xfrm>
            <a:off x="609600" y="1943100"/>
            <a:ext cx="5276850" cy="74295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Attention-Driven Capital Allocation:</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Large technological shocks redirect investor attention and trigger capital reallocation across markets (Chen et al., 2025).</a:t>
            </a:r>
            <a:endParaRPr lang="en-US" sz="1600" dirty="0"/>
          </a:p>
        </p:txBody>
      </p:sp>
      <p:sp>
        <p:nvSpPr>
          <p:cNvPr id="10" name="Text 8"/>
          <p:cNvSpPr/>
          <p:nvPr/>
        </p:nvSpPr>
        <p:spPr>
          <a:xfrm>
            <a:off x="609600" y="2800350"/>
            <a:ext cx="5276850" cy="9906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ChatGPT's launch generated unprecedented public attention, increasing beliefs about future AI-driven productivity growth. Funds holding AI-related assets became increasingly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salient</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attractive</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to investors seeking exposure to the innovation wave.</a:t>
            </a:r>
            <a:endParaRPr lang="en-US" sz="1600" dirty="0"/>
          </a:p>
        </p:txBody>
      </p:sp>
      <p:sp>
        <p:nvSpPr>
          <p:cNvPr id="11" name="Shape 9"/>
          <p:cNvSpPr/>
          <p:nvPr/>
        </p:nvSpPr>
        <p:spPr>
          <a:xfrm>
            <a:off x="400050" y="4133850"/>
            <a:ext cx="5600700" cy="2543175"/>
          </a:xfrm>
          <a:custGeom>
            <a:avLst/>
            <a:gdLst/>
            <a:ahLst/>
            <a:cxnLst/>
            <a:rect l="l" t="t" r="r" b="b"/>
            <a:pathLst>
              <a:path w="5600700" h="2543175">
                <a:moveTo>
                  <a:pt x="38100" y="0"/>
                </a:moveTo>
                <a:lnTo>
                  <a:pt x="5524506" y="0"/>
                </a:lnTo>
                <a:cubicBezTo>
                  <a:pt x="5566587" y="0"/>
                  <a:pt x="5600700" y="34113"/>
                  <a:pt x="5600700" y="76194"/>
                </a:cubicBezTo>
                <a:lnTo>
                  <a:pt x="5600700" y="2466981"/>
                </a:lnTo>
                <a:cubicBezTo>
                  <a:pt x="5600700" y="2509062"/>
                  <a:pt x="5566587" y="2543175"/>
                  <a:pt x="5524506" y="2543175"/>
                </a:cubicBezTo>
                <a:lnTo>
                  <a:pt x="38100" y="2543175"/>
                </a:lnTo>
                <a:cubicBezTo>
                  <a:pt x="17072" y="2543175"/>
                  <a:pt x="0" y="2526103"/>
                  <a:pt x="0" y="2505075"/>
                </a:cubicBezTo>
                <a:lnTo>
                  <a:pt x="0" y="38100"/>
                </a:lnTo>
                <a:cubicBezTo>
                  <a:pt x="0" y="17072"/>
                  <a:pt x="17072" y="0"/>
                  <a:pt x="38100" y="0"/>
                </a:cubicBezTo>
                <a:close/>
              </a:path>
            </a:pathLst>
          </a:custGeom>
          <a:solidFill>
            <a:srgbClr val="F9FAFB"/>
          </a:solidFill>
        </p:spPr>
      </p:sp>
      <p:sp>
        <p:nvSpPr>
          <p:cNvPr id="12" name="Shape 10"/>
          <p:cNvSpPr/>
          <p:nvPr/>
        </p:nvSpPr>
        <p:spPr>
          <a:xfrm>
            <a:off x="400050" y="4133850"/>
            <a:ext cx="38100" cy="2543175"/>
          </a:xfrm>
          <a:custGeom>
            <a:avLst/>
            <a:gdLst/>
            <a:ahLst/>
            <a:cxnLst/>
            <a:rect l="l" t="t" r="r" b="b"/>
            <a:pathLst>
              <a:path w="38100" h="2543175">
                <a:moveTo>
                  <a:pt x="38100" y="0"/>
                </a:moveTo>
                <a:lnTo>
                  <a:pt x="38100" y="0"/>
                </a:lnTo>
                <a:lnTo>
                  <a:pt x="38100" y="2543175"/>
                </a:lnTo>
                <a:lnTo>
                  <a:pt x="38100" y="2543175"/>
                </a:lnTo>
                <a:cubicBezTo>
                  <a:pt x="17072" y="2543175"/>
                  <a:pt x="0" y="2526103"/>
                  <a:pt x="0" y="2505075"/>
                </a:cubicBezTo>
                <a:lnTo>
                  <a:pt x="0" y="38100"/>
                </a:lnTo>
                <a:cubicBezTo>
                  <a:pt x="0" y="17072"/>
                  <a:pt x="17072" y="0"/>
                  <a:pt x="38100" y="0"/>
                </a:cubicBezTo>
                <a:close/>
              </a:path>
            </a:pathLst>
          </a:custGeom>
          <a:solidFill>
            <a:srgbClr val="8B0000"/>
          </a:solidFill>
        </p:spPr>
      </p:sp>
      <p:sp>
        <p:nvSpPr>
          <p:cNvPr id="13" name="Shape 11"/>
          <p:cNvSpPr/>
          <p:nvPr/>
        </p:nvSpPr>
        <p:spPr>
          <a:xfrm>
            <a:off x="645319" y="4362450"/>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8B0000"/>
          </a:solidFill>
        </p:spPr>
      </p:sp>
      <p:sp>
        <p:nvSpPr>
          <p:cNvPr id="14" name="Text 12"/>
          <p:cNvSpPr/>
          <p:nvPr/>
        </p:nvSpPr>
        <p:spPr>
          <a:xfrm>
            <a:off x="847725" y="432435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Hypothesis 1</a:t>
            </a:r>
            <a:endParaRPr lang="en-US" sz="1600" dirty="0"/>
          </a:p>
        </p:txBody>
      </p:sp>
      <p:sp>
        <p:nvSpPr>
          <p:cNvPr id="15" name="Shape 13"/>
          <p:cNvSpPr/>
          <p:nvPr/>
        </p:nvSpPr>
        <p:spPr>
          <a:xfrm>
            <a:off x="619125" y="4714875"/>
            <a:ext cx="5181600" cy="1152525"/>
          </a:xfrm>
          <a:custGeom>
            <a:avLst/>
            <a:gdLst/>
            <a:ahLst/>
            <a:cxnLst/>
            <a:rect l="l" t="t" r="r" b="b"/>
            <a:pathLst>
              <a:path w="5181600" h="1152525">
                <a:moveTo>
                  <a:pt x="76205" y="0"/>
                </a:moveTo>
                <a:lnTo>
                  <a:pt x="5105395" y="0"/>
                </a:lnTo>
                <a:cubicBezTo>
                  <a:pt x="5147482" y="0"/>
                  <a:pt x="5181600" y="34118"/>
                  <a:pt x="5181600" y="76205"/>
                </a:cubicBezTo>
                <a:lnTo>
                  <a:pt x="5181600" y="1076320"/>
                </a:lnTo>
                <a:cubicBezTo>
                  <a:pt x="5181600" y="1118407"/>
                  <a:pt x="5147482" y="1152525"/>
                  <a:pt x="5105395" y="1152525"/>
                </a:cubicBezTo>
                <a:lnTo>
                  <a:pt x="76205" y="1152525"/>
                </a:lnTo>
                <a:cubicBezTo>
                  <a:pt x="34118" y="1152525"/>
                  <a:pt x="0" y="1118407"/>
                  <a:pt x="0" y="1076320"/>
                </a:cubicBezTo>
                <a:lnTo>
                  <a:pt x="0" y="76205"/>
                </a:lnTo>
                <a:cubicBezTo>
                  <a:pt x="0" y="34146"/>
                  <a:pt x="34146" y="0"/>
                  <a:pt x="76205" y="0"/>
                </a:cubicBezTo>
                <a:close/>
              </a:path>
            </a:pathLst>
          </a:custGeom>
          <a:solidFill>
            <a:srgbClr val="FFFFFF"/>
          </a:solidFill>
          <a:ln w="25400">
            <a:solidFill>
              <a:srgbClr val="8B0000">
                <a:alpha val="30196"/>
              </a:srgbClr>
            </a:solidFill>
            <a:prstDash val="solid"/>
          </a:ln>
        </p:spPr>
      </p:sp>
      <p:sp>
        <p:nvSpPr>
          <p:cNvPr id="16" name="Text 14"/>
          <p:cNvSpPr/>
          <p:nvPr/>
        </p:nvSpPr>
        <p:spPr>
          <a:xfrm>
            <a:off x="738188" y="4876800"/>
            <a:ext cx="4943475" cy="828675"/>
          </a:xfrm>
          <a:prstGeom prst="rect">
            <a:avLst/>
          </a:prstGeom>
          <a:noFill/>
        </p:spPr>
        <p:txBody>
          <a:bodyPr wrap="square" lIns="0" tIns="0" rIns="0" bIns="0" rtlCol="0" anchor="ctr"/>
          <a:lstStyle/>
          <a:p>
            <a:pPr algn="ctr">
              <a:lnSpc>
                <a:spcPct val="14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Following the release of ChatGPT, funds with higher exposure to artificial intelligence experienced significantly higher capital inflows compared to non-AI funds.</a:t>
            </a:r>
            <a:endParaRPr lang="en-US" sz="1600" dirty="0"/>
          </a:p>
        </p:txBody>
      </p:sp>
      <p:sp>
        <p:nvSpPr>
          <p:cNvPr id="17" name="Text 15"/>
          <p:cNvSpPr/>
          <p:nvPr/>
        </p:nvSpPr>
        <p:spPr>
          <a:xfrm>
            <a:off x="609600" y="5991225"/>
            <a:ext cx="52768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This hypothesis tests the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attention mechanism</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whether the AI narrative created a demand shock that favored pre-exposed funds.</a:t>
            </a:r>
            <a:endParaRPr lang="en-US" sz="1600" dirty="0"/>
          </a:p>
        </p:txBody>
      </p:sp>
      <p:sp>
        <p:nvSpPr>
          <p:cNvPr id="18" name="Shape 16"/>
          <p:cNvSpPr/>
          <p:nvPr/>
        </p:nvSpPr>
        <p:spPr>
          <a:xfrm>
            <a:off x="6191250" y="1390650"/>
            <a:ext cx="5619750" cy="3686175"/>
          </a:xfrm>
          <a:custGeom>
            <a:avLst/>
            <a:gdLst/>
            <a:ahLst/>
            <a:cxnLst/>
            <a:rect l="l" t="t" r="r" b="b"/>
            <a:pathLst>
              <a:path w="5619750" h="3686175">
                <a:moveTo>
                  <a:pt x="38100" y="0"/>
                </a:moveTo>
                <a:lnTo>
                  <a:pt x="5581650" y="0"/>
                </a:lnTo>
                <a:cubicBezTo>
                  <a:pt x="5602678" y="0"/>
                  <a:pt x="5619750" y="17072"/>
                  <a:pt x="5619750" y="38100"/>
                </a:cubicBezTo>
                <a:lnTo>
                  <a:pt x="5619750" y="3609982"/>
                </a:lnTo>
                <a:cubicBezTo>
                  <a:pt x="5619750" y="3652062"/>
                  <a:pt x="5585637" y="3686175"/>
                  <a:pt x="5543557" y="3686175"/>
                </a:cubicBezTo>
                <a:lnTo>
                  <a:pt x="76193" y="3686175"/>
                </a:lnTo>
                <a:cubicBezTo>
                  <a:pt x="34113" y="3686175"/>
                  <a:pt x="0" y="3652062"/>
                  <a:pt x="0" y="3609982"/>
                </a:cubicBezTo>
                <a:lnTo>
                  <a:pt x="0" y="38100"/>
                </a:lnTo>
                <a:cubicBezTo>
                  <a:pt x="0" y="17072"/>
                  <a:pt x="17072" y="0"/>
                  <a:pt x="38100" y="0"/>
                </a:cubicBezTo>
                <a:close/>
              </a:path>
            </a:pathLst>
          </a:custGeom>
          <a:solidFill>
            <a:srgbClr val="F9FAFB"/>
          </a:solidFill>
        </p:spPr>
      </p:sp>
      <p:sp>
        <p:nvSpPr>
          <p:cNvPr id="19" name="Shape 17"/>
          <p:cNvSpPr/>
          <p:nvPr/>
        </p:nvSpPr>
        <p:spPr>
          <a:xfrm>
            <a:off x="6191250" y="1390650"/>
            <a:ext cx="5619750" cy="38100"/>
          </a:xfrm>
          <a:custGeom>
            <a:avLst/>
            <a:gdLst/>
            <a:ahLst/>
            <a:cxnLst/>
            <a:rect l="l" t="t" r="r" b="b"/>
            <a:pathLst>
              <a:path w="5619750" h="38100">
                <a:moveTo>
                  <a:pt x="38100" y="0"/>
                </a:moveTo>
                <a:lnTo>
                  <a:pt x="5581650" y="0"/>
                </a:lnTo>
                <a:cubicBezTo>
                  <a:pt x="5602678" y="0"/>
                  <a:pt x="5619750" y="17072"/>
                  <a:pt x="5619750" y="38100"/>
                </a:cubicBezTo>
                <a:lnTo>
                  <a:pt x="5619750" y="38100"/>
                </a:lnTo>
                <a:lnTo>
                  <a:pt x="0" y="38100"/>
                </a:lnTo>
                <a:lnTo>
                  <a:pt x="0" y="38100"/>
                </a:lnTo>
                <a:cubicBezTo>
                  <a:pt x="0" y="17072"/>
                  <a:pt x="17072" y="0"/>
                  <a:pt x="38100" y="0"/>
                </a:cubicBezTo>
                <a:close/>
              </a:path>
            </a:pathLst>
          </a:custGeom>
          <a:solidFill>
            <a:srgbClr val="8B0000"/>
          </a:solidFill>
        </p:spPr>
      </p:sp>
      <p:sp>
        <p:nvSpPr>
          <p:cNvPr id="20" name="Shape 18"/>
          <p:cNvSpPr/>
          <p:nvPr/>
        </p:nvSpPr>
        <p:spPr>
          <a:xfrm>
            <a:off x="6429375" y="1638300"/>
            <a:ext cx="142875" cy="190500"/>
          </a:xfrm>
          <a:custGeom>
            <a:avLst/>
            <a:gdLst/>
            <a:ahLst/>
            <a:cxnLst/>
            <a:rect l="l" t="t" r="r" b="b"/>
            <a:pathLst>
              <a:path w="142875" h="190500">
                <a:moveTo>
                  <a:pt x="23812" y="0"/>
                </a:moveTo>
                <a:cubicBezTo>
                  <a:pt x="10678" y="0"/>
                  <a:pt x="0" y="10678"/>
                  <a:pt x="0" y="23812"/>
                </a:cubicBezTo>
                <a:lnTo>
                  <a:pt x="0" y="166688"/>
                </a:lnTo>
                <a:cubicBezTo>
                  <a:pt x="0" y="179822"/>
                  <a:pt x="10678" y="190500"/>
                  <a:pt x="23812" y="190500"/>
                </a:cubicBezTo>
                <a:lnTo>
                  <a:pt x="119063" y="190500"/>
                </a:lnTo>
                <a:cubicBezTo>
                  <a:pt x="132197" y="190500"/>
                  <a:pt x="142875" y="179822"/>
                  <a:pt x="142875" y="166688"/>
                </a:cubicBezTo>
                <a:lnTo>
                  <a:pt x="142875" y="23812"/>
                </a:lnTo>
                <a:cubicBezTo>
                  <a:pt x="142875" y="10678"/>
                  <a:pt x="132197" y="0"/>
                  <a:pt x="119063" y="0"/>
                </a:cubicBezTo>
                <a:lnTo>
                  <a:pt x="23812" y="0"/>
                </a:lnTo>
                <a:close/>
                <a:moveTo>
                  <a:pt x="35719" y="23812"/>
                </a:moveTo>
                <a:lnTo>
                  <a:pt x="107156" y="23812"/>
                </a:lnTo>
                <a:cubicBezTo>
                  <a:pt x="113742" y="23812"/>
                  <a:pt x="119063" y="29133"/>
                  <a:pt x="119063" y="35719"/>
                </a:cubicBezTo>
                <a:lnTo>
                  <a:pt x="119063" y="47625"/>
                </a:lnTo>
                <a:cubicBezTo>
                  <a:pt x="119063" y="54211"/>
                  <a:pt x="113742" y="59531"/>
                  <a:pt x="107156" y="59531"/>
                </a:cubicBezTo>
                <a:lnTo>
                  <a:pt x="35719" y="59531"/>
                </a:lnTo>
                <a:cubicBezTo>
                  <a:pt x="29133" y="59531"/>
                  <a:pt x="23812" y="54211"/>
                  <a:pt x="23812" y="47625"/>
                </a:cubicBezTo>
                <a:lnTo>
                  <a:pt x="23812" y="35719"/>
                </a:lnTo>
                <a:cubicBezTo>
                  <a:pt x="23812" y="29133"/>
                  <a:pt x="29133" y="23812"/>
                  <a:pt x="35719" y="23812"/>
                </a:cubicBezTo>
                <a:close/>
                <a:moveTo>
                  <a:pt x="41672" y="86320"/>
                </a:moveTo>
                <a:cubicBezTo>
                  <a:pt x="41672" y="91249"/>
                  <a:pt x="37671" y="95250"/>
                  <a:pt x="32742" y="95250"/>
                </a:cubicBezTo>
                <a:cubicBezTo>
                  <a:pt x="27814" y="95250"/>
                  <a:pt x="23812" y="91249"/>
                  <a:pt x="23812" y="86320"/>
                </a:cubicBezTo>
                <a:cubicBezTo>
                  <a:pt x="23812" y="81392"/>
                  <a:pt x="27814" y="77391"/>
                  <a:pt x="32742" y="77391"/>
                </a:cubicBezTo>
                <a:cubicBezTo>
                  <a:pt x="37671" y="77391"/>
                  <a:pt x="41672" y="81392"/>
                  <a:pt x="41672" y="86320"/>
                </a:cubicBezTo>
                <a:close/>
                <a:moveTo>
                  <a:pt x="71438" y="95250"/>
                </a:moveTo>
                <a:cubicBezTo>
                  <a:pt x="66509" y="95250"/>
                  <a:pt x="62508" y="91249"/>
                  <a:pt x="62508" y="86320"/>
                </a:cubicBezTo>
                <a:cubicBezTo>
                  <a:pt x="62508" y="81392"/>
                  <a:pt x="66509" y="77391"/>
                  <a:pt x="71438" y="77391"/>
                </a:cubicBezTo>
                <a:cubicBezTo>
                  <a:pt x="76366" y="77391"/>
                  <a:pt x="80367" y="81392"/>
                  <a:pt x="80367" y="86320"/>
                </a:cubicBezTo>
                <a:cubicBezTo>
                  <a:pt x="80367" y="91249"/>
                  <a:pt x="76366" y="95250"/>
                  <a:pt x="71438" y="95250"/>
                </a:cubicBezTo>
                <a:close/>
                <a:moveTo>
                  <a:pt x="119063" y="86320"/>
                </a:moveTo>
                <a:cubicBezTo>
                  <a:pt x="119063" y="91249"/>
                  <a:pt x="115061" y="95250"/>
                  <a:pt x="110133" y="95250"/>
                </a:cubicBezTo>
                <a:cubicBezTo>
                  <a:pt x="105204" y="95250"/>
                  <a:pt x="101203" y="91249"/>
                  <a:pt x="101203" y="86320"/>
                </a:cubicBezTo>
                <a:cubicBezTo>
                  <a:pt x="101203" y="81392"/>
                  <a:pt x="105204" y="77391"/>
                  <a:pt x="110133" y="77391"/>
                </a:cubicBezTo>
                <a:cubicBezTo>
                  <a:pt x="115061" y="77391"/>
                  <a:pt x="119063" y="81392"/>
                  <a:pt x="119063" y="86320"/>
                </a:cubicBezTo>
                <a:close/>
                <a:moveTo>
                  <a:pt x="32742" y="130969"/>
                </a:moveTo>
                <a:cubicBezTo>
                  <a:pt x="27814" y="130969"/>
                  <a:pt x="23812" y="126967"/>
                  <a:pt x="23812" y="122039"/>
                </a:cubicBezTo>
                <a:cubicBezTo>
                  <a:pt x="23812" y="117111"/>
                  <a:pt x="27814" y="113109"/>
                  <a:pt x="32742" y="113109"/>
                </a:cubicBezTo>
                <a:cubicBezTo>
                  <a:pt x="37671" y="113109"/>
                  <a:pt x="41672" y="117111"/>
                  <a:pt x="41672" y="122039"/>
                </a:cubicBezTo>
                <a:cubicBezTo>
                  <a:pt x="41672" y="126967"/>
                  <a:pt x="37671" y="130969"/>
                  <a:pt x="32742" y="130969"/>
                </a:cubicBezTo>
                <a:close/>
                <a:moveTo>
                  <a:pt x="80367" y="122039"/>
                </a:moveTo>
                <a:cubicBezTo>
                  <a:pt x="80367" y="126967"/>
                  <a:pt x="76366" y="130969"/>
                  <a:pt x="71438" y="130969"/>
                </a:cubicBezTo>
                <a:cubicBezTo>
                  <a:pt x="66509" y="130969"/>
                  <a:pt x="62508" y="126967"/>
                  <a:pt x="62508" y="122039"/>
                </a:cubicBezTo>
                <a:cubicBezTo>
                  <a:pt x="62508" y="117111"/>
                  <a:pt x="66509" y="113109"/>
                  <a:pt x="71438" y="113109"/>
                </a:cubicBezTo>
                <a:cubicBezTo>
                  <a:pt x="76366" y="113109"/>
                  <a:pt x="80367" y="117111"/>
                  <a:pt x="80367" y="122039"/>
                </a:cubicBezTo>
                <a:close/>
                <a:moveTo>
                  <a:pt x="110133" y="130969"/>
                </a:moveTo>
                <a:cubicBezTo>
                  <a:pt x="105204" y="130969"/>
                  <a:pt x="101203" y="126967"/>
                  <a:pt x="101203" y="122039"/>
                </a:cubicBezTo>
                <a:cubicBezTo>
                  <a:pt x="101203" y="117111"/>
                  <a:pt x="105204" y="113109"/>
                  <a:pt x="110133" y="113109"/>
                </a:cubicBezTo>
                <a:cubicBezTo>
                  <a:pt x="115061" y="113109"/>
                  <a:pt x="119063" y="117111"/>
                  <a:pt x="119063" y="122039"/>
                </a:cubicBezTo>
                <a:cubicBezTo>
                  <a:pt x="119063" y="126967"/>
                  <a:pt x="115061" y="130969"/>
                  <a:pt x="110133" y="130969"/>
                </a:cubicBezTo>
                <a:close/>
                <a:moveTo>
                  <a:pt x="23812" y="157758"/>
                </a:moveTo>
                <a:cubicBezTo>
                  <a:pt x="23812" y="152809"/>
                  <a:pt x="27794" y="148828"/>
                  <a:pt x="32742" y="148828"/>
                </a:cubicBezTo>
                <a:lnTo>
                  <a:pt x="74414" y="148828"/>
                </a:lnTo>
                <a:cubicBezTo>
                  <a:pt x="79363" y="148828"/>
                  <a:pt x="83344" y="152809"/>
                  <a:pt x="83344" y="157758"/>
                </a:cubicBezTo>
                <a:cubicBezTo>
                  <a:pt x="83344" y="162706"/>
                  <a:pt x="79363" y="166688"/>
                  <a:pt x="74414" y="166688"/>
                </a:cubicBezTo>
                <a:lnTo>
                  <a:pt x="32742" y="166688"/>
                </a:lnTo>
                <a:cubicBezTo>
                  <a:pt x="27794" y="166688"/>
                  <a:pt x="23812" y="162706"/>
                  <a:pt x="23812" y="157758"/>
                </a:cubicBezTo>
                <a:close/>
                <a:moveTo>
                  <a:pt x="110133" y="148828"/>
                </a:moveTo>
                <a:cubicBezTo>
                  <a:pt x="115081" y="148828"/>
                  <a:pt x="119063" y="152809"/>
                  <a:pt x="119063" y="157758"/>
                </a:cubicBezTo>
                <a:cubicBezTo>
                  <a:pt x="119063" y="162706"/>
                  <a:pt x="115081" y="166688"/>
                  <a:pt x="110133" y="166688"/>
                </a:cubicBezTo>
                <a:cubicBezTo>
                  <a:pt x="105184" y="166688"/>
                  <a:pt x="101203" y="162706"/>
                  <a:pt x="101203" y="157758"/>
                </a:cubicBezTo>
                <a:cubicBezTo>
                  <a:pt x="101203" y="152809"/>
                  <a:pt x="105184" y="148828"/>
                  <a:pt x="110133" y="148828"/>
                </a:cubicBezTo>
                <a:close/>
              </a:path>
            </a:pathLst>
          </a:custGeom>
          <a:solidFill>
            <a:srgbClr val="8B0000"/>
          </a:solidFill>
        </p:spPr>
      </p:sp>
      <p:sp>
        <p:nvSpPr>
          <p:cNvPr id="21" name="Text 19"/>
          <p:cNvSpPr/>
          <p:nvPr/>
        </p:nvSpPr>
        <p:spPr>
          <a:xfrm>
            <a:off x="6619875" y="1600200"/>
            <a:ext cx="50958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Baseline DiD Framework</a:t>
            </a:r>
            <a:endParaRPr lang="en-US" sz="1600" dirty="0"/>
          </a:p>
        </p:txBody>
      </p:sp>
      <p:sp>
        <p:nvSpPr>
          <p:cNvPr id="22" name="Shape 20"/>
          <p:cNvSpPr/>
          <p:nvPr/>
        </p:nvSpPr>
        <p:spPr>
          <a:xfrm>
            <a:off x="6396038" y="2019300"/>
            <a:ext cx="5224463" cy="723900"/>
          </a:xfrm>
          <a:custGeom>
            <a:avLst/>
            <a:gdLst/>
            <a:ahLst/>
            <a:cxnLst/>
            <a:rect l="l" t="t" r="r" b="b"/>
            <a:pathLst>
              <a:path w="5224463" h="723900">
                <a:moveTo>
                  <a:pt x="0" y="0"/>
                </a:moveTo>
                <a:lnTo>
                  <a:pt x="5224463" y="0"/>
                </a:lnTo>
                <a:lnTo>
                  <a:pt x="5224463" y="723900"/>
                </a:lnTo>
                <a:lnTo>
                  <a:pt x="0" y="723900"/>
                </a:lnTo>
                <a:lnTo>
                  <a:pt x="0" y="0"/>
                </a:lnTo>
                <a:close/>
              </a:path>
            </a:pathLst>
          </a:custGeom>
          <a:solidFill>
            <a:srgbClr val="F9FAFB"/>
          </a:solidFill>
        </p:spPr>
      </p:sp>
      <p:sp>
        <p:nvSpPr>
          <p:cNvPr id="23" name="Shape 21"/>
          <p:cNvSpPr/>
          <p:nvPr/>
        </p:nvSpPr>
        <p:spPr>
          <a:xfrm>
            <a:off x="6396038" y="2019300"/>
            <a:ext cx="28575" cy="723900"/>
          </a:xfrm>
          <a:custGeom>
            <a:avLst/>
            <a:gdLst/>
            <a:ahLst/>
            <a:cxnLst/>
            <a:rect l="l" t="t" r="r" b="b"/>
            <a:pathLst>
              <a:path w="28575" h="723900">
                <a:moveTo>
                  <a:pt x="0" y="0"/>
                </a:moveTo>
                <a:lnTo>
                  <a:pt x="28575" y="0"/>
                </a:lnTo>
                <a:lnTo>
                  <a:pt x="28575" y="723900"/>
                </a:lnTo>
                <a:lnTo>
                  <a:pt x="0" y="723900"/>
                </a:lnTo>
                <a:lnTo>
                  <a:pt x="0" y="0"/>
                </a:lnTo>
                <a:close/>
              </a:path>
            </a:pathLst>
          </a:custGeom>
          <a:solidFill>
            <a:srgbClr val="8B0000"/>
          </a:solidFill>
        </p:spPr>
      </p:sp>
      <p:sp>
        <p:nvSpPr>
          <p:cNvPr id="24" name="Text 22"/>
          <p:cNvSpPr/>
          <p:nvPr/>
        </p:nvSpPr>
        <p:spPr>
          <a:xfrm>
            <a:off x="6562725" y="2133600"/>
            <a:ext cx="4981575" cy="495300"/>
          </a:xfrm>
          <a:prstGeom prst="rect">
            <a:avLst/>
          </a:prstGeom>
          <a:noFill/>
        </p:spPr>
        <p:txBody>
          <a:bodyPr wrap="square" lIns="0" tIns="0" rIns="0" bIns="0" rtlCol="0" anchor="ctr"/>
          <a:lstStyle/>
          <a:p>
            <a:pPr>
              <a:lnSpc>
                <a:spcPct val="140000"/>
              </a:lnSpc>
            </a:pPr>
            <a:r>
              <a:rPr lang="en-US" sz="1200" dirty="0">
                <a:solidFill>
                  <a:srgbClr val="1F2937"/>
                </a:solidFill>
                <a:latin typeface="MiSans" pitchFamily="34" charset="-122"/>
                <a:ea typeface="MiSans" pitchFamily="34" charset="-122"/>
                <a:cs typeface="MiSans" pitchFamily="34" charset="-120"/>
              </a:rPr>
              <a:t>Flow</a:t>
            </a:r>
            <a:r>
              <a:rPr lang="en-US" sz="900" dirty="0">
                <a:solidFill>
                  <a:srgbClr val="1F2937"/>
                </a:solidFill>
                <a:latin typeface="MiSans" pitchFamily="34" charset="-122"/>
                <a:ea typeface="MiSans" pitchFamily="34" charset="-122"/>
                <a:cs typeface="MiSans" pitchFamily="34" charset="-120"/>
              </a:rPr>
              <a:t>i,t</a:t>
            </a:r>
            <a:r>
              <a:rPr lang="en-US" sz="1200" dirty="0">
                <a:solidFill>
                  <a:srgbClr val="1F2937"/>
                </a:solidFill>
                <a:latin typeface="MiSans" pitchFamily="34" charset="-122"/>
                <a:ea typeface="MiSans" pitchFamily="34" charset="-122"/>
                <a:cs typeface="MiSans" pitchFamily="34" charset="-120"/>
              </a:rPr>
              <a:t> = α + β₁(AI_Exposure_std</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Post</a:t>
            </a:r>
            <a:r>
              <a:rPr lang="en-US" sz="900" dirty="0">
                <a:solidFill>
                  <a:srgbClr val="1F2937"/>
                </a:solidFill>
                <a:latin typeface="MiSans" pitchFamily="34" charset="-122"/>
                <a:ea typeface="MiSans" pitchFamily="34" charset="-122"/>
                <a:cs typeface="MiSans" pitchFamily="34" charset="-120"/>
              </a:rPr>
              <a:t>t</a:t>
            </a:r>
            <a:r>
              <a:rPr lang="en-US" sz="1200" dirty="0">
                <a:solidFill>
                  <a:srgbClr val="1F2937"/>
                </a:solidFill>
                <a:latin typeface="MiSans" pitchFamily="34" charset="-122"/>
                <a:ea typeface="MiSans" pitchFamily="34" charset="-122"/>
                <a:cs typeface="MiSans" pitchFamily="34" charset="-120"/>
              </a:rPr>
              <a:t>) + θ'X</a:t>
            </a:r>
            <a:r>
              <a:rPr lang="en-US" sz="900" dirty="0">
                <a:solidFill>
                  <a:srgbClr val="1F2937"/>
                </a:solidFill>
                <a:latin typeface="MiSans" pitchFamily="34" charset="-122"/>
                <a:ea typeface="MiSans" pitchFamily="34" charset="-122"/>
                <a:cs typeface="MiSans" pitchFamily="34" charset="-120"/>
              </a:rPr>
              <a:t>i,t</a:t>
            </a:r>
            <a:r>
              <a:rPr lang="en-US" sz="1200" dirty="0">
                <a:solidFill>
                  <a:srgbClr val="1F2937"/>
                </a:solidFill>
                <a:latin typeface="MiSans" pitchFamily="34" charset="-122"/>
                <a:ea typeface="MiSans" pitchFamily="34" charset="-122"/>
                <a:cs typeface="MiSans" pitchFamily="34" charset="-120"/>
              </a:rPr>
              <a:t> + μ</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τ</a:t>
            </a:r>
            <a:r>
              <a:rPr lang="en-US" sz="900" dirty="0">
                <a:solidFill>
                  <a:srgbClr val="1F2937"/>
                </a:solidFill>
                <a:latin typeface="MiSans" pitchFamily="34" charset="-122"/>
                <a:ea typeface="MiSans" pitchFamily="34" charset="-122"/>
                <a:cs typeface="MiSans" pitchFamily="34" charset="-120"/>
              </a:rPr>
              <a:t>t</a:t>
            </a:r>
            <a:r>
              <a:rPr lang="en-US" sz="1200" dirty="0">
                <a:solidFill>
                  <a:srgbClr val="1F2937"/>
                </a:solidFill>
                <a:latin typeface="MiSans" pitchFamily="34" charset="-122"/>
                <a:ea typeface="MiSans" pitchFamily="34" charset="-122"/>
                <a:cs typeface="MiSans" pitchFamily="34" charset="-120"/>
              </a:rPr>
              <a:t> + ε</a:t>
            </a:r>
            <a:r>
              <a:rPr lang="en-US" sz="900" dirty="0">
                <a:solidFill>
                  <a:srgbClr val="1F2937"/>
                </a:solidFill>
                <a:latin typeface="MiSans" pitchFamily="34" charset="-122"/>
                <a:ea typeface="MiSans" pitchFamily="34" charset="-122"/>
                <a:cs typeface="MiSans" pitchFamily="34" charset="-120"/>
              </a:rPr>
              <a:t>i,t</a:t>
            </a:r>
            <a:endParaRPr lang="en-US" sz="1600" dirty="0"/>
          </a:p>
        </p:txBody>
      </p:sp>
      <p:sp>
        <p:nvSpPr>
          <p:cNvPr id="25" name="Text 23"/>
          <p:cNvSpPr/>
          <p:nvPr/>
        </p:nvSpPr>
        <p:spPr>
          <a:xfrm>
            <a:off x="6381750" y="2857500"/>
            <a:ext cx="66675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Flow</a:t>
            </a:r>
            <a:r>
              <a:rPr lang="en-US" sz="900" b="1" dirty="0">
                <a:solidFill>
                  <a:srgbClr val="8B0000"/>
                </a:solidFill>
                <a:latin typeface="MiSans" pitchFamily="34" charset="-122"/>
                <a:ea typeface="MiSans" pitchFamily="34" charset="-122"/>
                <a:cs typeface="MiSans" pitchFamily="34" charset="-120"/>
              </a:rPr>
              <a:t>i,t</a:t>
            </a:r>
            <a:endParaRPr lang="en-US" sz="1600" dirty="0"/>
          </a:p>
        </p:txBody>
      </p:sp>
      <p:sp>
        <p:nvSpPr>
          <p:cNvPr id="26" name="Text 24"/>
          <p:cNvSpPr/>
          <p:nvPr/>
        </p:nvSpPr>
        <p:spPr>
          <a:xfrm>
            <a:off x="7084963" y="2857500"/>
            <a:ext cx="29527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flow for fund i in month t (winsorized)</a:t>
            </a:r>
            <a:endParaRPr lang="en-US" sz="1600" dirty="0"/>
          </a:p>
        </p:txBody>
      </p:sp>
      <p:sp>
        <p:nvSpPr>
          <p:cNvPr id="27" name="Text 25"/>
          <p:cNvSpPr/>
          <p:nvPr/>
        </p:nvSpPr>
        <p:spPr>
          <a:xfrm>
            <a:off x="6381750" y="3162300"/>
            <a:ext cx="15621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AI_Exposure_std</a:t>
            </a:r>
            <a:r>
              <a:rPr lang="en-US" sz="900" b="1" dirty="0">
                <a:solidFill>
                  <a:srgbClr val="8B0000"/>
                </a:solidFill>
                <a:latin typeface="MiSans" pitchFamily="34" charset="-122"/>
                <a:ea typeface="MiSans" pitchFamily="34" charset="-122"/>
                <a:cs typeface="MiSans" pitchFamily="34" charset="-120"/>
              </a:rPr>
              <a:t>i</a:t>
            </a:r>
            <a:endParaRPr lang="en-US" sz="1600" dirty="0"/>
          </a:p>
        </p:txBody>
      </p:sp>
      <p:sp>
        <p:nvSpPr>
          <p:cNvPr id="28" name="Text 26"/>
          <p:cNvSpPr/>
          <p:nvPr/>
        </p:nvSpPr>
        <p:spPr>
          <a:xfrm>
            <a:off x="7979866" y="3162300"/>
            <a:ext cx="37052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continuous AI exposure (pre-determined)</a:t>
            </a:r>
            <a:endParaRPr lang="en-US" sz="1600" dirty="0"/>
          </a:p>
        </p:txBody>
      </p:sp>
      <p:sp>
        <p:nvSpPr>
          <p:cNvPr id="29" name="Text 27"/>
          <p:cNvSpPr/>
          <p:nvPr/>
        </p:nvSpPr>
        <p:spPr>
          <a:xfrm>
            <a:off x="6381750" y="3467100"/>
            <a:ext cx="523875"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Post</a:t>
            </a:r>
            <a:r>
              <a:rPr lang="en-US" sz="900" b="1" dirty="0">
                <a:solidFill>
                  <a:srgbClr val="8B0000"/>
                </a:solidFill>
                <a:latin typeface="MiSans" pitchFamily="34" charset="-122"/>
                <a:ea typeface="MiSans" pitchFamily="34" charset="-122"/>
                <a:cs typeface="MiSans" pitchFamily="34" charset="-120"/>
              </a:rPr>
              <a:t>t</a:t>
            </a:r>
            <a:endParaRPr lang="en-US" sz="1600" dirty="0"/>
          </a:p>
        </p:txBody>
      </p:sp>
      <p:sp>
        <p:nvSpPr>
          <p:cNvPr id="30" name="Text 28"/>
          <p:cNvSpPr/>
          <p:nvPr/>
        </p:nvSpPr>
        <p:spPr>
          <a:xfrm>
            <a:off x="6943576" y="3467100"/>
            <a:ext cx="23717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1 for periods after November 2022</a:t>
            </a:r>
            <a:endParaRPr lang="en-US" sz="1600" dirty="0"/>
          </a:p>
        </p:txBody>
      </p:sp>
      <p:sp>
        <p:nvSpPr>
          <p:cNvPr id="31" name="Text 29"/>
          <p:cNvSpPr/>
          <p:nvPr/>
        </p:nvSpPr>
        <p:spPr>
          <a:xfrm>
            <a:off x="6381750" y="3771900"/>
            <a:ext cx="3810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X</a:t>
            </a:r>
            <a:r>
              <a:rPr lang="en-US" sz="900" b="1" dirty="0">
                <a:solidFill>
                  <a:srgbClr val="8B0000"/>
                </a:solidFill>
                <a:latin typeface="MiSans" pitchFamily="34" charset="-122"/>
                <a:ea typeface="MiSans" pitchFamily="34" charset="-122"/>
                <a:cs typeface="MiSans" pitchFamily="34" charset="-120"/>
              </a:rPr>
              <a:t>i,t</a:t>
            </a:r>
            <a:endParaRPr lang="en-US" sz="1600" dirty="0"/>
          </a:p>
        </p:txBody>
      </p:sp>
      <p:sp>
        <p:nvSpPr>
          <p:cNvPr id="32" name="Text 30"/>
          <p:cNvSpPr/>
          <p:nvPr/>
        </p:nvSpPr>
        <p:spPr>
          <a:xfrm>
            <a:off x="6802338" y="3771900"/>
            <a:ext cx="287655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Control variables (log TNA, lagged return)</a:t>
            </a:r>
            <a:endParaRPr lang="en-US" sz="1600" dirty="0"/>
          </a:p>
        </p:txBody>
      </p:sp>
      <p:sp>
        <p:nvSpPr>
          <p:cNvPr id="33" name="Text 31"/>
          <p:cNvSpPr/>
          <p:nvPr/>
        </p:nvSpPr>
        <p:spPr>
          <a:xfrm>
            <a:off x="6381750" y="4076700"/>
            <a:ext cx="59055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μ</a:t>
            </a:r>
            <a:r>
              <a:rPr lang="en-US" sz="900" b="1" dirty="0">
                <a:solidFill>
                  <a:srgbClr val="8B0000"/>
                </a:solidFill>
                <a:latin typeface="MiSans" pitchFamily="34" charset="-122"/>
                <a:ea typeface="MiSans" pitchFamily="34" charset="-122"/>
                <a:cs typeface="MiSans" pitchFamily="34" charset="-120"/>
              </a:rPr>
              <a:t>i</a:t>
            </a:r>
            <a:r>
              <a:rPr lang="en-US" sz="1200" b="1" dirty="0">
                <a:solidFill>
                  <a:srgbClr val="8B0000"/>
                </a:solidFill>
                <a:latin typeface="MiSans" pitchFamily="34" charset="-122"/>
                <a:ea typeface="MiSans" pitchFamily="34" charset="-122"/>
                <a:cs typeface="MiSans" pitchFamily="34" charset="-120"/>
              </a:rPr>
              <a:t>, τ</a:t>
            </a:r>
            <a:r>
              <a:rPr lang="en-US" sz="900" b="1" dirty="0">
                <a:solidFill>
                  <a:srgbClr val="8B0000"/>
                </a:solidFill>
                <a:latin typeface="MiSans" pitchFamily="34" charset="-122"/>
                <a:ea typeface="MiSans" pitchFamily="34" charset="-122"/>
                <a:cs typeface="MiSans" pitchFamily="34" charset="-120"/>
              </a:rPr>
              <a:t>t</a:t>
            </a:r>
            <a:endParaRPr lang="en-US" sz="1600" dirty="0"/>
          </a:p>
        </p:txBody>
      </p:sp>
      <p:sp>
        <p:nvSpPr>
          <p:cNvPr id="34" name="Text 32"/>
          <p:cNvSpPr/>
          <p:nvPr/>
        </p:nvSpPr>
        <p:spPr>
          <a:xfrm>
            <a:off x="7014270" y="4076700"/>
            <a:ext cx="18288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and time fixed effects</a:t>
            </a:r>
            <a:endParaRPr lang="en-US" sz="1600" dirty="0"/>
          </a:p>
        </p:txBody>
      </p:sp>
      <p:sp>
        <p:nvSpPr>
          <p:cNvPr id="35" name="Shape 33"/>
          <p:cNvSpPr/>
          <p:nvPr/>
        </p:nvSpPr>
        <p:spPr>
          <a:xfrm>
            <a:off x="6381750" y="4462463"/>
            <a:ext cx="5238750" cy="9525"/>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8B0000">
              <a:alpha val="20000"/>
            </a:srgbClr>
          </a:solidFill>
        </p:spPr>
      </p:sp>
      <p:sp>
        <p:nvSpPr>
          <p:cNvPr id="36" name="Shape 34"/>
          <p:cNvSpPr/>
          <p:nvPr/>
        </p:nvSpPr>
        <p:spPr>
          <a:xfrm>
            <a:off x="6391275" y="463867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8B0000"/>
          </a:solidFill>
        </p:spPr>
      </p:sp>
      <p:sp>
        <p:nvSpPr>
          <p:cNvPr id="37" name="Text 35"/>
          <p:cNvSpPr/>
          <p:nvPr/>
        </p:nvSpPr>
        <p:spPr>
          <a:xfrm>
            <a:off x="6629400" y="4619625"/>
            <a:ext cx="50673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β₁ &gt; 0 and statistically significant</a:t>
            </a:r>
            <a:endParaRPr lang="en-US" sz="1600" dirty="0"/>
          </a:p>
        </p:txBody>
      </p:sp>
      <p:sp>
        <p:nvSpPr>
          <p:cNvPr id="38" name="Shape 36"/>
          <p:cNvSpPr/>
          <p:nvPr/>
        </p:nvSpPr>
        <p:spPr>
          <a:xfrm>
            <a:off x="6200775" y="5238750"/>
            <a:ext cx="5600700" cy="1428750"/>
          </a:xfrm>
          <a:custGeom>
            <a:avLst/>
            <a:gdLst/>
            <a:ahLst/>
            <a:cxnLst/>
            <a:rect l="l" t="t" r="r" b="b"/>
            <a:pathLst>
              <a:path w="5600700" h="1428750">
                <a:moveTo>
                  <a:pt x="76195" y="0"/>
                </a:moveTo>
                <a:lnTo>
                  <a:pt x="5524505" y="0"/>
                </a:lnTo>
                <a:cubicBezTo>
                  <a:pt x="5566586" y="0"/>
                  <a:pt x="5600700" y="34114"/>
                  <a:pt x="5600700" y="76195"/>
                </a:cubicBezTo>
                <a:lnTo>
                  <a:pt x="5600700" y="1352555"/>
                </a:lnTo>
                <a:cubicBezTo>
                  <a:pt x="5600700" y="1394636"/>
                  <a:pt x="5566586" y="1428750"/>
                  <a:pt x="5524505" y="1428750"/>
                </a:cubicBezTo>
                <a:lnTo>
                  <a:pt x="76195" y="1428750"/>
                </a:lnTo>
                <a:cubicBezTo>
                  <a:pt x="34114" y="1428750"/>
                  <a:pt x="0" y="1394636"/>
                  <a:pt x="0" y="1352555"/>
                </a:cubicBezTo>
                <a:lnTo>
                  <a:pt x="0" y="76195"/>
                </a:lnTo>
                <a:cubicBezTo>
                  <a:pt x="0" y="34142"/>
                  <a:pt x="34142" y="0"/>
                  <a:pt x="76195" y="0"/>
                </a:cubicBezTo>
                <a:close/>
              </a:path>
            </a:pathLst>
          </a:custGeom>
          <a:solidFill>
            <a:srgbClr val="FFFFFF"/>
          </a:solidFill>
          <a:ln w="25400">
            <a:solidFill>
              <a:srgbClr val="8B0000">
                <a:alpha val="20000"/>
              </a:srgbClr>
            </a:solidFill>
            <a:prstDash val="solid"/>
          </a:ln>
        </p:spPr>
      </p:sp>
      <p:sp>
        <p:nvSpPr>
          <p:cNvPr id="39" name="Text 37"/>
          <p:cNvSpPr/>
          <p:nvPr/>
        </p:nvSpPr>
        <p:spPr>
          <a:xfrm>
            <a:off x="6362700" y="5400675"/>
            <a:ext cx="536257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Literature</a:t>
            </a:r>
            <a:endParaRPr lang="en-US" sz="1600" dirty="0"/>
          </a:p>
        </p:txBody>
      </p:sp>
      <p:sp>
        <p:nvSpPr>
          <p:cNvPr id="40" name="Text 38"/>
          <p:cNvSpPr/>
          <p:nvPr/>
        </p:nvSpPr>
        <p:spPr>
          <a:xfrm>
            <a:off x="6362700" y="5781675"/>
            <a:ext cx="534352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Barber &amp; Odean (2008):</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Attention drives individual investor trading</a:t>
            </a:r>
            <a:endParaRPr lang="en-US" sz="1600" dirty="0"/>
          </a:p>
        </p:txBody>
      </p:sp>
      <p:sp>
        <p:nvSpPr>
          <p:cNvPr id="41" name="Text 39"/>
          <p:cNvSpPr/>
          <p:nvPr/>
        </p:nvSpPr>
        <p:spPr>
          <a:xfrm>
            <a:off x="6362700" y="6048375"/>
            <a:ext cx="534352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Sirri &amp; Tufano (1998):</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Flow-performance relationship in mutual funds</a:t>
            </a:r>
            <a:endParaRPr lang="en-US" sz="1600" dirty="0"/>
          </a:p>
        </p:txBody>
      </p:sp>
      <p:sp>
        <p:nvSpPr>
          <p:cNvPr id="42" name="Text 40"/>
          <p:cNvSpPr/>
          <p:nvPr/>
        </p:nvSpPr>
        <p:spPr>
          <a:xfrm>
            <a:off x="6362700" y="6315075"/>
            <a:ext cx="534352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Kaniel et al. (2007):</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Media coverage and fund flows</a:t>
            </a:r>
            <a:endParaRPr lang="en-US" sz="1600" dirty="0"/>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HYPOTHESES DEVELOPMENT</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Performance Contingency</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sp>
        <p:nvSpPr>
          <p:cNvPr id="5" name="Shape 3"/>
          <p:cNvSpPr/>
          <p:nvPr/>
        </p:nvSpPr>
        <p:spPr>
          <a:xfrm>
            <a:off x="400050" y="1371600"/>
            <a:ext cx="5600700" cy="2362200"/>
          </a:xfrm>
          <a:custGeom>
            <a:avLst/>
            <a:gdLst/>
            <a:ahLst/>
            <a:cxnLst/>
            <a:rect l="l" t="t" r="r" b="b"/>
            <a:pathLst>
              <a:path w="5600700" h="2362200">
                <a:moveTo>
                  <a:pt x="38100" y="0"/>
                </a:moveTo>
                <a:lnTo>
                  <a:pt x="5524495" y="0"/>
                </a:lnTo>
                <a:cubicBezTo>
                  <a:pt x="5566554" y="0"/>
                  <a:pt x="5600700" y="34146"/>
                  <a:pt x="5600700" y="76205"/>
                </a:cubicBezTo>
                <a:lnTo>
                  <a:pt x="5600700" y="2285995"/>
                </a:lnTo>
                <a:cubicBezTo>
                  <a:pt x="5600700" y="2328082"/>
                  <a:pt x="5566582" y="2362200"/>
                  <a:pt x="5524495" y="2362200"/>
                </a:cubicBezTo>
                <a:lnTo>
                  <a:pt x="38100" y="2362200"/>
                </a:lnTo>
                <a:cubicBezTo>
                  <a:pt x="17072" y="2362200"/>
                  <a:pt x="0" y="2345128"/>
                  <a:pt x="0" y="2324100"/>
                </a:cubicBezTo>
                <a:lnTo>
                  <a:pt x="0" y="38100"/>
                </a:lnTo>
                <a:cubicBezTo>
                  <a:pt x="0" y="17072"/>
                  <a:pt x="17072" y="0"/>
                  <a:pt x="38100" y="0"/>
                </a:cubicBezTo>
                <a:close/>
              </a:path>
            </a:pathLst>
          </a:custGeom>
          <a:solidFill>
            <a:srgbClr val="8B0000">
              <a:alpha val="5098"/>
            </a:srgbClr>
          </a:solidFill>
        </p:spPr>
      </p:sp>
      <p:sp>
        <p:nvSpPr>
          <p:cNvPr id="6" name="Shape 4"/>
          <p:cNvSpPr/>
          <p:nvPr/>
        </p:nvSpPr>
        <p:spPr>
          <a:xfrm>
            <a:off x="400050" y="1371600"/>
            <a:ext cx="38100" cy="2362200"/>
          </a:xfrm>
          <a:custGeom>
            <a:avLst/>
            <a:gdLst/>
            <a:ahLst/>
            <a:cxnLst/>
            <a:rect l="l" t="t" r="r" b="b"/>
            <a:pathLst>
              <a:path w="38100" h="2362200">
                <a:moveTo>
                  <a:pt x="38100" y="0"/>
                </a:moveTo>
                <a:lnTo>
                  <a:pt x="38100" y="0"/>
                </a:lnTo>
                <a:lnTo>
                  <a:pt x="38100" y="2362200"/>
                </a:lnTo>
                <a:lnTo>
                  <a:pt x="38100" y="2362200"/>
                </a:lnTo>
                <a:cubicBezTo>
                  <a:pt x="17072" y="2362200"/>
                  <a:pt x="0" y="2345128"/>
                  <a:pt x="0" y="2324100"/>
                </a:cubicBezTo>
                <a:lnTo>
                  <a:pt x="0" y="38100"/>
                </a:lnTo>
                <a:cubicBezTo>
                  <a:pt x="0" y="17072"/>
                  <a:pt x="17072" y="0"/>
                  <a:pt x="38100" y="0"/>
                </a:cubicBezTo>
                <a:close/>
              </a:path>
            </a:pathLst>
          </a:custGeom>
          <a:solidFill>
            <a:srgbClr val="8B0000"/>
          </a:solidFill>
        </p:spPr>
      </p:sp>
      <p:sp>
        <p:nvSpPr>
          <p:cNvPr id="7" name="Shape 5"/>
          <p:cNvSpPr/>
          <p:nvPr/>
        </p:nvSpPr>
        <p:spPr>
          <a:xfrm>
            <a:off x="633413" y="1600200"/>
            <a:ext cx="190500" cy="190500"/>
          </a:xfrm>
          <a:custGeom>
            <a:avLst/>
            <a:gdLst/>
            <a:ahLst/>
            <a:cxnLst/>
            <a:rect l="l" t="t" r="r" b="b"/>
            <a:pathLst>
              <a:path w="190500" h="190500">
                <a:moveTo>
                  <a:pt x="53690" y="0"/>
                </a:moveTo>
                <a:lnTo>
                  <a:pt x="137033" y="0"/>
                </a:lnTo>
                <a:cubicBezTo>
                  <a:pt x="146893" y="0"/>
                  <a:pt x="154930" y="8111"/>
                  <a:pt x="154558" y="17934"/>
                </a:cubicBezTo>
                <a:cubicBezTo>
                  <a:pt x="154484" y="19906"/>
                  <a:pt x="154409" y="21878"/>
                  <a:pt x="154298" y="23812"/>
                </a:cubicBezTo>
                <a:lnTo>
                  <a:pt x="172752" y="23812"/>
                </a:lnTo>
                <a:cubicBezTo>
                  <a:pt x="182463" y="23812"/>
                  <a:pt x="191021" y="31849"/>
                  <a:pt x="190277" y="42342"/>
                </a:cubicBezTo>
                <a:cubicBezTo>
                  <a:pt x="187486" y="80925"/>
                  <a:pt x="167767" y="102133"/>
                  <a:pt x="146372" y="113221"/>
                </a:cubicBezTo>
                <a:cubicBezTo>
                  <a:pt x="140494" y="116272"/>
                  <a:pt x="134503" y="118542"/>
                  <a:pt x="128811" y="120216"/>
                </a:cubicBezTo>
                <a:cubicBezTo>
                  <a:pt x="121295" y="130857"/>
                  <a:pt x="113481" y="136475"/>
                  <a:pt x="107268" y="139489"/>
                </a:cubicBezTo>
                <a:lnTo>
                  <a:pt x="107268" y="166688"/>
                </a:lnTo>
                <a:lnTo>
                  <a:pt x="131080" y="166688"/>
                </a:lnTo>
                <a:cubicBezTo>
                  <a:pt x="137666" y="166688"/>
                  <a:pt x="142987" y="172008"/>
                  <a:pt x="142987" y="178594"/>
                </a:cubicBezTo>
                <a:cubicBezTo>
                  <a:pt x="142987" y="185179"/>
                  <a:pt x="137666" y="190500"/>
                  <a:pt x="131080" y="190500"/>
                </a:cubicBezTo>
                <a:lnTo>
                  <a:pt x="59643" y="190500"/>
                </a:lnTo>
                <a:cubicBezTo>
                  <a:pt x="53057" y="190500"/>
                  <a:pt x="47737" y="185179"/>
                  <a:pt x="47737" y="178594"/>
                </a:cubicBezTo>
                <a:cubicBezTo>
                  <a:pt x="47737" y="172008"/>
                  <a:pt x="53057" y="166688"/>
                  <a:pt x="59643" y="166688"/>
                </a:cubicBezTo>
                <a:lnTo>
                  <a:pt x="83455" y="166688"/>
                </a:lnTo>
                <a:lnTo>
                  <a:pt x="83455" y="139489"/>
                </a:lnTo>
                <a:cubicBezTo>
                  <a:pt x="77502" y="136624"/>
                  <a:pt x="70098" y="131304"/>
                  <a:pt x="62880" y="121518"/>
                </a:cubicBezTo>
                <a:cubicBezTo>
                  <a:pt x="56034" y="119732"/>
                  <a:pt x="48592" y="117016"/>
                  <a:pt x="41337" y="112923"/>
                </a:cubicBezTo>
                <a:cubicBezTo>
                  <a:pt x="21208" y="101650"/>
                  <a:pt x="3051" y="80404"/>
                  <a:pt x="446" y="42267"/>
                </a:cubicBezTo>
                <a:cubicBezTo>
                  <a:pt x="-260" y="31812"/>
                  <a:pt x="8260" y="23775"/>
                  <a:pt x="17971" y="23775"/>
                </a:cubicBezTo>
                <a:lnTo>
                  <a:pt x="36426" y="23775"/>
                </a:lnTo>
                <a:cubicBezTo>
                  <a:pt x="36314" y="21841"/>
                  <a:pt x="36240" y="19906"/>
                  <a:pt x="36165" y="17897"/>
                </a:cubicBezTo>
                <a:cubicBezTo>
                  <a:pt x="35793" y="8037"/>
                  <a:pt x="43830" y="-37"/>
                  <a:pt x="53690" y="-37"/>
                </a:cubicBezTo>
                <a:close/>
                <a:moveTo>
                  <a:pt x="37765" y="41672"/>
                </a:moveTo>
                <a:lnTo>
                  <a:pt x="18269" y="41672"/>
                </a:lnTo>
                <a:cubicBezTo>
                  <a:pt x="20575" y="73186"/>
                  <a:pt x="35049" y="88962"/>
                  <a:pt x="49969" y="97334"/>
                </a:cubicBezTo>
                <a:cubicBezTo>
                  <a:pt x="44611" y="83455"/>
                  <a:pt x="40184" y="65336"/>
                  <a:pt x="37765" y="41672"/>
                </a:cubicBezTo>
                <a:close/>
                <a:moveTo>
                  <a:pt x="141387" y="95548"/>
                </a:moveTo>
                <a:cubicBezTo>
                  <a:pt x="156456" y="86692"/>
                  <a:pt x="170073" y="70954"/>
                  <a:pt x="172380" y="41672"/>
                </a:cubicBezTo>
                <a:lnTo>
                  <a:pt x="152921" y="41672"/>
                </a:lnTo>
                <a:cubicBezTo>
                  <a:pt x="150614" y="64331"/>
                  <a:pt x="146447" y="81930"/>
                  <a:pt x="141387" y="95548"/>
                </a:cubicBezTo>
                <a:close/>
              </a:path>
            </a:pathLst>
          </a:custGeom>
          <a:solidFill>
            <a:srgbClr val="8B0000"/>
          </a:solidFill>
        </p:spPr>
      </p:sp>
      <p:sp>
        <p:nvSpPr>
          <p:cNvPr id="8" name="Text 6"/>
          <p:cNvSpPr/>
          <p:nvPr/>
        </p:nvSpPr>
        <p:spPr>
          <a:xfrm>
            <a:off x="847725" y="156210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Performance-Chasing Behavior</a:t>
            </a:r>
            <a:endParaRPr lang="en-US" sz="1600" dirty="0"/>
          </a:p>
        </p:txBody>
      </p:sp>
      <p:sp>
        <p:nvSpPr>
          <p:cNvPr id="9" name="Text 7"/>
          <p:cNvSpPr/>
          <p:nvPr/>
        </p:nvSpPr>
        <p:spPr>
          <a:xfrm>
            <a:off x="609600" y="1943100"/>
            <a:ext cx="5276850" cy="495300"/>
          </a:xfrm>
          <a:prstGeom prst="rect">
            <a:avLst/>
          </a:prstGeom>
          <a:noFill/>
        </p:spPr>
        <p:txBody>
          <a:bodyPr wrap="square" lIns="0" tIns="0" rIns="0" bIns="0" rtlCol="0" anchor="ctr"/>
          <a:lstStyle/>
          <a:p>
            <a:pPr>
              <a:lnSpc>
                <a:spcPct val="14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Investors chase past performance</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particularly when market conditions align with thematic narratives (Jain &amp; Wu, 2000; Vilas et al., 2024).</a:t>
            </a:r>
            <a:endParaRPr lang="en-US" sz="1600" dirty="0"/>
          </a:p>
        </p:txBody>
      </p:sp>
      <p:sp>
        <p:nvSpPr>
          <p:cNvPr id="10" name="Text 8"/>
          <p:cNvSpPr/>
          <p:nvPr/>
        </p:nvSpPr>
        <p:spPr>
          <a:xfrm>
            <a:off x="609600" y="2552700"/>
            <a:ext cx="5276850" cy="9906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High-performing funds are perceived as better positioned to capitalize on emerging opportunities. During the AI shock, investors may have viewed top performers as having superior capability to navigate the new technological landscape.</a:t>
            </a:r>
            <a:endParaRPr lang="en-US" sz="1600" dirty="0"/>
          </a:p>
        </p:txBody>
      </p:sp>
      <p:sp>
        <p:nvSpPr>
          <p:cNvPr id="11" name="Shape 9"/>
          <p:cNvSpPr/>
          <p:nvPr/>
        </p:nvSpPr>
        <p:spPr>
          <a:xfrm>
            <a:off x="400050" y="3886200"/>
            <a:ext cx="5600700" cy="2543175"/>
          </a:xfrm>
          <a:custGeom>
            <a:avLst/>
            <a:gdLst/>
            <a:ahLst/>
            <a:cxnLst/>
            <a:rect l="l" t="t" r="r" b="b"/>
            <a:pathLst>
              <a:path w="5600700" h="2543175">
                <a:moveTo>
                  <a:pt x="38100" y="0"/>
                </a:moveTo>
                <a:lnTo>
                  <a:pt x="5524506" y="0"/>
                </a:lnTo>
                <a:cubicBezTo>
                  <a:pt x="5566587" y="0"/>
                  <a:pt x="5600700" y="34113"/>
                  <a:pt x="5600700" y="76194"/>
                </a:cubicBezTo>
                <a:lnTo>
                  <a:pt x="5600700" y="2466981"/>
                </a:lnTo>
                <a:cubicBezTo>
                  <a:pt x="5600700" y="2509062"/>
                  <a:pt x="5566587" y="2543175"/>
                  <a:pt x="5524506" y="2543175"/>
                </a:cubicBezTo>
                <a:lnTo>
                  <a:pt x="38100" y="2543175"/>
                </a:lnTo>
                <a:cubicBezTo>
                  <a:pt x="17072" y="2543175"/>
                  <a:pt x="0" y="2526103"/>
                  <a:pt x="0" y="2505075"/>
                </a:cubicBezTo>
                <a:lnTo>
                  <a:pt x="0" y="38100"/>
                </a:lnTo>
                <a:cubicBezTo>
                  <a:pt x="0" y="17072"/>
                  <a:pt x="17072" y="0"/>
                  <a:pt x="38100" y="0"/>
                </a:cubicBezTo>
                <a:close/>
              </a:path>
            </a:pathLst>
          </a:custGeom>
          <a:solidFill>
            <a:srgbClr val="F9FAFB"/>
          </a:solidFill>
        </p:spPr>
      </p:sp>
      <p:sp>
        <p:nvSpPr>
          <p:cNvPr id="12" name="Shape 10"/>
          <p:cNvSpPr/>
          <p:nvPr/>
        </p:nvSpPr>
        <p:spPr>
          <a:xfrm>
            <a:off x="400050" y="3886200"/>
            <a:ext cx="38100" cy="2543175"/>
          </a:xfrm>
          <a:custGeom>
            <a:avLst/>
            <a:gdLst/>
            <a:ahLst/>
            <a:cxnLst/>
            <a:rect l="l" t="t" r="r" b="b"/>
            <a:pathLst>
              <a:path w="38100" h="2543175">
                <a:moveTo>
                  <a:pt x="38100" y="0"/>
                </a:moveTo>
                <a:lnTo>
                  <a:pt x="38100" y="0"/>
                </a:lnTo>
                <a:lnTo>
                  <a:pt x="38100" y="2543175"/>
                </a:lnTo>
                <a:lnTo>
                  <a:pt x="38100" y="2543175"/>
                </a:lnTo>
                <a:cubicBezTo>
                  <a:pt x="17072" y="2543175"/>
                  <a:pt x="0" y="2526103"/>
                  <a:pt x="0" y="2505075"/>
                </a:cubicBezTo>
                <a:lnTo>
                  <a:pt x="0" y="38100"/>
                </a:lnTo>
                <a:cubicBezTo>
                  <a:pt x="0" y="17072"/>
                  <a:pt x="17072" y="0"/>
                  <a:pt x="38100" y="0"/>
                </a:cubicBezTo>
                <a:close/>
              </a:path>
            </a:pathLst>
          </a:custGeom>
          <a:solidFill>
            <a:srgbClr val="8B0000"/>
          </a:solidFill>
        </p:spPr>
      </p:sp>
      <p:sp>
        <p:nvSpPr>
          <p:cNvPr id="13" name="Shape 11"/>
          <p:cNvSpPr/>
          <p:nvPr/>
        </p:nvSpPr>
        <p:spPr>
          <a:xfrm>
            <a:off x="645319" y="4114800"/>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8B0000"/>
          </a:solidFill>
        </p:spPr>
      </p:sp>
      <p:sp>
        <p:nvSpPr>
          <p:cNvPr id="14" name="Text 12"/>
          <p:cNvSpPr/>
          <p:nvPr/>
        </p:nvSpPr>
        <p:spPr>
          <a:xfrm>
            <a:off x="847725" y="4076700"/>
            <a:ext cx="50577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Hypothesis 2</a:t>
            </a:r>
            <a:endParaRPr lang="en-US" sz="1600" dirty="0"/>
          </a:p>
        </p:txBody>
      </p:sp>
      <p:sp>
        <p:nvSpPr>
          <p:cNvPr id="15" name="Shape 13"/>
          <p:cNvSpPr/>
          <p:nvPr/>
        </p:nvSpPr>
        <p:spPr>
          <a:xfrm>
            <a:off x="619125" y="4467225"/>
            <a:ext cx="5181600" cy="1152525"/>
          </a:xfrm>
          <a:custGeom>
            <a:avLst/>
            <a:gdLst/>
            <a:ahLst/>
            <a:cxnLst/>
            <a:rect l="l" t="t" r="r" b="b"/>
            <a:pathLst>
              <a:path w="5181600" h="1152525">
                <a:moveTo>
                  <a:pt x="76205" y="0"/>
                </a:moveTo>
                <a:lnTo>
                  <a:pt x="5105395" y="0"/>
                </a:lnTo>
                <a:cubicBezTo>
                  <a:pt x="5147482" y="0"/>
                  <a:pt x="5181600" y="34118"/>
                  <a:pt x="5181600" y="76205"/>
                </a:cubicBezTo>
                <a:lnTo>
                  <a:pt x="5181600" y="1076320"/>
                </a:lnTo>
                <a:cubicBezTo>
                  <a:pt x="5181600" y="1118407"/>
                  <a:pt x="5147482" y="1152525"/>
                  <a:pt x="5105395" y="1152525"/>
                </a:cubicBezTo>
                <a:lnTo>
                  <a:pt x="76205" y="1152525"/>
                </a:lnTo>
                <a:cubicBezTo>
                  <a:pt x="34118" y="1152525"/>
                  <a:pt x="0" y="1118407"/>
                  <a:pt x="0" y="1076320"/>
                </a:cubicBezTo>
                <a:lnTo>
                  <a:pt x="0" y="76205"/>
                </a:lnTo>
                <a:cubicBezTo>
                  <a:pt x="0" y="34146"/>
                  <a:pt x="34146" y="0"/>
                  <a:pt x="76205" y="0"/>
                </a:cubicBezTo>
                <a:close/>
              </a:path>
            </a:pathLst>
          </a:custGeom>
          <a:solidFill>
            <a:srgbClr val="FFFFFF"/>
          </a:solidFill>
          <a:ln w="25400">
            <a:solidFill>
              <a:srgbClr val="8B0000">
                <a:alpha val="30196"/>
              </a:srgbClr>
            </a:solidFill>
            <a:prstDash val="solid"/>
          </a:ln>
        </p:spPr>
      </p:sp>
      <p:sp>
        <p:nvSpPr>
          <p:cNvPr id="16" name="Text 14"/>
          <p:cNvSpPr/>
          <p:nvPr/>
        </p:nvSpPr>
        <p:spPr>
          <a:xfrm>
            <a:off x="738188" y="4629150"/>
            <a:ext cx="4943475" cy="828675"/>
          </a:xfrm>
          <a:prstGeom prst="rect">
            <a:avLst/>
          </a:prstGeom>
          <a:noFill/>
        </p:spPr>
        <p:txBody>
          <a:bodyPr wrap="square" lIns="0" tIns="0" rIns="0" bIns="0" rtlCol="0" anchor="ctr"/>
          <a:lstStyle/>
          <a:p>
            <a:pPr algn="ctr">
              <a:lnSpc>
                <a:spcPct val="14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 positive impact of AI exposure on fund inflows is more pronounced among previously high-performing funds compared to underperforming funds.</a:t>
            </a:r>
            <a:endParaRPr lang="en-US" sz="1600" dirty="0"/>
          </a:p>
        </p:txBody>
      </p:sp>
      <p:sp>
        <p:nvSpPr>
          <p:cNvPr id="17" name="Text 15"/>
          <p:cNvSpPr/>
          <p:nvPr/>
        </p:nvSpPr>
        <p:spPr>
          <a:xfrm>
            <a:off x="609600" y="5743575"/>
            <a:ext cx="5276850" cy="495300"/>
          </a:xfrm>
          <a:prstGeom prst="rect">
            <a:avLst/>
          </a:prstGeom>
          <a:noFill/>
        </p:spPr>
        <p:txBody>
          <a:bodyPr wrap="square" lIns="0" tIns="0" rIns="0" bIns="0" rtlCol="0" anchor="ctr"/>
          <a:lstStyle/>
          <a:p>
            <a:pPr>
              <a:lnSpc>
                <a:spcPct val="14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Tests whether </a:t>
            </a: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prior performance amplifies</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the AI-flow relationship, reflecting investor confidence in skilled managers.</a:t>
            </a:r>
            <a:endParaRPr lang="en-US" sz="1600" dirty="0"/>
          </a:p>
        </p:txBody>
      </p:sp>
      <p:sp>
        <p:nvSpPr>
          <p:cNvPr id="18" name="Shape 16"/>
          <p:cNvSpPr/>
          <p:nvPr/>
        </p:nvSpPr>
        <p:spPr>
          <a:xfrm>
            <a:off x="6191250" y="1390650"/>
            <a:ext cx="5619750" cy="3352800"/>
          </a:xfrm>
          <a:custGeom>
            <a:avLst/>
            <a:gdLst/>
            <a:ahLst/>
            <a:cxnLst/>
            <a:rect l="l" t="t" r="r" b="b"/>
            <a:pathLst>
              <a:path w="5619750" h="3352800">
                <a:moveTo>
                  <a:pt x="38100" y="0"/>
                </a:moveTo>
                <a:lnTo>
                  <a:pt x="5581650" y="0"/>
                </a:lnTo>
                <a:cubicBezTo>
                  <a:pt x="5602692" y="0"/>
                  <a:pt x="5619750" y="17058"/>
                  <a:pt x="5619750" y="38100"/>
                </a:cubicBezTo>
                <a:lnTo>
                  <a:pt x="5619750" y="3276591"/>
                </a:lnTo>
                <a:cubicBezTo>
                  <a:pt x="5619750" y="3318680"/>
                  <a:pt x="5585630" y="3352800"/>
                  <a:pt x="5543541" y="3352800"/>
                </a:cubicBezTo>
                <a:lnTo>
                  <a:pt x="76209" y="3352800"/>
                </a:lnTo>
                <a:cubicBezTo>
                  <a:pt x="34120" y="3352800"/>
                  <a:pt x="0" y="3318680"/>
                  <a:pt x="0" y="3276591"/>
                </a:cubicBezTo>
                <a:lnTo>
                  <a:pt x="0" y="38100"/>
                </a:lnTo>
                <a:cubicBezTo>
                  <a:pt x="0" y="17072"/>
                  <a:pt x="17072" y="0"/>
                  <a:pt x="38100" y="0"/>
                </a:cubicBezTo>
                <a:close/>
              </a:path>
            </a:pathLst>
          </a:custGeom>
          <a:solidFill>
            <a:srgbClr val="F9FAFB"/>
          </a:solidFill>
        </p:spPr>
      </p:sp>
      <p:sp>
        <p:nvSpPr>
          <p:cNvPr id="19" name="Shape 17"/>
          <p:cNvSpPr/>
          <p:nvPr/>
        </p:nvSpPr>
        <p:spPr>
          <a:xfrm>
            <a:off x="6191250" y="1390650"/>
            <a:ext cx="5619750" cy="38100"/>
          </a:xfrm>
          <a:custGeom>
            <a:avLst/>
            <a:gdLst/>
            <a:ahLst/>
            <a:cxnLst/>
            <a:rect l="l" t="t" r="r" b="b"/>
            <a:pathLst>
              <a:path w="5619750" h="38100">
                <a:moveTo>
                  <a:pt x="38100" y="0"/>
                </a:moveTo>
                <a:lnTo>
                  <a:pt x="5581650" y="0"/>
                </a:lnTo>
                <a:cubicBezTo>
                  <a:pt x="5602678" y="0"/>
                  <a:pt x="5619750" y="17072"/>
                  <a:pt x="5619750" y="38100"/>
                </a:cubicBezTo>
                <a:lnTo>
                  <a:pt x="5619750" y="38100"/>
                </a:lnTo>
                <a:lnTo>
                  <a:pt x="0" y="38100"/>
                </a:lnTo>
                <a:lnTo>
                  <a:pt x="0" y="38100"/>
                </a:lnTo>
                <a:cubicBezTo>
                  <a:pt x="0" y="17072"/>
                  <a:pt x="17072" y="0"/>
                  <a:pt x="38100" y="0"/>
                </a:cubicBezTo>
                <a:close/>
              </a:path>
            </a:pathLst>
          </a:custGeom>
          <a:solidFill>
            <a:srgbClr val="8B0000"/>
          </a:solidFill>
        </p:spPr>
      </p:sp>
      <p:sp>
        <p:nvSpPr>
          <p:cNvPr id="20" name="Shape 18"/>
          <p:cNvSpPr/>
          <p:nvPr/>
        </p:nvSpPr>
        <p:spPr>
          <a:xfrm>
            <a:off x="6405563" y="1638300"/>
            <a:ext cx="190500" cy="190500"/>
          </a:xfrm>
          <a:custGeom>
            <a:avLst/>
            <a:gdLst/>
            <a:ahLst/>
            <a:cxnLst/>
            <a:rect l="l" t="t" r="r" b="b"/>
            <a:pathLst>
              <a:path w="190500" h="190500">
                <a:moveTo>
                  <a:pt x="86506" y="1935"/>
                </a:moveTo>
                <a:cubicBezTo>
                  <a:pt x="92050" y="-633"/>
                  <a:pt x="98450" y="-633"/>
                  <a:pt x="103994" y="1935"/>
                </a:cubicBezTo>
                <a:lnTo>
                  <a:pt x="185328" y="39514"/>
                </a:lnTo>
                <a:cubicBezTo>
                  <a:pt x="188491" y="40965"/>
                  <a:pt x="190500" y="44128"/>
                  <a:pt x="190500" y="47625"/>
                </a:cubicBezTo>
                <a:cubicBezTo>
                  <a:pt x="190500" y="51122"/>
                  <a:pt x="188491" y="54285"/>
                  <a:pt x="185328" y="55736"/>
                </a:cubicBezTo>
                <a:lnTo>
                  <a:pt x="103994" y="93315"/>
                </a:lnTo>
                <a:cubicBezTo>
                  <a:pt x="98450" y="95883"/>
                  <a:pt x="92050" y="95883"/>
                  <a:pt x="86506" y="93315"/>
                </a:cubicBezTo>
                <a:lnTo>
                  <a:pt x="5172" y="55736"/>
                </a:lnTo>
                <a:cubicBezTo>
                  <a:pt x="2009" y="54248"/>
                  <a:pt x="0" y="51085"/>
                  <a:pt x="0" y="47625"/>
                </a:cubicBezTo>
                <a:cubicBezTo>
                  <a:pt x="0" y="44165"/>
                  <a:pt x="2009" y="40965"/>
                  <a:pt x="5172" y="39514"/>
                </a:cubicBezTo>
                <a:lnTo>
                  <a:pt x="86506" y="1935"/>
                </a:lnTo>
                <a:close/>
                <a:moveTo>
                  <a:pt x="17897" y="81260"/>
                </a:moveTo>
                <a:lnTo>
                  <a:pt x="79028" y="109500"/>
                </a:lnTo>
                <a:cubicBezTo>
                  <a:pt x="89334" y="114263"/>
                  <a:pt x="101203" y="114263"/>
                  <a:pt x="111509" y="109500"/>
                </a:cubicBezTo>
                <a:lnTo>
                  <a:pt x="172641" y="81260"/>
                </a:lnTo>
                <a:lnTo>
                  <a:pt x="185328" y="87139"/>
                </a:lnTo>
                <a:cubicBezTo>
                  <a:pt x="188491" y="88590"/>
                  <a:pt x="190500" y="91753"/>
                  <a:pt x="190500" y="95250"/>
                </a:cubicBezTo>
                <a:cubicBezTo>
                  <a:pt x="190500" y="98747"/>
                  <a:pt x="188491" y="101910"/>
                  <a:pt x="185328" y="103361"/>
                </a:cubicBezTo>
                <a:lnTo>
                  <a:pt x="103994" y="140940"/>
                </a:lnTo>
                <a:cubicBezTo>
                  <a:pt x="98450" y="143508"/>
                  <a:pt x="92050" y="143508"/>
                  <a:pt x="86506" y="140940"/>
                </a:cubicBezTo>
                <a:lnTo>
                  <a:pt x="5172" y="103361"/>
                </a:lnTo>
                <a:cubicBezTo>
                  <a:pt x="2009" y="101873"/>
                  <a:pt x="0" y="98710"/>
                  <a:pt x="0" y="95250"/>
                </a:cubicBezTo>
                <a:cubicBezTo>
                  <a:pt x="0" y="91790"/>
                  <a:pt x="2009" y="88590"/>
                  <a:pt x="5172" y="87139"/>
                </a:cubicBezTo>
                <a:lnTo>
                  <a:pt x="17859" y="81260"/>
                </a:lnTo>
                <a:close/>
                <a:moveTo>
                  <a:pt x="5172" y="134764"/>
                </a:moveTo>
                <a:lnTo>
                  <a:pt x="17859" y="128885"/>
                </a:lnTo>
                <a:lnTo>
                  <a:pt x="78991" y="157125"/>
                </a:lnTo>
                <a:cubicBezTo>
                  <a:pt x="89297" y="161888"/>
                  <a:pt x="101166" y="161888"/>
                  <a:pt x="111472" y="157125"/>
                </a:cubicBezTo>
                <a:lnTo>
                  <a:pt x="172603" y="128885"/>
                </a:lnTo>
                <a:lnTo>
                  <a:pt x="185291" y="134764"/>
                </a:lnTo>
                <a:cubicBezTo>
                  <a:pt x="188454" y="136215"/>
                  <a:pt x="190463" y="139378"/>
                  <a:pt x="190463" y="142875"/>
                </a:cubicBezTo>
                <a:cubicBezTo>
                  <a:pt x="190463" y="146372"/>
                  <a:pt x="188454" y="149535"/>
                  <a:pt x="185291" y="150986"/>
                </a:cubicBezTo>
                <a:lnTo>
                  <a:pt x="103956" y="188565"/>
                </a:lnTo>
                <a:cubicBezTo>
                  <a:pt x="98413" y="191133"/>
                  <a:pt x="92013" y="191133"/>
                  <a:pt x="86469" y="188565"/>
                </a:cubicBezTo>
                <a:lnTo>
                  <a:pt x="5172" y="150986"/>
                </a:lnTo>
                <a:cubicBezTo>
                  <a:pt x="2009" y="149498"/>
                  <a:pt x="0" y="146335"/>
                  <a:pt x="0" y="142875"/>
                </a:cubicBezTo>
                <a:cubicBezTo>
                  <a:pt x="0" y="139415"/>
                  <a:pt x="2009" y="136215"/>
                  <a:pt x="5172" y="134764"/>
                </a:cubicBezTo>
                <a:close/>
              </a:path>
            </a:pathLst>
          </a:custGeom>
          <a:solidFill>
            <a:srgbClr val="8B0000"/>
          </a:solidFill>
        </p:spPr>
      </p:sp>
      <p:sp>
        <p:nvSpPr>
          <p:cNvPr id="21" name="Text 19"/>
          <p:cNvSpPr/>
          <p:nvPr/>
        </p:nvSpPr>
        <p:spPr>
          <a:xfrm>
            <a:off x="6619875" y="1600200"/>
            <a:ext cx="509587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Triple-Difference Framework</a:t>
            </a:r>
            <a:endParaRPr lang="en-US" sz="1600" dirty="0"/>
          </a:p>
        </p:txBody>
      </p:sp>
      <p:sp>
        <p:nvSpPr>
          <p:cNvPr id="22" name="Shape 20"/>
          <p:cNvSpPr/>
          <p:nvPr/>
        </p:nvSpPr>
        <p:spPr>
          <a:xfrm>
            <a:off x="6396038" y="2019300"/>
            <a:ext cx="5224463" cy="857250"/>
          </a:xfrm>
          <a:custGeom>
            <a:avLst/>
            <a:gdLst/>
            <a:ahLst/>
            <a:cxnLst/>
            <a:rect l="l" t="t" r="r" b="b"/>
            <a:pathLst>
              <a:path w="5224463" h="857250">
                <a:moveTo>
                  <a:pt x="0" y="0"/>
                </a:moveTo>
                <a:lnTo>
                  <a:pt x="5224463" y="0"/>
                </a:lnTo>
                <a:lnTo>
                  <a:pt x="5224463" y="857250"/>
                </a:lnTo>
                <a:lnTo>
                  <a:pt x="0" y="857250"/>
                </a:lnTo>
                <a:lnTo>
                  <a:pt x="0" y="0"/>
                </a:lnTo>
                <a:close/>
              </a:path>
            </a:pathLst>
          </a:custGeom>
          <a:solidFill>
            <a:srgbClr val="F9FAFB"/>
          </a:solidFill>
        </p:spPr>
      </p:sp>
      <p:sp>
        <p:nvSpPr>
          <p:cNvPr id="23" name="Shape 21"/>
          <p:cNvSpPr/>
          <p:nvPr/>
        </p:nvSpPr>
        <p:spPr>
          <a:xfrm>
            <a:off x="6396038" y="2019300"/>
            <a:ext cx="28575" cy="857250"/>
          </a:xfrm>
          <a:custGeom>
            <a:avLst/>
            <a:gdLst/>
            <a:ahLst/>
            <a:cxnLst/>
            <a:rect l="l" t="t" r="r" b="b"/>
            <a:pathLst>
              <a:path w="28575" h="857250">
                <a:moveTo>
                  <a:pt x="0" y="0"/>
                </a:moveTo>
                <a:lnTo>
                  <a:pt x="28575" y="0"/>
                </a:lnTo>
                <a:lnTo>
                  <a:pt x="28575" y="857250"/>
                </a:lnTo>
                <a:lnTo>
                  <a:pt x="0" y="857250"/>
                </a:lnTo>
                <a:lnTo>
                  <a:pt x="0" y="0"/>
                </a:lnTo>
                <a:close/>
              </a:path>
            </a:pathLst>
          </a:custGeom>
          <a:solidFill>
            <a:srgbClr val="8B0000"/>
          </a:solidFill>
        </p:spPr>
      </p:sp>
      <p:sp>
        <p:nvSpPr>
          <p:cNvPr id="24" name="Text 22"/>
          <p:cNvSpPr/>
          <p:nvPr/>
        </p:nvSpPr>
        <p:spPr>
          <a:xfrm>
            <a:off x="6562725" y="2133600"/>
            <a:ext cx="4972050" cy="628650"/>
          </a:xfrm>
          <a:prstGeom prst="rect">
            <a:avLst/>
          </a:prstGeom>
          <a:noFill/>
        </p:spPr>
        <p:txBody>
          <a:bodyPr wrap="square" lIns="0" tIns="0" rIns="0" bIns="0" rtlCol="0" anchor="ctr"/>
          <a:lstStyle/>
          <a:p>
            <a:pPr>
              <a:lnSpc>
                <a:spcPct val="140000"/>
              </a:lnSpc>
            </a:pPr>
            <a:r>
              <a:rPr lang="en-US" sz="1050" dirty="0">
                <a:solidFill>
                  <a:srgbClr val="1F2937"/>
                </a:solidFill>
                <a:latin typeface="MiSans" pitchFamily="34" charset="-122"/>
                <a:ea typeface="MiSans" pitchFamily="34" charset="-122"/>
                <a:cs typeface="MiSans" pitchFamily="34" charset="-120"/>
              </a:rPr>
              <a:t>Flow</a:t>
            </a:r>
            <a:r>
              <a:rPr lang="en-US" sz="790" dirty="0">
                <a:solidFill>
                  <a:srgbClr val="1F2937"/>
                </a:solidFill>
                <a:latin typeface="MiSans" pitchFamily="34" charset="-122"/>
                <a:ea typeface="MiSans" pitchFamily="34" charset="-122"/>
                <a:cs typeface="MiSans" pitchFamily="34" charset="-120"/>
              </a:rPr>
              <a:t>i,t</a:t>
            </a:r>
            <a:r>
              <a:rPr lang="en-US" sz="1050" dirty="0">
                <a:solidFill>
                  <a:srgbClr val="1F2937"/>
                </a:solidFill>
                <a:latin typeface="MiSans" pitchFamily="34" charset="-122"/>
                <a:ea typeface="MiSans" pitchFamily="34" charset="-122"/>
                <a:cs typeface="MiSans" pitchFamily="34" charset="-120"/>
              </a:rPr>
              <a:t> = α + β₁(AI_Exp</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Post</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β₂(AI_Exp</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Post</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λ₁Perf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λ₂(AI_Exp</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λ₃(Post</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Perf</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θ'X</a:t>
            </a:r>
            <a:r>
              <a:rPr lang="en-US" sz="790" dirty="0">
                <a:solidFill>
                  <a:srgbClr val="1F2937"/>
                </a:solidFill>
                <a:latin typeface="MiSans" pitchFamily="34" charset="-122"/>
                <a:ea typeface="MiSans" pitchFamily="34" charset="-122"/>
                <a:cs typeface="MiSans" pitchFamily="34" charset="-120"/>
              </a:rPr>
              <a:t>i,t</a:t>
            </a:r>
            <a:r>
              <a:rPr lang="en-US" sz="1050" dirty="0">
                <a:solidFill>
                  <a:srgbClr val="1F2937"/>
                </a:solidFill>
                <a:latin typeface="MiSans" pitchFamily="34" charset="-122"/>
                <a:ea typeface="MiSans" pitchFamily="34" charset="-122"/>
                <a:cs typeface="MiSans" pitchFamily="34" charset="-120"/>
              </a:rPr>
              <a:t> + μ</a:t>
            </a:r>
            <a:r>
              <a:rPr lang="en-US" sz="790" dirty="0">
                <a:solidFill>
                  <a:srgbClr val="1F2937"/>
                </a:solidFill>
                <a:latin typeface="MiSans" pitchFamily="34" charset="-122"/>
                <a:ea typeface="MiSans" pitchFamily="34" charset="-122"/>
                <a:cs typeface="MiSans" pitchFamily="34" charset="-120"/>
              </a:rPr>
              <a:t>i</a:t>
            </a:r>
            <a:r>
              <a:rPr lang="en-US" sz="1050" dirty="0">
                <a:solidFill>
                  <a:srgbClr val="1F2937"/>
                </a:solidFill>
                <a:latin typeface="MiSans" pitchFamily="34" charset="-122"/>
                <a:ea typeface="MiSans" pitchFamily="34" charset="-122"/>
                <a:cs typeface="MiSans" pitchFamily="34" charset="-120"/>
              </a:rPr>
              <a:t> + τ</a:t>
            </a:r>
            <a:r>
              <a:rPr lang="en-US" sz="790" dirty="0">
                <a:solidFill>
                  <a:srgbClr val="1F2937"/>
                </a:solidFill>
                <a:latin typeface="MiSans" pitchFamily="34" charset="-122"/>
                <a:ea typeface="MiSans" pitchFamily="34" charset="-122"/>
                <a:cs typeface="MiSans" pitchFamily="34" charset="-120"/>
              </a:rPr>
              <a:t>t</a:t>
            </a:r>
            <a:r>
              <a:rPr lang="en-US" sz="1050" dirty="0">
                <a:solidFill>
                  <a:srgbClr val="1F2937"/>
                </a:solidFill>
                <a:latin typeface="MiSans" pitchFamily="34" charset="-122"/>
                <a:ea typeface="MiSans" pitchFamily="34" charset="-122"/>
                <a:cs typeface="MiSans" pitchFamily="34" charset="-120"/>
              </a:rPr>
              <a:t> + ε</a:t>
            </a:r>
            <a:r>
              <a:rPr lang="en-US" sz="790" dirty="0">
                <a:solidFill>
                  <a:srgbClr val="1F2937"/>
                </a:solidFill>
                <a:latin typeface="MiSans" pitchFamily="34" charset="-122"/>
                <a:ea typeface="MiSans" pitchFamily="34" charset="-122"/>
                <a:cs typeface="MiSans" pitchFamily="34" charset="-120"/>
              </a:rPr>
              <a:t>i,t</a:t>
            </a:r>
            <a:endParaRPr lang="en-US" sz="1600" dirty="0"/>
          </a:p>
        </p:txBody>
      </p:sp>
      <p:sp>
        <p:nvSpPr>
          <p:cNvPr id="25" name="Text 23"/>
          <p:cNvSpPr/>
          <p:nvPr/>
        </p:nvSpPr>
        <p:spPr>
          <a:xfrm>
            <a:off x="6381750" y="2990850"/>
            <a:ext cx="523875"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Perf</a:t>
            </a:r>
            <a:r>
              <a:rPr lang="en-US" sz="900" b="1" dirty="0">
                <a:solidFill>
                  <a:srgbClr val="8B0000"/>
                </a:solidFill>
                <a:latin typeface="MiSans" pitchFamily="34" charset="-122"/>
                <a:ea typeface="MiSans" pitchFamily="34" charset="-122"/>
                <a:cs typeface="MiSans" pitchFamily="34" charset="-120"/>
              </a:rPr>
              <a:t>i</a:t>
            </a:r>
            <a:endParaRPr lang="en-US" sz="1600" dirty="0"/>
          </a:p>
        </p:txBody>
      </p:sp>
      <p:sp>
        <p:nvSpPr>
          <p:cNvPr id="26" name="Text 24"/>
          <p:cNvSpPr/>
          <p:nvPr/>
        </p:nvSpPr>
        <p:spPr>
          <a:xfrm>
            <a:off x="6943576" y="2990850"/>
            <a:ext cx="31337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Prior performance (Jan-Oct 2022), standardized</a:t>
            </a:r>
            <a:endParaRPr lang="en-US" sz="1600" dirty="0"/>
          </a:p>
        </p:txBody>
      </p:sp>
      <p:sp>
        <p:nvSpPr>
          <p:cNvPr id="27" name="Text 25"/>
          <p:cNvSpPr/>
          <p:nvPr/>
        </p:nvSpPr>
        <p:spPr>
          <a:xfrm>
            <a:off x="6381750" y="3295650"/>
            <a:ext cx="2667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β₁</a:t>
            </a:r>
            <a:endParaRPr lang="en-US" sz="1600" dirty="0"/>
          </a:p>
        </p:txBody>
      </p:sp>
      <p:sp>
        <p:nvSpPr>
          <p:cNvPr id="28" name="Text 26"/>
          <p:cNvSpPr/>
          <p:nvPr/>
        </p:nvSpPr>
        <p:spPr>
          <a:xfrm>
            <a:off x="6682085" y="3295650"/>
            <a:ext cx="2257425"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Average post-event AI flow effect</a:t>
            </a:r>
            <a:endParaRPr lang="en-US" sz="1600" dirty="0"/>
          </a:p>
        </p:txBody>
      </p:sp>
      <p:sp>
        <p:nvSpPr>
          <p:cNvPr id="29" name="Text 27"/>
          <p:cNvSpPr/>
          <p:nvPr/>
        </p:nvSpPr>
        <p:spPr>
          <a:xfrm>
            <a:off x="6381750" y="3600450"/>
            <a:ext cx="266700" cy="228600"/>
          </a:xfrm>
          <a:prstGeom prst="rect">
            <a:avLst/>
          </a:prstGeom>
          <a:noFill/>
        </p:spPr>
        <p:txBody>
          <a:bodyPr wrap="square" lIns="0" tIns="0" rIns="0" bIns="0" rtlCol="0" anchor="ctr"/>
          <a:lstStyle/>
          <a:p>
            <a:pPr>
              <a:lnSpc>
                <a:spcPct val="130000"/>
              </a:lnSpc>
            </a:pPr>
            <a:r>
              <a:rPr lang="en-US" sz="1200" b="1" dirty="0">
                <a:solidFill>
                  <a:srgbClr val="8B0000"/>
                </a:solidFill>
                <a:latin typeface="MiSans" pitchFamily="34" charset="-122"/>
                <a:ea typeface="MiSans" pitchFamily="34" charset="-122"/>
                <a:cs typeface="MiSans" pitchFamily="34" charset="-120"/>
              </a:rPr>
              <a:t>β₂</a:t>
            </a:r>
            <a:endParaRPr lang="en-US" sz="1600" dirty="0"/>
          </a:p>
        </p:txBody>
      </p:sp>
      <p:sp>
        <p:nvSpPr>
          <p:cNvPr id="30" name="Text 28"/>
          <p:cNvSpPr/>
          <p:nvPr/>
        </p:nvSpPr>
        <p:spPr>
          <a:xfrm>
            <a:off x="6682085" y="3600450"/>
            <a:ext cx="3200400" cy="228600"/>
          </a:xfrm>
          <a:prstGeom prst="rect">
            <a:avLst/>
          </a:prstGeom>
          <a:noFill/>
        </p:spPr>
        <p:txBody>
          <a:bodyPr wrap="square" lIns="0" tIns="0" rIns="0" bIns="0" rtlCol="0" anchor="ctr"/>
          <a:lstStyle/>
          <a:p>
            <a:pPr>
              <a:lnSpc>
                <a:spcPct val="130000"/>
              </a:lnSpc>
            </a:pP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 contingency effect (key coefficient)</a:t>
            </a:r>
            <a:endParaRPr lang="en-US" sz="1600" dirty="0"/>
          </a:p>
        </p:txBody>
      </p:sp>
      <p:sp>
        <p:nvSpPr>
          <p:cNvPr id="31" name="Shape 29"/>
          <p:cNvSpPr/>
          <p:nvPr/>
        </p:nvSpPr>
        <p:spPr>
          <a:xfrm>
            <a:off x="6381750" y="3986213"/>
            <a:ext cx="5238750" cy="9525"/>
          </a:xfrm>
          <a:custGeom>
            <a:avLst/>
            <a:gdLst/>
            <a:ahLst/>
            <a:cxnLst/>
            <a:rect l="l" t="t" r="r" b="b"/>
            <a:pathLst>
              <a:path w="5238750" h="9525">
                <a:moveTo>
                  <a:pt x="0" y="0"/>
                </a:moveTo>
                <a:lnTo>
                  <a:pt x="5238750" y="0"/>
                </a:lnTo>
                <a:lnTo>
                  <a:pt x="5238750" y="9525"/>
                </a:lnTo>
                <a:lnTo>
                  <a:pt x="0" y="9525"/>
                </a:lnTo>
                <a:lnTo>
                  <a:pt x="0" y="0"/>
                </a:lnTo>
                <a:close/>
              </a:path>
            </a:pathLst>
          </a:custGeom>
          <a:solidFill>
            <a:srgbClr val="8B0000">
              <a:alpha val="20000"/>
            </a:srgbClr>
          </a:solidFill>
        </p:spPr>
      </p:sp>
      <p:sp>
        <p:nvSpPr>
          <p:cNvPr id="32" name="Shape 30"/>
          <p:cNvSpPr/>
          <p:nvPr/>
        </p:nvSpPr>
        <p:spPr>
          <a:xfrm>
            <a:off x="6391275" y="4162425"/>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8B0000"/>
          </a:solidFill>
        </p:spPr>
      </p:sp>
      <p:sp>
        <p:nvSpPr>
          <p:cNvPr id="33" name="Text 31"/>
          <p:cNvSpPr/>
          <p:nvPr/>
        </p:nvSpPr>
        <p:spPr>
          <a:xfrm>
            <a:off x="6629400" y="4143375"/>
            <a:ext cx="5067300" cy="228600"/>
          </a:xfrm>
          <a:prstGeom prst="rect">
            <a:avLst/>
          </a:prstGeom>
          <a:noFill/>
        </p:spPr>
        <p:txBody>
          <a:bodyPr wrap="square" lIns="0" tIns="0" rIns="0" bIns="0" rtlCol="0" anchor="ctr"/>
          <a:lstStyle/>
          <a:p>
            <a:pP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2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β₂ &gt; 0 (stronger effect for high performers)</a:t>
            </a:r>
            <a:endParaRPr lang="en-US" sz="1600" dirty="0"/>
          </a:p>
        </p:txBody>
      </p:sp>
      <p:sp>
        <p:nvSpPr>
          <p:cNvPr id="34" name="Shape 32"/>
          <p:cNvSpPr/>
          <p:nvPr/>
        </p:nvSpPr>
        <p:spPr>
          <a:xfrm>
            <a:off x="6200775" y="4905375"/>
            <a:ext cx="5600700" cy="1562100"/>
          </a:xfrm>
          <a:custGeom>
            <a:avLst/>
            <a:gdLst/>
            <a:ahLst/>
            <a:cxnLst/>
            <a:rect l="l" t="t" r="r" b="b"/>
            <a:pathLst>
              <a:path w="5600700" h="1562100">
                <a:moveTo>
                  <a:pt x="76199" y="0"/>
                </a:moveTo>
                <a:lnTo>
                  <a:pt x="5524501" y="0"/>
                </a:lnTo>
                <a:cubicBezTo>
                  <a:pt x="5566584" y="0"/>
                  <a:pt x="5600700" y="34116"/>
                  <a:pt x="5600700" y="76199"/>
                </a:cubicBezTo>
                <a:lnTo>
                  <a:pt x="5600700" y="1485901"/>
                </a:lnTo>
                <a:cubicBezTo>
                  <a:pt x="5600700" y="1527984"/>
                  <a:pt x="5566584" y="1562100"/>
                  <a:pt x="5524501" y="1562100"/>
                </a:cubicBezTo>
                <a:lnTo>
                  <a:pt x="76199" y="1562100"/>
                </a:lnTo>
                <a:cubicBezTo>
                  <a:pt x="34116" y="1562100"/>
                  <a:pt x="0" y="1527984"/>
                  <a:pt x="0" y="1485901"/>
                </a:cubicBezTo>
                <a:lnTo>
                  <a:pt x="0" y="76199"/>
                </a:lnTo>
                <a:cubicBezTo>
                  <a:pt x="0" y="34144"/>
                  <a:pt x="34144" y="0"/>
                  <a:pt x="76199" y="0"/>
                </a:cubicBezTo>
                <a:close/>
              </a:path>
            </a:pathLst>
          </a:custGeom>
          <a:solidFill>
            <a:srgbClr val="FFFFFF"/>
          </a:solidFill>
          <a:ln w="25400">
            <a:solidFill>
              <a:srgbClr val="8B0000">
                <a:alpha val="20000"/>
              </a:srgbClr>
            </a:solidFill>
            <a:prstDash val="solid"/>
          </a:ln>
        </p:spPr>
      </p:sp>
      <p:sp>
        <p:nvSpPr>
          <p:cNvPr id="35" name="Text 33"/>
          <p:cNvSpPr/>
          <p:nvPr/>
        </p:nvSpPr>
        <p:spPr>
          <a:xfrm>
            <a:off x="6362700" y="5067300"/>
            <a:ext cx="5362575" cy="266700"/>
          </a:xfrm>
          <a:prstGeom prst="rect">
            <a:avLst/>
          </a:prstGeom>
          <a:noFill/>
        </p:spPr>
        <p:txBody>
          <a:bodyPr wrap="square" lIns="0" tIns="0" rIns="0" bIns="0" rtlCol="0" anchor="ctr"/>
          <a:lstStyle/>
          <a:p>
            <a:pPr>
              <a:lnSpc>
                <a:spcPct val="130000"/>
              </a:lnSpc>
            </a:pPr>
            <a:r>
              <a:rPr lang="en-US" sz="1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Prior Performance Measurement</a:t>
            </a:r>
            <a:endParaRPr lang="en-US" sz="1600" dirty="0"/>
          </a:p>
        </p:txBody>
      </p:sp>
      <p:sp>
        <p:nvSpPr>
          <p:cNvPr id="36" name="Shape 34"/>
          <p:cNvSpPr/>
          <p:nvPr/>
        </p:nvSpPr>
        <p:spPr>
          <a:xfrm>
            <a:off x="6376988" y="5448300"/>
            <a:ext cx="5262563" cy="742950"/>
          </a:xfrm>
          <a:custGeom>
            <a:avLst/>
            <a:gdLst/>
            <a:ahLst/>
            <a:cxnLst/>
            <a:rect l="l" t="t" r="r" b="b"/>
            <a:pathLst>
              <a:path w="5262563" h="742950">
                <a:moveTo>
                  <a:pt x="0" y="0"/>
                </a:moveTo>
                <a:lnTo>
                  <a:pt x="5262563" y="0"/>
                </a:lnTo>
                <a:lnTo>
                  <a:pt x="5262563" y="742950"/>
                </a:lnTo>
                <a:lnTo>
                  <a:pt x="0" y="742950"/>
                </a:lnTo>
                <a:lnTo>
                  <a:pt x="0" y="0"/>
                </a:lnTo>
                <a:close/>
              </a:path>
            </a:pathLst>
          </a:custGeom>
          <a:solidFill>
            <a:srgbClr val="F9FAFB"/>
          </a:solidFill>
        </p:spPr>
      </p:sp>
      <p:sp>
        <p:nvSpPr>
          <p:cNvPr id="37" name="Shape 35"/>
          <p:cNvSpPr/>
          <p:nvPr/>
        </p:nvSpPr>
        <p:spPr>
          <a:xfrm>
            <a:off x="6376988" y="5448300"/>
            <a:ext cx="28575" cy="742950"/>
          </a:xfrm>
          <a:custGeom>
            <a:avLst/>
            <a:gdLst/>
            <a:ahLst/>
            <a:cxnLst/>
            <a:rect l="l" t="t" r="r" b="b"/>
            <a:pathLst>
              <a:path w="28575" h="742950">
                <a:moveTo>
                  <a:pt x="0" y="0"/>
                </a:moveTo>
                <a:lnTo>
                  <a:pt x="28575" y="0"/>
                </a:lnTo>
                <a:lnTo>
                  <a:pt x="28575" y="742950"/>
                </a:lnTo>
                <a:lnTo>
                  <a:pt x="0" y="742950"/>
                </a:lnTo>
                <a:lnTo>
                  <a:pt x="0" y="0"/>
                </a:lnTo>
                <a:close/>
              </a:path>
            </a:pathLst>
          </a:custGeom>
          <a:solidFill>
            <a:srgbClr val="8B0000"/>
          </a:solidFill>
        </p:spPr>
      </p:sp>
      <p:sp>
        <p:nvSpPr>
          <p:cNvPr id="38" name="Text 36"/>
          <p:cNvSpPr/>
          <p:nvPr/>
        </p:nvSpPr>
        <p:spPr>
          <a:xfrm>
            <a:off x="6543675" y="5562600"/>
            <a:ext cx="5019675" cy="247650"/>
          </a:xfrm>
          <a:prstGeom prst="rect">
            <a:avLst/>
          </a:prstGeom>
          <a:noFill/>
        </p:spPr>
        <p:txBody>
          <a:bodyPr wrap="square" lIns="0" tIns="0" rIns="0" bIns="0" rtlCol="0" anchor="ctr"/>
          <a:lstStyle/>
          <a:p>
            <a:pPr>
              <a:lnSpc>
                <a:spcPct val="140000"/>
              </a:lnSpc>
            </a:pPr>
            <a:r>
              <a:rPr lang="en-US" sz="1200" dirty="0">
                <a:solidFill>
                  <a:srgbClr val="1F2937"/>
                </a:solidFill>
                <a:latin typeface="MiSans" pitchFamily="34" charset="-122"/>
                <a:ea typeface="MiSans" pitchFamily="34" charset="-122"/>
                <a:cs typeface="MiSans" pitchFamily="34" charset="-120"/>
              </a:rPr>
              <a:t>pre_avg_std</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(α</a:t>
            </a:r>
            <a:r>
              <a:rPr lang="en-US" sz="900" dirty="0">
                <a:solidFill>
                  <a:srgbClr val="1F2937"/>
                </a:solidFill>
                <a:latin typeface="MiSans" pitchFamily="34" charset="-122"/>
                <a:ea typeface="MiSans" pitchFamily="34" charset="-122"/>
                <a:cs typeface="MiSans" pitchFamily="34" charset="-120"/>
              </a:rPr>
              <a:t>i</a:t>
            </a:r>
            <a:r>
              <a:rPr lang="en-US" sz="1200" dirty="0">
                <a:solidFill>
                  <a:srgbClr val="1F2937"/>
                </a:solidFill>
                <a:latin typeface="MiSans" pitchFamily="34" charset="-122"/>
                <a:ea typeface="MiSans" pitchFamily="34" charset="-122"/>
                <a:cs typeface="MiSans" pitchFamily="34" charset="-120"/>
              </a:rPr>
              <a:t> - mean(α)) / sd(α)</a:t>
            </a:r>
            <a:endParaRPr lang="en-US" sz="1600" dirty="0"/>
          </a:p>
        </p:txBody>
      </p:sp>
      <p:sp>
        <p:nvSpPr>
          <p:cNvPr id="39" name="Text 37"/>
          <p:cNvSpPr/>
          <p:nvPr/>
        </p:nvSpPr>
        <p:spPr>
          <a:xfrm>
            <a:off x="6543675" y="5886450"/>
            <a:ext cx="5010150" cy="190500"/>
          </a:xfrm>
          <a:prstGeom prst="rect">
            <a:avLst/>
          </a:prstGeom>
          <a:noFill/>
        </p:spPr>
        <p:txBody>
          <a:bodyPr wrap="square" lIns="0" tIns="0" rIns="0" bIns="0" rtlCol="0" anchor="ctr"/>
          <a:lstStyle/>
          <a:p>
            <a:pP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α</a:t>
            </a:r>
            <a:r>
              <a:rPr lang="en-US" sz="7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average monthly return (Jan-Oct 2022)</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2625" y="352625"/>
            <a:ext cx="11557275" cy="211575"/>
          </a:xfrm>
          <a:prstGeom prst="rect">
            <a:avLst/>
          </a:prstGeom>
          <a:noFill/>
        </p:spPr>
        <p:txBody>
          <a:bodyPr wrap="square" lIns="0" tIns="0" rIns="0" bIns="0" rtlCol="0" anchor="ctr"/>
          <a:lstStyle/>
          <a:p>
            <a:pPr>
              <a:lnSpc>
                <a:spcPct val="130000"/>
              </a:lnSpc>
            </a:pPr>
            <a:r>
              <a:rPr lang="en-US" sz="1110" b="1" kern="0" spc="56"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3. HYPOTHESES DEVELOPMENT</a:t>
            </a:r>
            <a:endParaRPr lang="en-US" sz="1600" dirty="0"/>
          </a:p>
        </p:txBody>
      </p:sp>
      <p:sp>
        <p:nvSpPr>
          <p:cNvPr id="3" name="Text 1"/>
          <p:cNvSpPr/>
          <p:nvPr/>
        </p:nvSpPr>
        <p:spPr>
          <a:xfrm>
            <a:off x="352625" y="634725"/>
            <a:ext cx="11645432" cy="352625"/>
          </a:xfrm>
          <a:prstGeom prst="rect">
            <a:avLst/>
          </a:prstGeom>
          <a:noFill/>
        </p:spPr>
        <p:txBody>
          <a:bodyPr wrap="square" lIns="0" tIns="0" rIns="0" bIns="0" rtlCol="0" anchor="ctr"/>
          <a:lstStyle/>
          <a:p>
            <a:pPr>
              <a:lnSpc>
                <a:spcPct val="90000"/>
              </a:lnSpc>
            </a:pPr>
            <a:r>
              <a:rPr lang="en-US" sz="2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 Exploratory Investment Behavior</a:t>
            </a:r>
            <a:endParaRPr lang="en-US" sz="1600" dirty="0"/>
          </a:p>
        </p:txBody>
      </p:sp>
      <p:sp>
        <p:nvSpPr>
          <p:cNvPr id="4" name="Shape 2"/>
          <p:cNvSpPr/>
          <p:nvPr/>
        </p:nvSpPr>
        <p:spPr>
          <a:xfrm>
            <a:off x="352625" y="1093137"/>
            <a:ext cx="846299" cy="35262"/>
          </a:xfrm>
          <a:custGeom>
            <a:avLst/>
            <a:gdLst/>
            <a:ahLst/>
            <a:cxnLst/>
            <a:rect l="l" t="t" r="r" b="b"/>
            <a:pathLst>
              <a:path w="846299" h="35262">
                <a:moveTo>
                  <a:pt x="0" y="0"/>
                </a:moveTo>
                <a:lnTo>
                  <a:pt x="846299" y="0"/>
                </a:lnTo>
                <a:lnTo>
                  <a:pt x="846299" y="35262"/>
                </a:lnTo>
                <a:lnTo>
                  <a:pt x="0" y="35262"/>
                </a:lnTo>
                <a:lnTo>
                  <a:pt x="0" y="0"/>
                </a:lnTo>
                <a:close/>
              </a:path>
            </a:pathLst>
          </a:custGeom>
          <a:solidFill>
            <a:srgbClr val="8B0000"/>
          </a:solidFill>
        </p:spPr>
      </p:sp>
      <p:sp>
        <p:nvSpPr>
          <p:cNvPr id="5" name="Shape 3"/>
          <p:cNvSpPr/>
          <p:nvPr/>
        </p:nvSpPr>
        <p:spPr>
          <a:xfrm>
            <a:off x="370256" y="1269449"/>
            <a:ext cx="5641996" cy="2186273"/>
          </a:xfrm>
          <a:custGeom>
            <a:avLst/>
            <a:gdLst/>
            <a:ahLst/>
            <a:cxnLst/>
            <a:rect l="l" t="t" r="r" b="b"/>
            <a:pathLst>
              <a:path w="5641996" h="2186273">
                <a:moveTo>
                  <a:pt x="35262" y="0"/>
                </a:moveTo>
                <a:lnTo>
                  <a:pt x="5571466" y="0"/>
                </a:lnTo>
                <a:cubicBezTo>
                  <a:pt x="5610419" y="0"/>
                  <a:pt x="5641996" y="31577"/>
                  <a:pt x="5641996" y="70529"/>
                </a:cubicBezTo>
                <a:lnTo>
                  <a:pt x="5641996" y="2115744"/>
                </a:lnTo>
                <a:cubicBezTo>
                  <a:pt x="5641996" y="2154696"/>
                  <a:pt x="5610419" y="2186273"/>
                  <a:pt x="5571466" y="2186273"/>
                </a:cubicBezTo>
                <a:lnTo>
                  <a:pt x="35262" y="2186273"/>
                </a:lnTo>
                <a:cubicBezTo>
                  <a:pt x="15788" y="2186273"/>
                  <a:pt x="0" y="2170486"/>
                  <a:pt x="0" y="2151011"/>
                </a:cubicBezTo>
                <a:lnTo>
                  <a:pt x="0" y="35262"/>
                </a:lnTo>
                <a:cubicBezTo>
                  <a:pt x="0" y="15801"/>
                  <a:pt x="15801" y="0"/>
                  <a:pt x="35262" y="0"/>
                </a:cubicBezTo>
                <a:close/>
              </a:path>
            </a:pathLst>
          </a:custGeom>
          <a:solidFill>
            <a:srgbClr val="8B0000">
              <a:alpha val="5098"/>
            </a:srgbClr>
          </a:solidFill>
        </p:spPr>
      </p:sp>
      <p:sp>
        <p:nvSpPr>
          <p:cNvPr id="6" name="Shape 4"/>
          <p:cNvSpPr/>
          <p:nvPr/>
        </p:nvSpPr>
        <p:spPr>
          <a:xfrm>
            <a:off x="370256" y="1269449"/>
            <a:ext cx="35262" cy="2186273"/>
          </a:xfrm>
          <a:custGeom>
            <a:avLst/>
            <a:gdLst/>
            <a:ahLst/>
            <a:cxnLst/>
            <a:rect l="l" t="t" r="r" b="b"/>
            <a:pathLst>
              <a:path w="35262" h="2186273">
                <a:moveTo>
                  <a:pt x="35262" y="0"/>
                </a:moveTo>
                <a:lnTo>
                  <a:pt x="35262" y="0"/>
                </a:lnTo>
                <a:lnTo>
                  <a:pt x="35262" y="2186273"/>
                </a:lnTo>
                <a:lnTo>
                  <a:pt x="35262" y="2186273"/>
                </a:lnTo>
                <a:cubicBezTo>
                  <a:pt x="15788" y="2186273"/>
                  <a:pt x="0" y="2170486"/>
                  <a:pt x="0" y="2151011"/>
                </a:cubicBezTo>
                <a:lnTo>
                  <a:pt x="0" y="35262"/>
                </a:lnTo>
                <a:cubicBezTo>
                  <a:pt x="0" y="15801"/>
                  <a:pt x="15801" y="0"/>
                  <a:pt x="35262" y="0"/>
                </a:cubicBezTo>
                <a:close/>
              </a:path>
            </a:pathLst>
          </a:custGeom>
          <a:solidFill>
            <a:srgbClr val="8B0000"/>
          </a:solidFill>
        </p:spPr>
      </p:sp>
      <p:sp>
        <p:nvSpPr>
          <p:cNvPr id="7" name="Shape 5"/>
          <p:cNvSpPr/>
          <p:nvPr/>
        </p:nvSpPr>
        <p:spPr>
          <a:xfrm>
            <a:off x="586239" y="1481024"/>
            <a:ext cx="176312" cy="176312"/>
          </a:xfrm>
          <a:custGeom>
            <a:avLst/>
            <a:gdLst/>
            <a:ahLst/>
            <a:cxnLst/>
            <a:rect l="l" t="t" r="r" b="b"/>
            <a:pathLst>
              <a:path w="176312" h="176312">
                <a:moveTo>
                  <a:pt x="22693" y="78686"/>
                </a:moveTo>
                <a:cubicBezTo>
                  <a:pt x="27273" y="46661"/>
                  <a:pt x="54857" y="22039"/>
                  <a:pt x="88156" y="22039"/>
                </a:cubicBezTo>
                <a:cubicBezTo>
                  <a:pt x="106407" y="22039"/>
                  <a:pt x="122937" y="29443"/>
                  <a:pt x="134920" y="41392"/>
                </a:cubicBezTo>
                <a:cubicBezTo>
                  <a:pt x="134989" y="41461"/>
                  <a:pt x="135058" y="41530"/>
                  <a:pt x="135127" y="41599"/>
                </a:cubicBezTo>
                <a:lnTo>
                  <a:pt x="137744" y="44078"/>
                </a:lnTo>
                <a:lnTo>
                  <a:pt x="121249" y="44078"/>
                </a:lnTo>
                <a:cubicBezTo>
                  <a:pt x="115154" y="44078"/>
                  <a:pt x="110230" y="49002"/>
                  <a:pt x="110230" y="55098"/>
                </a:cubicBezTo>
                <a:cubicBezTo>
                  <a:pt x="110230" y="61193"/>
                  <a:pt x="115154" y="66117"/>
                  <a:pt x="121249" y="66117"/>
                </a:cubicBezTo>
                <a:lnTo>
                  <a:pt x="165327" y="66117"/>
                </a:lnTo>
                <a:cubicBezTo>
                  <a:pt x="171422" y="66117"/>
                  <a:pt x="176347" y="61193"/>
                  <a:pt x="176347" y="55098"/>
                </a:cubicBezTo>
                <a:lnTo>
                  <a:pt x="176347" y="11020"/>
                </a:lnTo>
                <a:cubicBezTo>
                  <a:pt x="176347" y="4924"/>
                  <a:pt x="171422" y="0"/>
                  <a:pt x="165327" y="0"/>
                </a:cubicBezTo>
                <a:cubicBezTo>
                  <a:pt x="159232" y="0"/>
                  <a:pt x="154308" y="4924"/>
                  <a:pt x="154308" y="11020"/>
                </a:cubicBezTo>
                <a:lnTo>
                  <a:pt x="154308" y="29408"/>
                </a:lnTo>
                <a:lnTo>
                  <a:pt x="150416" y="25724"/>
                </a:lnTo>
                <a:cubicBezTo>
                  <a:pt x="134473" y="9849"/>
                  <a:pt x="112434" y="0"/>
                  <a:pt x="88156" y="0"/>
                </a:cubicBezTo>
                <a:cubicBezTo>
                  <a:pt x="43734" y="0"/>
                  <a:pt x="6991" y="32852"/>
                  <a:pt x="895" y="75587"/>
                </a:cubicBezTo>
                <a:cubicBezTo>
                  <a:pt x="34" y="81613"/>
                  <a:pt x="4201" y="87192"/>
                  <a:pt x="10227" y="88053"/>
                </a:cubicBezTo>
                <a:cubicBezTo>
                  <a:pt x="16254" y="88914"/>
                  <a:pt x="21832" y="84713"/>
                  <a:pt x="22693" y="78721"/>
                </a:cubicBezTo>
                <a:close/>
                <a:moveTo>
                  <a:pt x="175417" y="100725"/>
                </a:moveTo>
                <a:cubicBezTo>
                  <a:pt x="176278" y="94699"/>
                  <a:pt x="172077" y="89120"/>
                  <a:pt x="166085" y="88259"/>
                </a:cubicBezTo>
                <a:cubicBezTo>
                  <a:pt x="160093" y="87399"/>
                  <a:pt x="154480" y="91600"/>
                  <a:pt x="153619" y="97592"/>
                </a:cubicBezTo>
                <a:cubicBezTo>
                  <a:pt x="149039" y="129617"/>
                  <a:pt x="121456" y="154239"/>
                  <a:pt x="88156" y="154239"/>
                </a:cubicBezTo>
                <a:cubicBezTo>
                  <a:pt x="69905" y="154239"/>
                  <a:pt x="53376" y="146835"/>
                  <a:pt x="41392" y="134886"/>
                </a:cubicBezTo>
                <a:cubicBezTo>
                  <a:pt x="41323" y="134817"/>
                  <a:pt x="41254" y="134748"/>
                  <a:pt x="41185" y="134679"/>
                </a:cubicBezTo>
                <a:lnTo>
                  <a:pt x="38568" y="132200"/>
                </a:lnTo>
                <a:lnTo>
                  <a:pt x="55063" y="132200"/>
                </a:lnTo>
                <a:cubicBezTo>
                  <a:pt x="61158" y="132200"/>
                  <a:pt x="66083" y="127275"/>
                  <a:pt x="66083" y="121180"/>
                </a:cubicBezTo>
                <a:cubicBezTo>
                  <a:pt x="66083" y="115085"/>
                  <a:pt x="61158" y="110161"/>
                  <a:pt x="55063" y="110161"/>
                </a:cubicBezTo>
                <a:lnTo>
                  <a:pt x="11020" y="110195"/>
                </a:lnTo>
                <a:cubicBezTo>
                  <a:pt x="8092" y="110195"/>
                  <a:pt x="5269" y="111366"/>
                  <a:pt x="3203" y="113467"/>
                </a:cubicBezTo>
                <a:cubicBezTo>
                  <a:pt x="1136" y="115567"/>
                  <a:pt x="-34" y="118357"/>
                  <a:pt x="0" y="121318"/>
                </a:cubicBezTo>
                <a:lnTo>
                  <a:pt x="344" y="165052"/>
                </a:lnTo>
                <a:cubicBezTo>
                  <a:pt x="379" y="171147"/>
                  <a:pt x="5372" y="176037"/>
                  <a:pt x="11467" y="175968"/>
                </a:cubicBezTo>
                <a:cubicBezTo>
                  <a:pt x="17562" y="175899"/>
                  <a:pt x="22452" y="170940"/>
                  <a:pt x="22383" y="164845"/>
                </a:cubicBezTo>
                <a:lnTo>
                  <a:pt x="22246" y="147111"/>
                </a:lnTo>
                <a:lnTo>
                  <a:pt x="25930" y="150589"/>
                </a:lnTo>
                <a:cubicBezTo>
                  <a:pt x="41874" y="166464"/>
                  <a:pt x="63879" y="176312"/>
                  <a:pt x="88156" y="176312"/>
                </a:cubicBezTo>
                <a:cubicBezTo>
                  <a:pt x="132579" y="176312"/>
                  <a:pt x="169322" y="143460"/>
                  <a:pt x="175417" y="100725"/>
                </a:cubicBezTo>
                <a:close/>
              </a:path>
            </a:pathLst>
          </a:custGeom>
          <a:solidFill>
            <a:srgbClr val="8B0000"/>
          </a:solidFill>
        </p:spPr>
      </p:sp>
      <p:sp>
        <p:nvSpPr>
          <p:cNvPr id="8" name="Text 6"/>
          <p:cNvSpPr/>
          <p:nvPr/>
        </p:nvSpPr>
        <p:spPr>
          <a:xfrm>
            <a:off x="784590" y="1445761"/>
            <a:ext cx="5139505" cy="246837"/>
          </a:xfrm>
          <a:prstGeom prst="rect">
            <a:avLst/>
          </a:prstGeom>
          <a:noFill/>
        </p:spPr>
        <p:txBody>
          <a:bodyPr wrap="square" lIns="0" tIns="0" rIns="0" bIns="0" rtlCol="0" anchor="ctr"/>
          <a:lstStyle/>
          <a:p>
            <a:pPr>
              <a:lnSpc>
                <a:spcPct val="120000"/>
              </a:lnSpc>
            </a:pPr>
            <a:r>
              <a:rPr lang="en-US" sz="13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Organizational Learning Theory</a:t>
            </a:r>
            <a:endParaRPr lang="en-US" sz="1600" dirty="0"/>
          </a:p>
        </p:txBody>
      </p:sp>
      <p:sp>
        <p:nvSpPr>
          <p:cNvPr id="9" name="Text 7"/>
          <p:cNvSpPr/>
          <p:nvPr/>
        </p:nvSpPr>
        <p:spPr>
          <a:xfrm>
            <a:off x="564200" y="1798386"/>
            <a:ext cx="5342265" cy="687618"/>
          </a:xfrm>
          <a:prstGeom prst="rect">
            <a:avLst/>
          </a:prstGeom>
          <a:noFill/>
        </p:spPr>
        <p:txBody>
          <a:bodyPr wrap="square" lIns="0" tIns="0" rIns="0" bIns="0" rtlCol="0" anchor="ctr"/>
          <a:lstStyle/>
          <a:p>
            <a:pPr>
              <a:lnSpc>
                <a:spcPct val="140000"/>
              </a:lnSpc>
            </a:pPr>
            <a:r>
              <a:rPr lang="en-US" sz="111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Discontinuous change</a:t>
            </a:r>
            <a:r>
              <a:rPr lang="en-US" sz="111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induces organizations to shift from exploitative (efficiency-focused) to exploratory (innovation-focused) behavior (Scholten et al., 2019; Prange &amp; Schlegelmilch, 2009).</a:t>
            </a:r>
            <a:endParaRPr lang="en-US" sz="1600" dirty="0"/>
          </a:p>
        </p:txBody>
      </p:sp>
      <p:sp>
        <p:nvSpPr>
          <p:cNvPr id="10" name="Text 8"/>
          <p:cNvSpPr/>
          <p:nvPr/>
        </p:nvSpPr>
        <p:spPr>
          <a:xfrm>
            <a:off x="564200" y="2591792"/>
            <a:ext cx="5342265" cy="687618"/>
          </a:xfrm>
          <a:prstGeom prst="rect">
            <a:avLst/>
          </a:prstGeom>
          <a:noFill/>
        </p:spPr>
        <p:txBody>
          <a:bodyPr wrap="square" lIns="0" tIns="0" rIns="0" bIns="0" rtlCol="0" anchor="ctr"/>
          <a:lstStyle/>
          <a:p>
            <a:pPr>
              <a:lnSpc>
                <a:spcPct val="140000"/>
              </a:lnSpc>
            </a:pPr>
            <a:r>
              <a:rPr lang="en-US" sz="111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New capital inflows combined with technological narratives may cause managers to rebalance portfolios more actively, increase trading frequency, or reallocate toward AI-intensive sectors.</a:t>
            </a:r>
            <a:endParaRPr lang="en-US" sz="1600" dirty="0"/>
          </a:p>
        </p:txBody>
      </p:sp>
      <p:sp>
        <p:nvSpPr>
          <p:cNvPr id="11" name="Shape 9"/>
          <p:cNvSpPr/>
          <p:nvPr/>
        </p:nvSpPr>
        <p:spPr>
          <a:xfrm>
            <a:off x="370256" y="3596772"/>
            <a:ext cx="5641996" cy="2151011"/>
          </a:xfrm>
          <a:custGeom>
            <a:avLst/>
            <a:gdLst/>
            <a:ahLst/>
            <a:cxnLst/>
            <a:rect l="l" t="t" r="r" b="b"/>
            <a:pathLst>
              <a:path w="5641996" h="2151011">
                <a:moveTo>
                  <a:pt x="35262" y="0"/>
                </a:moveTo>
                <a:lnTo>
                  <a:pt x="5571464" y="0"/>
                </a:lnTo>
                <a:cubicBezTo>
                  <a:pt x="5610418" y="0"/>
                  <a:pt x="5641996" y="31578"/>
                  <a:pt x="5641996" y="70532"/>
                </a:cubicBezTo>
                <a:lnTo>
                  <a:pt x="5641996" y="2080479"/>
                </a:lnTo>
                <a:cubicBezTo>
                  <a:pt x="5641996" y="2119433"/>
                  <a:pt x="5610418" y="2151011"/>
                  <a:pt x="5571464" y="2151011"/>
                </a:cubicBezTo>
                <a:lnTo>
                  <a:pt x="35262" y="2151011"/>
                </a:lnTo>
                <a:cubicBezTo>
                  <a:pt x="15788" y="2151011"/>
                  <a:pt x="0" y="2135223"/>
                  <a:pt x="0" y="2115748"/>
                </a:cubicBezTo>
                <a:lnTo>
                  <a:pt x="0" y="35262"/>
                </a:lnTo>
                <a:cubicBezTo>
                  <a:pt x="0" y="15801"/>
                  <a:pt x="15801" y="0"/>
                  <a:pt x="35262" y="0"/>
                </a:cubicBezTo>
                <a:close/>
              </a:path>
            </a:pathLst>
          </a:custGeom>
          <a:solidFill>
            <a:srgbClr val="F9FAFB"/>
          </a:solidFill>
        </p:spPr>
      </p:sp>
      <p:sp>
        <p:nvSpPr>
          <p:cNvPr id="12" name="Shape 10"/>
          <p:cNvSpPr/>
          <p:nvPr/>
        </p:nvSpPr>
        <p:spPr>
          <a:xfrm>
            <a:off x="370256" y="3596772"/>
            <a:ext cx="35262" cy="2151011"/>
          </a:xfrm>
          <a:custGeom>
            <a:avLst/>
            <a:gdLst/>
            <a:ahLst/>
            <a:cxnLst/>
            <a:rect l="l" t="t" r="r" b="b"/>
            <a:pathLst>
              <a:path w="35262" h="2151011">
                <a:moveTo>
                  <a:pt x="35262" y="0"/>
                </a:moveTo>
                <a:lnTo>
                  <a:pt x="35262" y="0"/>
                </a:lnTo>
                <a:lnTo>
                  <a:pt x="35262" y="2151011"/>
                </a:lnTo>
                <a:lnTo>
                  <a:pt x="35262" y="2151011"/>
                </a:lnTo>
                <a:cubicBezTo>
                  <a:pt x="15788" y="2151011"/>
                  <a:pt x="0" y="2135223"/>
                  <a:pt x="0" y="2115748"/>
                </a:cubicBezTo>
                <a:lnTo>
                  <a:pt x="0" y="35262"/>
                </a:lnTo>
                <a:cubicBezTo>
                  <a:pt x="0" y="15801"/>
                  <a:pt x="15801" y="0"/>
                  <a:pt x="35262" y="0"/>
                </a:cubicBezTo>
                <a:close/>
              </a:path>
            </a:pathLst>
          </a:custGeom>
          <a:solidFill>
            <a:srgbClr val="8B0000"/>
          </a:solidFill>
        </p:spPr>
      </p:sp>
      <p:sp>
        <p:nvSpPr>
          <p:cNvPr id="13" name="Shape 11"/>
          <p:cNvSpPr/>
          <p:nvPr/>
        </p:nvSpPr>
        <p:spPr>
          <a:xfrm>
            <a:off x="597258" y="3808347"/>
            <a:ext cx="154273" cy="176312"/>
          </a:xfrm>
          <a:custGeom>
            <a:avLst/>
            <a:gdLst/>
            <a:ahLst/>
            <a:cxnLst/>
            <a:rect l="l" t="t" r="r" b="b"/>
            <a:pathLst>
              <a:path w="154273" h="176312">
                <a:moveTo>
                  <a:pt x="99176" y="0"/>
                </a:moveTo>
                <a:lnTo>
                  <a:pt x="44078" y="0"/>
                </a:lnTo>
                <a:cubicBezTo>
                  <a:pt x="37983" y="0"/>
                  <a:pt x="33059" y="4924"/>
                  <a:pt x="33059" y="11020"/>
                </a:cubicBezTo>
                <a:cubicBezTo>
                  <a:pt x="33059" y="17115"/>
                  <a:pt x="37983" y="22039"/>
                  <a:pt x="44078" y="22039"/>
                </a:cubicBezTo>
                <a:lnTo>
                  <a:pt x="44078" y="74210"/>
                </a:lnTo>
                <a:lnTo>
                  <a:pt x="2583" y="146801"/>
                </a:lnTo>
                <a:cubicBezTo>
                  <a:pt x="895" y="149797"/>
                  <a:pt x="0" y="153137"/>
                  <a:pt x="0" y="156581"/>
                </a:cubicBezTo>
                <a:cubicBezTo>
                  <a:pt x="0" y="167497"/>
                  <a:pt x="8816" y="176312"/>
                  <a:pt x="19732" y="176312"/>
                </a:cubicBezTo>
                <a:lnTo>
                  <a:pt x="134541" y="176312"/>
                </a:lnTo>
                <a:cubicBezTo>
                  <a:pt x="145423" y="176312"/>
                  <a:pt x="154273" y="167497"/>
                  <a:pt x="154273" y="156581"/>
                </a:cubicBezTo>
                <a:cubicBezTo>
                  <a:pt x="154273" y="153137"/>
                  <a:pt x="153378" y="149762"/>
                  <a:pt x="151691" y="146801"/>
                </a:cubicBezTo>
                <a:lnTo>
                  <a:pt x="110195" y="74210"/>
                </a:lnTo>
                <a:lnTo>
                  <a:pt x="110195" y="22039"/>
                </a:lnTo>
                <a:cubicBezTo>
                  <a:pt x="116290" y="22039"/>
                  <a:pt x="121215" y="17115"/>
                  <a:pt x="121215" y="11020"/>
                </a:cubicBezTo>
                <a:cubicBezTo>
                  <a:pt x="121215" y="4924"/>
                  <a:pt x="116290" y="0"/>
                  <a:pt x="110195" y="0"/>
                </a:cubicBezTo>
                <a:lnTo>
                  <a:pt x="99176" y="0"/>
                </a:lnTo>
                <a:close/>
                <a:moveTo>
                  <a:pt x="66117" y="74210"/>
                </a:moveTo>
                <a:lnTo>
                  <a:pt x="66117" y="22039"/>
                </a:lnTo>
                <a:lnTo>
                  <a:pt x="88156" y="22039"/>
                </a:lnTo>
                <a:lnTo>
                  <a:pt x="88156" y="74210"/>
                </a:lnTo>
                <a:cubicBezTo>
                  <a:pt x="88156" y="78032"/>
                  <a:pt x="89155" y="81820"/>
                  <a:pt x="91049" y="85160"/>
                </a:cubicBezTo>
                <a:lnTo>
                  <a:pt x="105374" y="110195"/>
                </a:lnTo>
                <a:lnTo>
                  <a:pt x="48899" y="110195"/>
                </a:lnTo>
                <a:lnTo>
                  <a:pt x="63225" y="85160"/>
                </a:lnTo>
                <a:cubicBezTo>
                  <a:pt x="65118" y="81820"/>
                  <a:pt x="66117" y="78066"/>
                  <a:pt x="66117" y="74210"/>
                </a:cubicBezTo>
                <a:close/>
              </a:path>
            </a:pathLst>
          </a:custGeom>
          <a:solidFill>
            <a:srgbClr val="8B0000"/>
          </a:solidFill>
        </p:spPr>
      </p:sp>
      <p:sp>
        <p:nvSpPr>
          <p:cNvPr id="14" name="Text 12"/>
          <p:cNvSpPr/>
          <p:nvPr/>
        </p:nvSpPr>
        <p:spPr>
          <a:xfrm>
            <a:off x="784590" y="3773085"/>
            <a:ext cx="5139505" cy="246837"/>
          </a:xfrm>
          <a:prstGeom prst="rect">
            <a:avLst/>
          </a:prstGeom>
          <a:noFill/>
        </p:spPr>
        <p:txBody>
          <a:bodyPr wrap="square" lIns="0" tIns="0" rIns="0" bIns="0" rtlCol="0" anchor="ctr"/>
          <a:lstStyle/>
          <a:p>
            <a:pPr>
              <a:lnSpc>
                <a:spcPct val="120000"/>
              </a:lnSpc>
            </a:pPr>
            <a:r>
              <a:rPr lang="en-US" sz="13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Hypothesis 3</a:t>
            </a:r>
            <a:endParaRPr lang="en-US" sz="1600" dirty="0"/>
          </a:p>
        </p:txBody>
      </p:sp>
      <p:sp>
        <p:nvSpPr>
          <p:cNvPr id="15" name="Shape 13"/>
          <p:cNvSpPr/>
          <p:nvPr/>
        </p:nvSpPr>
        <p:spPr>
          <a:xfrm>
            <a:off x="573015" y="4134525"/>
            <a:ext cx="5254108" cy="1322343"/>
          </a:xfrm>
          <a:custGeom>
            <a:avLst/>
            <a:gdLst/>
            <a:ahLst/>
            <a:cxnLst/>
            <a:rect l="l" t="t" r="r" b="b"/>
            <a:pathLst>
              <a:path w="5254108" h="1322343">
                <a:moveTo>
                  <a:pt x="70521" y="0"/>
                </a:moveTo>
                <a:lnTo>
                  <a:pt x="5183588" y="0"/>
                </a:lnTo>
                <a:cubicBezTo>
                  <a:pt x="5222535" y="0"/>
                  <a:pt x="5254108" y="31573"/>
                  <a:pt x="5254108" y="70521"/>
                </a:cubicBezTo>
                <a:lnTo>
                  <a:pt x="5254108" y="1251822"/>
                </a:lnTo>
                <a:cubicBezTo>
                  <a:pt x="5254108" y="1290770"/>
                  <a:pt x="5222535" y="1322343"/>
                  <a:pt x="5183588" y="1322343"/>
                </a:cubicBezTo>
                <a:lnTo>
                  <a:pt x="70521" y="1322343"/>
                </a:lnTo>
                <a:cubicBezTo>
                  <a:pt x="31573" y="1322343"/>
                  <a:pt x="0" y="1290770"/>
                  <a:pt x="0" y="1251822"/>
                </a:cubicBezTo>
                <a:lnTo>
                  <a:pt x="0" y="70521"/>
                </a:lnTo>
                <a:cubicBezTo>
                  <a:pt x="0" y="31599"/>
                  <a:pt x="31599" y="0"/>
                  <a:pt x="70521" y="0"/>
                </a:cubicBezTo>
                <a:close/>
              </a:path>
            </a:pathLst>
          </a:custGeom>
          <a:solidFill>
            <a:srgbClr val="FFFFFF"/>
          </a:solidFill>
          <a:ln w="25400">
            <a:solidFill>
              <a:srgbClr val="8B0000">
                <a:alpha val="30196"/>
              </a:srgbClr>
            </a:solidFill>
            <a:prstDash val="solid"/>
          </a:ln>
        </p:spPr>
      </p:sp>
      <p:sp>
        <p:nvSpPr>
          <p:cNvPr id="16" name="Text 14"/>
          <p:cNvSpPr/>
          <p:nvPr/>
        </p:nvSpPr>
        <p:spPr>
          <a:xfrm>
            <a:off x="683210" y="4284390"/>
            <a:ext cx="5033718" cy="1022612"/>
          </a:xfrm>
          <a:prstGeom prst="rect">
            <a:avLst/>
          </a:prstGeom>
          <a:noFill/>
        </p:spPr>
        <p:txBody>
          <a:bodyPr wrap="square" lIns="0" tIns="0" rIns="0" bIns="0" rtlCol="0" anchor="ctr"/>
          <a:lstStyle/>
          <a:p>
            <a:pPr algn="ctr">
              <a:lnSpc>
                <a:spcPct val="14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After ChatGPT's release, AI-exposed funds exhibited more exploratory investment behavior (higher turnover, greater diversification, or stronger tech sector bias), especially when experiencing significant capital inflows.</a:t>
            </a:r>
            <a:endParaRPr lang="en-US" sz="1600" dirty="0"/>
          </a:p>
        </p:txBody>
      </p:sp>
      <p:sp>
        <p:nvSpPr>
          <p:cNvPr id="17" name="Shape 15"/>
          <p:cNvSpPr/>
          <p:nvPr/>
        </p:nvSpPr>
        <p:spPr>
          <a:xfrm>
            <a:off x="6184569" y="1287080"/>
            <a:ext cx="5659627" cy="3896503"/>
          </a:xfrm>
          <a:custGeom>
            <a:avLst/>
            <a:gdLst/>
            <a:ahLst/>
            <a:cxnLst/>
            <a:rect l="l" t="t" r="r" b="b"/>
            <a:pathLst>
              <a:path w="5659627" h="3896503">
                <a:moveTo>
                  <a:pt x="35262" y="0"/>
                </a:moveTo>
                <a:lnTo>
                  <a:pt x="5624364" y="0"/>
                </a:lnTo>
                <a:cubicBezTo>
                  <a:pt x="5643839" y="0"/>
                  <a:pt x="5659627" y="15788"/>
                  <a:pt x="5659627" y="35262"/>
                </a:cubicBezTo>
                <a:lnTo>
                  <a:pt x="5659627" y="3825977"/>
                </a:lnTo>
                <a:cubicBezTo>
                  <a:pt x="5659627" y="3864927"/>
                  <a:pt x="5628051" y="3896503"/>
                  <a:pt x="5589100" y="3896503"/>
                </a:cubicBezTo>
                <a:lnTo>
                  <a:pt x="70527" y="3896503"/>
                </a:lnTo>
                <a:cubicBezTo>
                  <a:pt x="31576" y="3896503"/>
                  <a:pt x="0" y="3864927"/>
                  <a:pt x="0" y="3825977"/>
                </a:cubicBezTo>
                <a:lnTo>
                  <a:pt x="0" y="35262"/>
                </a:lnTo>
                <a:cubicBezTo>
                  <a:pt x="0" y="15788"/>
                  <a:pt x="15788" y="0"/>
                  <a:pt x="35262" y="0"/>
                </a:cubicBezTo>
                <a:close/>
              </a:path>
            </a:pathLst>
          </a:custGeom>
          <a:solidFill>
            <a:srgbClr val="F9FAFB"/>
          </a:solidFill>
        </p:spPr>
      </p:sp>
      <p:sp>
        <p:nvSpPr>
          <p:cNvPr id="18" name="Shape 16"/>
          <p:cNvSpPr/>
          <p:nvPr/>
        </p:nvSpPr>
        <p:spPr>
          <a:xfrm>
            <a:off x="6184569" y="1287080"/>
            <a:ext cx="5659627" cy="35262"/>
          </a:xfrm>
          <a:custGeom>
            <a:avLst/>
            <a:gdLst/>
            <a:ahLst/>
            <a:cxnLst/>
            <a:rect l="l" t="t" r="r" b="b"/>
            <a:pathLst>
              <a:path w="5659627" h="35262">
                <a:moveTo>
                  <a:pt x="35262" y="0"/>
                </a:moveTo>
                <a:lnTo>
                  <a:pt x="5624364" y="0"/>
                </a:lnTo>
                <a:cubicBezTo>
                  <a:pt x="5643839" y="0"/>
                  <a:pt x="5659627" y="15788"/>
                  <a:pt x="5659627" y="35262"/>
                </a:cubicBezTo>
                <a:lnTo>
                  <a:pt x="5659627" y="35262"/>
                </a:lnTo>
                <a:lnTo>
                  <a:pt x="0" y="35262"/>
                </a:lnTo>
                <a:lnTo>
                  <a:pt x="0" y="35262"/>
                </a:lnTo>
                <a:cubicBezTo>
                  <a:pt x="0" y="15801"/>
                  <a:pt x="15801" y="0"/>
                  <a:pt x="35262" y="0"/>
                </a:cubicBezTo>
                <a:close/>
              </a:path>
            </a:pathLst>
          </a:custGeom>
          <a:solidFill>
            <a:srgbClr val="8B0000"/>
          </a:solidFill>
        </p:spPr>
      </p:sp>
      <p:sp>
        <p:nvSpPr>
          <p:cNvPr id="19" name="Shape 17"/>
          <p:cNvSpPr/>
          <p:nvPr/>
        </p:nvSpPr>
        <p:spPr>
          <a:xfrm>
            <a:off x="6371901" y="1516286"/>
            <a:ext cx="198351" cy="176312"/>
          </a:xfrm>
          <a:custGeom>
            <a:avLst/>
            <a:gdLst/>
            <a:ahLst/>
            <a:cxnLst/>
            <a:rect l="l" t="t" r="r" b="b"/>
            <a:pathLst>
              <a:path w="198351" h="176312">
                <a:moveTo>
                  <a:pt x="176450" y="82646"/>
                </a:moveTo>
                <a:lnTo>
                  <a:pt x="115843" y="82646"/>
                </a:lnTo>
                <a:cubicBezTo>
                  <a:pt x="109748" y="82646"/>
                  <a:pt x="104823" y="77722"/>
                  <a:pt x="104823" y="71627"/>
                </a:cubicBezTo>
                <a:lnTo>
                  <a:pt x="104823" y="11020"/>
                </a:lnTo>
                <a:cubicBezTo>
                  <a:pt x="104823" y="4924"/>
                  <a:pt x="109782" y="-69"/>
                  <a:pt x="115808" y="723"/>
                </a:cubicBezTo>
                <a:cubicBezTo>
                  <a:pt x="152655" y="5613"/>
                  <a:pt x="181857" y="34815"/>
                  <a:pt x="186746" y="71661"/>
                </a:cubicBezTo>
                <a:cubicBezTo>
                  <a:pt x="187539" y="77688"/>
                  <a:pt x="182545" y="82646"/>
                  <a:pt x="176450" y="82646"/>
                </a:cubicBezTo>
                <a:close/>
                <a:moveTo>
                  <a:pt x="76655" y="12810"/>
                </a:moveTo>
                <a:cubicBezTo>
                  <a:pt x="82887" y="11502"/>
                  <a:pt x="88294" y="16598"/>
                  <a:pt x="88294" y="22969"/>
                </a:cubicBezTo>
                <a:lnTo>
                  <a:pt x="88294" y="90911"/>
                </a:lnTo>
                <a:cubicBezTo>
                  <a:pt x="88294" y="92839"/>
                  <a:pt x="88983" y="94699"/>
                  <a:pt x="90188" y="96180"/>
                </a:cubicBezTo>
                <a:lnTo>
                  <a:pt x="135678" y="151071"/>
                </a:lnTo>
                <a:cubicBezTo>
                  <a:pt x="139707" y="155926"/>
                  <a:pt x="138846" y="163261"/>
                  <a:pt x="133302" y="166257"/>
                </a:cubicBezTo>
                <a:cubicBezTo>
                  <a:pt x="121559" y="172662"/>
                  <a:pt x="108095" y="176312"/>
                  <a:pt x="93804" y="176312"/>
                </a:cubicBezTo>
                <a:cubicBezTo>
                  <a:pt x="48176" y="176312"/>
                  <a:pt x="11157" y="139294"/>
                  <a:pt x="11157" y="93666"/>
                </a:cubicBezTo>
                <a:cubicBezTo>
                  <a:pt x="11157" y="53892"/>
                  <a:pt x="39223" y="20696"/>
                  <a:pt x="76655" y="12810"/>
                </a:cubicBezTo>
                <a:close/>
                <a:moveTo>
                  <a:pt x="164535" y="99176"/>
                </a:moveTo>
                <a:lnTo>
                  <a:pt x="186574" y="99176"/>
                </a:lnTo>
                <a:cubicBezTo>
                  <a:pt x="192945" y="99176"/>
                  <a:pt x="198041" y="104582"/>
                  <a:pt x="196733" y="110815"/>
                </a:cubicBezTo>
                <a:cubicBezTo>
                  <a:pt x="193220" y="127482"/>
                  <a:pt x="184680" y="142290"/>
                  <a:pt x="172765" y="153585"/>
                </a:cubicBezTo>
                <a:cubicBezTo>
                  <a:pt x="168530" y="157614"/>
                  <a:pt x="161884" y="156753"/>
                  <a:pt x="158165" y="152242"/>
                </a:cubicBezTo>
                <a:lnTo>
                  <a:pt x="129101" y="117220"/>
                </a:lnTo>
                <a:cubicBezTo>
                  <a:pt x="123143" y="110023"/>
                  <a:pt x="128274" y="99176"/>
                  <a:pt x="137572" y="99176"/>
                </a:cubicBezTo>
                <a:lnTo>
                  <a:pt x="164501" y="99176"/>
                </a:lnTo>
                <a:close/>
              </a:path>
            </a:pathLst>
          </a:custGeom>
          <a:solidFill>
            <a:srgbClr val="8B0000"/>
          </a:solidFill>
        </p:spPr>
      </p:sp>
      <p:sp>
        <p:nvSpPr>
          <p:cNvPr id="20" name="Text 18"/>
          <p:cNvSpPr/>
          <p:nvPr/>
        </p:nvSpPr>
        <p:spPr>
          <a:xfrm>
            <a:off x="6581272" y="1481024"/>
            <a:ext cx="5174768" cy="246837"/>
          </a:xfrm>
          <a:prstGeom prst="rect">
            <a:avLst/>
          </a:prstGeom>
          <a:noFill/>
        </p:spPr>
        <p:txBody>
          <a:bodyPr wrap="square" lIns="0" tIns="0" rIns="0" bIns="0" rtlCol="0" anchor="ctr"/>
          <a:lstStyle/>
          <a:p>
            <a:pPr>
              <a:lnSpc>
                <a:spcPct val="120000"/>
              </a:lnSpc>
            </a:pPr>
            <a:r>
              <a:rPr lang="en-US" sz="13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Exploratory Behavior Measures</a:t>
            </a:r>
            <a:endParaRPr lang="en-US" sz="1600" dirty="0"/>
          </a:p>
        </p:txBody>
      </p:sp>
      <p:sp>
        <p:nvSpPr>
          <p:cNvPr id="21" name="Shape 19"/>
          <p:cNvSpPr/>
          <p:nvPr/>
        </p:nvSpPr>
        <p:spPr>
          <a:xfrm>
            <a:off x="6365290" y="1873319"/>
            <a:ext cx="5298187" cy="1101952"/>
          </a:xfrm>
          <a:custGeom>
            <a:avLst/>
            <a:gdLst/>
            <a:ahLst/>
            <a:cxnLst/>
            <a:rect l="l" t="t" r="r" b="b"/>
            <a:pathLst>
              <a:path w="5298187" h="1101952">
                <a:moveTo>
                  <a:pt x="70525" y="0"/>
                </a:moveTo>
                <a:lnTo>
                  <a:pt x="5227662" y="0"/>
                </a:lnTo>
                <a:cubicBezTo>
                  <a:pt x="5266611" y="0"/>
                  <a:pt x="5298187" y="31575"/>
                  <a:pt x="5298187" y="70525"/>
                </a:cubicBezTo>
                <a:lnTo>
                  <a:pt x="5298187" y="1031427"/>
                </a:lnTo>
                <a:cubicBezTo>
                  <a:pt x="5298187" y="1070377"/>
                  <a:pt x="5266611" y="1101952"/>
                  <a:pt x="5227662" y="1101952"/>
                </a:cubicBezTo>
                <a:lnTo>
                  <a:pt x="70525" y="1101952"/>
                </a:lnTo>
                <a:cubicBezTo>
                  <a:pt x="31575" y="1101952"/>
                  <a:pt x="0" y="1070377"/>
                  <a:pt x="0" y="1031427"/>
                </a:cubicBezTo>
                <a:lnTo>
                  <a:pt x="0" y="70525"/>
                </a:lnTo>
                <a:cubicBezTo>
                  <a:pt x="0" y="31601"/>
                  <a:pt x="31601" y="0"/>
                  <a:pt x="70525" y="0"/>
                </a:cubicBezTo>
                <a:close/>
              </a:path>
            </a:pathLst>
          </a:custGeom>
          <a:solidFill>
            <a:srgbClr val="FFFFFF"/>
          </a:solidFill>
          <a:ln w="12700">
            <a:solidFill>
              <a:srgbClr val="8B0000">
                <a:alpha val="20000"/>
              </a:srgbClr>
            </a:solidFill>
            <a:prstDash val="solid"/>
          </a:ln>
        </p:spPr>
      </p:sp>
      <p:sp>
        <p:nvSpPr>
          <p:cNvPr id="22" name="Shape 20"/>
          <p:cNvSpPr/>
          <p:nvPr/>
        </p:nvSpPr>
        <p:spPr>
          <a:xfrm>
            <a:off x="6510747" y="2018777"/>
            <a:ext cx="282100" cy="282100"/>
          </a:xfrm>
          <a:custGeom>
            <a:avLst/>
            <a:gdLst/>
            <a:ahLst/>
            <a:cxnLst/>
            <a:rect l="l" t="t" r="r" b="b"/>
            <a:pathLst>
              <a:path w="282100" h="282100">
                <a:moveTo>
                  <a:pt x="141050" y="0"/>
                </a:moveTo>
                <a:lnTo>
                  <a:pt x="141050" y="0"/>
                </a:lnTo>
                <a:cubicBezTo>
                  <a:pt x="218897" y="0"/>
                  <a:pt x="282100" y="63202"/>
                  <a:pt x="282100" y="141050"/>
                </a:cubicBezTo>
                <a:lnTo>
                  <a:pt x="282100" y="141050"/>
                </a:lnTo>
                <a:cubicBezTo>
                  <a:pt x="282100" y="218897"/>
                  <a:pt x="218897" y="282100"/>
                  <a:pt x="141050" y="282100"/>
                </a:cubicBezTo>
                <a:lnTo>
                  <a:pt x="141050" y="282100"/>
                </a:lnTo>
                <a:cubicBezTo>
                  <a:pt x="63202" y="282100"/>
                  <a:pt x="0" y="218897"/>
                  <a:pt x="0" y="141050"/>
                </a:cubicBezTo>
                <a:lnTo>
                  <a:pt x="0" y="141050"/>
                </a:lnTo>
                <a:cubicBezTo>
                  <a:pt x="0" y="63202"/>
                  <a:pt x="63202" y="0"/>
                  <a:pt x="141050" y="0"/>
                </a:cubicBezTo>
                <a:close/>
              </a:path>
            </a:pathLst>
          </a:custGeom>
          <a:solidFill>
            <a:srgbClr val="8B0000"/>
          </a:solidFill>
        </p:spPr>
      </p:sp>
      <p:sp>
        <p:nvSpPr>
          <p:cNvPr id="23" name="Text 21"/>
          <p:cNvSpPr/>
          <p:nvPr/>
        </p:nvSpPr>
        <p:spPr>
          <a:xfrm>
            <a:off x="6479893" y="2018777"/>
            <a:ext cx="343809" cy="282100"/>
          </a:xfrm>
          <a:prstGeom prst="rect">
            <a:avLst/>
          </a:prstGeom>
          <a:noFill/>
        </p:spPr>
        <p:txBody>
          <a:bodyPr wrap="square" lIns="0" tIns="0" rIns="0" bIns="0" rtlCol="0" anchor="ctr"/>
          <a:lstStyle/>
          <a:p>
            <a:pPr algn="ctr">
              <a:lnSpc>
                <a:spcPct val="120000"/>
              </a:lnSpc>
            </a:pPr>
            <a:r>
              <a:rPr lang="en-US" sz="97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1</a:t>
            </a:r>
            <a:endParaRPr lang="en-US" sz="1600" dirty="0"/>
          </a:p>
        </p:txBody>
      </p:sp>
      <p:sp>
        <p:nvSpPr>
          <p:cNvPr id="24" name="Text 22"/>
          <p:cNvSpPr/>
          <p:nvPr/>
        </p:nvSpPr>
        <p:spPr>
          <a:xfrm>
            <a:off x="6898634" y="2036408"/>
            <a:ext cx="1207740" cy="246837"/>
          </a:xfrm>
          <a:prstGeom prst="rect">
            <a:avLst/>
          </a:prstGeom>
          <a:noFill/>
        </p:spPr>
        <p:txBody>
          <a:bodyPr wrap="square" lIns="0" tIns="0" rIns="0" bIns="0" rtlCol="0" anchor="ctr"/>
          <a:lstStyle/>
          <a:p>
            <a:pPr>
              <a:lnSpc>
                <a:spcPct val="13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Turnover Ratio</a:t>
            </a:r>
            <a:endParaRPr lang="en-US" sz="1600" dirty="0"/>
          </a:p>
        </p:txBody>
      </p:sp>
      <p:sp>
        <p:nvSpPr>
          <p:cNvPr id="25" name="Text 23"/>
          <p:cNvSpPr/>
          <p:nvPr/>
        </p:nvSpPr>
        <p:spPr>
          <a:xfrm>
            <a:off x="6510747" y="2371401"/>
            <a:ext cx="5077796" cy="458412"/>
          </a:xfrm>
          <a:prstGeom prst="rect">
            <a:avLst/>
          </a:prstGeom>
          <a:noFill/>
        </p:spPr>
        <p:txBody>
          <a:bodyPr wrap="square" lIns="0" tIns="0" rIns="0" bIns="0" rtlCol="0" anchor="ctr"/>
          <a:lstStyle/>
          <a:p>
            <a:pPr>
              <a:lnSpc>
                <a:spcPct val="140000"/>
              </a:lnSpc>
            </a:pPr>
            <a:r>
              <a:rPr lang="en-US" sz="111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Higher turnover indicates more active trading and portfolio rebalancing—sign of exploratory adaptation to new opportunities.</a:t>
            </a:r>
            <a:endParaRPr lang="en-US" sz="1600" dirty="0"/>
          </a:p>
        </p:txBody>
      </p:sp>
      <p:sp>
        <p:nvSpPr>
          <p:cNvPr id="26" name="Shape 24"/>
          <p:cNvSpPr/>
          <p:nvPr/>
        </p:nvSpPr>
        <p:spPr>
          <a:xfrm>
            <a:off x="6365290" y="3125137"/>
            <a:ext cx="5298187" cy="1877727"/>
          </a:xfrm>
          <a:custGeom>
            <a:avLst/>
            <a:gdLst/>
            <a:ahLst/>
            <a:cxnLst/>
            <a:rect l="l" t="t" r="r" b="b"/>
            <a:pathLst>
              <a:path w="5298187" h="1877727">
                <a:moveTo>
                  <a:pt x="70527" y="0"/>
                </a:moveTo>
                <a:lnTo>
                  <a:pt x="5227659" y="0"/>
                </a:lnTo>
                <a:cubicBezTo>
                  <a:pt x="5266610" y="0"/>
                  <a:pt x="5298187" y="31576"/>
                  <a:pt x="5298187" y="70527"/>
                </a:cubicBezTo>
                <a:lnTo>
                  <a:pt x="5298187" y="1807199"/>
                </a:lnTo>
                <a:cubicBezTo>
                  <a:pt x="5298187" y="1846150"/>
                  <a:pt x="5266610" y="1877727"/>
                  <a:pt x="5227659" y="1877727"/>
                </a:cubicBezTo>
                <a:lnTo>
                  <a:pt x="70527" y="1877727"/>
                </a:lnTo>
                <a:cubicBezTo>
                  <a:pt x="31576" y="1877727"/>
                  <a:pt x="0" y="1846150"/>
                  <a:pt x="0" y="1807199"/>
                </a:cubicBezTo>
                <a:lnTo>
                  <a:pt x="0" y="70527"/>
                </a:lnTo>
                <a:cubicBezTo>
                  <a:pt x="0" y="31576"/>
                  <a:pt x="31576" y="0"/>
                  <a:pt x="70527" y="0"/>
                </a:cubicBezTo>
                <a:close/>
              </a:path>
            </a:pathLst>
          </a:custGeom>
          <a:solidFill>
            <a:srgbClr val="FFFFFF"/>
          </a:solidFill>
          <a:ln w="12700">
            <a:solidFill>
              <a:srgbClr val="8B0000">
                <a:alpha val="20000"/>
              </a:srgbClr>
            </a:solidFill>
            <a:prstDash val="solid"/>
          </a:ln>
        </p:spPr>
      </p:sp>
      <p:sp>
        <p:nvSpPr>
          <p:cNvPr id="27" name="Shape 25"/>
          <p:cNvSpPr/>
          <p:nvPr/>
        </p:nvSpPr>
        <p:spPr>
          <a:xfrm>
            <a:off x="6510747" y="3270594"/>
            <a:ext cx="282100" cy="282100"/>
          </a:xfrm>
          <a:custGeom>
            <a:avLst/>
            <a:gdLst/>
            <a:ahLst/>
            <a:cxnLst/>
            <a:rect l="l" t="t" r="r" b="b"/>
            <a:pathLst>
              <a:path w="282100" h="282100">
                <a:moveTo>
                  <a:pt x="141050" y="0"/>
                </a:moveTo>
                <a:lnTo>
                  <a:pt x="141050" y="0"/>
                </a:lnTo>
                <a:cubicBezTo>
                  <a:pt x="218897" y="0"/>
                  <a:pt x="282100" y="63202"/>
                  <a:pt x="282100" y="141050"/>
                </a:cubicBezTo>
                <a:lnTo>
                  <a:pt x="282100" y="141050"/>
                </a:lnTo>
                <a:cubicBezTo>
                  <a:pt x="282100" y="218897"/>
                  <a:pt x="218897" y="282100"/>
                  <a:pt x="141050" y="282100"/>
                </a:cubicBezTo>
                <a:lnTo>
                  <a:pt x="141050" y="282100"/>
                </a:lnTo>
                <a:cubicBezTo>
                  <a:pt x="63202" y="282100"/>
                  <a:pt x="0" y="218897"/>
                  <a:pt x="0" y="141050"/>
                </a:cubicBezTo>
                <a:lnTo>
                  <a:pt x="0" y="141050"/>
                </a:lnTo>
                <a:cubicBezTo>
                  <a:pt x="0" y="63202"/>
                  <a:pt x="63202" y="0"/>
                  <a:pt x="141050" y="0"/>
                </a:cubicBezTo>
                <a:close/>
              </a:path>
            </a:pathLst>
          </a:custGeom>
          <a:solidFill>
            <a:srgbClr val="8B0000"/>
          </a:solidFill>
        </p:spPr>
      </p:sp>
      <p:sp>
        <p:nvSpPr>
          <p:cNvPr id="28" name="Text 26"/>
          <p:cNvSpPr/>
          <p:nvPr/>
        </p:nvSpPr>
        <p:spPr>
          <a:xfrm>
            <a:off x="6479893" y="3270594"/>
            <a:ext cx="343809" cy="282100"/>
          </a:xfrm>
          <a:prstGeom prst="rect">
            <a:avLst/>
          </a:prstGeom>
          <a:noFill/>
        </p:spPr>
        <p:txBody>
          <a:bodyPr wrap="square" lIns="0" tIns="0" rIns="0" bIns="0" rtlCol="0" anchor="ctr"/>
          <a:lstStyle/>
          <a:p>
            <a:pPr algn="ctr">
              <a:lnSpc>
                <a:spcPct val="120000"/>
              </a:lnSpc>
            </a:pPr>
            <a:r>
              <a:rPr lang="en-US" sz="97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2</a:t>
            </a:r>
            <a:endParaRPr lang="en-US" sz="1600" dirty="0"/>
          </a:p>
        </p:txBody>
      </p:sp>
      <p:sp>
        <p:nvSpPr>
          <p:cNvPr id="29" name="Text 27"/>
          <p:cNvSpPr/>
          <p:nvPr/>
        </p:nvSpPr>
        <p:spPr>
          <a:xfrm>
            <a:off x="6898634" y="3288226"/>
            <a:ext cx="2635870" cy="246837"/>
          </a:xfrm>
          <a:prstGeom prst="rect">
            <a:avLst/>
          </a:prstGeom>
          <a:noFill/>
        </p:spPr>
        <p:txBody>
          <a:bodyPr wrap="square" lIns="0" tIns="0" rIns="0" bIns="0" rtlCol="0" anchor="ctr"/>
          <a:lstStyle/>
          <a:p>
            <a:pPr>
              <a:lnSpc>
                <a:spcPct val="13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HHI (Herfindahl-Hirschman Index)</a:t>
            </a:r>
            <a:endParaRPr lang="en-US" sz="1600" dirty="0"/>
          </a:p>
        </p:txBody>
      </p:sp>
      <p:sp>
        <p:nvSpPr>
          <p:cNvPr id="30" name="Text 28"/>
          <p:cNvSpPr/>
          <p:nvPr/>
        </p:nvSpPr>
        <p:spPr>
          <a:xfrm>
            <a:off x="6510747" y="3623219"/>
            <a:ext cx="5077796" cy="229206"/>
          </a:xfrm>
          <a:prstGeom prst="rect">
            <a:avLst/>
          </a:prstGeom>
          <a:noFill/>
        </p:spPr>
        <p:txBody>
          <a:bodyPr wrap="square" lIns="0" tIns="0" rIns="0" bIns="0" rtlCol="0" anchor="ctr"/>
          <a:lstStyle/>
          <a:p>
            <a:pPr>
              <a:lnSpc>
                <a:spcPct val="140000"/>
              </a:lnSpc>
            </a:pPr>
            <a:r>
              <a:rPr lang="en-US" sz="111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Measures portfolio concentration by industry. Calculated as:</a:t>
            </a:r>
            <a:endParaRPr lang="en-US" sz="1600" dirty="0"/>
          </a:p>
        </p:txBody>
      </p:sp>
      <p:sp>
        <p:nvSpPr>
          <p:cNvPr id="31" name="Shape 29"/>
          <p:cNvSpPr/>
          <p:nvPr/>
        </p:nvSpPr>
        <p:spPr>
          <a:xfrm>
            <a:off x="6523971" y="3958213"/>
            <a:ext cx="4994048" cy="440781"/>
          </a:xfrm>
          <a:custGeom>
            <a:avLst/>
            <a:gdLst/>
            <a:ahLst/>
            <a:cxnLst/>
            <a:rect l="l" t="t" r="r" b="b"/>
            <a:pathLst>
              <a:path w="4994048" h="440781">
                <a:moveTo>
                  <a:pt x="0" y="0"/>
                </a:moveTo>
                <a:lnTo>
                  <a:pt x="4994048" y="0"/>
                </a:lnTo>
                <a:lnTo>
                  <a:pt x="4994048" y="440781"/>
                </a:lnTo>
                <a:lnTo>
                  <a:pt x="0" y="440781"/>
                </a:lnTo>
                <a:lnTo>
                  <a:pt x="0" y="0"/>
                </a:lnTo>
                <a:close/>
              </a:path>
            </a:pathLst>
          </a:custGeom>
          <a:solidFill>
            <a:srgbClr val="F9FAFB"/>
          </a:solidFill>
        </p:spPr>
      </p:sp>
      <p:sp>
        <p:nvSpPr>
          <p:cNvPr id="32" name="Shape 30"/>
          <p:cNvSpPr/>
          <p:nvPr/>
        </p:nvSpPr>
        <p:spPr>
          <a:xfrm>
            <a:off x="6523971" y="3958213"/>
            <a:ext cx="26447" cy="440781"/>
          </a:xfrm>
          <a:custGeom>
            <a:avLst/>
            <a:gdLst/>
            <a:ahLst/>
            <a:cxnLst/>
            <a:rect l="l" t="t" r="r" b="b"/>
            <a:pathLst>
              <a:path w="26447" h="440781">
                <a:moveTo>
                  <a:pt x="0" y="0"/>
                </a:moveTo>
                <a:lnTo>
                  <a:pt x="26447" y="0"/>
                </a:lnTo>
                <a:lnTo>
                  <a:pt x="26447" y="440781"/>
                </a:lnTo>
                <a:lnTo>
                  <a:pt x="0" y="440781"/>
                </a:lnTo>
                <a:lnTo>
                  <a:pt x="0" y="0"/>
                </a:lnTo>
                <a:close/>
              </a:path>
            </a:pathLst>
          </a:custGeom>
          <a:solidFill>
            <a:srgbClr val="8B0000"/>
          </a:solidFill>
        </p:spPr>
      </p:sp>
      <p:sp>
        <p:nvSpPr>
          <p:cNvPr id="33" name="Text 31"/>
          <p:cNvSpPr/>
          <p:nvPr/>
        </p:nvSpPr>
        <p:spPr>
          <a:xfrm>
            <a:off x="6678244" y="4064000"/>
            <a:ext cx="4769249" cy="229206"/>
          </a:xfrm>
          <a:prstGeom prst="rect">
            <a:avLst/>
          </a:prstGeom>
          <a:noFill/>
        </p:spPr>
        <p:txBody>
          <a:bodyPr wrap="square" lIns="0" tIns="0" rIns="0" bIns="0" rtlCol="0" anchor="ctr"/>
          <a:lstStyle/>
          <a:p>
            <a:pPr>
              <a:lnSpc>
                <a:spcPct val="140000"/>
              </a:lnSpc>
            </a:pPr>
            <a:r>
              <a:rPr lang="en-US" sz="1110" dirty="0">
                <a:solidFill>
                  <a:srgbClr val="1F2937"/>
                </a:solidFill>
                <a:latin typeface="MiSans" pitchFamily="34" charset="-122"/>
                <a:ea typeface="MiSans" pitchFamily="34" charset="-122"/>
                <a:cs typeface="MiSans" pitchFamily="34" charset="-120"/>
              </a:rPr>
              <a:t>HHI</a:t>
            </a:r>
            <a:r>
              <a:rPr lang="en-US" sz="835" dirty="0">
                <a:solidFill>
                  <a:srgbClr val="1F2937"/>
                </a:solidFill>
                <a:latin typeface="MiSans" pitchFamily="34" charset="-122"/>
                <a:ea typeface="MiSans" pitchFamily="34" charset="-122"/>
                <a:cs typeface="MiSans" pitchFamily="34" charset="-120"/>
              </a:rPr>
              <a:t>i,t</a:t>
            </a:r>
            <a:r>
              <a:rPr lang="en-US" sz="1110" dirty="0">
                <a:solidFill>
                  <a:srgbClr val="1F2937"/>
                </a:solidFill>
                <a:latin typeface="MiSans" pitchFamily="34" charset="-122"/>
                <a:ea typeface="MiSans" pitchFamily="34" charset="-122"/>
                <a:cs typeface="MiSans" pitchFamily="34" charset="-120"/>
              </a:rPr>
              <a:t> = Σ</a:t>
            </a:r>
            <a:r>
              <a:rPr lang="en-US" sz="835" dirty="0">
                <a:solidFill>
                  <a:srgbClr val="1F2937"/>
                </a:solidFill>
                <a:latin typeface="MiSans" pitchFamily="34" charset="-122"/>
                <a:ea typeface="MiSans" pitchFamily="34" charset="-122"/>
                <a:cs typeface="MiSans" pitchFamily="34" charset="-120"/>
              </a:rPr>
              <a:t>j∈industries</a:t>
            </a:r>
            <a:r>
              <a:rPr lang="en-US" sz="1110" dirty="0">
                <a:solidFill>
                  <a:srgbClr val="1F2937"/>
                </a:solidFill>
                <a:latin typeface="MiSans" pitchFamily="34" charset="-122"/>
                <a:ea typeface="MiSans" pitchFamily="34" charset="-122"/>
                <a:cs typeface="MiSans" pitchFamily="34" charset="-120"/>
              </a:rPr>
              <a:t> (w</a:t>
            </a:r>
            <a:r>
              <a:rPr lang="en-US" sz="835" dirty="0">
                <a:solidFill>
                  <a:srgbClr val="1F2937"/>
                </a:solidFill>
                <a:latin typeface="MiSans" pitchFamily="34" charset="-122"/>
                <a:ea typeface="MiSans" pitchFamily="34" charset="-122"/>
                <a:cs typeface="MiSans" pitchFamily="34" charset="-120"/>
              </a:rPr>
              <a:t>i,j,t</a:t>
            </a:r>
            <a:r>
              <a:rPr lang="en-US" sz="1110" dirty="0">
                <a:solidFill>
                  <a:srgbClr val="1F2937"/>
                </a:solidFill>
                <a:latin typeface="MiSans" pitchFamily="34" charset="-122"/>
                <a:ea typeface="MiSans" pitchFamily="34" charset="-122"/>
                <a:cs typeface="MiSans" pitchFamily="34" charset="-120"/>
              </a:rPr>
              <a:t>)²</a:t>
            </a:r>
            <a:endParaRPr lang="en-US" sz="1600" dirty="0"/>
          </a:p>
        </p:txBody>
      </p:sp>
      <p:sp>
        <p:nvSpPr>
          <p:cNvPr id="34" name="Text 32"/>
          <p:cNvSpPr/>
          <p:nvPr/>
        </p:nvSpPr>
        <p:spPr>
          <a:xfrm>
            <a:off x="6510747" y="4504781"/>
            <a:ext cx="5068980" cy="352625"/>
          </a:xfrm>
          <a:prstGeom prst="rect">
            <a:avLst/>
          </a:prstGeom>
          <a:noFill/>
        </p:spPr>
        <p:txBody>
          <a:bodyPr wrap="square" lIns="0" tIns="0" rIns="0" bIns="0" rtlCol="0" anchor="ctr"/>
          <a:lstStyle/>
          <a:p>
            <a:pPr>
              <a:lnSpc>
                <a:spcPct val="120000"/>
              </a:lnSpc>
            </a:pP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w</a:t>
            </a:r>
            <a:r>
              <a:rPr lang="en-US" sz="7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i,j,t</a:t>
            </a: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portfolio weight in industry j. </a:t>
            </a:r>
            <a:r>
              <a:rPr lang="en-US" sz="9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Lower HHI</a:t>
            </a: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greater diversification. </a:t>
            </a:r>
            <a:r>
              <a:rPr lang="en-US" sz="9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Negative ΔHHI</a:t>
            </a: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exploratory diversification.</a:t>
            </a:r>
            <a:endParaRPr lang="en-US" sz="1600" dirty="0"/>
          </a:p>
        </p:txBody>
      </p:sp>
      <p:sp>
        <p:nvSpPr>
          <p:cNvPr id="35" name="Shape 33"/>
          <p:cNvSpPr/>
          <p:nvPr/>
        </p:nvSpPr>
        <p:spPr>
          <a:xfrm>
            <a:off x="6193385" y="5333449"/>
            <a:ext cx="5641996" cy="1516286"/>
          </a:xfrm>
          <a:custGeom>
            <a:avLst/>
            <a:gdLst/>
            <a:ahLst/>
            <a:cxnLst/>
            <a:rect l="l" t="t" r="r" b="b"/>
            <a:pathLst>
              <a:path w="5641996" h="1516286">
                <a:moveTo>
                  <a:pt x="70522" y="0"/>
                </a:moveTo>
                <a:lnTo>
                  <a:pt x="5571473" y="0"/>
                </a:lnTo>
                <a:cubicBezTo>
                  <a:pt x="5610422" y="0"/>
                  <a:pt x="5641996" y="31574"/>
                  <a:pt x="5641996" y="70522"/>
                </a:cubicBezTo>
                <a:lnTo>
                  <a:pt x="5641996" y="1445764"/>
                </a:lnTo>
                <a:cubicBezTo>
                  <a:pt x="5641996" y="1484712"/>
                  <a:pt x="5610422" y="1516286"/>
                  <a:pt x="5571473" y="1516286"/>
                </a:cubicBezTo>
                <a:lnTo>
                  <a:pt x="70522" y="1516286"/>
                </a:lnTo>
                <a:cubicBezTo>
                  <a:pt x="31574" y="1516286"/>
                  <a:pt x="0" y="1484712"/>
                  <a:pt x="0" y="1445764"/>
                </a:cubicBezTo>
                <a:lnTo>
                  <a:pt x="0" y="70522"/>
                </a:lnTo>
                <a:cubicBezTo>
                  <a:pt x="0" y="31600"/>
                  <a:pt x="31600" y="0"/>
                  <a:pt x="70522" y="0"/>
                </a:cubicBezTo>
                <a:close/>
              </a:path>
            </a:pathLst>
          </a:custGeom>
          <a:solidFill>
            <a:srgbClr val="FFFFFF"/>
          </a:solidFill>
          <a:ln w="25400">
            <a:solidFill>
              <a:srgbClr val="8B0000">
                <a:alpha val="20000"/>
              </a:srgbClr>
            </a:solidFill>
            <a:prstDash val="solid"/>
          </a:ln>
        </p:spPr>
      </p:sp>
      <p:sp>
        <p:nvSpPr>
          <p:cNvPr id="36" name="Text 34"/>
          <p:cNvSpPr/>
          <p:nvPr/>
        </p:nvSpPr>
        <p:spPr>
          <a:xfrm>
            <a:off x="6343251" y="5483315"/>
            <a:ext cx="5421605" cy="246837"/>
          </a:xfrm>
          <a:prstGeom prst="rect">
            <a:avLst/>
          </a:prstGeom>
          <a:noFill/>
        </p:spPr>
        <p:txBody>
          <a:bodyPr wrap="square" lIns="0" tIns="0" rIns="0" bIns="0" rtlCol="0" anchor="ctr"/>
          <a:lstStyle/>
          <a:p>
            <a:pPr>
              <a:lnSpc>
                <a:spcPct val="13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Triple-Difference Model</a:t>
            </a:r>
            <a:endParaRPr lang="en-US" sz="1600" dirty="0"/>
          </a:p>
        </p:txBody>
      </p:sp>
      <p:sp>
        <p:nvSpPr>
          <p:cNvPr id="37" name="Shape 35"/>
          <p:cNvSpPr/>
          <p:nvPr/>
        </p:nvSpPr>
        <p:spPr>
          <a:xfrm>
            <a:off x="6356474" y="5835939"/>
            <a:ext cx="5329041" cy="405518"/>
          </a:xfrm>
          <a:custGeom>
            <a:avLst/>
            <a:gdLst/>
            <a:ahLst/>
            <a:cxnLst/>
            <a:rect l="l" t="t" r="r" b="b"/>
            <a:pathLst>
              <a:path w="5329041" h="405518">
                <a:moveTo>
                  <a:pt x="0" y="0"/>
                </a:moveTo>
                <a:lnTo>
                  <a:pt x="5329041" y="0"/>
                </a:lnTo>
                <a:lnTo>
                  <a:pt x="5329041" y="405518"/>
                </a:lnTo>
                <a:lnTo>
                  <a:pt x="0" y="405518"/>
                </a:lnTo>
                <a:lnTo>
                  <a:pt x="0" y="0"/>
                </a:lnTo>
                <a:close/>
              </a:path>
            </a:pathLst>
          </a:custGeom>
          <a:solidFill>
            <a:srgbClr val="F9FAFB"/>
          </a:solidFill>
        </p:spPr>
      </p:sp>
      <p:sp>
        <p:nvSpPr>
          <p:cNvPr id="38" name="Shape 36"/>
          <p:cNvSpPr/>
          <p:nvPr/>
        </p:nvSpPr>
        <p:spPr>
          <a:xfrm>
            <a:off x="6356474" y="5835939"/>
            <a:ext cx="26447" cy="405518"/>
          </a:xfrm>
          <a:custGeom>
            <a:avLst/>
            <a:gdLst/>
            <a:ahLst/>
            <a:cxnLst/>
            <a:rect l="l" t="t" r="r" b="b"/>
            <a:pathLst>
              <a:path w="26447" h="405518">
                <a:moveTo>
                  <a:pt x="0" y="0"/>
                </a:moveTo>
                <a:lnTo>
                  <a:pt x="26447" y="0"/>
                </a:lnTo>
                <a:lnTo>
                  <a:pt x="26447" y="405518"/>
                </a:lnTo>
                <a:lnTo>
                  <a:pt x="0" y="405518"/>
                </a:lnTo>
                <a:lnTo>
                  <a:pt x="0" y="0"/>
                </a:lnTo>
                <a:close/>
              </a:path>
            </a:pathLst>
          </a:custGeom>
          <a:solidFill>
            <a:srgbClr val="8B0000"/>
          </a:solidFill>
        </p:spPr>
      </p:sp>
      <p:sp>
        <p:nvSpPr>
          <p:cNvPr id="39" name="Text 37"/>
          <p:cNvSpPr/>
          <p:nvPr/>
        </p:nvSpPr>
        <p:spPr>
          <a:xfrm>
            <a:off x="6510747" y="5941727"/>
            <a:ext cx="5095427" cy="193944"/>
          </a:xfrm>
          <a:prstGeom prst="rect">
            <a:avLst/>
          </a:prstGeom>
          <a:noFill/>
        </p:spPr>
        <p:txBody>
          <a:bodyPr wrap="square" lIns="0" tIns="0" rIns="0" bIns="0" rtlCol="0" anchor="ctr"/>
          <a:lstStyle/>
          <a:p>
            <a:pPr>
              <a:lnSpc>
                <a:spcPct val="140000"/>
              </a:lnSpc>
            </a:pPr>
            <a:r>
              <a:rPr lang="en-US" sz="970" dirty="0">
                <a:solidFill>
                  <a:srgbClr val="1F2937"/>
                </a:solidFill>
                <a:latin typeface="MiSans" pitchFamily="34" charset="-122"/>
                <a:ea typeface="MiSans" pitchFamily="34" charset="-122"/>
                <a:cs typeface="MiSans" pitchFamily="34" charset="-120"/>
              </a:rPr>
              <a:t>Y</a:t>
            </a:r>
            <a:r>
              <a:rPr lang="en-US" sz="730" dirty="0">
                <a:solidFill>
                  <a:srgbClr val="1F2937"/>
                </a:solidFill>
                <a:latin typeface="MiSans" pitchFamily="34" charset="-122"/>
                <a:ea typeface="MiSans" pitchFamily="34" charset="-122"/>
                <a:cs typeface="MiSans" pitchFamily="34" charset="-120"/>
              </a:rPr>
              <a:t>i,t</a:t>
            </a:r>
            <a:r>
              <a:rPr lang="en-US" sz="970" dirty="0">
                <a:solidFill>
                  <a:srgbClr val="1F2937"/>
                </a:solidFill>
                <a:latin typeface="MiSans" pitchFamily="34" charset="-122"/>
                <a:ea typeface="MiSans" pitchFamily="34" charset="-122"/>
                <a:cs typeface="MiSans" pitchFamily="34" charset="-120"/>
              </a:rPr>
              <a:t> = f(AI_Exp</a:t>
            </a:r>
            <a:r>
              <a:rPr lang="en-US" sz="730" dirty="0">
                <a:solidFill>
                  <a:srgbClr val="1F2937"/>
                </a:solidFill>
                <a:latin typeface="MiSans" pitchFamily="34" charset="-122"/>
                <a:ea typeface="MiSans" pitchFamily="34" charset="-122"/>
                <a:cs typeface="MiSans" pitchFamily="34" charset="-120"/>
              </a:rPr>
              <a:t>i</a:t>
            </a:r>
            <a:r>
              <a:rPr lang="en-US" sz="970" dirty="0">
                <a:solidFill>
                  <a:srgbClr val="1F2937"/>
                </a:solidFill>
                <a:latin typeface="MiSans" pitchFamily="34" charset="-122"/>
                <a:ea typeface="MiSans" pitchFamily="34" charset="-122"/>
                <a:cs typeface="MiSans" pitchFamily="34" charset="-120"/>
              </a:rPr>
              <a:t> × Post</a:t>
            </a:r>
            <a:r>
              <a:rPr lang="en-US" sz="730" dirty="0">
                <a:solidFill>
                  <a:srgbClr val="1F2937"/>
                </a:solidFill>
                <a:latin typeface="MiSans" pitchFamily="34" charset="-122"/>
                <a:ea typeface="MiSans" pitchFamily="34" charset="-122"/>
                <a:cs typeface="MiSans" pitchFamily="34" charset="-120"/>
              </a:rPr>
              <a:t>t</a:t>
            </a:r>
            <a:r>
              <a:rPr lang="en-US" sz="970" dirty="0">
                <a:solidFill>
                  <a:srgbClr val="1F2937"/>
                </a:solidFill>
                <a:latin typeface="MiSans" pitchFamily="34" charset="-122"/>
                <a:ea typeface="MiSans" pitchFamily="34" charset="-122"/>
                <a:cs typeface="MiSans" pitchFamily="34" charset="-120"/>
              </a:rPr>
              <a:t> × Flow</a:t>
            </a:r>
            <a:r>
              <a:rPr lang="en-US" sz="730" dirty="0">
                <a:solidFill>
                  <a:srgbClr val="1F2937"/>
                </a:solidFill>
                <a:latin typeface="MiSans" pitchFamily="34" charset="-122"/>
                <a:ea typeface="MiSans" pitchFamily="34" charset="-122"/>
                <a:cs typeface="MiSans" pitchFamily="34" charset="-120"/>
              </a:rPr>
              <a:t>i,t</a:t>
            </a:r>
            <a:r>
              <a:rPr lang="en-US" sz="970" dirty="0">
                <a:solidFill>
                  <a:srgbClr val="1F2937"/>
                </a:solidFill>
                <a:latin typeface="MiSans" pitchFamily="34" charset="-122"/>
                <a:ea typeface="MiSans" pitchFamily="34" charset="-122"/>
                <a:cs typeface="MiSans" pitchFamily="34" charset="-120"/>
              </a:rPr>
              <a:t>) + controls + FE</a:t>
            </a:r>
            <a:endParaRPr lang="en-US" sz="1600" dirty="0"/>
          </a:p>
        </p:txBody>
      </p:sp>
      <p:sp>
        <p:nvSpPr>
          <p:cNvPr id="40" name="Text 38"/>
          <p:cNvSpPr/>
          <p:nvPr/>
        </p:nvSpPr>
        <p:spPr>
          <a:xfrm>
            <a:off x="6343251" y="6347245"/>
            <a:ext cx="5403974" cy="352625"/>
          </a:xfrm>
          <a:prstGeom prst="rect">
            <a:avLst/>
          </a:prstGeom>
          <a:noFill/>
        </p:spPr>
        <p:txBody>
          <a:bodyPr wrap="square" lIns="0" tIns="0" rIns="0" bIns="0" rtlCol="0" anchor="ctr"/>
          <a:lstStyle/>
          <a:p>
            <a:pPr>
              <a:lnSpc>
                <a:spcPct val="120000"/>
              </a:lnSpc>
            </a:pPr>
            <a:r>
              <a:rPr lang="en-US" sz="9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Y = turn_ratio or delta_hhi. Tests whether exploratory behavior is stronger for AI funds with larger inflows.</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1142" y="371142"/>
            <a:ext cx="11523945" cy="222685"/>
          </a:xfrm>
          <a:prstGeom prst="rect">
            <a:avLst/>
          </a:prstGeom>
          <a:noFill/>
        </p:spPr>
        <p:txBody>
          <a:bodyPr wrap="square" lIns="0" tIns="0" rIns="0" bIns="0" rtlCol="0" anchor="ctr"/>
          <a:lstStyle/>
          <a:p>
            <a:pPr>
              <a:lnSpc>
                <a:spcPct val="130000"/>
              </a:lnSpc>
            </a:pPr>
            <a:r>
              <a:rPr lang="en-US" sz="1170" b="1" kern="0" spc="58"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71142" y="668055"/>
            <a:ext cx="11616731" cy="371142"/>
          </a:xfrm>
          <a:prstGeom prst="rect">
            <a:avLst/>
          </a:prstGeom>
          <a:noFill/>
        </p:spPr>
        <p:txBody>
          <a:bodyPr wrap="square" lIns="0" tIns="0" rIns="0" bIns="0" rtlCol="0" anchor="ctr"/>
          <a:lstStyle/>
          <a:p>
            <a:pPr>
              <a:lnSpc>
                <a:spcPct val="90000"/>
              </a:lnSpc>
            </a:pPr>
            <a:r>
              <a:rPr lang="en-US" sz="26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Data Sources and Sample</a:t>
            </a:r>
            <a:endParaRPr lang="en-US" sz="1600" dirty="0"/>
          </a:p>
        </p:txBody>
      </p:sp>
      <p:sp>
        <p:nvSpPr>
          <p:cNvPr id="4" name="Shape 2"/>
          <p:cNvSpPr/>
          <p:nvPr/>
        </p:nvSpPr>
        <p:spPr>
          <a:xfrm>
            <a:off x="371142" y="1150539"/>
            <a:ext cx="890740" cy="37114"/>
          </a:xfrm>
          <a:custGeom>
            <a:avLst/>
            <a:gdLst/>
            <a:ahLst/>
            <a:cxnLst/>
            <a:rect l="l" t="t" r="r" b="b"/>
            <a:pathLst>
              <a:path w="890740" h="37114">
                <a:moveTo>
                  <a:pt x="0" y="0"/>
                </a:moveTo>
                <a:lnTo>
                  <a:pt x="890740" y="0"/>
                </a:lnTo>
                <a:lnTo>
                  <a:pt x="890740" y="37114"/>
                </a:lnTo>
                <a:lnTo>
                  <a:pt x="0" y="37114"/>
                </a:lnTo>
                <a:lnTo>
                  <a:pt x="0" y="0"/>
                </a:lnTo>
                <a:close/>
              </a:path>
            </a:pathLst>
          </a:custGeom>
          <a:solidFill>
            <a:srgbClr val="8B0000"/>
          </a:solidFill>
        </p:spPr>
      </p:sp>
      <p:sp>
        <p:nvSpPr>
          <p:cNvPr id="5" name="Shape 3"/>
          <p:cNvSpPr/>
          <p:nvPr/>
        </p:nvSpPr>
        <p:spPr>
          <a:xfrm>
            <a:off x="389699" y="1336110"/>
            <a:ext cx="7552731" cy="2690776"/>
          </a:xfrm>
          <a:custGeom>
            <a:avLst/>
            <a:gdLst/>
            <a:ahLst/>
            <a:cxnLst/>
            <a:rect l="l" t="t" r="r" b="b"/>
            <a:pathLst>
              <a:path w="7552731" h="2690776">
                <a:moveTo>
                  <a:pt x="37114" y="0"/>
                </a:moveTo>
                <a:lnTo>
                  <a:pt x="7478492" y="0"/>
                </a:lnTo>
                <a:cubicBezTo>
                  <a:pt x="7519493" y="0"/>
                  <a:pt x="7552731" y="33238"/>
                  <a:pt x="7552731" y="74239"/>
                </a:cubicBezTo>
                <a:lnTo>
                  <a:pt x="7552731" y="2616538"/>
                </a:lnTo>
                <a:cubicBezTo>
                  <a:pt x="7552731" y="2657539"/>
                  <a:pt x="7519493" y="2690776"/>
                  <a:pt x="7478492" y="2690776"/>
                </a:cubicBezTo>
                <a:lnTo>
                  <a:pt x="37114" y="2690776"/>
                </a:lnTo>
                <a:cubicBezTo>
                  <a:pt x="16617" y="2690776"/>
                  <a:pt x="0" y="2674160"/>
                  <a:pt x="0" y="2653662"/>
                </a:cubicBezTo>
                <a:lnTo>
                  <a:pt x="0" y="37114"/>
                </a:lnTo>
                <a:cubicBezTo>
                  <a:pt x="0" y="16630"/>
                  <a:pt x="16630" y="0"/>
                  <a:pt x="37114" y="0"/>
                </a:cubicBezTo>
                <a:close/>
              </a:path>
            </a:pathLst>
          </a:custGeom>
          <a:solidFill>
            <a:srgbClr val="F9FAFB"/>
          </a:solidFill>
        </p:spPr>
      </p:sp>
      <p:sp>
        <p:nvSpPr>
          <p:cNvPr id="6" name="Shape 4"/>
          <p:cNvSpPr/>
          <p:nvPr/>
        </p:nvSpPr>
        <p:spPr>
          <a:xfrm>
            <a:off x="389699" y="1336110"/>
            <a:ext cx="37114" cy="2690776"/>
          </a:xfrm>
          <a:custGeom>
            <a:avLst/>
            <a:gdLst/>
            <a:ahLst/>
            <a:cxnLst/>
            <a:rect l="l" t="t" r="r" b="b"/>
            <a:pathLst>
              <a:path w="37114" h="2690776">
                <a:moveTo>
                  <a:pt x="37114" y="0"/>
                </a:moveTo>
                <a:lnTo>
                  <a:pt x="37114" y="0"/>
                </a:lnTo>
                <a:lnTo>
                  <a:pt x="37114" y="2690776"/>
                </a:lnTo>
                <a:lnTo>
                  <a:pt x="37114" y="2690776"/>
                </a:lnTo>
                <a:cubicBezTo>
                  <a:pt x="16617" y="2690776"/>
                  <a:pt x="0" y="2674160"/>
                  <a:pt x="0" y="2653662"/>
                </a:cubicBezTo>
                <a:lnTo>
                  <a:pt x="0" y="37114"/>
                </a:lnTo>
                <a:cubicBezTo>
                  <a:pt x="0" y="16630"/>
                  <a:pt x="16630" y="0"/>
                  <a:pt x="37114" y="0"/>
                </a:cubicBezTo>
                <a:close/>
              </a:path>
            </a:pathLst>
          </a:custGeom>
          <a:solidFill>
            <a:srgbClr val="8B0000"/>
          </a:solidFill>
        </p:spPr>
      </p:sp>
      <p:sp>
        <p:nvSpPr>
          <p:cNvPr id="7" name="Shape 5"/>
          <p:cNvSpPr/>
          <p:nvPr/>
        </p:nvSpPr>
        <p:spPr>
          <a:xfrm>
            <a:off x="628621" y="1558795"/>
            <a:ext cx="162374" cy="185571"/>
          </a:xfrm>
          <a:custGeom>
            <a:avLst/>
            <a:gdLst/>
            <a:ahLst/>
            <a:cxnLst/>
            <a:rect l="l" t="t" r="r" b="b"/>
            <a:pathLst>
              <a:path w="162374" h="185571">
                <a:moveTo>
                  <a:pt x="162374" y="74591"/>
                </a:moveTo>
                <a:cubicBezTo>
                  <a:pt x="157010" y="78143"/>
                  <a:pt x="150849" y="81006"/>
                  <a:pt x="144434" y="83289"/>
                </a:cubicBezTo>
                <a:cubicBezTo>
                  <a:pt x="127399" y="89378"/>
                  <a:pt x="105036" y="92785"/>
                  <a:pt x="81187" y="92785"/>
                </a:cubicBezTo>
                <a:cubicBezTo>
                  <a:pt x="57338" y="92785"/>
                  <a:pt x="34939" y="89342"/>
                  <a:pt x="17941" y="83289"/>
                </a:cubicBezTo>
                <a:cubicBezTo>
                  <a:pt x="11562" y="81006"/>
                  <a:pt x="5364" y="78143"/>
                  <a:pt x="0" y="74591"/>
                </a:cubicBezTo>
                <a:lnTo>
                  <a:pt x="0" y="104384"/>
                </a:lnTo>
                <a:cubicBezTo>
                  <a:pt x="0" y="120404"/>
                  <a:pt x="36353" y="133379"/>
                  <a:pt x="81187" y="133379"/>
                </a:cubicBezTo>
                <a:cubicBezTo>
                  <a:pt x="126021" y="133379"/>
                  <a:pt x="162374" y="120404"/>
                  <a:pt x="162374" y="104384"/>
                </a:cubicBezTo>
                <a:lnTo>
                  <a:pt x="162374" y="74591"/>
                </a:lnTo>
                <a:close/>
                <a:moveTo>
                  <a:pt x="162374" y="46393"/>
                </a:moveTo>
                <a:lnTo>
                  <a:pt x="162374" y="28995"/>
                </a:lnTo>
                <a:cubicBezTo>
                  <a:pt x="162374" y="12975"/>
                  <a:pt x="126021" y="0"/>
                  <a:pt x="81187" y="0"/>
                </a:cubicBezTo>
                <a:cubicBezTo>
                  <a:pt x="36353" y="0"/>
                  <a:pt x="0" y="12975"/>
                  <a:pt x="0" y="28995"/>
                </a:cubicBezTo>
                <a:lnTo>
                  <a:pt x="0" y="46393"/>
                </a:lnTo>
                <a:cubicBezTo>
                  <a:pt x="0" y="62413"/>
                  <a:pt x="36353" y="75388"/>
                  <a:pt x="81187" y="75388"/>
                </a:cubicBezTo>
                <a:cubicBezTo>
                  <a:pt x="126021" y="75388"/>
                  <a:pt x="162374" y="62413"/>
                  <a:pt x="162374" y="46393"/>
                </a:cubicBezTo>
                <a:close/>
                <a:moveTo>
                  <a:pt x="144434" y="141280"/>
                </a:moveTo>
                <a:cubicBezTo>
                  <a:pt x="127435" y="147333"/>
                  <a:pt x="105072" y="150776"/>
                  <a:pt x="81187" y="150776"/>
                </a:cubicBezTo>
                <a:cubicBezTo>
                  <a:pt x="57302" y="150776"/>
                  <a:pt x="34939" y="147333"/>
                  <a:pt x="17941" y="141280"/>
                </a:cubicBezTo>
                <a:cubicBezTo>
                  <a:pt x="11562" y="138997"/>
                  <a:pt x="5364" y="136134"/>
                  <a:pt x="0" y="132582"/>
                </a:cubicBezTo>
                <a:lnTo>
                  <a:pt x="0" y="156575"/>
                </a:lnTo>
                <a:cubicBezTo>
                  <a:pt x="0" y="172595"/>
                  <a:pt x="36353" y="185571"/>
                  <a:pt x="81187" y="185571"/>
                </a:cubicBezTo>
                <a:cubicBezTo>
                  <a:pt x="126021" y="185571"/>
                  <a:pt x="162374" y="172595"/>
                  <a:pt x="162374" y="156575"/>
                </a:cubicBezTo>
                <a:lnTo>
                  <a:pt x="162374" y="132582"/>
                </a:lnTo>
                <a:cubicBezTo>
                  <a:pt x="157010" y="136134"/>
                  <a:pt x="150849" y="138997"/>
                  <a:pt x="144434" y="141280"/>
                </a:cubicBezTo>
                <a:close/>
              </a:path>
            </a:pathLst>
          </a:custGeom>
          <a:solidFill>
            <a:srgbClr val="8B0000"/>
          </a:solidFill>
        </p:spPr>
      </p:sp>
      <p:sp>
        <p:nvSpPr>
          <p:cNvPr id="8" name="Text 6"/>
          <p:cNvSpPr/>
          <p:nvPr/>
        </p:nvSpPr>
        <p:spPr>
          <a:xfrm>
            <a:off x="825790" y="1521680"/>
            <a:ext cx="7023854" cy="259799"/>
          </a:xfrm>
          <a:prstGeom prst="rect">
            <a:avLst/>
          </a:prstGeom>
          <a:noFill/>
        </p:spPr>
        <p:txBody>
          <a:bodyPr wrap="square" lIns="0" tIns="0" rIns="0" bIns="0" rtlCol="0" anchor="ctr"/>
          <a:lstStyle/>
          <a:p>
            <a:pPr>
              <a:lnSpc>
                <a:spcPct val="120000"/>
              </a:lnSpc>
            </a:pPr>
            <a:r>
              <a:rPr lang="en-US" sz="146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Data Sources</a:t>
            </a:r>
            <a:endParaRPr lang="en-US" sz="1600" dirty="0"/>
          </a:p>
        </p:txBody>
      </p:sp>
      <p:sp>
        <p:nvSpPr>
          <p:cNvPr id="9" name="Shape 7"/>
          <p:cNvSpPr/>
          <p:nvPr/>
        </p:nvSpPr>
        <p:spPr>
          <a:xfrm>
            <a:off x="593826" y="1929936"/>
            <a:ext cx="371142" cy="371142"/>
          </a:xfrm>
          <a:custGeom>
            <a:avLst/>
            <a:gdLst/>
            <a:ahLst/>
            <a:cxnLst/>
            <a:rect l="l" t="t" r="r" b="b"/>
            <a:pathLst>
              <a:path w="371142" h="371142">
                <a:moveTo>
                  <a:pt x="185571" y="0"/>
                </a:moveTo>
                <a:lnTo>
                  <a:pt x="185571" y="0"/>
                </a:lnTo>
                <a:cubicBezTo>
                  <a:pt x="287990" y="0"/>
                  <a:pt x="371142" y="83151"/>
                  <a:pt x="371142" y="185571"/>
                </a:cubicBezTo>
                <a:lnTo>
                  <a:pt x="371142" y="185571"/>
                </a:lnTo>
                <a:cubicBezTo>
                  <a:pt x="371142" y="287990"/>
                  <a:pt x="287990" y="371142"/>
                  <a:pt x="185571" y="371142"/>
                </a:cubicBezTo>
                <a:lnTo>
                  <a:pt x="185571" y="371142"/>
                </a:lnTo>
                <a:cubicBezTo>
                  <a:pt x="83151" y="371142"/>
                  <a:pt x="0" y="287990"/>
                  <a:pt x="0" y="185571"/>
                </a:cubicBezTo>
                <a:lnTo>
                  <a:pt x="0" y="185571"/>
                </a:lnTo>
                <a:cubicBezTo>
                  <a:pt x="0" y="83151"/>
                  <a:pt x="83151" y="0"/>
                  <a:pt x="185571" y="0"/>
                </a:cubicBezTo>
                <a:close/>
              </a:path>
            </a:pathLst>
          </a:custGeom>
          <a:solidFill>
            <a:srgbClr val="8B0000">
              <a:alpha val="10196"/>
            </a:srgbClr>
          </a:solidFill>
        </p:spPr>
      </p:sp>
      <p:sp>
        <p:nvSpPr>
          <p:cNvPr id="10" name="Shape 8"/>
          <p:cNvSpPr/>
          <p:nvPr/>
        </p:nvSpPr>
        <p:spPr>
          <a:xfrm>
            <a:off x="686612" y="2041279"/>
            <a:ext cx="185571" cy="148457"/>
          </a:xfrm>
          <a:custGeom>
            <a:avLst/>
            <a:gdLst/>
            <a:ahLst/>
            <a:cxnLst/>
            <a:rect l="l" t="t" r="r" b="b"/>
            <a:pathLst>
              <a:path w="185571" h="148457">
                <a:moveTo>
                  <a:pt x="102064" y="0"/>
                </a:moveTo>
                <a:cubicBezTo>
                  <a:pt x="102064" y="-5132"/>
                  <a:pt x="97918" y="-9279"/>
                  <a:pt x="92785" y="-9279"/>
                </a:cubicBezTo>
                <a:cubicBezTo>
                  <a:pt x="87653" y="-9279"/>
                  <a:pt x="83507" y="-5132"/>
                  <a:pt x="83507" y="0"/>
                </a:cubicBezTo>
                <a:lnTo>
                  <a:pt x="83507" y="18557"/>
                </a:lnTo>
                <a:lnTo>
                  <a:pt x="55671" y="18557"/>
                </a:lnTo>
                <a:cubicBezTo>
                  <a:pt x="40304" y="18557"/>
                  <a:pt x="27836" y="31025"/>
                  <a:pt x="27836" y="46393"/>
                </a:cubicBezTo>
                <a:lnTo>
                  <a:pt x="27836" y="111342"/>
                </a:lnTo>
                <a:cubicBezTo>
                  <a:pt x="27836" y="126710"/>
                  <a:pt x="40304" y="139178"/>
                  <a:pt x="55671" y="139178"/>
                </a:cubicBezTo>
                <a:lnTo>
                  <a:pt x="129900" y="139178"/>
                </a:lnTo>
                <a:cubicBezTo>
                  <a:pt x="145267" y="139178"/>
                  <a:pt x="157735" y="126710"/>
                  <a:pt x="157735" y="111342"/>
                </a:cubicBezTo>
                <a:lnTo>
                  <a:pt x="157735" y="46393"/>
                </a:lnTo>
                <a:cubicBezTo>
                  <a:pt x="157735" y="31025"/>
                  <a:pt x="145267" y="18557"/>
                  <a:pt x="129900" y="18557"/>
                </a:cubicBezTo>
                <a:lnTo>
                  <a:pt x="102064" y="18557"/>
                </a:lnTo>
                <a:lnTo>
                  <a:pt x="102064" y="0"/>
                </a:lnTo>
                <a:close/>
                <a:moveTo>
                  <a:pt x="46393" y="106703"/>
                </a:moveTo>
                <a:cubicBezTo>
                  <a:pt x="46393" y="102847"/>
                  <a:pt x="49495" y="99744"/>
                  <a:pt x="53352" y="99744"/>
                </a:cubicBezTo>
                <a:lnTo>
                  <a:pt x="62630" y="99744"/>
                </a:lnTo>
                <a:cubicBezTo>
                  <a:pt x="66487" y="99744"/>
                  <a:pt x="69589" y="102847"/>
                  <a:pt x="69589" y="106703"/>
                </a:cubicBezTo>
                <a:cubicBezTo>
                  <a:pt x="69589" y="110560"/>
                  <a:pt x="66487" y="113662"/>
                  <a:pt x="62630" y="113662"/>
                </a:cubicBezTo>
                <a:lnTo>
                  <a:pt x="53352" y="113662"/>
                </a:lnTo>
                <a:cubicBezTo>
                  <a:pt x="49495" y="113662"/>
                  <a:pt x="46393" y="110560"/>
                  <a:pt x="46393" y="106703"/>
                </a:cubicBezTo>
                <a:close/>
                <a:moveTo>
                  <a:pt x="81187" y="106703"/>
                </a:moveTo>
                <a:cubicBezTo>
                  <a:pt x="81187" y="102847"/>
                  <a:pt x="84290" y="99744"/>
                  <a:pt x="88146" y="99744"/>
                </a:cubicBezTo>
                <a:lnTo>
                  <a:pt x="97425" y="99744"/>
                </a:lnTo>
                <a:cubicBezTo>
                  <a:pt x="101281" y="99744"/>
                  <a:pt x="104384" y="102847"/>
                  <a:pt x="104384" y="106703"/>
                </a:cubicBezTo>
                <a:cubicBezTo>
                  <a:pt x="104384" y="110560"/>
                  <a:pt x="101281" y="113662"/>
                  <a:pt x="97425" y="113662"/>
                </a:cubicBezTo>
                <a:lnTo>
                  <a:pt x="88146" y="113662"/>
                </a:lnTo>
                <a:cubicBezTo>
                  <a:pt x="84290" y="113662"/>
                  <a:pt x="81187" y="110560"/>
                  <a:pt x="81187" y="106703"/>
                </a:cubicBezTo>
                <a:close/>
                <a:moveTo>
                  <a:pt x="115982" y="106703"/>
                </a:moveTo>
                <a:cubicBezTo>
                  <a:pt x="115982" y="102847"/>
                  <a:pt x="119084" y="99744"/>
                  <a:pt x="122941" y="99744"/>
                </a:cubicBezTo>
                <a:lnTo>
                  <a:pt x="132219" y="99744"/>
                </a:lnTo>
                <a:cubicBezTo>
                  <a:pt x="136076" y="99744"/>
                  <a:pt x="139178" y="102847"/>
                  <a:pt x="139178" y="106703"/>
                </a:cubicBezTo>
                <a:cubicBezTo>
                  <a:pt x="139178" y="110560"/>
                  <a:pt x="136076" y="113662"/>
                  <a:pt x="132219" y="113662"/>
                </a:cubicBezTo>
                <a:lnTo>
                  <a:pt x="122941" y="113662"/>
                </a:lnTo>
                <a:cubicBezTo>
                  <a:pt x="119084" y="113662"/>
                  <a:pt x="115982" y="110560"/>
                  <a:pt x="115982" y="106703"/>
                </a:cubicBezTo>
                <a:close/>
                <a:moveTo>
                  <a:pt x="64950" y="51032"/>
                </a:moveTo>
                <a:cubicBezTo>
                  <a:pt x="72631" y="51032"/>
                  <a:pt x="78868" y="57268"/>
                  <a:pt x="78868" y="64950"/>
                </a:cubicBezTo>
                <a:cubicBezTo>
                  <a:pt x="78868" y="72631"/>
                  <a:pt x="72631" y="78868"/>
                  <a:pt x="64950" y="78868"/>
                </a:cubicBezTo>
                <a:cubicBezTo>
                  <a:pt x="57268" y="78868"/>
                  <a:pt x="51032" y="72631"/>
                  <a:pt x="51032" y="64950"/>
                </a:cubicBezTo>
                <a:cubicBezTo>
                  <a:pt x="51032" y="57268"/>
                  <a:pt x="57268" y="51032"/>
                  <a:pt x="64950" y="51032"/>
                </a:cubicBezTo>
                <a:close/>
                <a:moveTo>
                  <a:pt x="106703" y="64950"/>
                </a:moveTo>
                <a:cubicBezTo>
                  <a:pt x="106703" y="57268"/>
                  <a:pt x="112940" y="51032"/>
                  <a:pt x="120621" y="51032"/>
                </a:cubicBezTo>
                <a:cubicBezTo>
                  <a:pt x="128302" y="51032"/>
                  <a:pt x="134539" y="57268"/>
                  <a:pt x="134539" y="64950"/>
                </a:cubicBezTo>
                <a:cubicBezTo>
                  <a:pt x="134539" y="72631"/>
                  <a:pt x="128302" y="78868"/>
                  <a:pt x="120621" y="78868"/>
                </a:cubicBezTo>
                <a:cubicBezTo>
                  <a:pt x="112940" y="78868"/>
                  <a:pt x="106703" y="72631"/>
                  <a:pt x="106703" y="64950"/>
                </a:cubicBezTo>
                <a:close/>
                <a:moveTo>
                  <a:pt x="18557" y="64950"/>
                </a:moveTo>
                <a:cubicBezTo>
                  <a:pt x="18557" y="59818"/>
                  <a:pt x="14411" y="55671"/>
                  <a:pt x="9279" y="55671"/>
                </a:cubicBezTo>
                <a:cubicBezTo>
                  <a:pt x="4146" y="55671"/>
                  <a:pt x="0" y="59818"/>
                  <a:pt x="0" y="64950"/>
                </a:cubicBezTo>
                <a:lnTo>
                  <a:pt x="0" y="92785"/>
                </a:lnTo>
                <a:cubicBezTo>
                  <a:pt x="0" y="97918"/>
                  <a:pt x="4146" y="102064"/>
                  <a:pt x="9279" y="102064"/>
                </a:cubicBezTo>
                <a:cubicBezTo>
                  <a:pt x="14411" y="102064"/>
                  <a:pt x="18557" y="97918"/>
                  <a:pt x="18557" y="92785"/>
                </a:cubicBezTo>
                <a:lnTo>
                  <a:pt x="18557" y="64950"/>
                </a:lnTo>
                <a:close/>
                <a:moveTo>
                  <a:pt x="176292" y="55671"/>
                </a:moveTo>
                <a:cubicBezTo>
                  <a:pt x="171160" y="55671"/>
                  <a:pt x="167014" y="59818"/>
                  <a:pt x="167014" y="64950"/>
                </a:cubicBezTo>
                <a:lnTo>
                  <a:pt x="167014" y="92785"/>
                </a:lnTo>
                <a:cubicBezTo>
                  <a:pt x="167014" y="97918"/>
                  <a:pt x="171160" y="102064"/>
                  <a:pt x="176292" y="102064"/>
                </a:cubicBezTo>
                <a:cubicBezTo>
                  <a:pt x="181424" y="102064"/>
                  <a:pt x="185571" y="97918"/>
                  <a:pt x="185571" y="92785"/>
                </a:cubicBezTo>
                <a:lnTo>
                  <a:pt x="185571" y="64950"/>
                </a:lnTo>
                <a:cubicBezTo>
                  <a:pt x="185571" y="59818"/>
                  <a:pt x="181424" y="55671"/>
                  <a:pt x="176292" y="55671"/>
                </a:cubicBezTo>
                <a:close/>
              </a:path>
            </a:pathLst>
          </a:custGeom>
          <a:solidFill>
            <a:srgbClr val="8B0000"/>
          </a:solidFill>
        </p:spPr>
      </p:sp>
      <p:sp>
        <p:nvSpPr>
          <p:cNvPr id="11" name="Text 9"/>
          <p:cNvSpPr/>
          <p:nvPr/>
        </p:nvSpPr>
        <p:spPr>
          <a:xfrm>
            <a:off x="1113425" y="1929936"/>
            <a:ext cx="6726941" cy="259799"/>
          </a:xfrm>
          <a:prstGeom prst="rect">
            <a:avLst/>
          </a:prstGeom>
          <a:noFill/>
        </p:spPr>
        <p:txBody>
          <a:bodyPr wrap="square" lIns="0" tIns="0" rIns="0" bIns="0" rtlCol="0" anchor="ctr"/>
          <a:lstStyle/>
          <a:p>
            <a:pPr>
              <a:lnSpc>
                <a:spcPct val="130000"/>
              </a:lnSpc>
            </a:pPr>
            <a:r>
              <a:rPr lang="en-US" sz="13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AI Exposure Data</a:t>
            </a:r>
            <a:endParaRPr lang="en-US" sz="1600" dirty="0"/>
          </a:p>
        </p:txBody>
      </p:sp>
      <p:sp>
        <p:nvSpPr>
          <p:cNvPr id="12" name="Text 10"/>
          <p:cNvSpPr/>
          <p:nvPr/>
        </p:nvSpPr>
        <p:spPr>
          <a:xfrm>
            <a:off x="1113425" y="2226849"/>
            <a:ext cx="6717662" cy="723726"/>
          </a:xfrm>
          <a:prstGeom prst="rect">
            <a:avLst/>
          </a:prstGeom>
          <a:noFill/>
        </p:spPr>
        <p:txBody>
          <a:bodyPr wrap="square" lIns="0" tIns="0" rIns="0" bIns="0" rtlCol="0" anchor="ctr"/>
          <a:lstStyle/>
          <a:p>
            <a:pPr>
              <a:lnSpc>
                <a:spcPct val="14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Portfolio holdings from CRSP mutual fund database. AI-related firms identified using </a:t>
            </a:r>
            <a:r>
              <a:rPr lang="en-US" sz="11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Babina et al. (2024)</a:t>
            </a: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methodology—firms with substantial AI engagement (AI hiring, relevant industries: semiconductors, cloud computing, model development).</a:t>
            </a:r>
            <a:endParaRPr lang="en-US" sz="1600" dirty="0"/>
          </a:p>
        </p:txBody>
      </p:sp>
      <p:sp>
        <p:nvSpPr>
          <p:cNvPr id="13" name="Shape 11"/>
          <p:cNvSpPr/>
          <p:nvPr/>
        </p:nvSpPr>
        <p:spPr>
          <a:xfrm>
            <a:off x="593826" y="3061918"/>
            <a:ext cx="371142" cy="371142"/>
          </a:xfrm>
          <a:custGeom>
            <a:avLst/>
            <a:gdLst/>
            <a:ahLst/>
            <a:cxnLst/>
            <a:rect l="l" t="t" r="r" b="b"/>
            <a:pathLst>
              <a:path w="371142" h="371142">
                <a:moveTo>
                  <a:pt x="185571" y="0"/>
                </a:moveTo>
                <a:lnTo>
                  <a:pt x="185571" y="0"/>
                </a:lnTo>
                <a:cubicBezTo>
                  <a:pt x="287990" y="0"/>
                  <a:pt x="371142" y="83151"/>
                  <a:pt x="371142" y="185571"/>
                </a:cubicBezTo>
                <a:lnTo>
                  <a:pt x="371142" y="185571"/>
                </a:lnTo>
                <a:cubicBezTo>
                  <a:pt x="371142" y="287990"/>
                  <a:pt x="287990" y="371142"/>
                  <a:pt x="185571" y="371142"/>
                </a:cubicBezTo>
                <a:lnTo>
                  <a:pt x="185571" y="371142"/>
                </a:lnTo>
                <a:cubicBezTo>
                  <a:pt x="83151" y="371142"/>
                  <a:pt x="0" y="287990"/>
                  <a:pt x="0" y="185571"/>
                </a:cubicBezTo>
                <a:lnTo>
                  <a:pt x="0" y="185571"/>
                </a:lnTo>
                <a:cubicBezTo>
                  <a:pt x="0" y="83151"/>
                  <a:pt x="83151" y="0"/>
                  <a:pt x="185571" y="0"/>
                </a:cubicBezTo>
                <a:close/>
              </a:path>
            </a:pathLst>
          </a:custGeom>
          <a:solidFill>
            <a:srgbClr val="8B0000">
              <a:alpha val="10196"/>
            </a:srgbClr>
          </a:solidFill>
        </p:spPr>
      </p:sp>
      <p:sp>
        <p:nvSpPr>
          <p:cNvPr id="14" name="Shape 12"/>
          <p:cNvSpPr/>
          <p:nvPr/>
        </p:nvSpPr>
        <p:spPr>
          <a:xfrm>
            <a:off x="705169" y="3173260"/>
            <a:ext cx="148457" cy="148457"/>
          </a:xfrm>
          <a:custGeom>
            <a:avLst/>
            <a:gdLst/>
            <a:ahLst/>
            <a:cxnLst/>
            <a:rect l="l" t="t" r="r" b="b"/>
            <a:pathLst>
              <a:path w="148457" h="148457">
                <a:moveTo>
                  <a:pt x="9279" y="9279"/>
                </a:moveTo>
                <a:cubicBezTo>
                  <a:pt x="14411" y="9279"/>
                  <a:pt x="18557" y="13425"/>
                  <a:pt x="18557" y="18557"/>
                </a:cubicBezTo>
                <a:lnTo>
                  <a:pt x="18557" y="115982"/>
                </a:lnTo>
                <a:cubicBezTo>
                  <a:pt x="18557" y="118533"/>
                  <a:pt x="20645" y="120621"/>
                  <a:pt x="23196" y="120621"/>
                </a:cubicBezTo>
                <a:lnTo>
                  <a:pt x="139178" y="120621"/>
                </a:lnTo>
                <a:cubicBezTo>
                  <a:pt x="144310" y="120621"/>
                  <a:pt x="148457" y="124767"/>
                  <a:pt x="148457" y="129900"/>
                </a:cubicBezTo>
                <a:cubicBezTo>
                  <a:pt x="148457" y="135032"/>
                  <a:pt x="144310" y="139178"/>
                  <a:pt x="139178" y="139178"/>
                </a:cubicBezTo>
                <a:lnTo>
                  <a:pt x="23196" y="139178"/>
                </a:lnTo>
                <a:cubicBezTo>
                  <a:pt x="10380" y="139178"/>
                  <a:pt x="0" y="128798"/>
                  <a:pt x="0" y="115982"/>
                </a:cubicBezTo>
                <a:lnTo>
                  <a:pt x="0" y="18557"/>
                </a:lnTo>
                <a:cubicBezTo>
                  <a:pt x="0" y="13425"/>
                  <a:pt x="4146" y="9279"/>
                  <a:pt x="9279" y="9279"/>
                </a:cubicBezTo>
                <a:close/>
                <a:moveTo>
                  <a:pt x="37114" y="27836"/>
                </a:moveTo>
                <a:cubicBezTo>
                  <a:pt x="37114" y="22703"/>
                  <a:pt x="41261" y="18557"/>
                  <a:pt x="46393" y="18557"/>
                </a:cubicBezTo>
                <a:lnTo>
                  <a:pt x="102064" y="18557"/>
                </a:lnTo>
                <a:cubicBezTo>
                  <a:pt x="107196" y="18557"/>
                  <a:pt x="111342" y="22703"/>
                  <a:pt x="111342" y="27836"/>
                </a:cubicBezTo>
                <a:cubicBezTo>
                  <a:pt x="111342" y="32968"/>
                  <a:pt x="107196" y="37114"/>
                  <a:pt x="102064" y="37114"/>
                </a:cubicBezTo>
                <a:lnTo>
                  <a:pt x="46393" y="37114"/>
                </a:lnTo>
                <a:cubicBezTo>
                  <a:pt x="41261" y="37114"/>
                  <a:pt x="37114" y="32968"/>
                  <a:pt x="37114" y="27836"/>
                </a:cubicBezTo>
                <a:close/>
                <a:moveTo>
                  <a:pt x="46393" y="51032"/>
                </a:moveTo>
                <a:lnTo>
                  <a:pt x="83507" y="51032"/>
                </a:lnTo>
                <a:cubicBezTo>
                  <a:pt x="88639" y="51032"/>
                  <a:pt x="92785" y="55178"/>
                  <a:pt x="92785" y="60311"/>
                </a:cubicBezTo>
                <a:cubicBezTo>
                  <a:pt x="92785" y="65443"/>
                  <a:pt x="88639" y="69589"/>
                  <a:pt x="83507" y="69589"/>
                </a:cubicBezTo>
                <a:lnTo>
                  <a:pt x="46393" y="69589"/>
                </a:lnTo>
                <a:cubicBezTo>
                  <a:pt x="41261" y="69589"/>
                  <a:pt x="37114" y="65443"/>
                  <a:pt x="37114" y="60311"/>
                </a:cubicBezTo>
                <a:cubicBezTo>
                  <a:pt x="37114" y="55178"/>
                  <a:pt x="41261" y="51032"/>
                  <a:pt x="46393" y="51032"/>
                </a:cubicBezTo>
                <a:close/>
                <a:moveTo>
                  <a:pt x="46393" y="83507"/>
                </a:moveTo>
                <a:lnTo>
                  <a:pt x="120621" y="83507"/>
                </a:lnTo>
                <a:cubicBezTo>
                  <a:pt x="125753" y="83507"/>
                  <a:pt x="129900" y="87653"/>
                  <a:pt x="129900" y="92785"/>
                </a:cubicBezTo>
                <a:cubicBezTo>
                  <a:pt x="129900" y="97918"/>
                  <a:pt x="125753" y="102064"/>
                  <a:pt x="120621" y="102064"/>
                </a:cubicBezTo>
                <a:lnTo>
                  <a:pt x="46393" y="102064"/>
                </a:lnTo>
                <a:cubicBezTo>
                  <a:pt x="41261" y="102064"/>
                  <a:pt x="37114" y="97918"/>
                  <a:pt x="37114" y="92785"/>
                </a:cubicBezTo>
                <a:cubicBezTo>
                  <a:pt x="37114" y="87653"/>
                  <a:pt x="41261" y="83507"/>
                  <a:pt x="46393" y="83507"/>
                </a:cubicBezTo>
                <a:close/>
              </a:path>
            </a:pathLst>
          </a:custGeom>
          <a:solidFill>
            <a:srgbClr val="8B0000"/>
          </a:solidFill>
        </p:spPr>
      </p:sp>
      <p:sp>
        <p:nvSpPr>
          <p:cNvPr id="15" name="Text 13"/>
          <p:cNvSpPr/>
          <p:nvPr/>
        </p:nvSpPr>
        <p:spPr>
          <a:xfrm>
            <a:off x="1113425" y="3061918"/>
            <a:ext cx="6726941" cy="259799"/>
          </a:xfrm>
          <a:prstGeom prst="rect">
            <a:avLst/>
          </a:prstGeom>
          <a:noFill/>
        </p:spPr>
        <p:txBody>
          <a:bodyPr wrap="square" lIns="0" tIns="0" rIns="0" bIns="0" rtlCol="0" anchor="ctr"/>
          <a:lstStyle/>
          <a:p>
            <a:pPr>
              <a:lnSpc>
                <a:spcPct val="130000"/>
              </a:lnSpc>
            </a:pPr>
            <a:r>
              <a:rPr lang="en-US" sz="13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Fund Characteristics</a:t>
            </a:r>
            <a:endParaRPr lang="en-US" sz="1600" dirty="0"/>
          </a:p>
        </p:txBody>
      </p:sp>
      <p:sp>
        <p:nvSpPr>
          <p:cNvPr id="16" name="Text 14"/>
          <p:cNvSpPr/>
          <p:nvPr/>
        </p:nvSpPr>
        <p:spPr>
          <a:xfrm>
            <a:off x="1113425" y="3358831"/>
            <a:ext cx="6717662" cy="482484"/>
          </a:xfrm>
          <a:prstGeom prst="rect">
            <a:avLst/>
          </a:prstGeom>
          <a:noFill/>
        </p:spPr>
        <p:txBody>
          <a:bodyPr wrap="square" lIns="0" tIns="0" rIns="0" bIns="0" rtlCol="0" anchor="ctr"/>
          <a:lstStyle/>
          <a:p>
            <a:pPr>
              <a:lnSpc>
                <a:spcPct val="14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Monthly total net assets (TNA), returns, turnover ratios from </a:t>
            </a:r>
            <a:r>
              <a:rPr lang="en-US" sz="117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CRSP Survivor-Bias-Free Mutual Fund Database</a:t>
            </a: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Holdings data for HHI calculation mapped via SIC industry codes.</a:t>
            </a:r>
            <a:endParaRPr lang="en-US" sz="1600" dirty="0"/>
          </a:p>
        </p:txBody>
      </p:sp>
      <p:sp>
        <p:nvSpPr>
          <p:cNvPr id="17" name="Shape 15"/>
          <p:cNvSpPr/>
          <p:nvPr/>
        </p:nvSpPr>
        <p:spPr>
          <a:xfrm>
            <a:off x="389699" y="4175342"/>
            <a:ext cx="7552731" cy="2356749"/>
          </a:xfrm>
          <a:custGeom>
            <a:avLst/>
            <a:gdLst/>
            <a:ahLst/>
            <a:cxnLst/>
            <a:rect l="l" t="t" r="r" b="b"/>
            <a:pathLst>
              <a:path w="7552731" h="2356749">
                <a:moveTo>
                  <a:pt x="37114" y="0"/>
                </a:moveTo>
                <a:lnTo>
                  <a:pt x="7478493" y="0"/>
                </a:lnTo>
                <a:cubicBezTo>
                  <a:pt x="7519493" y="0"/>
                  <a:pt x="7552731" y="33237"/>
                  <a:pt x="7552731" y="74238"/>
                </a:cubicBezTo>
                <a:lnTo>
                  <a:pt x="7552731" y="2282511"/>
                </a:lnTo>
                <a:cubicBezTo>
                  <a:pt x="7552731" y="2323512"/>
                  <a:pt x="7519493" y="2356749"/>
                  <a:pt x="7478493" y="2356749"/>
                </a:cubicBezTo>
                <a:lnTo>
                  <a:pt x="37114" y="2356749"/>
                </a:lnTo>
                <a:cubicBezTo>
                  <a:pt x="16617" y="2356749"/>
                  <a:pt x="0" y="2340132"/>
                  <a:pt x="0" y="2319635"/>
                </a:cubicBezTo>
                <a:lnTo>
                  <a:pt x="0" y="37114"/>
                </a:lnTo>
                <a:cubicBezTo>
                  <a:pt x="0" y="16630"/>
                  <a:pt x="16630" y="0"/>
                  <a:pt x="37114" y="0"/>
                </a:cubicBezTo>
                <a:close/>
              </a:path>
            </a:pathLst>
          </a:custGeom>
          <a:solidFill>
            <a:srgbClr val="8B0000">
              <a:alpha val="5098"/>
            </a:srgbClr>
          </a:solidFill>
        </p:spPr>
      </p:sp>
      <p:sp>
        <p:nvSpPr>
          <p:cNvPr id="18" name="Shape 16"/>
          <p:cNvSpPr/>
          <p:nvPr/>
        </p:nvSpPr>
        <p:spPr>
          <a:xfrm>
            <a:off x="389699" y="4175342"/>
            <a:ext cx="37114" cy="2356749"/>
          </a:xfrm>
          <a:custGeom>
            <a:avLst/>
            <a:gdLst/>
            <a:ahLst/>
            <a:cxnLst/>
            <a:rect l="l" t="t" r="r" b="b"/>
            <a:pathLst>
              <a:path w="37114" h="2356749">
                <a:moveTo>
                  <a:pt x="37114" y="0"/>
                </a:moveTo>
                <a:lnTo>
                  <a:pt x="37114" y="0"/>
                </a:lnTo>
                <a:lnTo>
                  <a:pt x="37114" y="2356749"/>
                </a:lnTo>
                <a:lnTo>
                  <a:pt x="37114" y="2356749"/>
                </a:lnTo>
                <a:cubicBezTo>
                  <a:pt x="16617" y="2356749"/>
                  <a:pt x="0" y="2340132"/>
                  <a:pt x="0" y="2319635"/>
                </a:cubicBezTo>
                <a:lnTo>
                  <a:pt x="0" y="37114"/>
                </a:lnTo>
                <a:cubicBezTo>
                  <a:pt x="0" y="16630"/>
                  <a:pt x="16630" y="0"/>
                  <a:pt x="37114" y="0"/>
                </a:cubicBezTo>
                <a:close/>
              </a:path>
            </a:pathLst>
          </a:custGeom>
          <a:solidFill>
            <a:srgbClr val="8B0000"/>
          </a:solidFill>
        </p:spPr>
      </p:sp>
      <p:sp>
        <p:nvSpPr>
          <p:cNvPr id="19" name="Shape 17"/>
          <p:cNvSpPr/>
          <p:nvPr/>
        </p:nvSpPr>
        <p:spPr>
          <a:xfrm>
            <a:off x="593826" y="4398027"/>
            <a:ext cx="231963" cy="185571"/>
          </a:xfrm>
          <a:custGeom>
            <a:avLst/>
            <a:gdLst/>
            <a:ahLst/>
            <a:cxnLst/>
            <a:rect l="l" t="t" r="r" b="b"/>
            <a:pathLst>
              <a:path w="231963" h="185571">
                <a:moveTo>
                  <a:pt x="150740" y="76294"/>
                </a:moveTo>
                <a:cubicBezTo>
                  <a:pt x="155162" y="75098"/>
                  <a:pt x="159801" y="77200"/>
                  <a:pt x="161795" y="81296"/>
                </a:cubicBezTo>
                <a:lnTo>
                  <a:pt x="168536" y="94924"/>
                </a:lnTo>
                <a:cubicBezTo>
                  <a:pt x="172269" y="95431"/>
                  <a:pt x="175930" y="96446"/>
                  <a:pt x="179373" y="97860"/>
                </a:cubicBezTo>
                <a:lnTo>
                  <a:pt x="192059" y="89415"/>
                </a:lnTo>
                <a:cubicBezTo>
                  <a:pt x="195864" y="86878"/>
                  <a:pt x="200902" y="87385"/>
                  <a:pt x="204128" y="90611"/>
                </a:cubicBezTo>
                <a:lnTo>
                  <a:pt x="211087" y="97570"/>
                </a:lnTo>
                <a:cubicBezTo>
                  <a:pt x="214312" y="100795"/>
                  <a:pt x="214820" y="105870"/>
                  <a:pt x="212283" y="109639"/>
                </a:cubicBezTo>
                <a:lnTo>
                  <a:pt x="203838" y="122288"/>
                </a:lnTo>
                <a:cubicBezTo>
                  <a:pt x="204527" y="123992"/>
                  <a:pt x="205143" y="125768"/>
                  <a:pt x="205650" y="127616"/>
                </a:cubicBezTo>
                <a:cubicBezTo>
                  <a:pt x="206158" y="129465"/>
                  <a:pt x="206484" y="131277"/>
                  <a:pt x="206737" y="133125"/>
                </a:cubicBezTo>
                <a:lnTo>
                  <a:pt x="220402" y="139867"/>
                </a:lnTo>
                <a:cubicBezTo>
                  <a:pt x="224497" y="141896"/>
                  <a:pt x="226599" y="146536"/>
                  <a:pt x="225403" y="150921"/>
                </a:cubicBezTo>
                <a:lnTo>
                  <a:pt x="222866" y="160417"/>
                </a:lnTo>
                <a:cubicBezTo>
                  <a:pt x="221670" y="164803"/>
                  <a:pt x="217574" y="167775"/>
                  <a:pt x="213008" y="167485"/>
                </a:cubicBezTo>
                <a:lnTo>
                  <a:pt x="197785" y="166506"/>
                </a:lnTo>
                <a:cubicBezTo>
                  <a:pt x="195502" y="169442"/>
                  <a:pt x="192856" y="172160"/>
                  <a:pt x="189848" y="174480"/>
                </a:cubicBezTo>
                <a:lnTo>
                  <a:pt x="190826" y="189666"/>
                </a:lnTo>
                <a:cubicBezTo>
                  <a:pt x="191116" y="194233"/>
                  <a:pt x="188144" y="198365"/>
                  <a:pt x="183759" y="199525"/>
                </a:cubicBezTo>
                <a:lnTo>
                  <a:pt x="174263" y="202062"/>
                </a:lnTo>
                <a:cubicBezTo>
                  <a:pt x="169841" y="203258"/>
                  <a:pt x="165238" y="201156"/>
                  <a:pt x="163208" y="197060"/>
                </a:cubicBezTo>
                <a:lnTo>
                  <a:pt x="156467" y="183432"/>
                </a:lnTo>
                <a:cubicBezTo>
                  <a:pt x="152733" y="182925"/>
                  <a:pt x="149073" y="181910"/>
                  <a:pt x="145630" y="180497"/>
                </a:cubicBezTo>
                <a:lnTo>
                  <a:pt x="132944" y="188941"/>
                </a:lnTo>
                <a:cubicBezTo>
                  <a:pt x="129138" y="191479"/>
                  <a:pt x="124100" y="190971"/>
                  <a:pt x="120875" y="187745"/>
                </a:cubicBezTo>
                <a:lnTo>
                  <a:pt x="113916" y="180787"/>
                </a:lnTo>
                <a:cubicBezTo>
                  <a:pt x="110690" y="177561"/>
                  <a:pt x="110183" y="172523"/>
                  <a:pt x="112720" y="168717"/>
                </a:cubicBezTo>
                <a:lnTo>
                  <a:pt x="121165" y="156032"/>
                </a:lnTo>
                <a:cubicBezTo>
                  <a:pt x="120476" y="154328"/>
                  <a:pt x="119860" y="152552"/>
                  <a:pt x="119352" y="150704"/>
                </a:cubicBezTo>
                <a:cubicBezTo>
                  <a:pt x="118845" y="148855"/>
                  <a:pt x="118519" y="147007"/>
                  <a:pt x="118265" y="145195"/>
                </a:cubicBezTo>
                <a:lnTo>
                  <a:pt x="104601" y="138453"/>
                </a:lnTo>
                <a:cubicBezTo>
                  <a:pt x="100505" y="136424"/>
                  <a:pt x="98439" y="131784"/>
                  <a:pt x="99599" y="127399"/>
                </a:cubicBezTo>
                <a:lnTo>
                  <a:pt x="102136" y="117903"/>
                </a:lnTo>
                <a:cubicBezTo>
                  <a:pt x="103332" y="113517"/>
                  <a:pt x="107428" y="110545"/>
                  <a:pt x="111995" y="110835"/>
                </a:cubicBezTo>
                <a:lnTo>
                  <a:pt x="127181" y="111814"/>
                </a:lnTo>
                <a:cubicBezTo>
                  <a:pt x="129465" y="108878"/>
                  <a:pt x="132110" y="106160"/>
                  <a:pt x="135119" y="103840"/>
                </a:cubicBezTo>
                <a:lnTo>
                  <a:pt x="134140" y="88690"/>
                </a:lnTo>
                <a:cubicBezTo>
                  <a:pt x="133850" y="84123"/>
                  <a:pt x="136822" y="79991"/>
                  <a:pt x="141208" y="78831"/>
                </a:cubicBezTo>
                <a:lnTo>
                  <a:pt x="150704" y="76294"/>
                </a:lnTo>
                <a:close/>
                <a:moveTo>
                  <a:pt x="162519" y="123231"/>
                </a:moveTo>
                <a:cubicBezTo>
                  <a:pt x="153718" y="123241"/>
                  <a:pt x="146580" y="130395"/>
                  <a:pt x="146590" y="139196"/>
                </a:cubicBezTo>
                <a:cubicBezTo>
                  <a:pt x="146600" y="147998"/>
                  <a:pt x="153754" y="155136"/>
                  <a:pt x="162556" y="155126"/>
                </a:cubicBezTo>
                <a:cubicBezTo>
                  <a:pt x="171357" y="155116"/>
                  <a:pt x="178495" y="147962"/>
                  <a:pt x="178485" y="139160"/>
                </a:cubicBezTo>
                <a:cubicBezTo>
                  <a:pt x="178475" y="130358"/>
                  <a:pt x="171321" y="123221"/>
                  <a:pt x="162519" y="123231"/>
                </a:cubicBezTo>
                <a:close/>
                <a:moveTo>
                  <a:pt x="81513" y="-16491"/>
                </a:moveTo>
                <a:lnTo>
                  <a:pt x="91009" y="-13954"/>
                </a:lnTo>
                <a:cubicBezTo>
                  <a:pt x="95395" y="-12758"/>
                  <a:pt x="98367" y="-8626"/>
                  <a:pt x="98077" y="-4096"/>
                </a:cubicBezTo>
                <a:lnTo>
                  <a:pt x="97098" y="11055"/>
                </a:lnTo>
                <a:cubicBezTo>
                  <a:pt x="100107" y="13374"/>
                  <a:pt x="102753" y="16056"/>
                  <a:pt x="105036" y="19028"/>
                </a:cubicBezTo>
                <a:lnTo>
                  <a:pt x="120259" y="18050"/>
                </a:lnTo>
                <a:cubicBezTo>
                  <a:pt x="124789" y="17760"/>
                  <a:pt x="128921" y="20732"/>
                  <a:pt x="130117" y="25117"/>
                </a:cubicBezTo>
                <a:lnTo>
                  <a:pt x="132654" y="34613"/>
                </a:lnTo>
                <a:cubicBezTo>
                  <a:pt x="133814" y="38999"/>
                  <a:pt x="131748" y="43638"/>
                  <a:pt x="127652" y="45668"/>
                </a:cubicBezTo>
                <a:lnTo>
                  <a:pt x="113988" y="52409"/>
                </a:lnTo>
                <a:cubicBezTo>
                  <a:pt x="113735" y="54258"/>
                  <a:pt x="113372" y="56106"/>
                  <a:pt x="112901" y="57918"/>
                </a:cubicBezTo>
                <a:cubicBezTo>
                  <a:pt x="112430" y="59731"/>
                  <a:pt x="111777" y="61543"/>
                  <a:pt x="111089" y="63246"/>
                </a:cubicBezTo>
                <a:lnTo>
                  <a:pt x="119534" y="75932"/>
                </a:lnTo>
                <a:cubicBezTo>
                  <a:pt x="122071" y="79737"/>
                  <a:pt x="121563" y="84775"/>
                  <a:pt x="118338" y="88001"/>
                </a:cubicBezTo>
                <a:lnTo>
                  <a:pt x="111379" y="94960"/>
                </a:lnTo>
                <a:cubicBezTo>
                  <a:pt x="108153" y="98186"/>
                  <a:pt x="103115" y="98693"/>
                  <a:pt x="99309" y="96156"/>
                </a:cubicBezTo>
                <a:lnTo>
                  <a:pt x="86624" y="87711"/>
                </a:lnTo>
                <a:cubicBezTo>
                  <a:pt x="83181" y="89125"/>
                  <a:pt x="79520" y="90140"/>
                  <a:pt x="75787" y="90647"/>
                </a:cubicBezTo>
                <a:lnTo>
                  <a:pt x="69045" y="104275"/>
                </a:lnTo>
                <a:cubicBezTo>
                  <a:pt x="67016" y="108370"/>
                  <a:pt x="62376" y="110436"/>
                  <a:pt x="57991" y="109277"/>
                </a:cubicBezTo>
                <a:lnTo>
                  <a:pt x="48495" y="106739"/>
                </a:lnTo>
                <a:cubicBezTo>
                  <a:pt x="44073" y="105543"/>
                  <a:pt x="41137" y="101412"/>
                  <a:pt x="41427" y="96881"/>
                </a:cubicBezTo>
                <a:lnTo>
                  <a:pt x="42406" y="81695"/>
                </a:lnTo>
                <a:cubicBezTo>
                  <a:pt x="39398" y="79375"/>
                  <a:pt x="36752" y="76693"/>
                  <a:pt x="34468" y="73721"/>
                </a:cubicBezTo>
                <a:lnTo>
                  <a:pt x="19246" y="74699"/>
                </a:lnTo>
                <a:cubicBezTo>
                  <a:pt x="14715" y="74989"/>
                  <a:pt x="10583" y="72017"/>
                  <a:pt x="9387" y="67632"/>
                </a:cubicBezTo>
                <a:lnTo>
                  <a:pt x="6850" y="58136"/>
                </a:lnTo>
                <a:cubicBezTo>
                  <a:pt x="5690" y="53750"/>
                  <a:pt x="7756" y="49111"/>
                  <a:pt x="11852" y="47081"/>
                </a:cubicBezTo>
                <a:lnTo>
                  <a:pt x="25516" y="40340"/>
                </a:lnTo>
                <a:cubicBezTo>
                  <a:pt x="25770" y="38491"/>
                  <a:pt x="26132" y="36679"/>
                  <a:pt x="26603" y="34831"/>
                </a:cubicBezTo>
                <a:cubicBezTo>
                  <a:pt x="27111" y="32982"/>
                  <a:pt x="27691" y="31206"/>
                  <a:pt x="28416" y="29503"/>
                </a:cubicBezTo>
                <a:lnTo>
                  <a:pt x="19971" y="16854"/>
                </a:lnTo>
                <a:cubicBezTo>
                  <a:pt x="17434" y="13048"/>
                  <a:pt x="17941" y="8010"/>
                  <a:pt x="21167" y="4784"/>
                </a:cubicBezTo>
                <a:lnTo>
                  <a:pt x="28126" y="-2175"/>
                </a:lnTo>
                <a:cubicBezTo>
                  <a:pt x="31351" y="-5400"/>
                  <a:pt x="36389" y="-5908"/>
                  <a:pt x="40195" y="-3371"/>
                </a:cubicBezTo>
                <a:lnTo>
                  <a:pt x="52880" y="5074"/>
                </a:lnTo>
                <a:cubicBezTo>
                  <a:pt x="56324" y="3661"/>
                  <a:pt x="59984" y="2646"/>
                  <a:pt x="63717" y="2138"/>
                </a:cubicBezTo>
                <a:lnTo>
                  <a:pt x="70459" y="-11489"/>
                </a:lnTo>
                <a:cubicBezTo>
                  <a:pt x="72489" y="-15585"/>
                  <a:pt x="77092" y="-17651"/>
                  <a:pt x="81513" y="-16491"/>
                </a:cubicBezTo>
                <a:close/>
                <a:moveTo>
                  <a:pt x="69734" y="30445"/>
                </a:moveTo>
                <a:cubicBezTo>
                  <a:pt x="60932" y="30445"/>
                  <a:pt x="53787" y="37591"/>
                  <a:pt x="53787" y="46393"/>
                </a:cubicBezTo>
                <a:cubicBezTo>
                  <a:pt x="53787" y="55194"/>
                  <a:pt x="60932" y="62340"/>
                  <a:pt x="69734" y="62340"/>
                </a:cubicBezTo>
                <a:cubicBezTo>
                  <a:pt x="78536" y="62340"/>
                  <a:pt x="85682" y="55194"/>
                  <a:pt x="85682" y="46393"/>
                </a:cubicBezTo>
                <a:cubicBezTo>
                  <a:pt x="85682" y="37591"/>
                  <a:pt x="78536" y="30445"/>
                  <a:pt x="69734" y="30445"/>
                </a:cubicBezTo>
                <a:close/>
              </a:path>
            </a:pathLst>
          </a:custGeom>
          <a:solidFill>
            <a:srgbClr val="8B0000"/>
          </a:solidFill>
        </p:spPr>
      </p:sp>
      <p:sp>
        <p:nvSpPr>
          <p:cNvPr id="20" name="Text 18"/>
          <p:cNvSpPr/>
          <p:nvPr/>
        </p:nvSpPr>
        <p:spPr>
          <a:xfrm>
            <a:off x="825790" y="4360913"/>
            <a:ext cx="7023854" cy="259799"/>
          </a:xfrm>
          <a:prstGeom prst="rect">
            <a:avLst/>
          </a:prstGeom>
          <a:noFill/>
        </p:spPr>
        <p:txBody>
          <a:bodyPr wrap="square" lIns="0" tIns="0" rIns="0" bIns="0" rtlCol="0" anchor="ctr"/>
          <a:lstStyle/>
          <a:p>
            <a:pPr>
              <a:lnSpc>
                <a:spcPct val="120000"/>
              </a:lnSpc>
            </a:pPr>
            <a:r>
              <a:rPr lang="en-US" sz="146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Treatment Definition</a:t>
            </a:r>
            <a:endParaRPr lang="en-US" sz="1600" dirty="0"/>
          </a:p>
        </p:txBody>
      </p:sp>
      <p:sp>
        <p:nvSpPr>
          <p:cNvPr id="21" name="Shape 19"/>
          <p:cNvSpPr/>
          <p:nvPr/>
        </p:nvSpPr>
        <p:spPr>
          <a:xfrm>
            <a:off x="598466" y="4773808"/>
            <a:ext cx="3498009" cy="1568073"/>
          </a:xfrm>
          <a:custGeom>
            <a:avLst/>
            <a:gdLst/>
            <a:ahLst/>
            <a:cxnLst/>
            <a:rect l="l" t="t" r="r" b="b"/>
            <a:pathLst>
              <a:path w="3498009" h="1568073">
                <a:moveTo>
                  <a:pt x="74233" y="0"/>
                </a:moveTo>
                <a:lnTo>
                  <a:pt x="3423777" y="0"/>
                </a:lnTo>
                <a:cubicBezTo>
                  <a:pt x="3464774" y="0"/>
                  <a:pt x="3498009" y="33235"/>
                  <a:pt x="3498009" y="74233"/>
                </a:cubicBezTo>
                <a:lnTo>
                  <a:pt x="3498009" y="1493840"/>
                </a:lnTo>
                <a:cubicBezTo>
                  <a:pt x="3498009" y="1534838"/>
                  <a:pt x="3464774" y="1568073"/>
                  <a:pt x="3423777" y="1568073"/>
                </a:cubicBezTo>
                <a:lnTo>
                  <a:pt x="74233" y="1568073"/>
                </a:lnTo>
                <a:cubicBezTo>
                  <a:pt x="33235" y="1568073"/>
                  <a:pt x="0" y="1534838"/>
                  <a:pt x="0" y="1493840"/>
                </a:cubicBezTo>
                <a:lnTo>
                  <a:pt x="0" y="74233"/>
                </a:lnTo>
                <a:cubicBezTo>
                  <a:pt x="0" y="33263"/>
                  <a:pt x="33263" y="0"/>
                  <a:pt x="74233" y="0"/>
                </a:cubicBezTo>
                <a:close/>
              </a:path>
            </a:pathLst>
          </a:custGeom>
          <a:solidFill>
            <a:srgbClr val="FFFFFF"/>
          </a:solidFill>
          <a:ln w="12700">
            <a:solidFill>
              <a:srgbClr val="8B0000">
                <a:alpha val="20000"/>
              </a:srgbClr>
            </a:solidFill>
            <a:prstDash val="solid"/>
          </a:ln>
        </p:spPr>
      </p:sp>
      <p:sp>
        <p:nvSpPr>
          <p:cNvPr id="22" name="Text 20"/>
          <p:cNvSpPr/>
          <p:nvPr/>
        </p:nvSpPr>
        <p:spPr>
          <a:xfrm>
            <a:off x="751562" y="4926904"/>
            <a:ext cx="3266046"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Continuous AI Exposure</a:t>
            </a:r>
            <a:endParaRPr lang="en-US" sz="1600" dirty="0"/>
          </a:p>
        </p:txBody>
      </p:sp>
      <p:sp>
        <p:nvSpPr>
          <p:cNvPr id="23" name="Shape 21"/>
          <p:cNvSpPr/>
          <p:nvPr/>
        </p:nvSpPr>
        <p:spPr>
          <a:xfrm>
            <a:off x="765479" y="5260932"/>
            <a:ext cx="3177900" cy="630941"/>
          </a:xfrm>
          <a:custGeom>
            <a:avLst/>
            <a:gdLst/>
            <a:ahLst/>
            <a:cxnLst/>
            <a:rect l="l" t="t" r="r" b="b"/>
            <a:pathLst>
              <a:path w="3177900" h="630941">
                <a:moveTo>
                  <a:pt x="0" y="0"/>
                </a:moveTo>
                <a:lnTo>
                  <a:pt x="3177900" y="0"/>
                </a:lnTo>
                <a:lnTo>
                  <a:pt x="3177900" y="630941"/>
                </a:lnTo>
                <a:lnTo>
                  <a:pt x="0" y="630941"/>
                </a:lnTo>
                <a:lnTo>
                  <a:pt x="0" y="0"/>
                </a:lnTo>
                <a:close/>
              </a:path>
            </a:pathLst>
          </a:custGeom>
          <a:solidFill>
            <a:srgbClr val="F9FAFB"/>
          </a:solidFill>
        </p:spPr>
      </p:sp>
      <p:sp>
        <p:nvSpPr>
          <p:cNvPr id="24" name="Shape 22"/>
          <p:cNvSpPr/>
          <p:nvPr/>
        </p:nvSpPr>
        <p:spPr>
          <a:xfrm>
            <a:off x="765479" y="5260932"/>
            <a:ext cx="27836" cy="630941"/>
          </a:xfrm>
          <a:custGeom>
            <a:avLst/>
            <a:gdLst/>
            <a:ahLst/>
            <a:cxnLst/>
            <a:rect l="l" t="t" r="r" b="b"/>
            <a:pathLst>
              <a:path w="27836" h="630941">
                <a:moveTo>
                  <a:pt x="0" y="0"/>
                </a:moveTo>
                <a:lnTo>
                  <a:pt x="27836" y="0"/>
                </a:lnTo>
                <a:lnTo>
                  <a:pt x="27836" y="630941"/>
                </a:lnTo>
                <a:lnTo>
                  <a:pt x="0" y="630941"/>
                </a:lnTo>
                <a:lnTo>
                  <a:pt x="0" y="0"/>
                </a:lnTo>
                <a:close/>
              </a:path>
            </a:pathLst>
          </a:custGeom>
          <a:solidFill>
            <a:srgbClr val="8B0000"/>
          </a:solidFill>
        </p:spPr>
      </p:sp>
      <p:sp>
        <p:nvSpPr>
          <p:cNvPr id="25" name="Text 23"/>
          <p:cNvSpPr/>
          <p:nvPr/>
        </p:nvSpPr>
        <p:spPr>
          <a:xfrm>
            <a:off x="927854" y="5372274"/>
            <a:ext cx="2932018" cy="408256"/>
          </a:xfrm>
          <a:prstGeom prst="rect">
            <a:avLst/>
          </a:prstGeom>
          <a:noFill/>
        </p:spPr>
        <p:txBody>
          <a:bodyPr wrap="square" lIns="0" tIns="0" rIns="0" bIns="0" rtlCol="0" anchor="ctr"/>
          <a:lstStyle/>
          <a:p>
            <a:pPr>
              <a:lnSpc>
                <a:spcPct val="140000"/>
              </a:lnSpc>
            </a:pPr>
            <a:r>
              <a:rPr lang="en-US" sz="1025" dirty="0">
                <a:solidFill>
                  <a:srgbClr val="1F2937"/>
                </a:solidFill>
                <a:latin typeface="MiSans" pitchFamily="34" charset="-122"/>
                <a:ea typeface="MiSans" pitchFamily="34" charset="-122"/>
                <a:cs typeface="MiSans" pitchFamily="34" charset="-120"/>
              </a:rPr>
              <a:t>AI_Exp</a:t>
            </a:r>
            <a:r>
              <a:rPr lang="en-US" sz="765" dirty="0">
                <a:solidFill>
                  <a:srgbClr val="1F2937"/>
                </a:solidFill>
                <a:latin typeface="MiSans" pitchFamily="34" charset="-122"/>
                <a:ea typeface="MiSans" pitchFamily="34" charset="-122"/>
                <a:cs typeface="MiSans" pitchFamily="34" charset="-120"/>
              </a:rPr>
              <a:t>i</a:t>
            </a:r>
            <a:r>
              <a:rPr lang="en-US" sz="1025" dirty="0">
                <a:solidFill>
                  <a:srgbClr val="1F2937"/>
                </a:solidFill>
                <a:latin typeface="MiSans" pitchFamily="34" charset="-122"/>
                <a:ea typeface="MiSans" pitchFamily="34" charset="-122"/>
                <a:cs typeface="MiSans" pitchFamily="34" charset="-120"/>
              </a:rPr>
              <a:t> = avg(AIShare</a:t>
            </a:r>
            <a:r>
              <a:rPr lang="en-US" sz="765" dirty="0">
                <a:solidFill>
                  <a:srgbClr val="1F2937"/>
                </a:solidFill>
                <a:latin typeface="MiSans" pitchFamily="34" charset="-122"/>
                <a:ea typeface="MiSans" pitchFamily="34" charset="-122"/>
                <a:cs typeface="MiSans" pitchFamily="34" charset="-120"/>
              </a:rPr>
              <a:t>i,t</a:t>
            </a:r>
            <a:r>
              <a:rPr lang="en-US" sz="1025" dirty="0">
                <a:solidFill>
                  <a:srgbClr val="1F2937"/>
                </a:solidFill>
                <a:latin typeface="MiSans" pitchFamily="34" charset="-122"/>
                <a:ea typeface="MiSans" pitchFamily="34" charset="-122"/>
                <a:cs typeface="MiSans" pitchFamily="34" charset="-120"/>
              </a:rPr>
              <a:t>) for t ≤ Nov 2022</a:t>
            </a:r>
            <a:endParaRPr lang="en-US" sz="1600" dirty="0"/>
          </a:p>
        </p:txBody>
      </p:sp>
      <p:sp>
        <p:nvSpPr>
          <p:cNvPr id="26" name="Text 24"/>
          <p:cNvSpPr/>
          <p:nvPr/>
        </p:nvSpPr>
        <p:spPr>
          <a:xfrm>
            <a:off x="751562" y="6003215"/>
            <a:ext cx="3256767" cy="185571"/>
          </a:xfrm>
          <a:prstGeom prst="rect">
            <a:avLst/>
          </a:prstGeom>
          <a:noFill/>
        </p:spPr>
        <p:txBody>
          <a:bodyPr wrap="square" lIns="0" tIns="0" rIns="0" bIns="0" rtlCol="0" anchor="ctr"/>
          <a:lstStyle/>
          <a:p>
            <a:pPr>
              <a:lnSpc>
                <a:spcPct val="120000"/>
              </a:lnSpc>
            </a:pP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AI_Exposure_std</a:t>
            </a:r>
            <a:r>
              <a:rPr lang="en-US" sz="76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a:t>
            </a: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(AI_Exp</a:t>
            </a:r>
            <a:r>
              <a:rPr lang="en-US" sz="76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a:t>
            </a: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μ) / σ</a:t>
            </a:r>
            <a:endParaRPr lang="en-US" sz="1600" dirty="0"/>
          </a:p>
        </p:txBody>
      </p:sp>
      <p:sp>
        <p:nvSpPr>
          <p:cNvPr id="27" name="Shape 25"/>
          <p:cNvSpPr/>
          <p:nvPr/>
        </p:nvSpPr>
        <p:spPr>
          <a:xfrm>
            <a:off x="4253485" y="4773808"/>
            <a:ext cx="3498009" cy="1568073"/>
          </a:xfrm>
          <a:custGeom>
            <a:avLst/>
            <a:gdLst/>
            <a:ahLst/>
            <a:cxnLst/>
            <a:rect l="l" t="t" r="r" b="b"/>
            <a:pathLst>
              <a:path w="3498009" h="1568073">
                <a:moveTo>
                  <a:pt x="74233" y="0"/>
                </a:moveTo>
                <a:lnTo>
                  <a:pt x="3423777" y="0"/>
                </a:lnTo>
                <a:cubicBezTo>
                  <a:pt x="3464774" y="0"/>
                  <a:pt x="3498009" y="33235"/>
                  <a:pt x="3498009" y="74233"/>
                </a:cubicBezTo>
                <a:lnTo>
                  <a:pt x="3498009" y="1493840"/>
                </a:lnTo>
                <a:cubicBezTo>
                  <a:pt x="3498009" y="1534838"/>
                  <a:pt x="3464774" y="1568073"/>
                  <a:pt x="3423777" y="1568073"/>
                </a:cubicBezTo>
                <a:lnTo>
                  <a:pt x="74233" y="1568073"/>
                </a:lnTo>
                <a:cubicBezTo>
                  <a:pt x="33235" y="1568073"/>
                  <a:pt x="0" y="1534838"/>
                  <a:pt x="0" y="1493840"/>
                </a:cubicBezTo>
                <a:lnTo>
                  <a:pt x="0" y="74233"/>
                </a:lnTo>
                <a:cubicBezTo>
                  <a:pt x="0" y="33263"/>
                  <a:pt x="33263" y="0"/>
                  <a:pt x="74233" y="0"/>
                </a:cubicBezTo>
                <a:close/>
              </a:path>
            </a:pathLst>
          </a:custGeom>
          <a:solidFill>
            <a:srgbClr val="FFFFFF"/>
          </a:solidFill>
          <a:ln w="12700">
            <a:solidFill>
              <a:srgbClr val="8B0000">
                <a:alpha val="20000"/>
              </a:srgbClr>
            </a:solidFill>
            <a:prstDash val="solid"/>
          </a:ln>
        </p:spPr>
      </p:sp>
      <p:sp>
        <p:nvSpPr>
          <p:cNvPr id="28" name="Text 26"/>
          <p:cNvSpPr/>
          <p:nvPr/>
        </p:nvSpPr>
        <p:spPr>
          <a:xfrm>
            <a:off x="4406581" y="4926904"/>
            <a:ext cx="3266046"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Post Indicator</a:t>
            </a:r>
            <a:endParaRPr lang="en-US" sz="1600" dirty="0"/>
          </a:p>
        </p:txBody>
      </p:sp>
      <p:sp>
        <p:nvSpPr>
          <p:cNvPr id="29" name="Shape 27"/>
          <p:cNvSpPr/>
          <p:nvPr/>
        </p:nvSpPr>
        <p:spPr>
          <a:xfrm>
            <a:off x="4420499" y="5260932"/>
            <a:ext cx="3177900" cy="426813"/>
          </a:xfrm>
          <a:custGeom>
            <a:avLst/>
            <a:gdLst/>
            <a:ahLst/>
            <a:cxnLst/>
            <a:rect l="l" t="t" r="r" b="b"/>
            <a:pathLst>
              <a:path w="3177900" h="426813">
                <a:moveTo>
                  <a:pt x="0" y="0"/>
                </a:moveTo>
                <a:lnTo>
                  <a:pt x="3177900" y="0"/>
                </a:lnTo>
                <a:lnTo>
                  <a:pt x="3177900" y="426813"/>
                </a:lnTo>
                <a:lnTo>
                  <a:pt x="0" y="426813"/>
                </a:lnTo>
                <a:lnTo>
                  <a:pt x="0" y="0"/>
                </a:lnTo>
                <a:close/>
              </a:path>
            </a:pathLst>
          </a:custGeom>
          <a:solidFill>
            <a:srgbClr val="F9FAFB"/>
          </a:solidFill>
        </p:spPr>
      </p:sp>
      <p:sp>
        <p:nvSpPr>
          <p:cNvPr id="30" name="Shape 28"/>
          <p:cNvSpPr/>
          <p:nvPr/>
        </p:nvSpPr>
        <p:spPr>
          <a:xfrm>
            <a:off x="4420499" y="5260932"/>
            <a:ext cx="27836" cy="426813"/>
          </a:xfrm>
          <a:custGeom>
            <a:avLst/>
            <a:gdLst/>
            <a:ahLst/>
            <a:cxnLst/>
            <a:rect l="l" t="t" r="r" b="b"/>
            <a:pathLst>
              <a:path w="27836" h="426813">
                <a:moveTo>
                  <a:pt x="0" y="0"/>
                </a:moveTo>
                <a:lnTo>
                  <a:pt x="27836" y="0"/>
                </a:lnTo>
                <a:lnTo>
                  <a:pt x="27836" y="426813"/>
                </a:lnTo>
                <a:lnTo>
                  <a:pt x="0" y="426813"/>
                </a:lnTo>
                <a:lnTo>
                  <a:pt x="0" y="0"/>
                </a:lnTo>
                <a:close/>
              </a:path>
            </a:pathLst>
          </a:custGeom>
          <a:solidFill>
            <a:srgbClr val="8B0000"/>
          </a:solidFill>
        </p:spPr>
      </p:sp>
      <p:sp>
        <p:nvSpPr>
          <p:cNvPr id="31" name="Text 29"/>
          <p:cNvSpPr/>
          <p:nvPr/>
        </p:nvSpPr>
        <p:spPr>
          <a:xfrm>
            <a:off x="4582873" y="5372274"/>
            <a:ext cx="2932018" cy="204128"/>
          </a:xfrm>
          <a:prstGeom prst="rect">
            <a:avLst/>
          </a:prstGeom>
          <a:noFill/>
        </p:spPr>
        <p:txBody>
          <a:bodyPr wrap="square" lIns="0" tIns="0" rIns="0" bIns="0" rtlCol="0" anchor="ctr"/>
          <a:lstStyle/>
          <a:p>
            <a:pPr>
              <a:lnSpc>
                <a:spcPct val="140000"/>
              </a:lnSpc>
            </a:pPr>
            <a:r>
              <a:rPr lang="en-US" sz="1025" dirty="0">
                <a:solidFill>
                  <a:srgbClr val="1F2937"/>
                </a:solidFill>
                <a:latin typeface="MiSans" pitchFamily="34" charset="-122"/>
                <a:ea typeface="MiSans" pitchFamily="34" charset="-122"/>
                <a:cs typeface="MiSans" pitchFamily="34" charset="-120"/>
              </a:rPr>
              <a:t>Post</a:t>
            </a:r>
            <a:r>
              <a:rPr lang="en-US" sz="765" dirty="0">
                <a:solidFill>
                  <a:srgbClr val="1F2937"/>
                </a:solidFill>
                <a:latin typeface="MiSans" pitchFamily="34" charset="-122"/>
                <a:ea typeface="MiSans" pitchFamily="34" charset="-122"/>
                <a:cs typeface="MiSans" pitchFamily="34" charset="-120"/>
              </a:rPr>
              <a:t>t</a:t>
            </a:r>
            <a:r>
              <a:rPr lang="en-US" sz="1025" dirty="0">
                <a:solidFill>
                  <a:srgbClr val="1F2937"/>
                </a:solidFill>
                <a:latin typeface="MiSans" pitchFamily="34" charset="-122"/>
                <a:ea typeface="MiSans" pitchFamily="34" charset="-122"/>
                <a:cs typeface="MiSans" pitchFamily="34" charset="-120"/>
              </a:rPr>
              <a:t> = 1 if t ≥ Nov 2022, else 0</a:t>
            </a:r>
            <a:endParaRPr lang="en-US" sz="1600" dirty="0"/>
          </a:p>
        </p:txBody>
      </p:sp>
      <p:sp>
        <p:nvSpPr>
          <p:cNvPr id="32" name="Text 30"/>
          <p:cNvSpPr/>
          <p:nvPr/>
        </p:nvSpPr>
        <p:spPr>
          <a:xfrm>
            <a:off x="4406581" y="5799087"/>
            <a:ext cx="3256767" cy="185571"/>
          </a:xfrm>
          <a:prstGeom prst="rect">
            <a:avLst/>
          </a:prstGeom>
          <a:noFill/>
        </p:spPr>
        <p:txBody>
          <a:bodyPr wrap="square" lIns="0" tIns="0" rIns="0" bIns="0" rtlCol="0" anchor="ctr"/>
          <a:lstStyle/>
          <a:p>
            <a:pPr>
              <a:lnSpc>
                <a:spcPct val="120000"/>
              </a:lnSpc>
            </a:pPr>
            <a:r>
              <a:rPr lang="en-US" sz="102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Treatment timing based on ChatGPT public release</a:t>
            </a:r>
            <a:endParaRPr lang="en-US" sz="1600" dirty="0"/>
          </a:p>
        </p:txBody>
      </p:sp>
      <p:sp>
        <p:nvSpPr>
          <p:cNvPr id="33" name="Shape 31"/>
          <p:cNvSpPr/>
          <p:nvPr/>
        </p:nvSpPr>
        <p:spPr>
          <a:xfrm>
            <a:off x="8126550" y="1354667"/>
            <a:ext cx="3692858" cy="4407306"/>
          </a:xfrm>
          <a:custGeom>
            <a:avLst/>
            <a:gdLst/>
            <a:ahLst/>
            <a:cxnLst/>
            <a:rect l="l" t="t" r="r" b="b"/>
            <a:pathLst>
              <a:path w="3692858" h="4407306">
                <a:moveTo>
                  <a:pt x="37114" y="0"/>
                </a:moveTo>
                <a:lnTo>
                  <a:pt x="3655744" y="0"/>
                </a:lnTo>
                <a:cubicBezTo>
                  <a:pt x="3676242" y="0"/>
                  <a:pt x="3692858" y="16617"/>
                  <a:pt x="3692858" y="37114"/>
                </a:cubicBezTo>
                <a:lnTo>
                  <a:pt x="3692858" y="4333079"/>
                </a:lnTo>
                <a:cubicBezTo>
                  <a:pt x="3692858" y="4374074"/>
                  <a:pt x="3659626" y="4407306"/>
                  <a:pt x="3618632" y="4407306"/>
                </a:cubicBezTo>
                <a:lnTo>
                  <a:pt x="74226" y="4407306"/>
                </a:lnTo>
                <a:cubicBezTo>
                  <a:pt x="33232" y="4407306"/>
                  <a:pt x="0" y="4374074"/>
                  <a:pt x="0" y="4333079"/>
                </a:cubicBezTo>
                <a:lnTo>
                  <a:pt x="0" y="37114"/>
                </a:lnTo>
                <a:cubicBezTo>
                  <a:pt x="0" y="16630"/>
                  <a:pt x="16630" y="0"/>
                  <a:pt x="37114" y="0"/>
                </a:cubicBezTo>
                <a:close/>
              </a:path>
            </a:pathLst>
          </a:custGeom>
          <a:solidFill>
            <a:srgbClr val="F9FAFB"/>
          </a:solidFill>
        </p:spPr>
      </p:sp>
      <p:sp>
        <p:nvSpPr>
          <p:cNvPr id="34" name="Shape 32"/>
          <p:cNvSpPr/>
          <p:nvPr/>
        </p:nvSpPr>
        <p:spPr>
          <a:xfrm>
            <a:off x="8126550" y="1354667"/>
            <a:ext cx="3692858" cy="37114"/>
          </a:xfrm>
          <a:custGeom>
            <a:avLst/>
            <a:gdLst/>
            <a:ahLst/>
            <a:cxnLst/>
            <a:rect l="l" t="t" r="r" b="b"/>
            <a:pathLst>
              <a:path w="3692858" h="37114">
                <a:moveTo>
                  <a:pt x="37114" y="0"/>
                </a:moveTo>
                <a:lnTo>
                  <a:pt x="3655744" y="0"/>
                </a:lnTo>
                <a:cubicBezTo>
                  <a:pt x="3676242" y="0"/>
                  <a:pt x="3692858" y="16617"/>
                  <a:pt x="3692858" y="37114"/>
                </a:cubicBezTo>
                <a:lnTo>
                  <a:pt x="3692858" y="37114"/>
                </a:lnTo>
                <a:lnTo>
                  <a:pt x="0" y="37114"/>
                </a:lnTo>
                <a:lnTo>
                  <a:pt x="0" y="37114"/>
                </a:lnTo>
                <a:cubicBezTo>
                  <a:pt x="0" y="16630"/>
                  <a:pt x="16630" y="0"/>
                  <a:pt x="37114" y="0"/>
                </a:cubicBezTo>
                <a:close/>
              </a:path>
            </a:pathLst>
          </a:custGeom>
          <a:solidFill>
            <a:srgbClr val="8B0000"/>
          </a:solidFill>
        </p:spPr>
      </p:sp>
      <p:sp>
        <p:nvSpPr>
          <p:cNvPr id="35" name="Shape 33"/>
          <p:cNvSpPr/>
          <p:nvPr/>
        </p:nvSpPr>
        <p:spPr>
          <a:xfrm>
            <a:off x="8335317" y="1595909"/>
            <a:ext cx="185571" cy="185571"/>
          </a:xfrm>
          <a:custGeom>
            <a:avLst/>
            <a:gdLst/>
            <a:ahLst/>
            <a:cxnLst/>
            <a:rect l="l" t="t" r="r" b="b"/>
            <a:pathLst>
              <a:path w="185571" h="185571">
                <a:moveTo>
                  <a:pt x="92785" y="185571"/>
                </a:moveTo>
                <a:cubicBezTo>
                  <a:pt x="143995" y="185571"/>
                  <a:pt x="185571" y="143995"/>
                  <a:pt x="185571" y="92785"/>
                </a:cubicBezTo>
                <a:cubicBezTo>
                  <a:pt x="185571" y="41576"/>
                  <a:pt x="143995" y="0"/>
                  <a:pt x="92785" y="0"/>
                </a:cubicBezTo>
                <a:cubicBezTo>
                  <a:pt x="41576" y="0"/>
                  <a:pt x="0" y="41576"/>
                  <a:pt x="0" y="92785"/>
                </a:cubicBezTo>
                <a:cubicBezTo>
                  <a:pt x="0" y="143995"/>
                  <a:pt x="41576" y="185571"/>
                  <a:pt x="92785" y="185571"/>
                </a:cubicBezTo>
                <a:close/>
                <a:moveTo>
                  <a:pt x="81187" y="57991"/>
                </a:moveTo>
                <a:cubicBezTo>
                  <a:pt x="81187" y="51590"/>
                  <a:pt x="86384" y="46393"/>
                  <a:pt x="92785" y="46393"/>
                </a:cubicBezTo>
                <a:cubicBezTo>
                  <a:pt x="99187" y="46393"/>
                  <a:pt x="104384" y="51590"/>
                  <a:pt x="104384" y="57991"/>
                </a:cubicBezTo>
                <a:cubicBezTo>
                  <a:pt x="104384" y="64392"/>
                  <a:pt x="99187" y="69589"/>
                  <a:pt x="92785" y="69589"/>
                </a:cubicBezTo>
                <a:cubicBezTo>
                  <a:pt x="86384" y="69589"/>
                  <a:pt x="81187" y="64392"/>
                  <a:pt x="81187" y="57991"/>
                </a:cubicBezTo>
                <a:close/>
                <a:moveTo>
                  <a:pt x="78288" y="81187"/>
                </a:moveTo>
                <a:lnTo>
                  <a:pt x="95685" y="81187"/>
                </a:lnTo>
                <a:cubicBezTo>
                  <a:pt x="100505" y="81187"/>
                  <a:pt x="104384" y="85065"/>
                  <a:pt x="104384" y="89886"/>
                </a:cubicBezTo>
                <a:lnTo>
                  <a:pt x="104384" y="121781"/>
                </a:lnTo>
                <a:lnTo>
                  <a:pt x="107283" y="121781"/>
                </a:lnTo>
                <a:cubicBezTo>
                  <a:pt x="112104" y="121781"/>
                  <a:pt x="115982" y="125659"/>
                  <a:pt x="115982" y="130479"/>
                </a:cubicBezTo>
                <a:cubicBezTo>
                  <a:pt x="115982" y="135300"/>
                  <a:pt x="112104" y="139178"/>
                  <a:pt x="107283" y="139178"/>
                </a:cubicBezTo>
                <a:lnTo>
                  <a:pt x="78288" y="139178"/>
                </a:lnTo>
                <a:cubicBezTo>
                  <a:pt x="73467" y="139178"/>
                  <a:pt x="69589" y="135300"/>
                  <a:pt x="69589" y="130479"/>
                </a:cubicBezTo>
                <a:cubicBezTo>
                  <a:pt x="69589" y="125659"/>
                  <a:pt x="73467" y="121781"/>
                  <a:pt x="78288" y="121781"/>
                </a:cubicBezTo>
                <a:lnTo>
                  <a:pt x="86986" y="121781"/>
                </a:lnTo>
                <a:lnTo>
                  <a:pt x="86986" y="98584"/>
                </a:lnTo>
                <a:lnTo>
                  <a:pt x="78288" y="98584"/>
                </a:lnTo>
                <a:cubicBezTo>
                  <a:pt x="73467" y="98584"/>
                  <a:pt x="69589" y="94706"/>
                  <a:pt x="69589" y="89886"/>
                </a:cubicBezTo>
                <a:cubicBezTo>
                  <a:pt x="69589" y="85065"/>
                  <a:pt x="73467" y="81187"/>
                  <a:pt x="78288" y="81187"/>
                </a:cubicBezTo>
                <a:close/>
              </a:path>
            </a:pathLst>
          </a:custGeom>
          <a:solidFill>
            <a:srgbClr val="8B0000"/>
          </a:solidFill>
        </p:spPr>
      </p:sp>
      <p:sp>
        <p:nvSpPr>
          <p:cNvPr id="36" name="Text 34"/>
          <p:cNvSpPr/>
          <p:nvPr/>
        </p:nvSpPr>
        <p:spPr>
          <a:xfrm>
            <a:off x="8544084" y="1558795"/>
            <a:ext cx="3182539" cy="259799"/>
          </a:xfrm>
          <a:prstGeom prst="rect">
            <a:avLst/>
          </a:prstGeom>
          <a:noFill/>
        </p:spPr>
        <p:txBody>
          <a:bodyPr wrap="square" lIns="0" tIns="0" rIns="0" bIns="0" rtlCol="0" anchor="ctr"/>
          <a:lstStyle/>
          <a:p>
            <a:pPr>
              <a:lnSpc>
                <a:spcPct val="120000"/>
              </a:lnSpc>
            </a:pPr>
            <a:r>
              <a:rPr lang="en-US" sz="146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Sample Overview</a:t>
            </a:r>
            <a:endParaRPr lang="en-US" sz="1600" dirty="0"/>
          </a:p>
        </p:txBody>
      </p:sp>
      <p:sp>
        <p:nvSpPr>
          <p:cNvPr id="37" name="Shape 35"/>
          <p:cNvSpPr/>
          <p:nvPr/>
        </p:nvSpPr>
        <p:spPr>
          <a:xfrm>
            <a:off x="8316760" y="1971689"/>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38" name="Text 36"/>
          <p:cNvSpPr/>
          <p:nvPr/>
        </p:nvSpPr>
        <p:spPr>
          <a:xfrm>
            <a:off x="8432742" y="2087671"/>
            <a:ext cx="992804"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Period</a:t>
            </a:r>
            <a:endParaRPr lang="en-US" sz="1600" dirty="0"/>
          </a:p>
        </p:txBody>
      </p:sp>
      <p:sp>
        <p:nvSpPr>
          <p:cNvPr id="39" name="Text 37"/>
          <p:cNvSpPr/>
          <p:nvPr/>
        </p:nvSpPr>
        <p:spPr>
          <a:xfrm>
            <a:off x="10243797" y="2087671"/>
            <a:ext cx="1345388"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Jan 2021 - Dec 2024</a:t>
            </a:r>
            <a:endParaRPr lang="en-US" sz="1600" dirty="0"/>
          </a:p>
        </p:txBody>
      </p:sp>
      <p:sp>
        <p:nvSpPr>
          <p:cNvPr id="40" name="Shape 38"/>
          <p:cNvSpPr/>
          <p:nvPr/>
        </p:nvSpPr>
        <p:spPr>
          <a:xfrm>
            <a:off x="8432742" y="2347470"/>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41" name="Shape 39"/>
          <p:cNvSpPr/>
          <p:nvPr/>
        </p:nvSpPr>
        <p:spPr>
          <a:xfrm>
            <a:off x="8316760" y="2593352"/>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42" name="Text 40"/>
          <p:cNvSpPr/>
          <p:nvPr/>
        </p:nvSpPr>
        <p:spPr>
          <a:xfrm>
            <a:off x="8432742" y="2709333"/>
            <a:ext cx="1196932"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Number of Funds</a:t>
            </a:r>
            <a:endParaRPr lang="en-US" sz="1600" dirty="0"/>
          </a:p>
        </p:txBody>
      </p:sp>
      <p:sp>
        <p:nvSpPr>
          <p:cNvPr id="43" name="Text 41"/>
          <p:cNvSpPr/>
          <p:nvPr/>
        </p:nvSpPr>
        <p:spPr>
          <a:xfrm>
            <a:off x="11193107" y="2709333"/>
            <a:ext cx="389699" cy="222685"/>
          </a:xfrm>
          <a:prstGeom prst="rect">
            <a:avLst/>
          </a:prstGeom>
          <a:noFill/>
        </p:spPr>
        <p:txBody>
          <a:bodyPr wrap="square" lIns="0" tIns="0" rIns="0" bIns="0" rtlCol="0" anchor="ctr"/>
          <a:lstStyle/>
          <a:p>
            <a:pPr>
              <a:lnSpc>
                <a:spcPct val="130000"/>
              </a:lnSpc>
            </a:pPr>
            <a:r>
              <a:rPr lang="en-US" sz="117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1,229</a:t>
            </a:r>
            <a:endParaRPr lang="en-US" sz="1600" dirty="0"/>
          </a:p>
        </p:txBody>
      </p:sp>
      <p:sp>
        <p:nvSpPr>
          <p:cNvPr id="44" name="Shape 42"/>
          <p:cNvSpPr/>
          <p:nvPr/>
        </p:nvSpPr>
        <p:spPr>
          <a:xfrm>
            <a:off x="8432742" y="2969132"/>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45" name="Shape 43"/>
          <p:cNvSpPr/>
          <p:nvPr/>
        </p:nvSpPr>
        <p:spPr>
          <a:xfrm>
            <a:off x="8316760" y="3215014"/>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46" name="Text 44"/>
          <p:cNvSpPr/>
          <p:nvPr/>
        </p:nvSpPr>
        <p:spPr>
          <a:xfrm>
            <a:off x="8432742" y="3330995"/>
            <a:ext cx="1308274"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Total Observations</a:t>
            </a:r>
            <a:endParaRPr lang="en-US" sz="1600" dirty="0"/>
          </a:p>
        </p:txBody>
      </p:sp>
      <p:sp>
        <p:nvSpPr>
          <p:cNvPr id="47" name="Text 45"/>
          <p:cNvSpPr/>
          <p:nvPr/>
        </p:nvSpPr>
        <p:spPr>
          <a:xfrm>
            <a:off x="11101627" y="3330995"/>
            <a:ext cx="482484" cy="222685"/>
          </a:xfrm>
          <a:prstGeom prst="rect">
            <a:avLst/>
          </a:prstGeom>
          <a:noFill/>
        </p:spPr>
        <p:txBody>
          <a:bodyPr wrap="square" lIns="0" tIns="0" rIns="0" bIns="0" rtlCol="0" anchor="ctr"/>
          <a:lstStyle/>
          <a:p>
            <a:pPr>
              <a:lnSpc>
                <a:spcPct val="130000"/>
              </a:lnSpc>
            </a:pPr>
            <a:r>
              <a:rPr lang="en-US" sz="117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54,488</a:t>
            </a:r>
            <a:endParaRPr lang="en-US" sz="1600" dirty="0"/>
          </a:p>
        </p:txBody>
      </p:sp>
      <p:sp>
        <p:nvSpPr>
          <p:cNvPr id="48" name="Shape 46"/>
          <p:cNvSpPr/>
          <p:nvPr/>
        </p:nvSpPr>
        <p:spPr>
          <a:xfrm>
            <a:off x="8432742" y="3590795"/>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49" name="Shape 47"/>
          <p:cNvSpPr/>
          <p:nvPr/>
        </p:nvSpPr>
        <p:spPr>
          <a:xfrm>
            <a:off x="8316760" y="3836676"/>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50" name="Text 48"/>
          <p:cNvSpPr/>
          <p:nvPr/>
        </p:nvSpPr>
        <p:spPr>
          <a:xfrm>
            <a:off x="8432742" y="3952658"/>
            <a:ext cx="918575"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Periods</a:t>
            </a:r>
            <a:endParaRPr lang="en-US" sz="1600" dirty="0"/>
          </a:p>
        </p:txBody>
      </p:sp>
      <p:sp>
        <p:nvSpPr>
          <p:cNvPr id="51" name="Text 49"/>
          <p:cNvSpPr/>
          <p:nvPr/>
        </p:nvSpPr>
        <p:spPr>
          <a:xfrm>
            <a:off x="10806453" y="3952658"/>
            <a:ext cx="779397"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47 months</a:t>
            </a:r>
            <a:endParaRPr lang="en-US" sz="1600" dirty="0"/>
          </a:p>
        </p:txBody>
      </p:sp>
      <p:sp>
        <p:nvSpPr>
          <p:cNvPr id="52" name="Shape 50"/>
          <p:cNvSpPr/>
          <p:nvPr/>
        </p:nvSpPr>
        <p:spPr>
          <a:xfrm>
            <a:off x="8432742" y="4212457"/>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53" name="Shape 51"/>
          <p:cNvSpPr/>
          <p:nvPr/>
        </p:nvSpPr>
        <p:spPr>
          <a:xfrm>
            <a:off x="8316760" y="4458338"/>
            <a:ext cx="3312438" cy="501041"/>
          </a:xfrm>
          <a:custGeom>
            <a:avLst/>
            <a:gdLst/>
            <a:ahLst/>
            <a:cxnLst/>
            <a:rect l="l" t="t" r="r" b="b"/>
            <a:pathLst>
              <a:path w="3312438" h="501041">
                <a:moveTo>
                  <a:pt x="74229" y="0"/>
                </a:moveTo>
                <a:lnTo>
                  <a:pt x="3238209" y="0"/>
                </a:lnTo>
                <a:cubicBezTo>
                  <a:pt x="3279177" y="0"/>
                  <a:pt x="3312438" y="33261"/>
                  <a:pt x="3312438" y="74229"/>
                </a:cubicBezTo>
                <a:lnTo>
                  <a:pt x="3312438" y="426812"/>
                </a:lnTo>
                <a:cubicBezTo>
                  <a:pt x="3312438" y="467780"/>
                  <a:pt x="3279177" y="501041"/>
                  <a:pt x="3238209" y="501041"/>
                </a:cubicBezTo>
                <a:lnTo>
                  <a:pt x="74229" y="501041"/>
                </a:lnTo>
                <a:cubicBezTo>
                  <a:pt x="33261" y="501041"/>
                  <a:pt x="0" y="467780"/>
                  <a:pt x="0" y="426812"/>
                </a:cubicBezTo>
                <a:lnTo>
                  <a:pt x="0" y="74229"/>
                </a:lnTo>
                <a:cubicBezTo>
                  <a:pt x="0" y="33261"/>
                  <a:pt x="33261" y="0"/>
                  <a:pt x="74229" y="0"/>
                </a:cubicBezTo>
                <a:close/>
              </a:path>
            </a:pathLst>
          </a:custGeom>
          <a:solidFill>
            <a:srgbClr val="FFFFFF"/>
          </a:solidFill>
          <a:ln w="12700">
            <a:solidFill>
              <a:srgbClr val="8B0000">
                <a:alpha val="20000"/>
              </a:srgbClr>
            </a:solidFill>
            <a:prstDash val="solid"/>
          </a:ln>
        </p:spPr>
      </p:sp>
      <p:sp>
        <p:nvSpPr>
          <p:cNvPr id="54" name="Text 52"/>
          <p:cNvSpPr/>
          <p:nvPr/>
        </p:nvSpPr>
        <p:spPr>
          <a:xfrm>
            <a:off x="8432742" y="4574320"/>
            <a:ext cx="1271160"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AI-Exposed Funds</a:t>
            </a:r>
            <a:endParaRPr lang="en-US" sz="1600" dirty="0"/>
          </a:p>
        </p:txBody>
      </p:sp>
      <p:sp>
        <p:nvSpPr>
          <p:cNvPr id="55" name="Text 53"/>
          <p:cNvSpPr/>
          <p:nvPr/>
        </p:nvSpPr>
        <p:spPr>
          <a:xfrm>
            <a:off x="10490983" y="4574320"/>
            <a:ext cx="1094868"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866 (dummy=1)</a:t>
            </a:r>
            <a:endParaRPr lang="en-US" sz="1600" dirty="0"/>
          </a:p>
        </p:txBody>
      </p:sp>
      <p:sp>
        <p:nvSpPr>
          <p:cNvPr id="56" name="Shape 54"/>
          <p:cNvSpPr/>
          <p:nvPr/>
        </p:nvSpPr>
        <p:spPr>
          <a:xfrm>
            <a:off x="8432742" y="4834119"/>
            <a:ext cx="3080475" cy="9279"/>
          </a:xfrm>
          <a:custGeom>
            <a:avLst/>
            <a:gdLst/>
            <a:ahLst/>
            <a:cxnLst/>
            <a:rect l="l" t="t" r="r" b="b"/>
            <a:pathLst>
              <a:path w="3080475" h="9279">
                <a:moveTo>
                  <a:pt x="0" y="0"/>
                </a:moveTo>
                <a:lnTo>
                  <a:pt x="3080475" y="0"/>
                </a:lnTo>
                <a:lnTo>
                  <a:pt x="3080475" y="9279"/>
                </a:lnTo>
                <a:lnTo>
                  <a:pt x="0" y="9279"/>
                </a:lnTo>
                <a:lnTo>
                  <a:pt x="0" y="0"/>
                </a:lnTo>
                <a:close/>
              </a:path>
            </a:pathLst>
          </a:custGeom>
          <a:solidFill>
            <a:srgbClr val="8B0000">
              <a:alpha val="10196"/>
            </a:srgbClr>
          </a:solidFill>
        </p:spPr>
      </p:sp>
      <p:sp>
        <p:nvSpPr>
          <p:cNvPr id="57" name="Shape 55"/>
          <p:cNvSpPr/>
          <p:nvPr/>
        </p:nvSpPr>
        <p:spPr>
          <a:xfrm>
            <a:off x="8316760" y="5080000"/>
            <a:ext cx="3312438" cy="491763"/>
          </a:xfrm>
          <a:custGeom>
            <a:avLst/>
            <a:gdLst/>
            <a:ahLst/>
            <a:cxnLst/>
            <a:rect l="l" t="t" r="r" b="b"/>
            <a:pathLst>
              <a:path w="3312438" h="491763">
                <a:moveTo>
                  <a:pt x="74227" y="0"/>
                </a:moveTo>
                <a:lnTo>
                  <a:pt x="3238212" y="0"/>
                </a:lnTo>
                <a:cubicBezTo>
                  <a:pt x="3279179" y="0"/>
                  <a:pt x="3312438" y="33260"/>
                  <a:pt x="3312438" y="74227"/>
                </a:cubicBezTo>
                <a:lnTo>
                  <a:pt x="3312438" y="417536"/>
                </a:lnTo>
                <a:cubicBezTo>
                  <a:pt x="3312438" y="458503"/>
                  <a:pt x="3279179" y="491763"/>
                  <a:pt x="3238212" y="491763"/>
                </a:cubicBezTo>
                <a:lnTo>
                  <a:pt x="74227" y="491763"/>
                </a:lnTo>
                <a:cubicBezTo>
                  <a:pt x="33260" y="491763"/>
                  <a:pt x="0" y="458503"/>
                  <a:pt x="0" y="417536"/>
                </a:cubicBezTo>
                <a:lnTo>
                  <a:pt x="0" y="74227"/>
                </a:lnTo>
                <a:cubicBezTo>
                  <a:pt x="0" y="33260"/>
                  <a:pt x="33260" y="0"/>
                  <a:pt x="74227" y="0"/>
                </a:cubicBezTo>
                <a:close/>
              </a:path>
            </a:pathLst>
          </a:custGeom>
          <a:solidFill>
            <a:srgbClr val="FFFFFF"/>
          </a:solidFill>
          <a:ln w="12700">
            <a:solidFill>
              <a:srgbClr val="8B0000">
                <a:alpha val="20000"/>
              </a:srgbClr>
            </a:solidFill>
            <a:prstDash val="solid"/>
          </a:ln>
        </p:spPr>
      </p:sp>
      <p:sp>
        <p:nvSpPr>
          <p:cNvPr id="58" name="Text 56"/>
          <p:cNvSpPr/>
          <p:nvPr/>
        </p:nvSpPr>
        <p:spPr>
          <a:xfrm>
            <a:off x="8432742" y="5195982"/>
            <a:ext cx="1011361" cy="222685"/>
          </a:xfrm>
          <a:prstGeom prst="rect">
            <a:avLst/>
          </a:prstGeom>
          <a:noFill/>
        </p:spPr>
        <p:txBody>
          <a:bodyPr wrap="square" lIns="0" tIns="0" rIns="0" bIns="0" rtlCol="0" anchor="ctr"/>
          <a:lstStyle/>
          <a:p>
            <a:pPr>
              <a:lnSpc>
                <a:spcPct val="130000"/>
              </a:lnSpc>
            </a:pPr>
            <a:r>
              <a:rPr lang="en-US" sz="117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Non-AI Funds</a:t>
            </a:r>
            <a:endParaRPr lang="en-US" sz="1600" dirty="0"/>
          </a:p>
        </p:txBody>
      </p:sp>
      <p:sp>
        <p:nvSpPr>
          <p:cNvPr id="59" name="Text 57"/>
          <p:cNvSpPr/>
          <p:nvPr/>
        </p:nvSpPr>
        <p:spPr>
          <a:xfrm>
            <a:off x="10490258" y="5195982"/>
            <a:ext cx="1094868" cy="222685"/>
          </a:xfrm>
          <a:prstGeom prst="rect">
            <a:avLst/>
          </a:prstGeom>
          <a:noFill/>
        </p:spPr>
        <p:txBody>
          <a:bodyPr wrap="square" lIns="0" tIns="0" rIns="0" bIns="0" rtlCol="0" anchor="ctr"/>
          <a:lstStyle/>
          <a:p>
            <a:pPr>
              <a:lnSpc>
                <a:spcPct val="130000"/>
              </a:lnSpc>
            </a:pPr>
            <a:r>
              <a:rPr lang="en-US" sz="11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528 (dummy=0)</a:t>
            </a:r>
            <a:endParaRPr lang="en-US" sz="1600" dirty="0"/>
          </a:p>
        </p:txBody>
      </p:sp>
      <p:sp>
        <p:nvSpPr>
          <p:cNvPr id="60" name="Shape 58"/>
          <p:cNvSpPr/>
          <p:nvPr/>
        </p:nvSpPr>
        <p:spPr>
          <a:xfrm>
            <a:off x="8135829" y="5919708"/>
            <a:ext cx="3674301" cy="927854"/>
          </a:xfrm>
          <a:custGeom>
            <a:avLst/>
            <a:gdLst/>
            <a:ahLst/>
            <a:cxnLst/>
            <a:rect l="l" t="t" r="r" b="b"/>
            <a:pathLst>
              <a:path w="3674301" h="927854">
                <a:moveTo>
                  <a:pt x="74228" y="0"/>
                </a:moveTo>
                <a:lnTo>
                  <a:pt x="3600073" y="0"/>
                </a:lnTo>
                <a:cubicBezTo>
                  <a:pt x="3641068" y="0"/>
                  <a:pt x="3674301" y="33233"/>
                  <a:pt x="3674301" y="74228"/>
                </a:cubicBezTo>
                <a:lnTo>
                  <a:pt x="3674301" y="853626"/>
                </a:lnTo>
                <a:cubicBezTo>
                  <a:pt x="3674301" y="894621"/>
                  <a:pt x="3641068" y="927854"/>
                  <a:pt x="3600073" y="927854"/>
                </a:cubicBezTo>
                <a:lnTo>
                  <a:pt x="74228" y="927854"/>
                </a:lnTo>
                <a:cubicBezTo>
                  <a:pt x="33261" y="927854"/>
                  <a:pt x="0" y="894593"/>
                  <a:pt x="0" y="853626"/>
                </a:cubicBezTo>
                <a:lnTo>
                  <a:pt x="0" y="74228"/>
                </a:lnTo>
                <a:cubicBezTo>
                  <a:pt x="0" y="33261"/>
                  <a:pt x="33261" y="0"/>
                  <a:pt x="74228" y="0"/>
                </a:cubicBezTo>
                <a:close/>
              </a:path>
            </a:pathLst>
          </a:custGeom>
          <a:solidFill>
            <a:srgbClr val="FFFFFF"/>
          </a:solidFill>
          <a:ln w="25400">
            <a:solidFill>
              <a:srgbClr val="8B0000">
                <a:alpha val="20000"/>
              </a:srgbClr>
            </a:solidFill>
            <a:prstDash val="solid"/>
          </a:ln>
        </p:spPr>
      </p:sp>
      <p:sp>
        <p:nvSpPr>
          <p:cNvPr id="61" name="Shape 59"/>
          <p:cNvSpPr/>
          <p:nvPr/>
        </p:nvSpPr>
        <p:spPr>
          <a:xfrm>
            <a:off x="8312121" y="6105279"/>
            <a:ext cx="129900" cy="129900"/>
          </a:xfrm>
          <a:custGeom>
            <a:avLst/>
            <a:gdLst/>
            <a:ahLst/>
            <a:cxnLst/>
            <a:rect l="l" t="t" r="r" b="b"/>
            <a:pathLst>
              <a:path w="129900" h="129900">
                <a:moveTo>
                  <a:pt x="64950" y="129900"/>
                </a:moveTo>
                <a:cubicBezTo>
                  <a:pt x="100797" y="129900"/>
                  <a:pt x="129900" y="100797"/>
                  <a:pt x="129900" y="64950"/>
                </a:cubicBezTo>
                <a:cubicBezTo>
                  <a:pt x="129900" y="29103"/>
                  <a:pt x="100797" y="0"/>
                  <a:pt x="64950" y="0"/>
                </a:cubicBezTo>
                <a:cubicBezTo>
                  <a:pt x="29103" y="0"/>
                  <a:pt x="0" y="29103"/>
                  <a:pt x="0" y="64950"/>
                </a:cubicBezTo>
                <a:cubicBezTo>
                  <a:pt x="0" y="100797"/>
                  <a:pt x="29103" y="129900"/>
                  <a:pt x="64950" y="129900"/>
                </a:cubicBezTo>
                <a:close/>
                <a:moveTo>
                  <a:pt x="64950" y="34505"/>
                </a:moveTo>
                <a:cubicBezTo>
                  <a:pt x="68324" y="34505"/>
                  <a:pt x="71039" y="37219"/>
                  <a:pt x="71039" y="40594"/>
                </a:cubicBezTo>
                <a:lnTo>
                  <a:pt x="71039" y="69009"/>
                </a:lnTo>
                <a:cubicBezTo>
                  <a:pt x="71039" y="72383"/>
                  <a:pt x="68324" y="75098"/>
                  <a:pt x="64950" y="75098"/>
                </a:cubicBezTo>
                <a:cubicBezTo>
                  <a:pt x="61575" y="75098"/>
                  <a:pt x="58861" y="72383"/>
                  <a:pt x="58861" y="69009"/>
                </a:cubicBezTo>
                <a:lnTo>
                  <a:pt x="58861" y="40594"/>
                </a:lnTo>
                <a:cubicBezTo>
                  <a:pt x="58861" y="37219"/>
                  <a:pt x="61575" y="34505"/>
                  <a:pt x="64950" y="34505"/>
                </a:cubicBezTo>
                <a:close/>
                <a:moveTo>
                  <a:pt x="58176" y="89306"/>
                </a:moveTo>
                <a:cubicBezTo>
                  <a:pt x="58022" y="86791"/>
                  <a:pt x="59276" y="84399"/>
                  <a:pt x="61431" y="83095"/>
                </a:cubicBezTo>
                <a:cubicBezTo>
                  <a:pt x="63587" y="81792"/>
                  <a:pt x="66288" y="81792"/>
                  <a:pt x="68443" y="83095"/>
                </a:cubicBezTo>
                <a:cubicBezTo>
                  <a:pt x="70599" y="84399"/>
                  <a:pt x="71853" y="86791"/>
                  <a:pt x="71698" y="89306"/>
                </a:cubicBezTo>
                <a:cubicBezTo>
                  <a:pt x="71853" y="91820"/>
                  <a:pt x="70599" y="94213"/>
                  <a:pt x="68443" y="95516"/>
                </a:cubicBezTo>
                <a:cubicBezTo>
                  <a:pt x="66288" y="96820"/>
                  <a:pt x="63587" y="96820"/>
                  <a:pt x="61431" y="95516"/>
                </a:cubicBezTo>
                <a:cubicBezTo>
                  <a:pt x="59276" y="94213"/>
                  <a:pt x="58022" y="91820"/>
                  <a:pt x="58176" y="89306"/>
                </a:cubicBezTo>
                <a:close/>
              </a:path>
            </a:pathLst>
          </a:custGeom>
          <a:solidFill>
            <a:srgbClr val="8B0000"/>
          </a:solidFill>
        </p:spPr>
      </p:sp>
      <p:sp>
        <p:nvSpPr>
          <p:cNvPr id="62" name="Text 60"/>
          <p:cNvSpPr/>
          <p:nvPr/>
        </p:nvSpPr>
        <p:spPr>
          <a:xfrm>
            <a:off x="8514808" y="6077443"/>
            <a:ext cx="3202536" cy="612384"/>
          </a:xfrm>
          <a:prstGeom prst="rect">
            <a:avLst/>
          </a:prstGeom>
          <a:noFill/>
        </p:spPr>
        <p:txBody>
          <a:bodyPr wrap="square" lIns="0" tIns="0" rIns="0" bIns="0" rtlCol="0" anchor="ctr"/>
          <a:lstStyle/>
          <a:p>
            <a:pPr>
              <a:lnSpc>
                <a:spcPct val="140000"/>
              </a:lnSpc>
            </a:pPr>
            <a:r>
              <a:rPr lang="en-US" sz="10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Important Note:</a:t>
            </a:r>
            <a:r>
              <a:rPr lang="en-US" sz="102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Main analysis uses </a:t>
            </a:r>
            <a:r>
              <a:rPr lang="en-US" sz="102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continuous AI_Exposure_std</a:t>
            </a:r>
            <a:r>
              <a:rPr lang="en-US" sz="102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not binary dummy. Binary classification shown for descriptive purposes only.</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Variable Definitions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graphicFrame>
        <p:nvGraphicFramePr>
          <p:cNvPr id="11" name="Table 0"/>
          <p:cNvGraphicFramePr>
            <a:graphicFrameLocks noGrp="1"/>
          </p:cNvGraphicFramePr>
          <p:nvPr/>
        </p:nvGraphicFramePr>
        <p:xfrm>
          <a:off x="381000" y="1371600"/>
          <a:ext cx="11430000" cy="4362453"/>
        </p:xfrm>
        <a:graphic>
          <a:graphicData uri="http://schemas.openxmlformats.org/drawingml/2006/table">
            <a:tbl>
              <a:tblPr/>
              <a:tblGrid>
                <a:gridCol w="2514600"/>
                <a:gridCol w="5143500"/>
                <a:gridCol w="3771900"/>
              </a:tblGrid>
              <a:tr h="484717">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Variable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Definition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Formula / Notes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Flow_w</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Fund flow (winsorized at 1% and 99%)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Flowi,t = [TNAi,t - TNAi,t-1(1+Ri,t)] / TNAi,t-1</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                                </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Sirri &amp; Tufano (1998)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AI_Exposure_std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Standardized continuous AI exposure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Standardized version of pre-determined AI portfolio share (2022 average). Mean ≈ 0, SD = 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Post</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Post-ChatGPT indicator</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 1 for months from November 2022 onwards; = 0 otherwise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log_tna_lag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Log of lagged total net assets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ln(TNAi,t-1). Controls for fund size effects on flows.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mret_lag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Lagged monthly return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Fund return in month t-1. Captures performance-chasing behavior.</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pre_avg_std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Standardized prior performance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Average return (Jan-Oct 2022), standardized. Used in H2 cross-section analysis.</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turn_ratio</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Portfolio turnover ratio</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From CRSP fund_summary2. Higher values indicate more active trading (exploratory behavior).</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484717">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delta_hhi</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Change in HHI (portfolio concentration)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HHIi,t = Σj∈SIC(wi,j,t)²; ΔHHI = HHIt - HHIt-1</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                                </a:t>
                      </a:r>
                      <a:endParaRPr lang="en-US" sz="900" dirty="0">
                        <a:latin typeface="微软雅黑" pitchFamily="34" charset="0"/>
                        <a:ea typeface="微软雅黑" pitchFamily="34" charset="0"/>
                        <a:cs typeface="微软雅黑" pitchFamily="34" charset="0"/>
                      </a:endParaRPr>
                    </a:p>
                    <a:p>
                      <a:pPr algn="l"/>
                      <a:r>
                        <a:rPr lang="en-US" sz="900" u="none" dirty="0">
                          <a:solidFill>
                            <a:srgbClr val="1F2937"/>
                          </a:solidFill>
                          <a:latin typeface="微软雅黑" pitchFamily="34" charset="0"/>
                          <a:ea typeface="微软雅黑" pitchFamily="34" charset="-122"/>
                          <a:cs typeface="微软雅黑" pitchFamily="34" charset="-120"/>
                        </a:rPr>
                        <a:t>Lower HHI = more diversified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81000" y="5886450"/>
            <a:ext cx="3705225" cy="685800"/>
          </a:xfrm>
          <a:custGeom>
            <a:avLst/>
            <a:gdLst/>
            <a:ahLst/>
            <a:cxnLst/>
            <a:rect l="l" t="t" r="r" b="b"/>
            <a:pathLst>
              <a:path w="3705225" h="685800">
                <a:moveTo>
                  <a:pt x="76199" y="0"/>
                </a:moveTo>
                <a:lnTo>
                  <a:pt x="3629026" y="0"/>
                </a:lnTo>
                <a:cubicBezTo>
                  <a:pt x="3671109" y="0"/>
                  <a:pt x="3705225" y="34116"/>
                  <a:pt x="3705225" y="76199"/>
                </a:cubicBezTo>
                <a:lnTo>
                  <a:pt x="3705225" y="609601"/>
                </a:lnTo>
                <a:cubicBezTo>
                  <a:pt x="3705225" y="651684"/>
                  <a:pt x="3671109" y="685800"/>
                  <a:pt x="3629026"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solidFill>
        </p:spPr>
      </p:sp>
      <p:sp>
        <p:nvSpPr>
          <p:cNvPr id="7" name="Text 4"/>
          <p:cNvSpPr/>
          <p:nvPr/>
        </p:nvSpPr>
        <p:spPr>
          <a:xfrm>
            <a:off x="461963" y="6000750"/>
            <a:ext cx="3543300"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Flow Winsorization</a:t>
            </a:r>
            <a:endParaRPr lang="en-US" sz="1600" dirty="0"/>
          </a:p>
        </p:txBody>
      </p:sp>
      <p:sp>
        <p:nvSpPr>
          <p:cNvPr id="8" name="Text 5"/>
          <p:cNvSpPr/>
          <p:nvPr/>
        </p:nvSpPr>
        <p:spPr>
          <a:xfrm>
            <a:off x="457200" y="6229350"/>
            <a:ext cx="3552825" cy="228600"/>
          </a:xfrm>
          <a:prstGeom prst="rect">
            <a:avLst/>
          </a:prstGeom>
          <a:noFill/>
        </p:spPr>
        <p:txBody>
          <a:bodyPr wrap="square" lIns="0" tIns="0" rIns="0" bIns="0" rtlCol="0" anchor="ctr"/>
          <a:lstStyle/>
          <a:p>
            <a:pPr algn="ct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1% - 99%</a:t>
            </a:r>
            <a:endParaRPr lang="en-US" sz="1600" dirty="0"/>
          </a:p>
        </p:txBody>
      </p:sp>
      <p:sp>
        <p:nvSpPr>
          <p:cNvPr id="9" name="Shape 6"/>
          <p:cNvSpPr/>
          <p:nvPr/>
        </p:nvSpPr>
        <p:spPr>
          <a:xfrm>
            <a:off x="4241750" y="5886450"/>
            <a:ext cx="3705225" cy="685800"/>
          </a:xfrm>
          <a:custGeom>
            <a:avLst/>
            <a:gdLst/>
            <a:ahLst/>
            <a:cxnLst/>
            <a:rect l="l" t="t" r="r" b="b"/>
            <a:pathLst>
              <a:path w="3705225" h="685800">
                <a:moveTo>
                  <a:pt x="76199" y="0"/>
                </a:moveTo>
                <a:lnTo>
                  <a:pt x="3629026" y="0"/>
                </a:lnTo>
                <a:cubicBezTo>
                  <a:pt x="3671109" y="0"/>
                  <a:pt x="3705225" y="34116"/>
                  <a:pt x="3705225" y="76199"/>
                </a:cubicBezTo>
                <a:lnTo>
                  <a:pt x="3705225" y="609601"/>
                </a:lnTo>
                <a:cubicBezTo>
                  <a:pt x="3705225" y="651684"/>
                  <a:pt x="3671109" y="685800"/>
                  <a:pt x="3629026"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solidFill>
        </p:spPr>
      </p:sp>
      <p:sp>
        <p:nvSpPr>
          <p:cNvPr id="10" name="Text 7"/>
          <p:cNvSpPr/>
          <p:nvPr/>
        </p:nvSpPr>
        <p:spPr>
          <a:xfrm>
            <a:off x="4322713" y="6000750"/>
            <a:ext cx="3543300"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Clustered SE</a:t>
            </a:r>
            <a:endParaRPr lang="en-US" sz="1600" dirty="0"/>
          </a:p>
        </p:txBody>
      </p:sp>
      <p:sp>
        <p:nvSpPr>
          <p:cNvPr id="5" name="Text 8"/>
          <p:cNvSpPr/>
          <p:nvPr/>
        </p:nvSpPr>
        <p:spPr>
          <a:xfrm>
            <a:off x="4317950" y="6229350"/>
            <a:ext cx="3552825" cy="228600"/>
          </a:xfrm>
          <a:prstGeom prst="rect">
            <a:avLst/>
          </a:prstGeom>
          <a:noFill/>
        </p:spPr>
        <p:txBody>
          <a:bodyPr wrap="square" lIns="0" tIns="0" rIns="0" bIns="0" rtlCol="0" anchor="ctr"/>
          <a:lstStyle/>
          <a:p>
            <a:pPr algn="ct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By Fund</a:t>
            </a:r>
            <a:endParaRPr lang="en-US" sz="1600" dirty="0"/>
          </a:p>
        </p:txBody>
      </p:sp>
      <p:sp>
        <p:nvSpPr>
          <p:cNvPr id="12" name="Shape 9"/>
          <p:cNvSpPr/>
          <p:nvPr/>
        </p:nvSpPr>
        <p:spPr>
          <a:xfrm>
            <a:off x="8102501" y="5886450"/>
            <a:ext cx="3705225" cy="685800"/>
          </a:xfrm>
          <a:custGeom>
            <a:avLst/>
            <a:gdLst/>
            <a:ahLst/>
            <a:cxnLst/>
            <a:rect l="l" t="t" r="r" b="b"/>
            <a:pathLst>
              <a:path w="3705225" h="685800">
                <a:moveTo>
                  <a:pt x="76199" y="0"/>
                </a:moveTo>
                <a:lnTo>
                  <a:pt x="3629026" y="0"/>
                </a:lnTo>
                <a:cubicBezTo>
                  <a:pt x="3671109" y="0"/>
                  <a:pt x="3705225" y="34116"/>
                  <a:pt x="3705225" y="76199"/>
                </a:cubicBezTo>
                <a:lnTo>
                  <a:pt x="3705225" y="609601"/>
                </a:lnTo>
                <a:cubicBezTo>
                  <a:pt x="3705225" y="651684"/>
                  <a:pt x="3671109" y="685800"/>
                  <a:pt x="3629026" y="685800"/>
                </a:cubicBezTo>
                <a:lnTo>
                  <a:pt x="76199" y="685800"/>
                </a:lnTo>
                <a:cubicBezTo>
                  <a:pt x="34116" y="685800"/>
                  <a:pt x="0" y="651684"/>
                  <a:pt x="0" y="609601"/>
                </a:cubicBezTo>
                <a:lnTo>
                  <a:pt x="0" y="76199"/>
                </a:lnTo>
                <a:cubicBezTo>
                  <a:pt x="0" y="34144"/>
                  <a:pt x="34144" y="0"/>
                  <a:pt x="76199" y="0"/>
                </a:cubicBezTo>
                <a:close/>
              </a:path>
            </a:pathLst>
          </a:custGeom>
          <a:solidFill>
            <a:srgbClr val="F9FAFB"/>
          </a:solidFill>
        </p:spPr>
      </p:sp>
      <p:sp>
        <p:nvSpPr>
          <p:cNvPr id="13" name="Text 10"/>
          <p:cNvSpPr/>
          <p:nvPr/>
        </p:nvSpPr>
        <p:spPr>
          <a:xfrm>
            <a:off x="8183463" y="6000750"/>
            <a:ext cx="3543300"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Fixed Effects</a:t>
            </a:r>
            <a:endParaRPr lang="en-US" sz="1600" dirty="0"/>
          </a:p>
        </p:txBody>
      </p:sp>
      <p:sp>
        <p:nvSpPr>
          <p:cNvPr id="14" name="Text 11"/>
          <p:cNvSpPr/>
          <p:nvPr/>
        </p:nvSpPr>
        <p:spPr>
          <a:xfrm>
            <a:off x="8178701" y="6229350"/>
            <a:ext cx="3552825" cy="228600"/>
          </a:xfrm>
          <a:prstGeom prst="rect">
            <a:avLst/>
          </a:prstGeom>
          <a:noFill/>
        </p:spPr>
        <p:txBody>
          <a:bodyPr wrap="square" lIns="0" tIns="0" rIns="0" bIns="0" rtlCol="0" anchor="ctr"/>
          <a:lstStyle/>
          <a:p>
            <a:pPr algn="ctr">
              <a:lnSpc>
                <a:spcPct val="130000"/>
              </a:lnSpc>
            </a:pP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Fund + Time</a:t>
            </a:r>
            <a:endParaRPr lang="en-US" sz="1600" dirty="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9911" y="359911"/>
            <a:ext cx="11544159" cy="215947"/>
          </a:xfrm>
          <a:prstGeom prst="rect">
            <a:avLst/>
          </a:prstGeom>
          <a:noFill/>
        </p:spPr>
        <p:txBody>
          <a:bodyPr wrap="square" lIns="0" tIns="0" rIns="0" bIns="0" rtlCol="0" anchor="ctr"/>
          <a:lstStyle/>
          <a:p>
            <a:pPr>
              <a:lnSpc>
                <a:spcPct val="130000"/>
              </a:lnSpc>
            </a:pPr>
            <a:r>
              <a:rPr lang="en-US" sz="1135" b="1" kern="0" spc="57"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59911" y="647841"/>
            <a:ext cx="11634137" cy="359911"/>
          </a:xfrm>
          <a:prstGeom prst="rect">
            <a:avLst/>
          </a:prstGeom>
          <a:noFill/>
        </p:spPr>
        <p:txBody>
          <a:bodyPr wrap="square" lIns="0" tIns="0" rIns="0" bIns="0" rtlCol="0" anchor="ctr"/>
          <a:lstStyle/>
          <a:p>
            <a:pPr>
              <a:lnSpc>
                <a:spcPct val="90000"/>
              </a:lnSpc>
            </a:pPr>
            <a:r>
              <a:rPr lang="en-US" sz="25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Empirical Model: Baseline DiD Framework</a:t>
            </a:r>
            <a:endParaRPr lang="en-US" sz="1600" dirty="0"/>
          </a:p>
        </p:txBody>
      </p:sp>
      <p:sp>
        <p:nvSpPr>
          <p:cNvPr id="4" name="Shape 2"/>
          <p:cNvSpPr/>
          <p:nvPr/>
        </p:nvSpPr>
        <p:spPr>
          <a:xfrm>
            <a:off x="359911" y="1115725"/>
            <a:ext cx="863787" cy="35991"/>
          </a:xfrm>
          <a:custGeom>
            <a:avLst/>
            <a:gdLst/>
            <a:ahLst/>
            <a:cxnLst/>
            <a:rect l="l" t="t" r="r" b="b"/>
            <a:pathLst>
              <a:path w="863787" h="35991">
                <a:moveTo>
                  <a:pt x="0" y="0"/>
                </a:moveTo>
                <a:lnTo>
                  <a:pt x="863787" y="0"/>
                </a:lnTo>
                <a:lnTo>
                  <a:pt x="863787" y="35991"/>
                </a:lnTo>
                <a:lnTo>
                  <a:pt x="0" y="35991"/>
                </a:lnTo>
                <a:lnTo>
                  <a:pt x="0" y="0"/>
                </a:lnTo>
                <a:close/>
              </a:path>
            </a:pathLst>
          </a:custGeom>
          <a:solidFill>
            <a:srgbClr val="8B0000"/>
          </a:solidFill>
        </p:spPr>
      </p:sp>
      <p:sp>
        <p:nvSpPr>
          <p:cNvPr id="5" name="Shape 3"/>
          <p:cNvSpPr/>
          <p:nvPr/>
        </p:nvSpPr>
        <p:spPr>
          <a:xfrm>
            <a:off x="377907" y="1295681"/>
            <a:ext cx="6793328" cy="4462902"/>
          </a:xfrm>
          <a:custGeom>
            <a:avLst/>
            <a:gdLst/>
            <a:ahLst/>
            <a:cxnLst/>
            <a:rect l="l" t="t" r="r" b="b"/>
            <a:pathLst>
              <a:path w="6793328" h="4462902">
                <a:moveTo>
                  <a:pt x="35991" y="0"/>
                </a:moveTo>
                <a:lnTo>
                  <a:pt x="6721342" y="0"/>
                </a:lnTo>
                <a:cubicBezTo>
                  <a:pt x="6761099" y="0"/>
                  <a:pt x="6793328" y="32230"/>
                  <a:pt x="6793328" y="71987"/>
                </a:cubicBezTo>
                <a:lnTo>
                  <a:pt x="6793328" y="4390915"/>
                </a:lnTo>
                <a:cubicBezTo>
                  <a:pt x="6793328" y="4430672"/>
                  <a:pt x="6761099" y="4462902"/>
                  <a:pt x="6721342" y="4462902"/>
                </a:cubicBezTo>
                <a:lnTo>
                  <a:pt x="35991" y="4462902"/>
                </a:lnTo>
                <a:cubicBezTo>
                  <a:pt x="16114" y="4462902"/>
                  <a:pt x="0" y="4446788"/>
                  <a:pt x="0" y="4426911"/>
                </a:cubicBezTo>
                <a:lnTo>
                  <a:pt x="0" y="35991"/>
                </a:lnTo>
                <a:cubicBezTo>
                  <a:pt x="0" y="16127"/>
                  <a:pt x="16127" y="0"/>
                  <a:pt x="35991" y="0"/>
                </a:cubicBezTo>
                <a:close/>
              </a:path>
            </a:pathLst>
          </a:custGeom>
          <a:solidFill>
            <a:srgbClr val="8B0000">
              <a:alpha val="5098"/>
            </a:srgbClr>
          </a:solidFill>
        </p:spPr>
      </p:sp>
      <p:sp>
        <p:nvSpPr>
          <p:cNvPr id="6" name="Shape 4"/>
          <p:cNvSpPr/>
          <p:nvPr/>
        </p:nvSpPr>
        <p:spPr>
          <a:xfrm>
            <a:off x="377907" y="1295681"/>
            <a:ext cx="35991" cy="4462902"/>
          </a:xfrm>
          <a:custGeom>
            <a:avLst/>
            <a:gdLst/>
            <a:ahLst/>
            <a:cxnLst/>
            <a:rect l="l" t="t" r="r" b="b"/>
            <a:pathLst>
              <a:path w="35991" h="4462902">
                <a:moveTo>
                  <a:pt x="35991" y="0"/>
                </a:moveTo>
                <a:lnTo>
                  <a:pt x="35991" y="0"/>
                </a:lnTo>
                <a:lnTo>
                  <a:pt x="35991" y="4462902"/>
                </a:lnTo>
                <a:lnTo>
                  <a:pt x="35991" y="4462902"/>
                </a:lnTo>
                <a:cubicBezTo>
                  <a:pt x="16114" y="4462902"/>
                  <a:pt x="0" y="4446788"/>
                  <a:pt x="0" y="4426911"/>
                </a:cubicBezTo>
                <a:lnTo>
                  <a:pt x="0" y="35991"/>
                </a:lnTo>
                <a:cubicBezTo>
                  <a:pt x="0" y="16127"/>
                  <a:pt x="16127" y="0"/>
                  <a:pt x="35991" y="0"/>
                </a:cubicBezTo>
                <a:close/>
              </a:path>
            </a:pathLst>
          </a:custGeom>
          <a:solidFill>
            <a:srgbClr val="8B0000"/>
          </a:solidFill>
        </p:spPr>
      </p:sp>
      <p:sp>
        <p:nvSpPr>
          <p:cNvPr id="7" name="Shape 5"/>
          <p:cNvSpPr/>
          <p:nvPr/>
        </p:nvSpPr>
        <p:spPr>
          <a:xfrm>
            <a:off x="598353" y="1511628"/>
            <a:ext cx="179956" cy="179956"/>
          </a:xfrm>
          <a:custGeom>
            <a:avLst/>
            <a:gdLst/>
            <a:ahLst/>
            <a:cxnLst/>
            <a:rect l="l" t="t" r="r" b="b"/>
            <a:pathLst>
              <a:path w="179956" h="179956">
                <a:moveTo>
                  <a:pt x="23162" y="80312"/>
                </a:moveTo>
                <a:cubicBezTo>
                  <a:pt x="27837" y="47625"/>
                  <a:pt x="55990" y="22494"/>
                  <a:pt x="89978" y="22494"/>
                </a:cubicBezTo>
                <a:cubicBezTo>
                  <a:pt x="108606" y="22494"/>
                  <a:pt x="125477" y="30051"/>
                  <a:pt x="137708" y="42247"/>
                </a:cubicBezTo>
                <a:cubicBezTo>
                  <a:pt x="137779" y="42318"/>
                  <a:pt x="137849" y="42388"/>
                  <a:pt x="137919" y="42458"/>
                </a:cubicBezTo>
                <a:lnTo>
                  <a:pt x="140590" y="44989"/>
                </a:lnTo>
                <a:lnTo>
                  <a:pt x="123755" y="44989"/>
                </a:lnTo>
                <a:cubicBezTo>
                  <a:pt x="117534" y="44989"/>
                  <a:pt x="112507" y="50015"/>
                  <a:pt x="112507" y="56236"/>
                </a:cubicBezTo>
                <a:cubicBezTo>
                  <a:pt x="112507" y="62457"/>
                  <a:pt x="117534" y="67483"/>
                  <a:pt x="123755" y="67483"/>
                </a:cubicBezTo>
                <a:lnTo>
                  <a:pt x="168744" y="67483"/>
                </a:lnTo>
                <a:cubicBezTo>
                  <a:pt x="174965" y="67483"/>
                  <a:pt x="179991" y="62457"/>
                  <a:pt x="179991" y="56236"/>
                </a:cubicBezTo>
                <a:lnTo>
                  <a:pt x="179991" y="11247"/>
                </a:lnTo>
                <a:cubicBezTo>
                  <a:pt x="179991" y="5026"/>
                  <a:pt x="174965" y="0"/>
                  <a:pt x="168744" y="0"/>
                </a:cubicBezTo>
                <a:cubicBezTo>
                  <a:pt x="162523" y="0"/>
                  <a:pt x="157496" y="5026"/>
                  <a:pt x="157496" y="11247"/>
                </a:cubicBezTo>
                <a:lnTo>
                  <a:pt x="157496" y="30016"/>
                </a:lnTo>
                <a:lnTo>
                  <a:pt x="153525" y="26255"/>
                </a:lnTo>
                <a:cubicBezTo>
                  <a:pt x="137251" y="10052"/>
                  <a:pt x="114757" y="0"/>
                  <a:pt x="89978" y="0"/>
                </a:cubicBezTo>
                <a:cubicBezTo>
                  <a:pt x="44637" y="0"/>
                  <a:pt x="7135" y="33531"/>
                  <a:pt x="914" y="77149"/>
                </a:cubicBezTo>
                <a:cubicBezTo>
                  <a:pt x="35" y="83300"/>
                  <a:pt x="4288" y="88994"/>
                  <a:pt x="10439" y="89872"/>
                </a:cubicBezTo>
                <a:cubicBezTo>
                  <a:pt x="16590" y="90751"/>
                  <a:pt x="22284" y="86463"/>
                  <a:pt x="23162" y="80347"/>
                </a:cubicBezTo>
                <a:close/>
                <a:moveTo>
                  <a:pt x="179042" y="102807"/>
                </a:moveTo>
                <a:cubicBezTo>
                  <a:pt x="179921" y="96656"/>
                  <a:pt x="175633" y="90962"/>
                  <a:pt x="169517" y="90083"/>
                </a:cubicBezTo>
                <a:cubicBezTo>
                  <a:pt x="163401" y="89205"/>
                  <a:pt x="157672" y="93493"/>
                  <a:pt x="156793" y="99608"/>
                </a:cubicBezTo>
                <a:cubicBezTo>
                  <a:pt x="152119" y="132296"/>
                  <a:pt x="123966" y="157426"/>
                  <a:pt x="89978" y="157426"/>
                </a:cubicBezTo>
                <a:cubicBezTo>
                  <a:pt x="71350" y="157426"/>
                  <a:pt x="54479" y="149869"/>
                  <a:pt x="42247" y="137673"/>
                </a:cubicBezTo>
                <a:cubicBezTo>
                  <a:pt x="42177" y="137603"/>
                  <a:pt x="42107" y="137533"/>
                  <a:pt x="42037" y="137462"/>
                </a:cubicBezTo>
                <a:lnTo>
                  <a:pt x="39365" y="134932"/>
                </a:lnTo>
                <a:lnTo>
                  <a:pt x="56201" y="134932"/>
                </a:lnTo>
                <a:cubicBezTo>
                  <a:pt x="62422" y="134932"/>
                  <a:pt x="67448" y="129906"/>
                  <a:pt x="67448" y="123684"/>
                </a:cubicBezTo>
                <a:cubicBezTo>
                  <a:pt x="67448" y="117463"/>
                  <a:pt x="62422" y="112437"/>
                  <a:pt x="56201" y="112437"/>
                </a:cubicBezTo>
                <a:lnTo>
                  <a:pt x="11247" y="112472"/>
                </a:lnTo>
                <a:cubicBezTo>
                  <a:pt x="8260" y="112472"/>
                  <a:pt x="5378" y="113667"/>
                  <a:pt x="3269" y="115811"/>
                </a:cubicBezTo>
                <a:cubicBezTo>
                  <a:pt x="1160" y="117955"/>
                  <a:pt x="-35" y="120802"/>
                  <a:pt x="0" y="123825"/>
                </a:cubicBezTo>
                <a:lnTo>
                  <a:pt x="351" y="168462"/>
                </a:lnTo>
                <a:cubicBezTo>
                  <a:pt x="387" y="174684"/>
                  <a:pt x="5483" y="179675"/>
                  <a:pt x="11704" y="179604"/>
                </a:cubicBezTo>
                <a:cubicBezTo>
                  <a:pt x="17925" y="179534"/>
                  <a:pt x="22916" y="174473"/>
                  <a:pt x="22846" y="168252"/>
                </a:cubicBezTo>
                <a:lnTo>
                  <a:pt x="22705" y="150151"/>
                </a:lnTo>
                <a:lnTo>
                  <a:pt x="26466" y="153700"/>
                </a:lnTo>
                <a:cubicBezTo>
                  <a:pt x="42739" y="169904"/>
                  <a:pt x="65199" y="179956"/>
                  <a:pt x="89978" y="179956"/>
                </a:cubicBezTo>
                <a:cubicBezTo>
                  <a:pt x="135318" y="179956"/>
                  <a:pt x="172821" y="146425"/>
                  <a:pt x="179042" y="102807"/>
                </a:cubicBezTo>
                <a:close/>
              </a:path>
            </a:pathLst>
          </a:custGeom>
          <a:solidFill>
            <a:srgbClr val="8B0000"/>
          </a:solidFill>
        </p:spPr>
      </p:sp>
      <p:sp>
        <p:nvSpPr>
          <p:cNvPr id="8" name="Text 6"/>
          <p:cNvSpPr/>
          <p:nvPr/>
        </p:nvSpPr>
        <p:spPr>
          <a:xfrm>
            <a:off x="800803" y="1475637"/>
            <a:ext cx="6280455" cy="251938"/>
          </a:xfrm>
          <a:prstGeom prst="rect">
            <a:avLst/>
          </a:prstGeom>
          <a:noFill/>
        </p:spPr>
        <p:txBody>
          <a:bodyPr wrap="square" lIns="0" tIns="0" rIns="0" bIns="0" rtlCol="0" anchor="ctr"/>
          <a:lstStyle/>
          <a:p>
            <a:pPr>
              <a:lnSpc>
                <a:spcPct val="120000"/>
              </a:lnSpc>
            </a:pPr>
            <a:r>
              <a:rPr lang="en-US" sz="14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Baseline Difference-in-Differences Model</a:t>
            </a:r>
            <a:endParaRPr lang="en-US" sz="1600" dirty="0"/>
          </a:p>
        </p:txBody>
      </p:sp>
      <p:sp>
        <p:nvSpPr>
          <p:cNvPr id="9" name="Shape 7"/>
          <p:cNvSpPr/>
          <p:nvPr/>
        </p:nvSpPr>
        <p:spPr>
          <a:xfrm>
            <a:off x="589355" y="1871539"/>
            <a:ext cx="6401925" cy="737818"/>
          </a:xfrm>
          <a:custGeom>
            <a:avLst/>
            <a:gdLst/>
            <a:ahLst/>
            <a:cxnLst/>
            <a:rect l="l" t="t" r="r" b="b"/>
            <a:pathLst>
              <a:path w="6401925" h="737818">
                <a:moveTo>
                  <a:pt x="0" y="0"/>
                </a:moveTo>
                <a:lnTo>
                  <a:pt x="6401925" y="0"/>
                </a:lnTo>
                <a:lnTo>
                  <a:pt x="6401925" y="737818"/>
                </a:lnTo>
                <a:lnTo>
                  <a:pt x="0" y="737818"/>
                </a:lnTo>
                <a:lnTo>
                  <a:pt x="0" y="0"/>
                </a:lnTo>
                <a:close/>
              </a:path>
            </a:pathLst>
          </a:custGeom>
          <a:solidFill>
            <a:srgbClr val="F9FAFB"/>
          </a:solidFill>
        </p:spPr>
      </p:sp>
      <p:sp>
        <p:nvSpPr>
          <p:cNvPr id="10" name="Shape 8"/>
          <p:cNvSpPr/>
          <p:nvPr/>
        </p:nvSpPr>
        <p:spPr>
          <a:xfrm>
            <a:off x="589355" y="1871539"/>
            <a:ext cx="26993" cy="737818"/>
          </a:xfrm>
          <a:custGeom>
            <a:avLst/>
            <a:gdLst/>
            <a:ahLst/>
            <a:cxnLst/>
            <a:rect l="l" t="t" r="r" b="b"/>
            <a:pathLst>
              <a:path w="26993" h="737818">
                <a:moveTo>
                  <a:pt x="0" y="0"/>
                </a:moveTo>
                <a:lnTo>
                  <a:pt x="26993" y="0"/>
                </a:lnTo>
                <a:lnTo>
                  <a:pt x="26993" y="737818"/>
                </a:lnTo>
                <a:lnTo>
                  <a:pt x="0" y="737818"/>
                </a:lnTo>
                <a:lnTo>
                  <a:pt x="0" y="0"/>
                </a:lnTo>
                <a:close/>
              </a:path>
            </a:pathLst>
          </a:custGeom>
          <a:solidFill>
            <a:srgbClr val="8B0000"/>
          </a:solidFill>
        </p:spPr>
      </p:sp>
      <p:sp>
        <p:nvSpPr>
          <p:cNvPr id="11" name="Text 9"/>
          <p:cNvSpPr/>
          <p:nvPr/>
        </p:nvSpPr>
        <p:spPr>
          <a:xfrm>
            <a:off x="746816" y="1979513"/>
            <a:ext cx="6181479" cy="521872"/>
          </a:xfrm>
          <a:prstGeom prst="rect">
            <a:avLst/>
          </a:prstGeom>
          <a:noFill/>
        </p:spPr>
        <p:txBody>
          <a:bodyPr wrap="square" lIns="0" tIns="0" rIns="0" bIns="0" rtlCol="0" anchor="ctr"/>
          <a:lstStyle/>
          <a:p>
            <a:pPr>
              <a:lnSpc>
                <a:spcPct val="140000"/>
              </a:lnSpc>
            </a:pPr>
            <a:r>
              <a:rPr lang="en-US" sz="1275" dirty="0">
                <a:solidFill>
                  <a:srgbClr val="1F2937"/>
                </a:solidFill>
                <a:latin typeface="MiSans" pitchFamily="34" charset="-122"/>
                <a:ea typeface="MiSans" pitchFamily="34" charset="-122"/>
                <a:cs typeface="MiSans" pitchFamily="34" charset="-120"/>
              </a:rPr>
              <a:t>Flow</a:t>
            </a:r>
            <a:r>
              <a:rPr lang="en-US" sz="955" dirty="0">
                <a:solidFill>
                  <a:srgbClr val="1F2937"/>
                </a:solidFill>
                <a:latin typeface="MiSans" pitchFamily="34" charset="-122"/>
                <a:ea typeface="MiSans" pitchFamily="34" charset="-122"/>
                <a:cs typeface="MiSans" pitchFamily="34" charset="-120"/>
              </a:rPr>
              <a:t>i,t</a:t>
            </a:r>
            <a:r>
              <a:rPr lang="en-US" sz="1275" dirty="0">
                <a:solidFill>
                  <a:srgbClr val="1F2937"/>
                </a:solidFill>
                <a:latin typeface="MiSans" pitchFamily="34" charset="-122"/>
                <a:ea typeface="MiSans" pitchFamily="34" charset="-122"/>
                <a:cs typeface="MiSans" pitchFamily="34" charset="-120"/>
              </a:rPr>
              <a:t> = α + β₁(AI_Exposure_std</a:t>
            </a:r>
            <a:r>
              <a:rPr lang="en-US" sz="955" dirty="0">
                <a:solidFill>
                  <a:srgbClr val="1F2937"/>
                </a:solidFill>
                <a:latin typeface="MiSans" pitchFamily="34" charset="-122"/>
                <a:ea typeface="MiSans" pitchFamily="34" charset="-122"/>
                <a:cs typeface="MiSans" pitchFamily="34" charset="-120"/>
              </a:rPr>
              <a:t>i</a:t>
            </a:r>
            <a:r>
              <a:rPr lang="en-US" sz="1275" dirty="0">
                <a:solidFill>
                  <a:srgbClr val="1F2937"/>
                </a:solidFill>
                <a:latin typeface="MiSans" pitchFamily="34" charset="-122"/>
                <a:ea typeface="MiSans" pitchFamily="34" charset="-122"/>
                <a:cs typeface="MiSans" pitchFamily="34" charset="-120"/>
              </a:rPr>
              <a:t> × Post</a:t>
            </a:r>
            <a:r>
              <a:rPr lang="en-US" sz="955" dirty="0">
                <a:solidFill>
                  <a:srgbClr val="1F2937"/>
                </a:solidFill>
                <a:latin typeface="MiSans" pitchFamily="34" charset="-122"/>
                <a:ea typeface="MiSans" pitchFamily="34" charset="-122"/>
                <a:cs typeface="MiSans" pitchFamily="34" charset="-120"/>
              </a:rPr>
              <a:t>t</a:t>
            </a:r>
            <a:r>
              <a:rPr lang="en-US" sz="1275" dirty="0">
                <a:solidFill>
                  <a:srgbClr val="1F2937"/>
                </a:solidFill>
                <a:latin typeface="MiSans" pitchFamily="34" charset="-122"/>
                <a:ea typeface="MiSans" pitchFamily="34" charset="-122"/>
                <a:cs typeface="MiSans" pitchFamily="34" charset="-120"/>
              </a:rPr>
              <a:t>) + θ₁log_tna_lag</a:t>
            </a:r>
            <a:r>
              <a:rPr lang="en-US" sz="955" dirty="0">
                <a:solidFill>
                  <a:srgbClr val="1F2937"/>
                </a:solidFill>
                <a:latin typeface="MiSans" pitchFamily="34" charset="-122"/>
                <a:ea typeface="MiSans" pitchFamily="34" charset="-122"/>
                <a:cs typeface="MiSans" pitchFamily="34" charset="-120"/>
              </a:rPr>
              <a:t>i,t</a:t>
            </a:r>
            <a:r>
              <a:rPr lang="en-US" sz="1275" dirty="0">
                <a:solidFill>
                  <a:srgbClr val="1F2937"/>
                </a:solidFill>
                <a:latin typeface="MiSans" pitchFamily="34" charset="-122"/>
                <a:ea typeface="MiSans" pitchFamily="34" charset="-122"/>
                <a:cs typeface="MiSans" pitchFamily="34" charset="-120"/>
              </a:rPr>
              <a:t> + θ₂mret_lag</a:t>
            </a:r>
            <a:r>
              <a:rPr lang="en-US" sz="955" dirty="0">
                <a:solidFill>
                  <a:srgbClr val="1F2937"/>
                </a:solidFill>
                <a:latin typeface="MiSans" pitchFamily="34" charset="-122"/>
                <a:ea typeface="MiSans" pitchFamily="34" charset="-122"/>
                <a:cs typeface="MiSans" pitchFamily="34" charset="-120"/>
              </a:rPr>
              <a:t>i,t</a:t>
            </a:r>
            <a:r>
              <a:rPr lang="en-US" sz="1275" dirty="0">
                <a:solidFill>
                  <a:srgbClr val="1F2937"/>
                </a:solidFill>
                <a:latin typeface="MiSans" pitchFamily="34" charset="-122"/>
                <a:ea typeface="MiSans" pitchFamily="34" charset="-122"/>
                <a:cs typeface="MiSans" pitchFamily="34" charset="-120"/>
              </a:rPr>
              <a:t> + μ</a:t>
            </a:r>
            <a:r>
              <a:rPr lang="en-US" sz="955" dirty="0">
                <a:solidFill>
                  <a:srgbClr val="1F2937"/>
                </a:solidFill>
                <a:latin typeface="MiSans" pitchFamily="34" charset="-122"/>
                <a:ea typeface="MiSans" pitchFamily="34" charset="-122"/>
                <a:cs typeface="MiSans" pitchFamily="34" charset="-120"/>
              </a:rPr>
              <a:t>i</a:t>
            </a:r>
            <a:r>
              <a:rPr lang="en-US" sz="1275" dirty="0">
                <a:solidFill>
                  <a:srgbClr val="1F2937"/>
                </a:solidFill>
                <a:latin typeface="MiSans" pitchFamily="34" charset="-122"/>
                <a:ea typeface="MiSans" pitchFamily="34" charset="-122"/>
                <a:cs typeface="MiSans" pitchFamily="34" charset="-120"/>
              </a:rPr>
              <a:t> + τ</a:t>
            </a:r>
            <a:r>
              <a:rPr lang="en-US" sz="955" dirty="0">
                <a:solidFill>
                  <a:srgbClr val="1F2937"/>
                </a:solidFill>
                <a:latin typeface="MiSans" pitchFamily="34" charset="-122"/>
                <a:ea typeface="MiSans" pitchFamily="34" charset="-122"/>
                <a:cs typeface="MiSans" pitchFamily="34" charset="-120"/>
              </a:rPr>
              <a:t>t</a:t>
            </a:r>
            <a:r>
              <a:rPr lang="en-US" sz="1275" dirty="0">
                <a:solidFill>
                  <a:srgbClr val="1F2937"/>
                </a:solidFill>
                <a:latin typeface="MiSans" pitchFamily="34" charset="-122"/>
                <a:ea typeface="MiSans" pitchFamily="34" charset="-122"/>
                <a:cs typeface="MiSans" pitchFamily="34" charset="-120"/>
              </a:rPr>
              <a:t> + ε</a:t>
            </a:r>
            <a:r>
              <a:rPr lang="en-US" sz="955" dirty="0">
                <a:solidFill>
                  <a:srgbClr val="1F2937"/>
                </a:solidFill>
                <a:latin typeface="MiSans" pitchFamily="34" charset="-122"/>
                <a:ea typeface="MiSans" pitchFamily="34" charset="-122"/>
                <a:cs typeface="MiSans" pitchFamily="34" charset="-120"/>
              </a:rPr>
              <a:t>i,t</a:t>
            </a:r>
            <a:endParaRPr lang="en-US" sz="1600" dirty="0"/>
          </a:p>
        </p:txBody>
      </p:sp>
      <p:sp>
        <p:nvSpPr>
          <p:cNvPr id="12" name="Shape 10"/>
          <p:cNvSpPr/>
          <p:nvPr/>
        </p:nvSpPr>
        <p:spPr>
          <a:xfrm>
            <a:off x="580357" y="2721830"/>
            <a:ext cx="6406424" cy="2852298"/>
          </a:xfrm>
          <a:custGeom>
            <a:avLst/>
            <a:gdLst/>
            <a:ahLst/>
            <a:cxnLst/>
            <a:rect l="l" t="t" r="r" b="b"/>
            <a:pathLst>
              <a:path w="6406424" h="2852298">
                <a:moveTo>
                  <a:pt x="71992" y="0"/>
                </a:moveTo>
                <a:lnTo>
                  <a:pt x="6334432" y="0"/>
                </a:lnTo>
                <a:cubicBezTo>
                  <a:pt x="6374165" y="0"/>
                  <a:pt x="6406424" y="32259"/>
                  <a:pt x="6406424" y="71992"/>
                </a:cubicBezTo>
                <a:lnTo>
                  <a:pt x="6406424" y="2780306"/>
                </a:lnTo>
                <a:cubicBezTo>
                  <a:pt x="6406424" y="2820066"/>
                  <a:pt x="6374192" y="2852298"/>
                  <a:pt x="6334432" y="2852298"/>
                </a:cubicBezTo>
                <a:lnTo>
                  <a:pt x="71992" y="2852298"/>
                </a:lnTo>
                <a:cubicBezTo>
                  <a:pt x="32259" y="2852298"/>
                  <a:pt x="0" y="2820040"/>
                  <a:pt x="0" y="2780306"/>
                </a:cubicBezTo>
                <a:lnTo>
                  <a:pt x="0" y="71992"/>
                </a:lnTo>
                <a:cubicBezTo>
                  <a:pt x="0" y="32259"/>
                  <a:pt x="32259" y="0"/>
                  <a:pt x="71992" y="0"/>
                </a:cubicBezTo>
                <a:close/>
              </a:path>
            </a:pathLst>
          </a:custGeom>
          <a:solidFill>
            <a:srgbClr val="FFFFFF"/>
          </a:solidFill>
          <a:ln w="12700">
            <a:solidFill>
              <a:srgbClr val="8B0000">
                <a:alpha val="20000"/>
              </a:srgbClr>
            </a:solidFill>
            <a:prstDash val="solid"/>
          </a:ln>
        </p:spPr>
      </p:sp>
      <p:sp>
        <p:nvSpPr>
          <p:cNvPr id="13" name="Text 11"/>
          <p:cNvSpPr/>
          <p:nvPr/>
        </p:nvSpPr>
        <p:spPr>
          <a:xfrm>
            <a:off x="728821" y="2870294"/>
            <a:ext cx="6181479"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Components</a:t>
            </a:r>
            <a:endParaRPr lang="en-US" sz="1600" dirty="0"/>
          </a:p>
        </p:txBody>
      </p:sp>
      <p:sp>
        <p:nvSpPr>
          <p:cNvPr id="14" name="Text 12"/>
          <p:cNvSpPr/>
          <p:nvPr/>
        </p:nvSpPr>
        <p:spPr>
          <a:xfrm>
            <a:off x="728821" y="3194214"/>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Flow</a:t>
            </a:r>
            <a:r>
              <a:rPr lang="en-US" sz="850" b="1" dirty="0">
                <a:solidFill>
                  <a:srgbClr val="8B0000"/>
                </a:solidFill>
                <a:latin typeface="MiSans" pitchFamily="34" charset="-122"/>
                <a:ea typeface="MiSans" pitchFamily="34" charset="-122"/>
                <a:cs typeface="MiSans" pitchFamily="34" charset="-120"/>
              </a:rPr>
              <a:t>i,t</a:t>
            </a:r>
            <a:endParaRPr lang="en-US" sz="1600" dirty="0"/>
          </a:p>
        </p:txBody>
      </p:sp>
      <p:sp>
        <p:nvSpPr>
          <p:cNvPr id="15" name="Text 13"/>
          <p:cNvSpPr/>
          <p:nvPr/>
        </p:nvSpPr>
        <p:spPr>
          <a:xfrm>
            <a:off x="1844546" y="3194214"/>
            <a:ext cx="2744325"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Dependent variable: fund flow (winsorized)</a:t>
            </a:r>
            <a:endParaRPr lang="en-US" sz="1600" dirty="0"/>
          </a:p>
        </p:txBody>
      </p:sp>
      <p:sp>
        <p:nvSpPr>
          <p:cNvPr id="16" name="Text 14"/>
          <p:cNvSpPr/>
          <p:nvPr/>
        </p:nvSpPr>
        <p:spPr>
          <a:xfrm>
            <a:off x="728821" y="3482143"/>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α</a:t>
            </a:r>
            <a:endParaRPr lang="en-US" sz="1600" dirty="0"/>
          </a:p>
        </p:txBody>
      </p:sp>
      <p:sp>
        <p:nvSpPr>
          <p:cNvPr id="17" name="Text 15"/>
          <p:cNvSpPr/>
          <p:nvPr/>
        </p:nvSpPr>
        <p:spPr>
          <a:xfrm>
            <a:off x="1844546" y="3482143"/>
            <a:ext cx="638843"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Intercept</a:t>
            </a:r>
            <a:endParaRPr lang="en-US" sz="1600" dirty="0"/>
          </a:p>
        </p:txBody>
      </p:sp>
      <p:sp>
        <p:nvSpPr>
          <p:cNvPr id="18" name="Text 16"/>
          <p:cNvSpPr/>
          <p:nvPr/>
        </p:nvSpPr>
        <p:spPr>
          <a:xfrm>
            <a:off x="728821" y="3770072"/>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β₁</a:t>
            </a:r>
            <a:endParaRPr lang="en-US" sz="1600" dirty="0"/>
          </a:p>
        </p:txBody>
      </p:sp>
      <p:sp>
        <p:nvSpPr>
          <p:cNvPr id="19" name="Text 17"/>
          <p:cNvSpPr/>
          <p:nvPr/>
        </p:nvSpPr>
        <p:spPr>
          <a:xfrm>
            <a:off x="1844546" y="3770072"/>
            <a:ext cx="4534884" cy="215947"/>
          </a:xfrm>
          <a:prstGeom prst="rect">
            <a:avLst/>
          </a:prstGeom>
          <a:noFill/>
        </p:spPr>
        <p:txBody>
          <a:bodyPr wrap="square" lIns="0" tIns="0" rIns="0" bIns="0" rtlCol="0" anchor="ctr"/>
          <a:lstStyle/>
          <a:p>
            <a:pPr>
              <a:lnSpc>
                <a:spcPct val="130000"/>
              </a:lnSpc>
            </a:pPr>
            <a:r>
              <a:rPr lang="en-US" sz="113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Key coefficient:</a:t>
            </a: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Average treatment effect of AI exposure post-ChatGPT</a:t>
            </a:r>
            <a:endParaRPr lang="en-US" sz="1600" dirty="0"/>
          </a:p>
        </p:txBody>
      </p:sp>
      <p:sp>
        <p:nvSpPr>
          <p:cNvPr id="20" name="Text 18"/>
          <p:cNvSpPr/>
          <p:nvPr/>
        </p:nvSpPr>
        <p:spPr>
          <a:xfrm>
            <a:off x="728821" y="4058001"/>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AI_Exp_std</a:t>
            </a:r>
            <a:r>
              <a:rPr lang="en-US" sz="850" b="1" dirty="0">
                <a:solidFill>
                  <a:srgbClr val="8B0000"/>
                </a:solidFill>
                <a:latin typeface="MiSans" pitchFamily="34" charset="-122"/>
                <a:ea typeface="MiSans" pitchFamily="34" charset="-122"/>
                <a:cs typeface="MiSans" pitchFamily="34" charset="-120"/>
              </a:rPr>
              <a:t>i</a:t>
            </a:r>
            <a:endParaRPr lang="en-US" sz="1600" dirty="0"/>
          </a:p>
        </p:txBody>
      </p:sp>
      <p:sp>
        <p:nvSpPr>
          <p:cNvPr id="21" name="Text 19"/>
          <p:cNvSpPr/>
          <p:nvPr/>
        </p:nvSpPr>
        <p:spPr>
          <a:xfrm>
            <a:off x="1844546" y="4058001"/>
            <a:ext cx="3788068"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continuous treatment variable (time-invariant)</a:t>
            </a:r>
            <a:endParaRPr lang="en-US" sz="1600" dirty="0"/>
          </a:p>
        </p:txBody>
      </p:sp>
      <p:sp>
        <p:nvSpPr>
          <p:cNvPr id="22" name="Text 20"/>
          <p:cNvSpPr/>
          <p:nvPr/>
        </p:nvSpPr>
        <p:spPr>
          <a:xfrm>
            <a:off x="728821" y="4345931"/>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Post</a:t>
            </a:r>
            <a:r>
              <a:rPr lang="en-US" sz="850" b="1" dirty="0">
                <a:solidFill>
                  <a:srgbClr val="8B0000"/>
                </a:solidFill>
                <a:latin typeface="MiSans" pitchFamily="34" charset="-122"/>
                <a:ea typeface="MiSans" pitchFamily="34" charset="-122"/>
                <a:cs typeface="MiSans" pitchFamily="34" charset="-120"/>
              </a:rPr>
              <a:t>t</a:t>
            </a:r>
            <a:endParaRPr lang="en-US" sz="1600" dirty="0"/>
          </a:p>
        </p:txBody>
      </p:sp>
      <p:sp>
        <p:nvSpPr>
          <p:cNvPr id="23" name="Text 21"/>
          <p:cNvSpPr/>
          <p:nvPr/>
        </p:nvSpPr>
        <p:spPr>
          <a:xfrm>
            <a:off x="1844546" y="4345931"/>
            <a:ext cx="2609358"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Post-shock indicator (Nov 2022 onwards)</a:t>
            </a:r>
            <a:endParaRPr lang="en-US" sz="1600" dirty="0"/>
          </a:p>
        </p:txBody>
      </p:sp>
      <p:sp>
        <p:nvSpPr>
          <p:cNvPr id="24" name="Text 22"/>
          <p:cNvSpPr/>
          <p:nvPr/>
        </p:nvSpPr>
        <p:spPr>
          <a:xfrm>
            <a:off x="728821" y="4633860"/>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θ'X</a:t>
            </a:r>
            <a:r>
              <a:rPr lang="en-US" sz="850" b="1" dirty="0">
                <a:solidFill>
                  <a:srgbClr val="8B0000"/>
                </a:solidFill>
                <a:latin typeface="MiSans" pitchFamily="34" charset="-122"/>
                <a:ea typeface="MiSans" pitchFamily="34" charset="-122"/>
                <a:cs typeface="MiSans" pitchFamily="34" charset="-120"/>
              </a:rPr>
              <a:t>i,t</a:t>
            </a:r>
            <a:endParaRPr lang="en-US" sz="1600" dirty="0"/>
          </a:p>
        </p:txBody>
      </p:sp>
      <p:sp>
        <p:nvSpPr>
          <p:cNvPr id="25" name="Text 23"/>
          <p:cNvSpPr/>
          <p:nvPr/>
        </p:nvSpPr>
        <p:spPr>
          <a:xfrm>
            <a:off x="1844546" y="4633860"/>
            <a:ext cx="2654347"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Control variables: log TNA, lagged return</a:t>
            </a:r>
            <a:endParaRPr lang="en-US" sz="1600" dirty="0"/>
          </a:p>
        </p:txBody>
      </p:sp>
      <p:sp>
        <p:nvSpPr>
          <p:cNvPr id="26" name="Text 24"/>
          <p:cNvSpPr/>
          <p:nvPr/>
        </p:nvSpPr>
        <p:spPr>
          <a:xfrm>
            <a:off x="728821" y="4921789"/>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μ</a:t>
            </a:r>
            <a:r>
              <a:rPr lang="en-US" sz="850" b="1" dirty="0">
                <a:solidFill>
                  <a:srgbClr val="8B0000"/>
                </a:solidFill>
                <a:latin typeface="MiSans" pitchFamily="34" charset="-122"/>
                <a:ea typeface="MiSans" pitchFamily="34" charset="-122"/>
                <a:cs typeface="MiSans" pitchFamily="34" charset="-120"/>
              </a:rPr>
              <a:t>i</a:t>
            </a:r>
            <a:endParaRPr lang="en-US" sz="1600" dirty="0"/>
          </a:p>
        </p:txBody>
      </p:sp>
      <p:sp>
        <p:nvSpPr>
          <p:cNvPr id="27" name="Text 25"/>
          <p:cNvSpPr/>
          <p:nvPr/>
        </p:nvSpPr>
        <p:spPr>
          <a:xfrm>
            <a:off x="1844546" y="4921789"/>
            <a:ext cx="3914037"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Fund fixed effects (absorbs time-invariant fund characteristics)</a:t>
            </a:r>
            <a:endParaRPr lang="en-US" sz="1600" dirty="0"/>
          </a:p>
        </p:txBody>
      </p:sp>
      <p:sp>
        <p:nvSpPr>
          <p:cNvPr id="28" name="Text 26"/>
          <p:cNvSpPr/>
          <p:nvPr/>
        </p:nvSpPr>
        <p:spPr>
          <a:xfrm>
            <a:off x="728821" y="5209718"/>
            <a:ext cx="1079734" cy="215947"/>
          </a:xfrm>
          <a:prstGeom prst="rect">
            <a:avLst/>
          </a:prstGeom>
          <a:noFill/>
        </p:spPr>
        <p:txBody>
          <a:bodyPr wrap="square" lIns="0" tIns="0" rIns="0" bIns="0" rtlCol="0" anchor="ctr"/>
          <a:lstStyle/>
          <a:p>
            <a:pPr>
              <a:lnSpc>
                <a:spcPct val="130000"/>
              </a:lnSpc>
            </a:pPr>
            <a:r>
              <a:rPr lang="en-US" sz="1135" b="1" dirty="0">
                <a:solidFill>
                  <a:srgbClr val="8B0000"/>
                </a:solidFill>
                <a:latin typeface="MiSans" pitchFamily="34" charset="-122"/>
                <a:ea typeface="MiSans" pitchFamily="34" charset="-122"/>
                <a:cs typeface="MiSans" pitchFamily="34" charset="-120"/>
              </a:rPr>
              <a:t>τ</a:t>
            </a:r>
            <a:r>
              <a:rPr lang="en-US" sz="850" b="1" dirty="0">
                <a:solidFill>
                  <a:srgbClr val="8B0000"/>
                </a:solidFill>
                <a:latin typeface="MiSans" pitchFamily="34" charset="-122"/>
                <a:ea typeface="MiSans" pitchFamily="34" charset="-122"/>
                <a:cs typeface="MiSans" pitchFamily="34" charset="-120"/>
              </a:rPr>
              <a:t>t</a:t>
            </a:r>
            <a:endParaRPr lang="en-US" sz="1600" dirty="0"/>
          </a:p>
        </p:txBody>
      </p:sp>
      <p:sp>
        <p:nvSpPr>
          <p:cNvPr id="29" name="Text 27"/>
          <p:cNvSpPr/>
          <p:nvPr/>
        </p:nvSpPr>
        <p:spPr>
          <a:xfrm>
            <a:off x="1844546" y="5209718"/>
            <a:ext cx="2780316" cy="215947"/>
          </a:xfrm>
          <a:prstGeom prst="rect">
            <a:avLst/>
          </a:prstGeom>
          <a:noFill/>
        </p:spPr>
        <p:txBody>
          <a:bodyPr wrap="square" lIns="0" tIns="0" rIns="0" bIns="0" rtlCol="0" anchor="ctr"/>
          <a:lstStyle/>
          <a:p>
            <a:pPr>
              <a:lnSpc>
                <a:spcPct val="130000"/>
              </a:lnSpc>
            </a:pPr>
            <a:r>
              <a:rPr lang="en-US" sz="11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fixed effects (absorbs common shocks)</a:t>
            </a:r>
            <a:endParaRPr lang="en-US" sz="1600" dirty="0"/>
          </a:p>
        </p:txBody>
      </p:sp>
      <p:sp>
        <p:nvSpPr>
          <p:cNvPr id="30" name="Shape 28"/>
          <p:cNvSpPr/>
          <p:nvPr/>
        </p:nvSpPr>
        <p:spPr>
          <a:xfrm>
            <a:off x="7349223" y="1313677"/>
            <a:ext cx="4480897" cy="3743079"/>
          </a:xfrm>
          <a:custGeom>
            <a:avLst/>
            <a:gdLst/>
            <a:ahLst/>
            <a:cxnLst/>
            <a:rect l="l" t="t" r="r" b="b"/>
            <a:pathLst>
              <a:path w="4480897" h="3743079">
                <a:moveTo>
                  <a:pt x="35991" y="0"/>
                </a:moveTo>
                <a:lnTo>
                  <a:pt x="4444906" y="0"/>
                </a:lnTo>
                <a:cubicBezTo>
                  <a:pt x="4464784" y="0"/>
                  <a:pt x="4480897" y="16114"/>
                  <a:pt x="4480897" y="35991"/>
                </a:cubicBezTo>
                <a:lnTo>
                  <a:pt x="4480897" y="3671100"/>
                </a:lnTo>
                <a:cubicBezTo>
                  <a:pt x="4480897" y="3710853"/>
                  <a:pt x="4448671" y="3743079"/>
                  <a:pt x="4408918" y="3743079"/>
                </a:cubicBezTo>
                <a:lnTo>
                  <a:pt x="71979" y="3743079"/>
                </a:lnTo>
                <a:cubicBezTo>
                  <a:pt x="32226" y="3743079"/>
                  <a:pt x="0" y="3710853"/>
                  <a:pt x="0" y="3671100"/>
                </a:cubicBezTo>
                <a:lnTo>
                  <a:pt x="0" y="35991"/>
                </a:lnTo>
                <a:cubicBezTo>
                  <a:pt x="0" y="16127"/>
                  <a:pt x="16127" y="0"/>
                  <a:pt x="35991" y="0"/>
                </a:cubicBezTo>
                <a:close/>
              </a:path>
            </a:pathLst>
          </a:custGeom>
          <a:solidFill>
            <a:srgbClr val="F9FAFB"/>
          </a:solidFill>
        </p:spPr>
      </p:sp>
      <p:sp>
        <p:nvSpPr>
          <p:cNvPr id="31" name="Shape 29"/>
          <p:cNvSpPr/>
          <p:nvPr/>
        </p:nvSpPr>
        <p:spPr>
          <a:xfrm>
            <a:off x="7349223" y="1313677"/>
            <a:ext cx="4480897" cy="35991"/>
          </a:xfrm>
          <a:custGeom>
            <a:avLst/>
            <a:gdLst/>
            <a:ahLst/>
            <a:cxnLst/>
            <a:rect l="l" t="t" r="r" b="b"/>
            <a:pathLst>
              <a:path w="4480897" h="35991">
                <a:moveTo>
                  <a:pt x="35991" y="0"/>
                </a:moveTo>
                <a:lnTo>
                  <a:pt x="4444906" y="0"/>
                </a:lnTo>
                <a:cubicBezTo>
                  <a:pt x="4464784" y="0"/>
                  <a:pt x="4480897" y="16114"/>
                  <a:pt x="4480897" y="35991"/>
                </a:cubicBezTo>
                <a:lnTo>
                  <a:pt x="4480897" y="35991"/>
                </a:lnTo>
                <a:lnTo>
                  <a:pt x="0" y="35991"/>
                </a:lnTo>
                <a:lnTo>
                  <a:pt x="0" y="35991"/>
                </a:lnTo>
                <a:cubicBezTo>
                  <a:pt x="0" y="16127"/>
                  <a:pt x="16127" y="0"/>
                  <a:pt x="35991" y="0"/>
                </a:cubicBezTo>
                <a:close/>
              </a:path>
            </a:pathLst>
          </a:custGeom>
          <a:solidFill>
            <a:srgbClr val="8B0000"/>
          </a:solidFill>
        </p:spPr>
      </p:sp>
      <p:sp>
        <p:nvSpPr>
          <p:cNvPr id="32" name="Shape 30"/>
          <p:cNvSpPr/>
          <p:nvPr/>
        </p:nvSpPr>
        <p:spPr>
          <a:xfrm>
            <a:off x="7574168" y="1547619"/>
            <a:ext cx="134967" cy="179956"/>
          </a:xfrm>
          <a:custGeom>
            <a:avLst/>
            <a:gdLst/>
            <a:ahLst/>
            <a:cxnLst/>
            <a:rect l="l" t="t" r="r" b="b"/>
            <a:pathLst>
              <a:path w="134967" h="179956">
                <a:moveTo>
                  <a:pt x="102947" y="134967"/>
                </a:moveTo>
                <a:cubicBezTo>
                  <a:pt x="105513" y="127129"/>
                  <a:pt x="110645" y="120029"/>
                  <a:pt x="116444" y="113913"/>
                </a:cubicBezTo>
                <a:cubicBezTo>
                  <a:pt x="127937" y="101823"/>
                  <a:pt x="134967" y="85479"/>
                  <a:pt x="134967" y="67483"/>
                </a:cubicBezTo>
                <a:cubicBezTo>
                  <a:pt x="134967" y="30227"/>
                  <a:pt x="104740" y="0"/>
                  <a:pt x="67483" y="0"/>
                </a:cubicBezTo>
                <a:cubicBezTo>
                  <a:pt x="30227" y="0"/>
                  <a:pt x="0" y="30227"/>
                  <a:pt x="0" y="67483"/>
                </a:cubicBezTo>
                <a:cubicBezTo>
                  <a:pt x="0" y="85479"/>
                  <a:pt x="7030" y="101823"/>
                  <a:pt x="18523" y="113913"/>
                </a:cubicBezTo>
                <a:cubicBezTo>
                  <a:pt x="24322" y="120029"/>
                  <a:pt x="29489" y="127129"/>
                  <a:pt x="32019" y="134967"/>
                </a:cubicBezTo>
                <a:lnTo>
                  <a:pt x="102912" y="134967"/>
                </a:lnTo>
                <a:close/>
                <a:moveTo>
                  <a:pt x="101225" y="151838"/>
                </a:moveTo>
                <a:lnTo>
                  <a:pt x="33742" y="151838"/>
                </a:lnTo>
                <a:lnTo>
                  <a:pt x="33742" y="157461"/>
                </a:lnTo>
                <a:cubicBezTo>
                  <a:pt x="33742" y="172996"/>
                  <a:pt x="46325" y="185579"/>
                  <a:pt x="61860" y="185579"/>
                </a:cubicBezTo>
                <a:lnTo>
                  <a:pt x="73107" y="185579"/>
                </a:lnTo>
                <a:cubicBezTo>
                  <a:pt x="88642" y="185579"/>
                  <a:pt x="101225" y="172996"/>
                  <a:pt x="101225" y="157461"/>
                </a:cubicBezTo>
                <a:lnTo>
                  <a:pt x="101225" y="151838"/>
                </a:lnTo>
                <a:close/>
                <a:moveTo>
                  <a:pt x="64672" y="39365"/>
                </a:moveTo>
                <a:cubicBezTo>
                  <a:pt x="50683" y="39365"/>
                  <a:pt x="39365" y="50683"/>
                  <a:pt x="39365" y="64672"/>
                </a:cubicBezTo>
                <a:cubicBezTo>
                  <a:pt x="39365" y="69346"/>
                  <a:pt x="35605" y="73107"/>
                  <a:pt x="30930" y="73107"/>
                </a:cubicBezTo>
                <a:cubicBezTo>
                  <a:pt x="26255" y="73107"/>
                  <a:pt x="22494" y="69346"/>
                  <a:pt x="22494" y="64672"/>
                </a:cubicBezTo>
                <a:cubicBezTo>
                  <a:pt x="22494" y="41369"/>
                  <a:pt x="41369" y="22494"/>
                  <a:pt x="64672" y="22494"/>
                </a:cubicBezTo>
                <a:cubicBezTo>
                  <a:pt x="69346" y="22494"/>
                  <a:pt x="73107" y="26255"/>
                  <a:pt x="73107" y="30930"/>
                </a:cubicBezTo>
                <a:cubicBezTo>
                  <a:pt x="73107" y="35605"/>
                  <a:pt x="69346" y="39365"/>
                  <a:pt x="64672" y="39365"/>
                </a:cubicBezTo>
                <a:close/>
              </a:path>
            </a:pathLst>
          </a:custGeom>
          <a:solidFill>
            <a:srgbClr val="8B0000"/>
          </a:solidFill>
        </p:spPr>
      </p:sp>
      <p:sp>
        <p:nvSpPr>
          <p:cNvPr id="33" name="Text 31"/>
          <p:cNvSpPr/>
          <p:nvPr/>
        </p:nvSpPr>
        <p:spPr>
          <a:xfrm>
            <a:off x="7754123" y="1511628"/>
            <a:ext cx="3986019" cy="251938"/>
          </a:xfrm>
          <a:prstGeom prst="rect">
            <a:avLst/>
          </a:prstGeom>
          <a:noFill/>
        </p:spPr>
        <p:txBody>
          <a:bodyPr wrap="square" lIns="0" tIns="0" rIns="0" bIns="0" rtlCol="0" anchor="ctr"/>
          <a:lstStyle/>
          <a:p>
            <a:pPr>
              <a:lnSpc>
                <a:spcPct val="120000"/>
              </a:lnSpc>
            </a:pPr>
            <a:r>
              <a:rPr lang="en-US" sz="14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Identification Strategy</a:t>
            </a:r>
            <a:endParaRPr lang="en-US" sz="1600" dirty="0"/>
          </a:p>
        </p:txBody>
      </p:sp>
      <p:sp>
        <p:nvSpPr>
          <p:cNvPr id="34" name="Shape 32"/>
          <p:cNvSpPr/>
          <p:nvPr/>
        </p:nvSpPr>
        <p:spPr>
          <a:xfrm>
            <a:off x="7533677" y="1912030"/>
            <a:ext cx="4111988" cy="908776"/>
          </a:xfrm>
          <a:custGeom>
            <a:avLst/>
            <a:gdLst/>
            <a:ahLst/>
            <a:cxnLst/>
            <a:rect l="l" t="t" r="r" b="b"/>
            <a:pathLst>
              <a:path w="4111988" h="908776">
                <a:moveTo>
                  <a:pt x="71984" y="0"/>
                </a:moveTo>
                <a:lnTo>
                  <a:pt x="4040004" y="0"/>
                </a:lnTo>
                <a:cubicBezTo>
                  <a:pt x="4079760" y="0"/>
                  <a:pt x="4111988" y="32228"/>
                  <a:pt x="4111988" y="71984"/>
                </a:cubicBezTo>
                <a:lnTo>
                  <a:pt x="4111988" y="836792"/>
                </a:lnTo>
                <a:cubicBezTo>
                  <a:pt x="4111988" y="876548"/>
                  <a:pt x="4079760" y="908776"/>
                  <a:pt x="4040004" y="908776"/>
                </a:cubicBezTo>
                <a:lnTo>
                  <a:pt x="71984" y="908776"/>
                </a:lnTo>
                <a:cubicBezTo>
                  <a:pt x="32228" y="908776"/>
                  <a:pt x="0" y="876548"/>
                  <a:pt x="0" y="836792"/>
                </a:cubicBezTo>
                <a:lnTo>
                  <a:pt x="0" y="71984"/>
                </a:lnTo>
                <a:cubicBezTo>
                  <a:pt x="0" y="32255"/>
                  <a:pt x="32255" y="0"/>
                  <a:pt x="71984" y="0"/>
                </a:cubicBezTo>
                <a:close/>
              </a:path>
            </a:pathLst>
          </a:custGeom>
          <a:solidFill>
            <a:srgbClr val="FFFFFF"/>
          </a:solidFill>
          <a:ln w="12700">
            <a:solidFill>
              <a:srgbClr val="8B0000">
                <a:alpha val="20000"/>
              </a:srgbClr>
            </a:solidFill>
            <a:prstDash val="solid"/>
          </a:ln>
        </p:spPr>
      </p:sp>
      <p:sp>
        <p:nvSpPr>
          <p:cNvPr id="35" name="Text 33"/>
          <p:cNvSpPr/>
          <p:nvPr/>
        </p:nvSpPr>
        <p:spPr>
          <a:xfrm>
            <a:off x="7646150" y="2024502"/>
            <a:ext cx="3959026"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1. Parallel Trends</a:t>
            </a:r>
            <a:endParaRPr lang="en-US" sz="1600" dirty="0"/>
          </a:p>
        </p:txBody>
      </p:sp>
      <p:sp>
        <p:nvSpPr>
          <p:cNvPr id="36" name="Text 34"/>
          <p:cNvSpPr/>
          <p:nvPr/>
        </p:nvSpPr>
        <p:spPr>
          <a:xfrm>
            <a:off x="7646150" y="2312431"/>
            <a:ext cx="3950028" cy="395903"/>
          </a:xfrm>
          <a:prstGeom prst="rect">
            <a:avLst/>
          </a:prstGeom>
          <a:noFill/>
        </p:spPr>
        <p:txBody>
          <a:bodyPr wrap="square" lIns="0" tIns="0" rIns="0" bIns="0" rtlCol="0" anchor="ctr"/>
          <a:lstStyle/>
          <a:p>
            <a:pPr>
              <a:lnSpc>
                <a:spcPct val="140000"/>
              </a:lnSpc>
            </a:pPr>
            <a:r>
              <a:rPr lang="en-US" sz="9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AI and non-AI funds should exhibit similar flow trends. Validated via event-study.</a:t>
            </a:r>
            <a:endParaRPr lang="en-US" sz="1600" dirty="0"/>
          </a:p>
        </p:txBody>
      </p:sp>
      <p:sp>
        <p:nvSpPr>
          <p:cNvPr id="37" name="Shape 35"/>
          <p:cNvSpPr/>
          <p:nvPr/>
        </p:nvSpPr>
        <p:spPr>
          <a:xfrm>
            <a:off x="7533677" y="2937777"/>
            <a:ext cx="4111988" cy="908776"/>
          </a:xfrm>
          <a:custGeom>
            <a:avLst/>
            <a:gdLst/>
            <a:ahLst/>
            <a:cxnLst/>
            <a:rect l="l" t="t" r="r" b="b"/>
            <a:pathLst>
              <a:path w="4111988" h="908776">
                <a:moveTo>
                  <a:pt x="71984" y="0"/>
                </a:moveTo>
                <a:lnTo>
                  <a:pt x="4040004" y="0"/>
                </a:lnTo>
                <a:cubicBezTo>
                  <a:pt x="4079760" y="0"/>
                  <a:pt x="4111988" y="32228"/>
                  <a:pt x="4111988" y="71984"/>
                </a:cubicBezTo>
                <a:lnTo>
                  <a:pt x="4111988" y="836792"/>
                </a:lnTo>
                <a:cubicBezTo>
                  <a:pt x="4111988" y="876548"/>
                  <a:pt x="4079760" y="908776"/>
                  <a:pt x="4040004" y="908776"/>
                </a:cubicBezTo>
                <a:lnTo>
                  <a:pt x="71984" y="908776"/>
                </a:lnTo>
                <a:cubicBezTo>
                  <a:pt x="32228" y="908776"/>
                  <a:pt x="0" y="876548"/>
                  <a:pt x="0" y="836792"/>
                </a:cubicBezTo>
                <a:lnTo>
                  <a:pt x="0" y="71984"/>
                </a:lnTo>
                <a:cubicBezTo>
                  <a:pt x="0" y="32255"/>
                  <a:pt x="32255" y="0"/>
                  <a:pt x="71984" y="0"/>
                </a:cubicBezTo>
                <a:close/>
              </a:path>
            </a:pathLst>
          </a:custGeom>
          <a:solidFill>
            <a:srgbClr val="FFFFFF"/>
          </a:solidFill>
          <a:ln w="12700">
            <a:solidFill>
              <a:srgbClr val="8B0000">
                <a:alpha val="20000"/>
              </a:srgbClr>
            </a:solidFill>
            <a:prstDash val="solid"/>
          </a:ln>
        </p:spPr>
      </p:sp>
      <p:sp>
        <p:nvSpPr>
          <p:cNvPr id="38" name="Text 36"/>
          <p:cNvSpPr/>
          <p:nvPr/>
        </p:nvSpPr>
        <p:spPr>
          <a:xfrm>
            <a:off x="7646150" y="3050249"/>
            <a:ext cx="3959026"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 Pre-determined Treatment</a:t>
            </a:r>
            <a:endParaRPr lang="en-US" sz="1600" dirty="0"/>
          </a:p>
        </p:txBody>
      </p:sp>
      <p:sp>
        <p:nvSpPr>
          <p:cNvPr id="39" name="Text 37"/>
          <p:cNvSpPr/>
          <p:nvPr/>
        </p:nvSpPr>
        <p:spPr>
          <a:xfrm>
            <a:off x="7646150" y="3338179"/>
            <a:ext cx="3950028" cy="395903"/>
          </a:xfrm>
          <a:prstGeom prst="rect">
            <a:avLst/>
          </a:prstGeom>
          <a:noFill/>
        </p:spPr>
        <p:txBody>
          <a:bodyPr wrap="square" lIns="0" tIns="0" rIns="0" bIns="0" rtlCol="0" anchor="ctr"/>
          <a:lstStyle/>
          <a:p>
            <a:pPr>
              <a:lnSpc>
                <a:spcPct val="140000"/>
              </a:lnSpc>
            </a:pPr>
            <a:r>
              <a:rPr lang="en-US" sz="9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 exposure measured before ChatGPT release (2022 average), avoiding endogeneity concerns.</a:t>
            </a:r>
            <a:endParaRPr lang="en-US" sz="1600" dirty="0"/>
          </a:p>
        </p:txBody>
      </p:sp>
      <p:sp>
        <p:nvSpPr>
          <p:cNvPr id="40" name="Shape 38"/>
          <p:cNvSpPr/>
          <p:nvPr/>
        </p:nvSpPr>
        <p:spPr>
          <a:xfrm>
            <a:off x="7533677" y="3963525"/>
            <a:ext cx="4111988" cy="908776"/>
          </a:xfrm>
          <a:custGeom>
            <a:avLst/>
            <a:gdLst/>
            <a:ahLst/>
            <a:cxnLst/>
            <a:rect l="l" t="t" r="r" b="b"/>
            <a:pathLst>
              <a:path w="4111988" h="908776">
                <a:moveTo>
                  <a:pt x="71984" y="0"/>
                </a:moveTo>
                <a:lnTo>
                  <a:pt x="4040004" y="0"/>
                </a:lnTo>
                <a:cubicBezTo>
                  <a:pt x="4079760" y="0"/>
                  <a:pt x="4111988" y="32228"/>
                  <a:pt x="4111988" y="71984"/>
                </a:cubicBezTo>
                <a:lnTo>
                  <a:pt x="4111988" y="836792"/>
                </a:lnTo>
                <a:cubicBezTo>
                  <a:pt x="4111988" y="876548"/>
                  <a:pt x="4079760" y="908776"/>
                  <a:pt x="4040004" y="908776"/>
                </a:cubicBezTo>
                <a:lnTo>
                  <a:pt x="71984" y="908776"/>
                </a:lnTo>
                <a:cubicBezTo>
                  <a:pt x="32228" y="908776"/>
                  <a:pt x="0" y="876548"/>
                  <a:pt x="0" y="836792"/>
                </a:cubicBezTo>
                <a:lnTo>
                  <a:pt x="0" y="71984"/>
                </a:lnTo>
                <a:cubicBezTo>
                  <a:pt x="0" y="32255"/>
                  <a:pt x="32255" y="0"/>
                  <a:pt x="71984" y="0"/>
                </a:cubicBezTo>
                <a:close/>
              </a:path>
            </a:pathLst>
          </a:custGeom>
          <a:solidFill>
            <a:srgbClr val="FFFFFF"/>
          </a:solidFill>
          <a:ln w="12700">
            <a:solidFill>
              <a:srgbClr val="8B0000">
                <a:alpha val="20000"/>
              </a:srgbClr>
            </a:solidFill>
            <a:prstDash val="solid"/>
          </a:ln>
        </p:spPr>
      </p:sp>
      <p:sp>
        <p:nvSpPr>
          <p:cNvPr id="41" name="Text 39"/>
          <p:cNvSpPr/>
          <p:nvPr/>
        </p:nvSpPr>
        <p:spPr>
          <a:xfrm>
            <a:off x="7646150" y="4075997"/>
            <a:ext cx="3959026" cy="215947"/>
          </a:xfrm>
          <a:prstGeom prst="rect">
            <a:avLst/>
          </a:prstGeom>
          <a:noFill/>
        </p:spPr>
        <p:txBody>
          <a:bodyPr wrap="square" lIns="0" tIns="0" rIns="0" bIns="0" rtlCol="0" anchor="ctr"/>
          <a:lstStyle/>
          <a:p>
            <a:pPr>
              <a:lnSpc>
                <a:spcPct val="130000"/>
              </a:lnSpc>
            </a:pPr>
            <a:r>
              <a:rPr lang="en-US" sz="113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3. Continuous Treatment</a:t>
            </a:r>
            <a:endParaRPr lang="en-US" sz="1600" dirty="0"/>
          </a:p>
        </p:txBody>
      </p:sp>
      <p:sp>
        <p:nvSpPr>
          <p:cNvPr id="42" name="Text 40"/>
          <p:cNvSpPr/>
          <p:nvPr/>
        </p:nvSpPr>
        <p:spPr>
          <a:xfrm>
            <a:off x="7646150" y="4363926"/>
            <a:ext cx="3950028" cy="395903"/>
          </a:xfrm>
          <a:prstGeom prst="rect">
            <a:avLst/>
          </a:prstGeom>
          <a:noFill/>
        </p:spPr>
        <p:txBody>
          <a:bodyPr wrap="square" lIns="0" tIns="0" rIns="0" bIns="0" rtlCol="0" anchor="ctr"/>
          <a:lstStyle/>
          <a:p>
            <a:pPr>
              <a:lnSpc>
                <a:spcPct val="140000"/>
              </a:lnSpc>
            </a:pPr>
            <a:r>
              <a:rPr lang="en-US" sz="9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Standardized continuous measure captures intensity of AI exposure, not just binary classification.</a:t>
            </a:r>
            <a:endParaRPr lang="en-US" sz="1600" dirty="0"/>
          </a:p>
        </p:txBody>
      </p:sp>
      <p:sp>
        <p:nvSpPr>
          <p:cNvPr id="43" name="Shape 41"/>
          <p:cNvSpPr/>
          <p:nvPr/>
        </p:nvSpPr>
        <p:spPr>
          <a:xfrm>
            <a:off x="7349223" y="5200720"/>
            <a:ext cx="4480897" cy="1655593"/>
          </a:xfrm>
          <a:custGeom>
            <a:avLst/>
            <a:gdLst/>
            <a:ahLst/>
            <a:cxnLst/>
            <a:rect l="l" t="t" r="r" b="b"/>
            <a:pathLst>
              <a:path w="4480897" h="1655593">
                <a:moveTo>
                  <a:pt x="71985" y="0"/>
                </a:moveTo>
                <a:lnTo>
                  <a:pt x="4408912" y="0"/>
                </a:lnTo>
                <a:cubicBezTo>
                  <a:pt x="4448669" y="0"/>
                  <a:pt x="4480897" y="32229"/>
                  <a:pt x="4480897" y="71985"/>
                </a:cubicBezTo>
                <a:lnTo>
                  <a:pt x="4480897" y="1583607"/>
                </a:lnTo>
                <a:cubicBezTo>
                  <a:pt x="4480897" y="1623364"/>
                  <a:pt x="4448669" y="1655593"/>
                  <a:pt x="4408912" y="1655593"/>
                </a:cubicBezTo>
                <a:lnTo>
                  <a:pt x="71985" y="1655593"/>
                </a:lnTo>
                <a:cubicBezTo>
                  <a:pt x="32229" y="1655593"/>
                  <a:pt x="0" y="1623364"/>
                  <a:pt x="0" y="1583607"/>
                </a:cubicBezTo>
                <a:lnTo>
                  <a:pt x="0" y="71985"/>
                </a:lnTo>
                <a:cubicBezTo>
                  <a:pt x="0" y="32229"/>
                  <a:pt x="32229" y="0"/>
                  <a:pt x="71985" y="0"/>
                </a:cubicBezTo>
                <a:close/>
              </a:path>
            </a:pathLst>
          </a:custGeom>
          <a:solidFill>
            <a:srgbClr val="8B0000"/>
          </a:solidFill>
        </p:spPr>
      </p:sp>
      <p:sp>
        <p:nvSpPr>
          <p:cNvPr id="44" name="Shape 42"/>
          <p:cNvSpPr/>
          <p:nvPr/>
        </p:nvSpPr>
        <p:spPr>
          <a:xfrm>
            <a:off x="7551673" y="5416667"/>
            <a:ext cx="179956" cy="179956"/>
          </a:xfrm>
          <a:custGeom>
            <a:avLst/>
            <a:gdLst/>
            <a:ahLst/>
            <a:cxnLst/>
            <a:rect l="l" t="t" r="r" b="b"/>
            <a:pathLst>
              <a:path w="179956" h="179956">
                <a:moveTo>
                  <a:pt x="22494" y="22494"/>
                </a:moveTo>
                <a:cubicBezTo>
                  <a:pt x="22494" y="16273"/>
                  <a:pt x="17468" y="11247"/>
                  <a:pt x="11247" y="11247"/>
                </a:cubicBezTo>
                <a:cubicBezTo>
                  <a:pt x="5026" y="11247"/>
                  <a:pt x="0" y="16273"/>
                  <a:pt x="0" y="22494"/>
                </a:cubicBezTo>
                <a:lnTo>
                  <a:pt x="0" y="140590"/>
                </a:lnTo>
                <a:cubicBezTo>
                  <a:pt x="0" y="156126"/>
                  <a:pt x="12583" y="168708"/>
                  <a:pt x="28118" y="168708"/>
                </a:cubicBezTo>
                <a:lnTo>
                  <a:pt x="168708" y="168708"/>
                </a:lnTo>
                <a:cubicBezTo>
                  <a:pt x="174930" y="168708"/>
                  <a:pt x="179956" y="163682"/>
                  <a:pt x="179956" y="157461"/>
                </a:cubicBezTo>
                <a:cubicBezTo>
                  <a:pt x="179956" y="151240"/>
                  <a:pt x="174930" y="146214"/>
                  <a:pt x="168708" y="146214"/>
                </a:cubicBezTo>
                <a:lnTo>
                  <a:pt x="28118" y="146214"/>
                </a:lnTo>
                <a:cubicBezTo>
                  <a:pt x="25025" y="146214"/>
                  <a:pt x="22494" y="143683"/>
                  <a:pt x="22494" y="140590"/>
                </a:cubicBezTo>
                <a:lnTo>
                  <a:pt x="22494" y="22494"/>
                </a:lnTo>
                <a:close/>
                <a:moveTo>
                  <a:pt x="165405" y="52932"/>
                </a:moveTo>
                <a:cubicBezTo>
                  <a:pt x="169798" y="48539"/>
                  <a:pt x="169798" y="41404"/>
                  <a:pt x="165405" y="37010"/>
                </a:cubicBezTo>
                <a:cubicBezTo>
                  <a:pt x="161011" y="32617"/>
                  <a:pt x="153876" y="32617"/>
                  <a:pt x="149483" y="37010"/>
                </a:cubicBezTo>
                <a:lnTo>
                  <a:pt x="112472" y="74056"/>
                </a:lnTo>
                <a:lnTo>
                  <a:pt x="92298" y="53916"/>
                </a:lnTo>
                <a:cubicBezTo>
                  <a:pt x="87904" y="49523"/>
                  <a:pt x="80769" y="49523"/>
                  <a:pt x="76376" y="53916"/>
                </a:cubicBezTo>
                <a:lnTo>
                  <a:pt x="42634" y="87658"/>
                </a:lnTo>
                <a:cubicBezTo>
                  <a:pt x="38241" y="92052"/>
                  <a:pt x="38241" y="99187"/>
                  <a:pt x="42634" y="103580"/>
                </a:cubicBezTo>
                <a:cubicBezTo>
                  <a:pt x="47027" y="107973"/>
                  <a:pt x="54162" y="107973"/>
                  <a:pt x="58556" y="103580"/>
                </a:cubicBezTo>
                <a:lnTo>
                  <a:pt x="84354" y="77782"/>
                </a:lnTo>
                <a:lnTo>
                  <a:pt x="104529" y="97956"/>
                </a:lnTo>
                <a:cubicBezTo>
                  <a:pt x="108922" y="102350"/>
                  <a:pt x="116057" y="102350"/>
                  <a:pt x="120451" y="97956"/>
                </a:cubicBezTo>
                <a:lnTo>
                  <a:pt x="165440" y="52967"/>
                </a:lnTo>
                <a:close/>
              </a:path>
            </a:pathLst>
          </a:custGeom>
          <a:solidFill>
            <a:srgbClr val="FFFFFF"/>
          </a:solidFill>
        </p:spPr>
      </p:sp>
      <p:sp>
        <p:nvSpPr>
          <p:cNvPr id="45" name="Text 43"/>
          <p:cNvSpPr/>
          <p:nvPr/>
        </p:nvSpPr>
        <p:spPr>
          <a:xfrm>
            <a:off x="7754123" y="5380676"/>
            <a:ext cx="3986019" cy="251938"/>
          </a:xfrm>
          <a:prstGeom prst="rect">
            <a:avLst/>
          </a:prstGeom>
          <a:noFill/>
        </p:spPr>
        <p:txBody>
          <a:bodyPr wrap="square" lIns="0" tIns="0" rIns="0" bIns="0" rtlCol="0" anchor="ctr"/>
          <a:lstStyle/>
          <a:p>
            <a:pPr>
              <a:lnSpc>
                <a:spcPct val="120000"/>
              </a:lnSpc>
            </a:pPr>
            <a:r>
              <a:rPr lang="en-US" sz="141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Expected Results</a:t>
            </a:r>
            <a:endParaRPr lang="en-US" sz="1600" dirty="0"/>
          </a:p>
        </p:txBody>
      </p:sp>
      <p:sp>
        <p:nvSpPr>
          <p:cNvPr id="46" name="Text 44"/>
          <p:cNvSpPr/>
          <p:nvPr/>
        </p:nvSpPr>
        <p:spPr>
          <a:xfrm>
            <a:off x="7529179" y="5740587"/>
            <a:ext cx="4192968" cy="233942"/>
          </a:xfrm>
          <a:prstGeom prst="rect">
            <a:avLst/>
          </a:prstGeom>
          <a:noFill/>
        </p:spPr>
        <p:txBody>
          <a:bodyPr wrap="square" lIns="0" tIns="0" rIns="0" bIns="0" rtlCol="0" anchor="ctr"/>
          <a:lstStyle/>
          <a:p>
            <a:pPr>
              <a:lnSpc>
                <a:spcPct val="140000"/>
              </a:lnSpc>
            </a:pPr>
            <a:r>
              <a:rPr lang="en-US" sz="113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H1 Prediction:</a:t>
            </a:r>
            <a:r>
              <a:rPr lang="en-US" sz="1135"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β₁ &gt; 0 and statistically significant</a:t>
            </a:r>
            <a:endParaRPr lang="en-US" sz="1600" dirty="0"/>
          </a:p>
        </p:txBody>
      </p:sp>
      <p:sp>
        <p:nvSpPr>
          <p:cNvPr id="47" name="Text 45"/>
          <p:cNvSpPr/>
          <p:nvPr/>
        </p:nvSpPr>
        <p:spPr>
          <a:xfrm>
            <a:off x="7529179" y="6082503"/>
            <a:ext cx="4183970" cy="593854"/>
          </a:xfrm>
          <a:prstGeom prst="rect">
            <a:avLst/>
          </a:prstGeom>
          <a:noFill/>
        </p:spPr>
        <p:txBody>
          <a:bodyPr wrap="square" lIns="0" tIns="0" rIns="0" bIns="0" rtlCol="0" anchor="ctr"/>
          <a:lstStyle/>
          <a:p>
            <a:pPr>
              <a:lnSpc>
                <a:spcPct val="140000"/>
              </a:lnSpc>
            </a:pPr>
            <a:r>
              <a:rPr lang="en-US" sz="99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A positive coefficient indicates that a one standard deviation increase in AI exposure is associated with higher fund flows after ChatGPT's release, supporting the attention-driven capital allocation hypothesis.</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4850" y="374850"/>
            <a:ext cx="11517270" cy="224910"/>
          </a:xfrm>
          <a:prstGeom prst="rect">
            <a:avLst/>
          </a:prstGeom>
          <a:noFill/>
        </p:spPr>
        <p:txBody>
          <a:bodyPr wrap="square" lIns="0" tIns="0" rIns="0" bIns="0" rtlCol="0" anchor="ctr"/>
          <a:lstStyle/>
          <a:p>
            <a:pPr>
              <a:lnSpc>
                <a:spcPct val="130000"/>
              </a:lnSpc>
            </a:pPr>
            <a:r>
              <a:rPr lang="en-US" sz="1180" b="1" kern="0" spc="59"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 DATA &amp; EMPIRICAL MODEL</a:t>
            </a:r>
            <a:endParaRPr lang="en-US" sz="1600" dirty="0"/>
          </a:p>
        </p:txBody>
      </p:sp>
      <p:sp>
        <p:nvSpPr>
          <p:cNvPr id="3" name="Text 1"/>
          <p:cNvSpPr/>
          <p:nvPr/>
        </p:nvSpPr>
        <p:spPr>
          <a:xfrm>
            <a:off x="374850" y="674730"/>
            <a:ext cx="11610982" cy="374850"/>
          </a:xfrm>
          <a:prstGeom prst="rect">
            <a:avLst/>
          </a:prstGeom>
          <a:noFill/>
        </p:spPr>
        <p:txBody>
          <a:bodyPr wrap="square" lIns="0" tIns="0" rIns="0" bIns="0" rtlCol="0" anchor="ctr"/>
          <a:lstStyle/>
          <a:p>
            <a:pPr>
              <a:lnSpc>
                <a:spcPct val="90000"/>
              </a:lnSpc>
            </a:pPr>
            <a:r>
              <a:rPr lang="en-US" sz="265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Extended Models: H2 &amp; H3</a:t>
            </a:r>
            <a:endParaRPr lang="en-US" sz="1600" dirty="0"/>
          </a:p>
        </p:txBody>
      </p:sp>
      <p:sp>
        <p:nvSpPr>
          <p:cNvPr id="4" name="Shape 2"/>
          <p:cNvSpPr/>
          <p:nvPr/>
        </p:nvSpPr>
        <p:spPr>
          <a:xfrm>
            <a:off x="374850" y="1162035"/>
            <a:ext cx="899640" cy="37485"/>
          </a:xfrm>
          <a:custGeom>
            <a:avLst/>
            <a:gdLst/>
            <a:ahLst/>
            <a:cxnLst/>
            <a:rect l="l" t="t" r="r" b="b"/>
            <a:pathLst>
              <a:path w="899640" h="37485">
                <a:moveTo>
                  <a:pt x="0" y="0"/>
                </a:moveTo>
                <a:lnTo>
                  <a:pt x="899640" y="0"/>
                </a:lnTo>
                <a:lnTo>
                  <a:pt x="899640" y="37485"/>
                </a:lnTo>
                <a:lnTo>
                  <a:pt x="0" y="37485"/>
                </a:lnTo>
                <a:lnTo>
                  <a:pt x="0" y="0"/>
                </a:lnTo>
                <a:close/>
              </a:path>
            </a:pathLst>
          </a:custGeom>
          <a:solidFill>
            <a:srgbClr val="8B0000"/>
          </a:solidFill>
        </p:spPr>
      </p:sp>
      <p:sp>
        <p:nvSpPr>
          <p:cNvPr id="5" name="Shape 3"/>
          <p:cNvSpPr/>
          <p:nvPr/>
        </p:nvSpPr>
        <p:spPr>
          <a:xfrm>
            <a:off x="374850" y="1368203"/>
            <a:ext cx="5632123" cy="4554429"/>
          </a:xfrm>
          <a:custGeom>
            <a:avLst/>
            <a:gdLst/>
            <a:ahLst/>
            <a:cxnLst/>
            <a:rect l="l" t="t" r="r" b="b"/>
            <a:pathLst>
              <a:path w="5632123" h="4554429">
                <a:moveTo>
                  <a:pt x="37485" y="0"/>
                </a:moveTo>
                <a:lnTo>
                  <a:pt x="5594638" y="0"/>
                </a:lnTo>
                <a:cubicBezTo>
                  <a:pt x="5615340" y="0"/>
                  <a:pt x="5632123" y="16783"/>
                  <a:pt x="5632123" y="37485"/>
                </a:cubicBezTo>
                <a:lnTo>
                  <a:pt x="5632123" y="4479463"/>
                </a:lnTo>
                <a:cubicBezTo>
                  <a:pt x="5632123" y="4520866"/>
                  <a:pt x="5598560" y="4554429"/>
                  <a:pt x="5557157" y="4554429"/>
                </a:cubicBezTo>
                <a:lnTo>
                  <a:pt x="74966" y="4554429"/>
                </a:lnTo>
                <a:cubicBezTo>
                  <a:pt x="33563" y="4554429"/>
                  <a:pt x="0" y="4520866"/>
                  <a:pt x="0" y="4479463"/>
                </a:cubicBezTo>
                <a:lnTo>
                  <a:pt x="0" y="37485"/>
                </a:lnTo>
                <a:cubicBezTo>
                  <a:pt x="0" y="16783"/>
                  <a:pt x="16783" y="0"/>
                  <a:pt x="37485" y="0"/>
                </a:cubicBezTo>
                <a:close/>
              </a:path>
            </a:pathLst>
          </a:custGeom>
          <a:solidFill>
            <a:srgbClr val="F9FAFB"/>
          </a:solidFill>
        </p:spPr>
      </p:sp>
      <p:sp>
        <p:nvSpPr>
          <p:cNvPr id="6" name="Shape 4"/>
          <p:cNvSpPr/>
          <p:nvPr/>
        </p:nvSpPr>
        <p:spPr>
          <a:xfrm>
            <a:off x="374850" y="1368203"/>
            <a:ext cx="5632123" cy="37485"/>
          </a:xfrm>
          <a:custGeom>
            <a:avLst/>
            <a:gdLst/>
            <a:ahLst/>
            <a:cxnLst/>
            <a:rect l="l" t="t" r="r" b="b"/>
            <a:pathLst>
              <a:path w="5632123" h="37485">
                <a:moveTo>
                  <a:pt x="37485" y="0"/>
                </a:moveTo>
                <a:lnTo>
                  <a:pt x="5594638" y="0"/>
                </a:lnTo>
                <a:cubicBezTo>
                  <a:pt x="5615340" y="0"/>
                  <a:pt x="5632123" y="16783"/>
                  <a:pt x="5632123" y="37485"/>
                </a:cubicBezTo>
                <a:lnTo>
                  <a:pt x="5632123" y="37485"/>
                </a:lnTo>
                <a:lnTo>
                  <a:pt x="0" y="37485"/>
                </a:lnTo>
                <a:lnTo>
                  <a:pt x="0" y="37485"/>
                </a:lnTo>
                <a:cubicBezTo>
                  <a:pt x="0" y="16783"/>
                  <a:pt x="16783" y="0"/>
                  <a:pt x="37485" y="0"/>
                </a:cubicBezTo>
                <a:close/>
              </a:path>
            </a:pathLst>
          </a:custGeom>
          <a:solidFill>
            <a:srgbClr val="8B0000"/>
          </a:solidFill>
        </p:spPr>
      </p:sp>
      <p:sp>
        <p:nvSpPr>
          <p:cNvPr id="7" name="Shape 5"/>
          <p:cNvSpPr/>
          <p:nvPr/>
        </p:nvSpPr>
        <p:spPr>
          <a:xfrm>
            <a:off x="585703" y="1611855"/>
            <a:ext cx="187425" cy="187425"/>
          </a:xfrm>
          <a:custGeom>
            <a:avLst/>
            <a:gdLst/>
            <a:ahLst/>
            <a:cxnLst/>
            <a:rect l="l" t="t" r="r" b="b"/>
            <a:pathLst>
              <a:path w="187425" h="187425">
                <a:moveTo>
                  <a:pt x="85110" y="1904"/>
                </a:moveTo>
                <a:cubicBezTo>
                  <a:pt x="90564" y="-622"/>
                  <a:pt x="96861" y="-622"/>
                  <a:pt x="102315" y="1904"/>
                </a:cubicBezTo>
                <a:lnTo>
                  <a:pt x="182337" y="38876"/>
                </a:lnTo>
                <a:cubicBezTo>
                  <a:pt x="185448" y="40304"/>
                  <a:pt x="187425" y="43415"/>
                  <a:pt x="187425" y="46856"/>
                </a:cubicBezTo>
                <a:cubicBezTo>
                  <a:pt x="187425" y="50297"/>
                  <a:pt x="185448" y="53409"/>
                  <a:pt x="182337" y="54836"/>
                </a:cubicBezTo>
                <a:lnTo>
                  <a:pt x="102315" y="91809"/>
                </a:lnTo>
                <a:cubicBezTo>
                  <a:pt x="96861" y="94335"/>
                  <a:pt x="90564" y="94335"/>
                  <a:pt x="85110" y="91809"/>
                </a:cubicBezTo>
                <a:lnTo>
                  <a:pt x="5088" y="54836"/>
                </a:lnTo>
                <a:cubicBezTo>
                  <a:pt x="1977" y="53372"/>
                  <a:pt x="0" y="50261"/>
                  <a:pt x="0" y="46856"/>
                </a:cubicBezTo>
                <a:cubicBezTo>
                  <a:pt x="0" y="43452"/>
                  <a:pt x="1977" y="40304"/>
                  <a:pt x="5088" y="38876"/>
                </a:cubicBezTo>
                <a:lnTo>
                  <a:pt x="85110" y="1904"/>
                </a:lnTo>
                <a:close/>
                <a:moveTo>
                  <a:pt x="17608" y="79949"/>
                </a:moveTo>
                <a:lnTo>
                  <a:pt x="77752" y="107733"/>
                </a:lnTo>
                <a:cubicBezTo>
                  <a:pt x="87892" y="112418"/>
                  <a:pt x="99570" y="112418"/>
                  <a:pt x="109710" y="107733"/>
                </a:cubicBezTo>
                <a:lnTo>
                  <a:pt x="169854" y="79949"/>
                </a:lnTo>
                <a:lnTo>
                  <a:pt x="182337" y="85732"/>
                </a:lnTo>
                <a:cubicBezTo>
                  <a:pt x="185448" y="87160"/>
                  <a:pt x="187425" y="90272"/>
                  <a:pt x="187425" y="93713"/>
                </a:cubicBezTo>
                <a:cubicBezTo>
                  <a:pt x="187425" y="97154"/>
                  <a:pt x="185448" y="100265"/>
                  <a:pt x="182337" y="101693"/>
                </a:cubicBezTo>
                <a:lnTo>
                  <a:pt x="102315" y="138665"/>
                </a:lnTo>
                <a:cubicBezTo>
                  <a:pt x="96861" y="141191"/>
                  <a:pt x="90564" y="141191"/>
                  <a:pt x="85110" y="138665"/>
                </a:cubicBezTo>
                <a:lnTo>
                  <a:pt x="5088" y="101693"/>
                </a:lnTo>
                <a:cubicBezTo>
                  <a:pt x="1977" y="100228"/>
                  <a:pt x="0" y="97117"/>
                  <a:pt x="0" y="93713"/>
                </a:cubicBezTo>
                <a:cubicBezTo>
                  <a:pt x="0" y="90308"/>
                  <a:pt x="1977" y="87160"/>
                  <a:pt x="5088" y="85732"/>
                </a:cubicBezTo>
                <a:lnTo>
                  <a:pt x="17571" y="79949"/>
                </a:lnTo>
                <a:close/>
                <a:moveTo>
                  <a:pt x="5088" y="132589"/>
                </a:moveTo>
                <a:lnTo>
                  <a:pt x="17571" y="126805"/>
                </a:lnTo>
                <a:lnTo>
                  <a:pt x="77716" y="154589"/>
                </a:lnTo>
                <a:cubicBezTo>
                  <a:pt x="87855" y="159275"/>
                  <a:pt x="99533" y="159275"/>
                  <a:pt x="109673" y="154589"/>
                </a:cubicBezTo>
                <a:lnTo>
                  <a:pt x="169817" y="126805"/>
                </a:lnTo>
                <a:lnTo>
                  <a:pt x="182300" y="132589"/>
                </a:lnTo>
                <a:cubicBezTo>
                  <a:pt x="185412" y="134016"/>
                  <a:pt x="187388" y="137128"/>
                  <a:pt x="187388" y="140569"/>
                </a:cubicBezTo>
                <a:cubicBezTo>
                  <a:pt x="187388" y="144010"/>
                  <a:pt x="185412" y="147121"/>
                  <a:pt x="182300" y="148549"/>
                </a:cubicBezTo>
                <a:lnTo>
                  <a:pt x="102278" y="185522"/>
                </a:lnTo>
                <a:cubicBezTo>
                  <a:pt x="96824" y="188047"/>
                  <a:pt x="90528" y="188047"/>
                  <a:pt x="85073" y="185522"/>
                </a:cubicBezTo>
                <a:lnTo>
                  <a:pt x="5088" y="148549"/>
                </a:lnTo>
                <a:cubicBezTo>
                  <a:pt x="1977" y="147085"/>
                  <a:pt x="0" y="143973"/>
                  <a:pt x="0" y="140569"/>
                </a:cubicBezTo>
                <a:cubicBezTo>
                  <a:pt x="0" y="137164"/>
                  <a:pt x="1977" y="134016"/>
                  <a:pt x="5088" y="132589"/>
                </a:cubicBezTo>
                <a:close/>
              </a:path>
            </a:pathLst>
          </a:custGeom>
          <a:solidFill>
            <a:srgbClr val="8B0000"/>
          </a:solidFill>
        </p:spPr>
      </p:sp>
      <p:sp>
        <p:nvSpPr>
          <p:cNvPr id="8" name="Text 6"/>
          <p:cNvSpPr/>
          <p:nvPr/>
        </p:nvSpPr>
        <p:spPr>
          <a:xfrm>
            <a:off x="796556" y="1574370"/>
            <a:ext cx="5116704" cy="262395"/>
          </a:xfrm>
          <a:prstGeom prst="rect">
            <a:avLst/>
          </a:prstGeom>
          <a:noFill/>
        </p:spPr>
        <p:txBody>
          <a:bodyPr wrap="square" lIns="0" tIns="0" rIns="0" bIns="0" rtlCol="0" anchor="ctr"/>
          <a:lstStyle/>
          <a:p>
            <a:pPr>
              <a:lnSpc>
                <a:spcPct val="120000"/>
              </a:lnSpc>
            </a:pPr>
            <a:r>
              <a:rPr lang="en-US" sz="14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Triple-Difference Model</a:t>
            </a:r>
            <a:endParaRPr lang="en-US" sz="1600" dirty="0"/>
          </a:p>
        </p:txBody>
      </p:sp>
      <p:sp>
        <p:nvSpPr>
          <p:cNvPr id="9" name="Shape 7"/>
          <p:cNvSpPr/>
          <p:nvPr/>
        </p:nvSpPr>
        <p:spPr>
          <a:xfrm>
            <a:off x="576332" y="1986706"/>
            <a:ext cx="5243216" cy="843413"/>
          </a:xfrm>
          <a:custGeom>
            <a:avLst/>
            <a:gdLst/>
            <a:ahLst/>
            <a:cxnLst/>
            <a:rect l="l" t="t" r="r" b="b"/>
            <a:pathLst>
              <a:path w="5243216" h="843413">
                <a:moveTo>
                  <a:pt x="0" y="0"/>
                </a:moveTo>
                <a:lnTo>
                  <a:pt x="5243216" y="0"/>
                </a:lnTo>
                <a:lnTo>
                  <a:pt x="5243216" y="843413"/>
                </a:lnTo>
                <a:lnTo>
                  <a:pt x="0" y="843413"/>
                </a:lnTo>
                <a:lnTo>
                  <a:pt x="0" y="0"/>
                </a:lnTo>
                <a:close/>
              </a:path>
            </a:pathLst>
          </a:custGeom>
          <a:solidFill>
            <a:srgbClr val="F9FAFB"/>
          </a:solidFill>
        </p:spPr>
      </p:sp>
      <p:sp>
        <p:nvSpPr>
          <p:cNvPr id="10" name="Shape 8"/>
          <p:cNvSpPr/>
          <p:nvPr/>
        </p:nvSpPr>
        <p:spPr>
          <a:xfrm>
            <a:off x="576332" y="1986706"/>
            <a:ext cx="28114" cy="843413"/>
          </a:xfrm>
          <a:custGeom>
            <a:avLst/>
            <a:gdLst/>
            <a:ahLst/>
            <a:cxnLst/>
            <a:rect l="l" t="t" r="r" b="b"/>
            <a:pathLst>
              <a:path w="28114" h="843413">
                <a:moveTo>
                  <a:pt x="0" y="0"/>
                </a:moveTo>
                <a:lnTo>
                  <a:pt x="28114" y="0"/>
                </a:lnTo>
                <a:lnTo>
                  <a:pt x="28114" y="843413"/>
                </a:lnTo>
                <a:lnTo>
                  <a:pt x="0" y="843413"/>
                </a:lnTo>
                <a:lnTo>
                  <a:pt x="0" y="0"/>
                </a:lnTo>
                <a:close/>
              </a:path>
            </a:pathLst>
          </a:custGeom>
          <a:solidFill>
            <a:srgbClr val="8B0000"/>
          </a:solidFill>
        </p:spPr>
      </p:sp>
      <p:sp>
        <p:nvSpPr>
          <p:cNvPr id="11" name="Text 9"/>
          <p:cNvSpPr/>
          <p:nvPr/>
        </p:nvSpPr>
        <p:spPr>
          <a:xfrm>
            <a:off x="740329" y="2099161"/>
            <a:ext cx="4994878" cy="618503"/>
          </a:xfrm>
          <a:prstGeom prst="rect">
            <a:avLst/>
          </a:prstGeom>
          <a:noFill/>
        </p:spPr>
        <p:txBody>
          <a:bodyPr wrap="square" lIns="0" tIns="0" rIns="0" bIns="0" rtlCol="0" anchor="ctr"/>
          <a:lstStyle/>
          <a:p>
            <a:pPr>
              <a:lnSpc>
                <a:spcPct val="140000"/>
              </a:lnSpc>
            </a:pPr>
            <a:r>
              <a:rPr lang="en-US" sz="1035" dirty="0">
                <a:solidFill>
                  <a:srgbClr val="1F2937"/>
                </a:solidFill>
                <a:latin typeface="MiSans" pitchFamily="34" charset="-122"/>
                <a:ea typeface="MiSans" pitchFamily="34" charset="-122"/>
                <a:cs typeface="MiSans" pitchFamily="34" charset="-120"/>
              </a:rPr>
              <a:t>Flow</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α + β₁(AI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β₂(AI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λ₁Perf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λ₂(AI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λ₃(Post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Perf</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θ'X</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μ</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τ</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ε</a:t>
            </a:r>
            <a:r>
              <a:rPr lang="en-US" sz="775" dirty="0">
                <a:solidFill>
                  <a:srgbClr val="1F2937"/>
                </a:solidFill>
                <a:latin typeface="MiSans" pitchFamily="34" charset="-122"/>
                <a:ea typeface="MiSans" pitchFamily="34" charset="-122"/>
                <a:cs typeface="MiSans" pitchFamily="34" charset="-120"/>
              </a:rPr>
              <a:t>i,t</a:t>
            </a:r>
            <a:endParaRPr lang="en-US" sz="1600" dirty="0"/>
          </a:p>
        </p:txBody>
      </p:sp>
      <p:sp>
        <p:nvSpPr>
          <p:cNvPr id="12" name="Shape 10"/>
          <p:cNvSpPr/>
          <p:nvPr/>
        </p:nvSpPr>
        <p:spPr>
          <a:xfrm>
            <a:off x="566961" y="2947259"/>
            <a:ext cx="5247902" cy="1058952"/>
          </a:xfrm>
          <a:custGeom>
            <a:avLst/>
            <a:gdLst/>
            <a:ahLst/>
            <a:cxnLst/>
            <a:rect l="l" t="t" r="r" b="b"/>
            <a:pathLst>
              <a:path w="5247902" h="1058952">
                <a:moveTo>
                  <a:pt x="74974" y="0"/>
                </a:moveTo>
                <a:lnTo>
                  <a:pt x="5172928" y="0"/>
                </a:lnTo>
                <a:cubicBezTo>
                  <a:pt x="5214335" y="0"/>
                  <a:pt x="5247902" y="33567"/>
                  <a:pt x="5247902" y="74974"/>
                </a:cubicBezTo>
                <a:lnTo>
                  <a:pt x="5247902" y="983978"/>
                </a:lnTo>
                <a:cubicBezTo>
                  <a:pt x="5247902" y="1025385"/>
                  <a:pt x="5214335" y="1058952"/>
                  <a:pt x="5172928" y="1058952"/>
                </a:cubicBezTo>
                <a:lnTo>
                  <a:pt x="74974" y="1058952"/>
                </a:lnTo>
                <a:cubicBezTo>
                  <a:pt x="33567" y="1058952"/>
                  <a:pt x="0" y="1025385"/>
                  <a:pt x="0" y="983978"/>
                </a:cubicBezTo>
                <a:lnTo>
                  <a:pt x="0" y="74974"/>
                </a:lnTo>
                <a:cubicBezTo>
                  <a:pt x="0" y="33595"/>
                  <a:pt x="33595" y="0"/>
                  <a:pt x="74974" y="0"/>
                </a:cubicBezTo>
                <a:close/>
              </a:path>
            </a:pathLst>
          </a:custGeom>
          <a:solidFill>
            <a:srgbClr val="FFFFFF"/>
          </a:solidFill>
          <a:ln w="12700">
            <a:solidFill>
              <a:srgbClr val="8B0000">
                <a:alpha val="20000"/>
              </a:srgbClr>
            </a:solidFill>
            <a:prstDash val="solid"/>
          </a:ln>
        </p:spPr>
      </p:sp>
      <p:sp>
        <p:nvSpPr>
          <p:cNvPr id="13" name="Text 11"/>
          <p:cNvSpPr/>
          <p:nvPr/>
        </p:nvSpPr>
        <p:spPr>
          <a:xfrm>
            <a:off x="721586" y="3101885"/>
            <a:ext cx="5013620"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Coefficients</a:t>
            </a:r>
            <a:endParaRPr lang="en-US" sz="1600" dirty="0"/>
          </a:p>
        </p:txBody>
      </p:sp>
      <p:sp>
        <p:nvSpPr>
          <p:cNvPr id="14" name="Text 12"/>
          <p:cNvSpPr/>
          <p:nvPr/>
        </p:nvSpPr>
        <p:spPr>
          <a:xfrm>
            <a:off x="721586" y="3401765"/>
            <a:ext cx="309251" cy="187425"/>
          </a:xfrm>
          <a:prstGeom prst="rect">
            <a:avLst/>
          </a:prstGeom>
          <a:noFill/>
        </p:spPr>
        <p:txBody>
          <a:bodyPr wrap="square" lIns="0" tIns="0" rIns="0" bIns="0" rtlCol="0" anchor="ctr"/>
          <a:lstStyle/>
          <a:p>
            <a:pPr>
              <a:lnSpc>
                <a:spcPct val="120000"/>
              </a:lnSpc>
            </a:pPr>
            <a:r>
              <a:rPr lang="en-US" sz="1035" b="1" dirty="0">
                <a:solidFill>
                  <a:srgbClr val="8B0000"/>
                </a:solidFill>
                <a:latin typeface="MiSans" pitchFamily="34" charset="-122"/>
                <a:ea typeface="MiSans" pitchFamily="34" charset="-122"/>
                <a:cs typeface="MiSans" pitchFamily="34" charset="-120"/>
              </a:rPr>
              <a:t>β₁:</a:t>
            </a:r>
            <a:endParaRPr lang="en-US" sz="1600" dirty="0"/>
          </a:p>
        </p:txBody>
      </p:sp>
      <p:sp>
        <p:nvSpPr>
          <p:cNvPr id="15" name="Text 13"/>
          <p:cNvSpPr/>
          <p:nvPr/>
        </p:nvSpPr>
        <p:spPr>
          <a:xfrm>
            <a:off x="1037866" y="3401765"/>
            <a:ext cx="2211616" cy="187425"/>
          </a:xfrm>
          <a:prstGeom prst="rect">
            <a:avLst/>
          </a:prstGeom>
          <a:noFill/>
        </p:spPr>
        <p:txBody>
          <a:bodyPr wrap="square" lIns="0" tIns="0" rIns="0" bIns="0" rtlCol="0" anchor="ctr"/>
          <a:lstStyle/>
          <a:p>
            <a:pPr>
              <a:lnSpc>
                <a:spcPct val="120000"/>
              </a:lnSpc>
            </a:pP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Average AI-flow effect post-ChatGPT</a:t>
            </a:r>
            <a:endParaRPr lang="en-US" sz="1600" dirty="0"/>
          </a:p>
        </p:txBody>
      </p:sp>
      <p:sp>
        <p:nvSpPr>
          <p:cNvPr id="16" name="Text 14"/>
          <p:cNvSpPr/>
          <p:nvPr/>
        </p:nvSpPr>
        <p:spPr>
          <a:xfrm>
            <a:off x="721586" y="3664160"/>
            <a:ext cx="309251" cy="187425"/>
          </a:xfrm>
          <a:prstGeom prst="rect">
            <a:avLst/>
          </a:prstGeom>
          <a:noFill/>
        </p:spPr>
        <p:txBody>
          <a:bodyPr wrap="square" lIns="0" tIns="0" rIns="0" bIns="0" rtlCol="0" anchor="ctr"/>
          <a:lstStyle/>
          <a:p>
            <a:pPr>
              <a:lnSpc>
                <a:spcPct val="120000"/>
              </a:lnSpc>
            </a:pPr>
            <a:r>
              <a:rPr lang="en-US" sz="1035" b="1" dirty="0">
                <a:solidFill>
                  <a:srgbClr val="8B0000"/>
                </a:solidFill>
                <a:latin typeface="MiSans" pitchFamily="34" charset="-122"/>
                <a:ea typeface="MiSans" pitchFamily="34" charset="-122"/>
                <a:cs typeface="MiSans" pitchFamily="34" charset="-120"/>
              </a:rPr>
              <a:t>β₂:</a:t>
            </a:r>
            <a:endParaRPr lang="en-US" sz="1600" dirty="0"/>
          </a:p>
        </p:txBody>
      </p:sp>
      <p:sp>
        <p:nvSpPr>
          <p:cNvPr id="17" name="Text 15"/>
          <p:cNvSpPr/>
          <p:nvPr/>
        </p:nvSpPr>
        <p:spPr>
          <a:xfrm>
            <a:off x="1037866" y="3664160"/>
            <a:ext cx="4301405" cy="187425"/>
          </a:xfrm>
          <a:prstGeom prst="rect">
            <a:avLst/>
          </a:prstGeom>
          <a:noFill/>
        </p:spPr>
        <p:txBody>
          <a:bodyPr wrap="square" lIns="0" tIns="0" rIns="0" bIns="0" rtlCol="0" anchor="ctr"/>
          <a:lstStyle/>
          <a:p>
            <a:pPr>
              <a:lnSpc>
                <a:spcPct val="120000"/>
              </a:lnSpc>
            </a:pPr>
            <a:r>
              <a:rPr lang="en-US" sz="103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 contingency</a:t>
            </a: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—difference in effect for high vs. low performers</a:t>
            </a:r>
            <a:endParaRPr lang="en-US" sz="1600" dirty="0"/>
          </a:p>
        </p:txBody>
      </p:sp>
      <p:sp>
        <p:nvSpPr>
          <p:cNvPr id="18" name="Shape 16"/>
          <p:cNvSpPr/>
          <p:nvPr/>
        </p:nvSpPr>
        <p:spPr>
          <a:xfrm>
            <a:off x="562275" y="4123351"/>
            <a:ext cx="5257273" cy="449820"/>
          </a:xfrm>
          <a:custGeom>
            <a:avLst/>
            <a:gdLst/>
            <a:ahLst/>
            <a:cxnLst/>
            <a:rect l="l" t="t" r="r" b="b"/>
            <a:pathLst>
              <a:path w="5257273" h="449820">
                <a:moveTo>
                  <a:pt x="74972" y="0"/>
                </a:moveTo>
                <a:lnTo>
                  <a:pt x="5182301" y="0"/>
                </a:lnTo>
                <a:cubicBezTo>
                  <a:pt x="5223707" y="0"/>
                  <a:pt x="5257273" y="33566"/>
                  <a:pt x="5257273" y="74972"/>
                </a:cubicBezTo>
                <a:lnTo>
                  <a:pt x="5257273" y="374849"/>
                </a:lnTo>
                <a:cubicBezTo>
                  <a:pt x="5257273" y="416254"/>
                  <a:pt x="5223707" y="449820"/>
                  <a:pt x="5182301" y="449820"/>
                </a:cubicBezTo>
                <a:lnTo>
                  <a:pt x="74972" y="449820"/>
                </a:lnTo>
                <a:cubicBezTo>
                  <a:pt x="33594" y="449820"/>
                  <a:pt x="0" y="416227"/>
                  <a:pt x="0" y="374849"/>
                </a:cubicBezTo>
                <a:lnTo>
                  <a:pt x="0" y="74972"/>
                </a:lnTo>
                <a:cubicBezTo>
                  <a:pt x="0" y="33566"/>
                  <a:pt x="33566" y="0"/>
                  <a:pt x="74972" y="0"/>
                </a:cubicBezTo>
                <a:close/>
              </a:path>
            </a:pathLst>
          </a:custGeom>
          <a:solidFill>
            <a:srgbClr val="8B0000">
              <a:alpha val="5098"/>
            </a:srgbClr>
          </a:solidFill>
        </p:spPr>
      </p:sp>
      <p:sp>
        <p:nvSpPr>
          <p:cNvPr id="19" name="Shape 17"/>
          <p:cNvSpPr/>
          <p:nvPr/>
        </p:nvSpPr>
        <p:spPr>
          <a:xfrm>
            <a:off x="684101" y="4254549"/>
            <a:ext cx="168683" cy="149940"/>
          </a:xfrm>
          <a:custGeom>
            <a:avLst/>
            <a:gdLst/>
            <a:ahLst/>
            <a:cxnLst/>
            <a:rect l="l" t="t" r="r" b="b"/>
            <a:pathLst>
              <a:path w="168683" h="149940">
                <a:moveTo>
                  <a:pt x="90638" y="-5535"/>
                </a:moveTo>
                <a:cubicBezTo>
                  <a:pt x="89437" y="-7878"/>
                  <a:pt x="87006" y="-9371"/>
                  <a:pt x="84371" y="-9371"/>
                </a:cubicBezTo>
                <a:cubicBezTo>
                  <a:pt x="81735" y="-9371"/>
                  <a:pt x="79304" y="-7878"/>
                  <a:pt x="78104" y="-5535"/>
                </a:cubicBezTo>
                <a:lnTo>
                  <a:pt x="56550" y="36694"/>
                </a:lnTo>
                <a:lnTo>
                  <a:pt x="9723" y="44133"/>
                </a:lnTo>
                <a:cubicBezTo>
                  <a:pt x="7116" y="44543"/>
                  <a:pt x="4949" y="46388"/>
                  <a:pt x="4129" y="48906"/>
                </a:cubicBezTo>
                <a:cubicBezTo>
                  <a:pt x="3309" y="51425"/>
                  <a:pt x="3983" y="54178"/>
                  <a:pt x="5828" y="56052"/>
                </a:cubicBezTo>
                <a:lnTo>
                  <a:pt x="39330" y="89583"/>
                </a:lnTo>
                <a:lnTo>
                  <a:pt x="31950" y="136410"/>
                </a:lnTo>
                <a:cubicBezTo>
                  <a:pt x="31540" y="139017"/>
                  <a:pt x="32624" y="141652"/>
                  <a:pt x="34761" y="143204"/>
                </a:cubicBezTo>
                <a:cubicBezTo>
                  <a:pt x="36899" y="144757"/>
                  <a:pt x="39711" y="144991"/>
                  <a:pt x="42083" y="143790"/>
                </a:cubicBezTo>
                <a:lnTo>
                  <a:pt x="84371" y="122295"/>
                </a:lnTo>
                <a:lnTo>
                  <a:pt x="126629" y="143790"/>
                </a:lnTo>
                <a:cubicBezTo>
                  <a:pt x="128972" y="144991"/>
                  <a:pt x="131813" y="144757"/>
                  <a:pt x="133950" y="143204"/>
                </a:cubicBezTo>
                <a:cubicBezTo>
                  <a:pt x="136088" y="141652"/>
                  <a:pt x="137172" y="139046"/>
                  <a:pt x="136762" y="136410"/>
                </a:cubicBezTo>
                <a:lnTo>
                  <a:pt x="129353" y="89583"/>
                </a:lnTo>
                <a:lnTo>
                  <a:pt x="162855" y="56052"/>
                </a:lnTo>
                <a:cubicBezTo>
                  <a:pt x="164729" y="54178"/>
                  <a:pt x="165373" y="51425"/>
                  <a:pt x="164553" y="48906"/>
                </a:cubicBezTo>
                <a:cubicBezTo>
                  <a:pt x="163733" y="46388"/>
                  <a:pt x="161596" y="44543"/>
                  <a:pt x="158960" y="44133"/>
                </a:cubicBezTo>
                <a:lnTo>
                  <a:pt x="112162" y="36694"/>
                </a:lnTo>
                <a:lnTo>
                  <a:pt x="90638" y="-5535"/>
                </a:lnTo>
                <a:close/>
              </a:path>
            </a:pathLst>
          </a:custGeom>
          <a:solidFill>
            <a:srgbClr val="8B0000"/>
          </a:solidFill>
        </p:spPr>
      </p:sp>
      <p:sp>
        <p:nvSpPr>
          <p:cNvPr id="20" name="Text 18"/>
          <p:cNvSpPr/>
          <p:nvPr/>
        </p:nvSpPr>
        <p:spPr>
          <a:xfrm>
            <a:off x="917475" y="4235806"/>
            <a:ext cx="4864588"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β₂ &gt; 0 (stronger effect for high performers)</a:t>
            </a:r>
            <a:endParaRPr lang="en-US" sz="1600" dirty="0"/>
          </a:p>
        </p:txBody>
      </p:sp>
      <p:sp>
        <p:nvSpPr>
          <p:cNvPr id="21" name="Shape 19"/>
          <p:cNvSpPr/>
          <p:nvPr/>
        </p:nvSpPr>
        <p:spPr>
          <a:xfrm>
            <a:off x="6191177" y="1368203"/>
            <a:ext cx="5632123" cy="4554429"/>
          </a:xfrm>
          <a:custGeom>
            <a:avLst/>
            <a:gdLst/>
            <a:ahLst/>
            <a:cxnLst/>
            <a:rect l="l" t="t" r="r" b="b"/>
            <a:pathLst>
              <a:path w="5632123" h="4554429">
                <a:moveTo>
                  <a:pt x="37485" y="0"/>
                </a:moveTo>
                <a:lnTo>
                  <a:pt x="5594638" y="0"/>
                </a:lnTo>
                <a:cubicBezTo>
                  <a:pt x="5615340" y="0"/>
                  <a:pt x="5632123" y="16783"/>
                  <a:pt x="5632123" y="37485"/>
                </a:cubicBezTo>
                <a:lnTo>
                  <a:pt x="5632123" y="4479463"/>
                </a:lnTo>
                <a:cubicBezTo>
                  <a:pt x="5632123" y="4520866"/>
                  <a:pt x="5598560" y="4554429"/>
                  <a:pt x="5557157" y="4554429"/>
                </a:cubicBezTo>
                <a:lnTo>
                  <a:pt x="74966" y="4554429"/>
                </a:lnTo>
                <a:cubicBezTo>
                  <a:pt x="33563" y="4554429"/>
                  <a:pt x="0" y="4520866"/>
                  <a:pt x="0" y="4479463"/>
                </a:cubicBezTo>
                <a:lnTo>
                  <a:pt x="0" y="37485"/>
                </a:lnTo>
                <a:cubicBezTo>
                  <a:pt x="0" y="16783"/>
                  <a:pt x="16783" y="0"/>
                  <a:pt x="37485" y="0"/>
                </a:cubicBezTo>
                <a:close/>
              </a:path>
            </a:pathLst>
          </a:custGeom>
          <a:solidFill>
            <a:srgbClr val="F9FAFB"/>
          </a:solidFill>
        </p:spPr>
      </p:sp>
      <p:sp>
        <p:nvSpPr>
          <p:cNvPr id="22" name="Shape 20"/>
          <p:cNvSpPr/>
          <p:nvPr/>
        </p:nvSpPr>
        <p:spPr>
          <a:xfrm>
            <a:off x="6191177" y="1368203"/>
            <a:ext cx="5632123" cy="37485"/>
          </a:xfrm>
          <a:custGeom>
            <a:avLst/>
            <a:gdLst/>
            <a:ahLst/>
            <a:cxnLst/>
            <a:rect l="l" t="t" r="r" b="b"/>
            <a:pathLst>
              <a:path w="5632123" h="37485">
                <a:moveTo>
                  <a:pt x="37485" y="0"/>
                </a:moveTo>
                <a:lnTo>
                  <a:pt x="5594638" y="0"/>
                </a:lnTo>
                <a:cubicBezTo>
                  <a:pt x="5615340" y="0"/>
                  <a:pt x="5632123" y="16783"/>
                  <a:pt x="5632123" y="37485"/>
                </a:cubicBezTo>
                <a:lnTo>
                  <a:pt x="5632123" y="37485"/>
                </a:lnTo>
                <a:lnTo>
                  <a:pt x="0" y="37485"/>
                </a:lnTo>
                <a:lnTo>
                  <a:pt x="0" y="37485"/>
                </a:lnTo>
                <a:cubicBezTo>
                  <a:pt x="0" y="16783"/>
                  <a:pt x="16783" y="0"/>
                  <a:pt x="37485" y="0"/>
                </a:cubicBezTo>
                <a:close/>
              </a:path>
            </a:pathLst>
          </a:custGeom>
          <a:solidFill>
            <a:srgbClr val="8B0000"/>
          </a:solidFill>
        </p:spPr>
      </p:sp>
      <p:sp>
        <p:nvSpPr>
          <p:cNvPr id="23" name="Shape 21"/>
          <p:cNvSpPr/>
          <p:nvPr/>
        </p:nvSpPr>
        <p:spPr>
          <a:xfrm>
            <a:off x="6402030" y="1611855"/>
            <a:ext cx="187425" cy="187425"/>
          </a:xfrm>
          <a:custGeom>
            <a:avLst/>
            <a:gdLst/>
            <a:ahLst/>
            <a:cxnLst/>
            <a:rect l="l" t="t" r="r" b="b"/>
            <a:pathLst>
              <a:path w="187425" h="187425">
                <a:moveTo>
                  <a:pt x="24124" y="83646"/>
                </a:moveTo>
                <a:cubicBezTo>
                  <a:pt x="28992" y="49602"/>
                  <a:pt x="58314" y="23428"/>
                  <a:pt x="93713" y="23428"/>
                </a:cubicBezTo>
                <a:cubicBezTo>
                  <a:pt x="113114" y="23428"/>
                  <a:pt x="130685" y="31299"/>
                  <a:pt x="143424" y="44001"/>
                </a:cubicBezTo>
                <a:cubicBezTo>
                  <a:pt x="143497" y="44074"/>
                  <a:pt x="143571" y="44147"/>
                  <a:pt x="143644" y="44221"/>
                </a:cubicBezTo>
                <a:lnTo>
                  <a:pt x="146426" y="46856"/>
                </a:lnTo>
                <a:lnTo>
                  <a:pt x="128891" y="46856"/>
                </a:lnTo>
                <a:cubicBezTo>
                  <a:pt x="122412" y="46856"/>
                  <a:pt x="117177" y="52091"/>
                  <a:pt x="117177" y="58570"/>
                </a:cubicBezTo>
                <a:cubicBezTo>
                  <a:pt x="117177" y="65050"/>
                  <a:pt x="122412" y="70284"/>
                  <a:pt x="128891" y="70284"/>
                </a:cubicBezTo>
                <a:lnTo>
                  <a:pt x="175748" y="70284"/>
                </a:lnTo>
                <a:cubicBezTo>
                  <a:pt x="182227" y="70284"/>
                  <a:pt x="187462" y="65050"/>
                  <a:pt x="187462" y="58570"/>
                </a:cubicBezTo>
                <a:lnTo>
                  <a:pt x="187462" y="11714"/>
                </a:lnTo>
                <a:cubicBezTo>
                  <a:pt x="187462" y="5235"/>
                  <a:pt x="182227" y="0"/>
                  <a:pt x="175748" y="0"/>
                </a:cubicBezTo>
                <a:cubicBezTo>
                  <a:pt x="169268" y="0"/>
                  <a:pt x="164034" y="5235"/>
                  <a:pt x="164034" y="11714"/>
                </a:cubicBezTo>
                <a:lnTo>
                  <a:pt x="164034" y="31262"/>
                </a:lnTo>
                <a:lnTo>
                  <a:pt x="159897" y="27345"/>
                </a:lnTo>
                <a:cubicBezTo>
                  <a:pt x="142948" y="10469"/>
                  <a:pt x="119520" y="0"/>
                  <a:pt x="93713" y="0"/>
                </a:cubicBezTo>
                <a:cubicBezTo>
                  <a:pt x="46490" y="0"/>
                  <a:pt x="7431" y="34923"/>
                  <a:pt x="952" y="80351"/>
                </a:cubicBezTo>
                <a:cubicBezTo>
                  <a:pt x="37" y="86757"/>
                  <a:pt x="4466" y="92688"/>
                  <a:pt x="10872" y="93603"/>
                </a:cubicBezTo>
                <a:cubicBezTo>
                  <a:pt x="17278" y="94518"/>
                  <a:pt x="23208" y="90052"/>
                  <a:pt x="24124" y="83682"/>
                </a:cubicBezTo>
                <a:close/>
                <a:moveTo>
                  <a:pt x="186473" y="107074"/>
                </a:moveTo>
                <a:cubicBezTo>
                  <a:pt x="187388" y="100668"/>
                  <a:pt x="182922" y="94738"/>
                  <a:pt x="176553" y="93822"/>
                </a:cubicBezTo>
                <a:cubicBezTo>
                  <a:pt x="170183" y="92907"/>
                  <a:pt x="164217" y="97373"/>
                  <a:pt x="163301" y="103743"/>
                </a:cubicBezTo>
                <a:cubicBezTo>
                  <a:pt x="158433" y="137787"/>
                  <a:pt x="129111" y="163960"/>
                  <a:pt x="93713" y="163960"/>
                </a:cubicBezTo>
                <a:cubicBezTo>
                  <a:pt x="74311" y="163960"/>
                  <a:pt x="56740" y="156090"/>
                  <a:pt x="44001" y="143387"/>
                </a:cubicBezTo>
                <a:cubicBezTo>
                  <a:pt x="43928" y="143314"/>
                  <a:pt x="43855" y="143241"/>
                  <a:pt x="43781" y="143168"/>
                </a:cubicBezTo>
                <a:lnTo>
                  <a:pt x="40999" y="140532"/>
                </a:lnTo>
                <a:lnTo>
                  <a:pt x="58534" y="140532"/>
                </a:lnTo>
                <a:cubicBezTo>
                  <a:pt x="65013" y="140532"/>
                  <a:pt x="70248" y="135297"/>
                  <a:pt x="70248" y="128818"/>
                </a:cubicBezTo>
                <a:cubicBezTo>
                  <a:pt x="70248" y="122339"/>
                  <a:pt x="65013" y="117104"/>
                  <a:pt x="58534" y="117104"/>
                </a:cubicBezTo>
                <a:lnTo>
                  <a:pt x="11714" y="117141"/>
                </a:lnTo>
                <a:cubicBezTo>
                  <a:pt x="8603" y="117141"/>
                  <a:pt x="5601" y="118385"/>
                  <a:pt x="3404" y="120618"/>
                </a:cubicBezTo>
                <a:cubicBezTo>
                  <a:pt x="1208" y="122851"/>
                  <a:pt x="-37" y="125816"/>
                  <a:pt x="0" y="128965"/>
                </a:cubicBezTo>
                <a:lnTo>
                  <a:pt x="366" y="175455"/>
                </a:lnTo>
                <a:cubicBezTo>
                  <a:pt x="403" y="181934"/>
                  <a:pt x="5711" y="187132"/>
                  <a:pt x="12190" y="187059"/>
                </a:cubicBezTo>
                <a:cubicBezTo>
                  <a:pt x="18669" y="186986"/>
                  <a:pt x="23867" y="181714"/>
                  <a:pt x="23794" y="175235"/>
                </a:cubicBezTo>
                <a:lnTo>
                  <a:pt x="23648" y="156383"/>
                </a:lnTo>
                <a:lnTo>
                  <a:pt x="27565" y="160080"/>
                </a:lnTo>
                <a:cubicBezTo>
                  <a:pt x="44513" y="176956"/>
                  <a:pt x="67905" y="187425"/>
                  <a:pt x="93713" y="187425"/>
                </a:cubicBezTo>
                <a:cubicBezTo>
                  <a:pt x="140935" y="187425"/>
                  <a:pt x="179994" y="152502"/>
                  <a:pt x="186473" y="107074"/>
                </a:cubicBezTo>
                <a:close/>
              </a:path>
            </a:pathLst>
          </a:custGeom>
          <a:solidFill>
            <a:srgbClr val="8B0000"/>
          </a:solidFill>
        </p:spPr>
      </p:sp>
      <p:sp>
        <p:nvSpPr>
          <p:cNvPr id="24" name="Text 22"/>
          <p:cNvSpPr/>
          <p:nvPr/>
        </p:nvSpPr>
        <p:spPr>
          <a:xfrm>
            <a:off x="6612883" y="1574370"/>
            <a:ext cx="5116704" cy="262395"/>
          </a:xfrm>
          <a:prstGeom prst="rect">
            <a:avLst/>
          </a:prstGeom>
          <a:noFill/>
        </p:spPr>
        <p:txBody>
          <a:bodyPr wrap="square" lIns="0" tIns="0" rIns="0" bIns="0" rtlCol="0" anchor="ctr"/>
          <a:lstStyle/>
          <a:p>
            <a:pPr>
              <a:lnSpc>
                <a:spcPct val="120000"/>
              </a:lnSpc>
            </a:pPr>
            <a:r>
              <a:rPr lang="en-US" sz="14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 Exploratory Behavior Models</a:t>
            </a:r>
            <a:endParaRPr lang="en-US" sz="1600" dirty="0"/>
          </a:p>
        </p:txBody>
      </p:sp>
      <p:sp>
        <p:nvSpPr>
          <p:cNvPr id="25" name="Shape 23"/>
          <p:cNvSpPr/>
          <p:nvPr/>
        </p:nvSpPr>
        <p:spPr>
          <a:xfrm>
            <a:off x="6383287" y="1991391"/>
            <a:ext cx="5247902" cy="1583742"/>
          </a:xfrm>
          <a:custGeom>
            <a:avLst/>
            <a:gdLst/>
            <a:ahLst/>
            <a:cxnLst/>
            <a:rect l="l" t="t" r="r" b="b"/>
            <a:pathLst>
              <a:path w="5247902" h="1583742">
                <a:moveTo>
                  <a:pt x="74974" y="0"/>
                </a:moveTo>
                <a:lnTo>
                  <a:pt x="5172927" y="0"/>
                </a:lnTo>
                <a:cubicBezTo>
                  <a:pt x="5214334" y="0"/>
                  <a:pt x="5247902" y="33567"/>
                  <a:pt x="5247902" y="74974"/>
                </a:cubicBezTo>
                <a:lnTo>
                  <a:pt x="5247902" y="1508767"/>
                </a:lnTo>
                <a:cubicBezTo>
                  <a:pt x="5247902" y="1550175"/>
                  <a:pt x="5214334" y="1583742"/>
                  <a:pt x="5172927" y="1583742"/>
                </a:cubicBezTo>
                <a:lnTo>
                  <a:pt x="74974" y="1583742"/>
                </a:lnTo>
                <a:cubicBezTo>
                  <a:pt x="33567" y="1583742"/>
                  <a:pt x="0" y="1550175"/>
                  <a:pt x="0" y="1508767"/>
                </a:cubicBezTo>
                <a:lnTo>
                  <a:pt x="0" y="74974"/>
                </a:lnTo>
                <a:cubicBezTo>
                  <a:pt x="0" y="33595"/>
                  <a:pt x="33595" y="0"/>
                  <a:pt x="74974" y="0"/>
                </a:cubicBezTo>
                <a:close/>
              </a:path>
            </a:pathLst>
          </a:custGeom>
          <a:solidFill>
            <a:srgbClr val="FFFFFF"/>
          </a:solidFill>
          <a:ln w="12700">
            <a:solidFill>
              <a:srgbClr val="8B0000">
                <a:alpha val="20000"/>
              </a:srgbClr>
            </a:solidFill>
            <a:prstDash val="solid"/>
          </a:ln>
        </p:spPr>
      </p:sp>
      <p:sp>
        <p:nvSpPr>
          <p:cNvPr id="26" name="Text 24"/>
          <p:cNvSpPr/>
          <p:nvPr/>
        </p:nvSpPr>
        <p:spPr>
          <a:xfrm>
            <a:off x="6537913" y="2146017"/>
            <a:ext cx="5013620"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3a: Turnover</a:t>
            </a:r>
            <a:endParaRPr lang="en-US" sz="1600" dirty="0"/>
          </a:p>
        </p:txBody>
      </p:sp>
      <p:sp>
        <p:nvSpPr>
          <p:cNvPr id="27" name="Shape 25"/>
          <p:cNvSpPr/>
          <p:nvPr/>
        </p:nvSpPr>
        <p:spPr>
          <a:xfrm>
            <a:off x="6551970" y="2483382"/>
            <a:ext cx="4924593" cy="637245"/>
          </a:xfrm>
          <a:custGeom>
            <a:avLst/>
            <a:gdLst/>
            <a:ahLst/>
            <a:cxnLst/>
            <a:rect l="l" t="t" r="r" b="b"/>
            <a:pathLst>
              <a:path w="4924593" h="637245">
                <a:moveTo>
                  <a:pt x="0" y="0"/>
                </a:moveTo>
                <a:lnTo>
                  <a:pt x="4924593" y="0"/>
                </a:lnTo>
                <a:lnTo>
                  <a:pt x="4924593" y="637245"/>
                </a:lnTo>
                <a:lnTo>
                  <a:pt x="0" y="637245"/>
                </a:lnTo>
                <a:lnTo>
                  <a:pt x="0" y="0"/>
                </a:lnTo>
                <a:close/>
              </a:path>
            </a:pathLst>
          </a:custGeom>
          <a:solidFill>
            <a:srgbClr val="F9FAFB"/>
          </a:solidFill>
        </p:spPr>
      </p:sp>
      <p:sp>
        <p:nvSpPr>
          <p:cNvPr id="28" name="Shape 26"/>
          <p:cNvSpPr/>
          <p:nvPr/>
        </p:nvSpPr>
        <p:spPr>
          <a:xfrm>
            <a:off x="6551970" y="2483382"/>
            <a:ext cx="28114" cy="637245"/>
          </a:xfrm>
          <a:custGeom>
            <a:avLst/>
            <a:gdLst/>
            <a:ahLst/>
            <a:cxnLst/>
            <a:rect l="l" t="t" r="r" b="b"/>
            <a:pathLst>
              <a:path w="28114" h="637245">
                <a:moveTo>
                  <a:pt x="0" y="0"/>
                </a:moveTo>
                <a:lnTo>
                  <a:pt x="28114" y="0"/>
                </a:lnTo>
                <a:lnTo>
                  <a:pt x="28114" y="637245"/>
                </a:lnTo>
                <a:lnTo>
                  <a:pt x="0" y="637245"/>
                </a:lnTo>
                <a:lnTo>
                  <a:pt x="0" y="0"/>
                </a:lnTo>
                <a:close/>
              </a:path>
            </a:pathLst>
          </a:custGeom>
          <a:solidFill>
            <a:srgbClr val="8B0000"/>
          </a:solidFill>
        </p:spPr>
      </p:sp>
      <p:sp>
        <p:nvSpPr>
          <p:cNvPr id="29" name="Text 27"/>
          <p:cNvSpPr/>
          <p:nvPr/>
        </p:nvSpPr>
        <p:spPr>
          <a:xfrm>
            <a:off x="6715967" y="2595837"/>
            <a:ext cx="4676255" cy="412335"/>
          </a:xfrm>
          <a:prstGeom prst="rect">
            <a:avLst/>
          </a:prstGeom>
          <a:noFill/>
        </p:spPr>
        <p:txBody>
          <a:bodyPr wrap="square" lIns="0" tIns="0" rIns="0" bIns="0" rtlCol="0" anchor="ctr"/>
          <a:lstStyle/>
          <a:p>
            <a:pPr>
              <a:lnSpc>
                <a:spcPct val="140000"/>
              </a:lnSpc>
            </a:pPr>
            <a:r>
              <a:rPr lang="en-US" sz="1035" dirty="0">
                <a:solidFill>
                  <a:srgbClr val="1F2937"/>
                </a:solidFill>
                <a:latin typeface="MiSans" pitchFamily="34" charset="-122"/>
                <a:ea typeface="MiSans" pitchFamily="34" charset="-122"/>
                <a:cs typeface="MiSans" pitchFamily="34" charset="-120"/>
              </a:rPr>
              <a:t>Turnover</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α + φ₁(AI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Flow</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controls + FE + ε</a:t>
            </a:r>
            <a:r>
              <a:rPr lang="en-US" sz="775" dirty="0">
                <a:solidFill>
                  <a:srgbClr val="1F2937"/>
                </a:solidFill>
                <a:latin typeface="MiSans" pitchFamily="34" charset="-122"/>
                <a:ea typeface="MiSans" pitchFamily="34" charset="-122"/>
                <a:cs typeface="MiSans" pitchFamily="34" charset="-120"/>
              </a:rPr>
              <a:t>i,t</a:t>
            </a:r>
            <a:endParaRPr lang="en-US" sz="1600" dirty="0"/>
          </a:p>
        </p:txBody>
      </p:sp>
      <p:sp>
        <p:nvSpPr>
          <p:cNvPr id="30" name="Shape 28"/>
          <p:cNvSpPr/>
          <p:nvPr/>
        </p:nvSpPr>
        <p:spPr>
          <a:xfrm>
            <a:off x="6556656" y="3251825"/>
            <a:ext cx="131198" cy="131198"/>
          </a:xfrm>
          <a:custGeom>
            <a:avLst/>
            <a:gdLst/>
            <a:ahLst/>
            <a:cxnLst/>
            <a:rect l="l" t="t" r="r" b="b"/>
            <a:pathLst>
              <a:path w="131198" h="131198">
                <a:moveTo>
                  <a:pt x="128789" y="71390"/>
                </a:moveTo>
                <a:cubicBezTo>
                  <a:pt x="131992" y="68187"/>
                  <a:pt x="131992" y="62985"/>
                  <a:pt x="128789" y="59782"/>
                </a:cubicBezTo>
                <a:lnTo>
                  <a:pt x="87790" y="18783"/>
                </a:lnTo>
                <a:cubicBezTo>
                  <a:pt x="84587" y="15580"/>
                  <a:pt x="79385" y="15580"/>
                  <a:pt x="76182" y="18783"/>
                </a:cubicBezTo>
                <a:cubicBezTo>
                  <a:pt x="72979" y="21986"/>
                  <a:pt x="72979" y="27188"/>
                  <a:pt x="76182" y="30391"/>
                </a:cubicBezTo>
                <a:lnTo>
                  <a:pt x="103190" y="57399"/>
                </a:lnTo>
                <a:lnTo>
                  <a:pt x="8200" y="57399"/>
                </a:lnTo>
                <a:cubicBezTo>
                  <a:pt x="3664" y="57399"/>
                  <a:pt x="0" y="61063"/>
                  <a:pt x="0" y="65599"/>
                </a:cubicBezTo>
                <a:cubicBezTo>
                  <a:pt x="0" y="70134"/>
                  <a:pt x="3664" y="73799"/>
                  <a:pt x="8200" y="73799"/>
                </a:cubicBezTo>
                <a:lnTo>
                  <a:pt x="103190" y="73799"/>
                </a:lnTo>
                <a:lnTo>
                  <a:pt x="76182" y="100807"/>
                </a:lnTo>
                <a:cubicBezTo>
                  <a:pt x="72979" y="104010"/>
                  <a:pt x="72979" y="109212"/>
                  <a:pt x="76182" y="112415"/>
                </a:cubicBezTo>
                <a:cubicBezTo>
                  <a:pt x="79385" y="115618"/>
                  <a:pt x="84587" y="115618"/>
                  <a:pt x="87790" y="112415"/>
                </a:cubicBezTo>
                <a:lnTo>
                  <a:pt x="128789" y="71416"/>
                </a:lnTo>
                <a:close/>
              </a:path>
            </a:pathLst>
          </a:custGeom>
          <a:solidFill>
            <a:srgbClr val="8B0000"/>
          </a:solidFill>
        </p:spPr>
      </p:sp>
      <p:sp>
        <p:nvSpPr>
          <p:cNvPr id="31" name="Text 29"/>
          <p:cNvSpPr/>
          <p:nvPr/>
        </p:nvSpPr>
        <p:spPr>
          <a:xfrm>
            <a:off x="6734256" y="3233082"/>
            <a:ext cx="4807907" cy="187425"/>
          </a:xfrm>
          <a:prstGeom prst="rect">
            <a:avLst/>
          </a:prstGeom>
          <a:noFill/>
        </p:spPr>
        <p:txBody>
          <a:bodyPr wrap="square" lIns="0" tIns="0" rIns="0" bIns="0" rtlCol="0" anchor="ctr"/>
          <a:lstStyle/>
          <a:p>
            <a:pPr>
              <a:lnSpc>
                <a:spcPct val="120000"/>
              </a:lnSpc>
            </a:pP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Higher turnover = more exploratory trading</a:t>
            </a:r>
            <a:endParaRPr lang="en-US" sz="1600" dirty="0"/>
          </a:p>
        </p:txBody>
      </p:sp>
      <p:sp>
        <p:nvSpPr>
          <p:cNvPr id="32" name="Shape 30"/>
          <p:cNvSpPr/>
          <p:nvPr/>
        </p:nvSpPr>
        <p:spPr>
          <a:xfrm>
            <a:off x="6383287" y="3696959"/>
            <a:ext cx="5247902" cy="1583742"/>
          </a:xfrm>
          <a:custGeom>
            <a:avLst/>
            <a:gdLst/>
            <a:ahLst/>
            <a:cxnLst/>
            <a:rect l="l" t="t" r="r" b="b"/>
            <a:pathLst>
              <a:path w="5247902" h="1583742">
                <a:moveTo>
                  <a:pt x="74974" y="0"/>
                </a:moveTo>
                <a:lnTo>
                  <a:pt x="5172927" y="0"/>
                </a:lnTo>
                <a:cubicBezTo>
                  <a:pt x="5214334" y="0"/>
                  <a:pt x="5247902" y="33567"/>
                  <a:pt x="5247902" y="74974"/>
                </a:cubicBezTo>
                <a:lnTo>
                  <a:pt x="5247902" y="1508767"/>
                </a:lnTo>
                <a:cubicBezTo>
                  <a:pt x="5247902" y="1550175"/>
                  <a:pt x="5214334" y="1583742"/>
                  <a:pt x="5172927" y="1583742"/>
                </a:cubicBezTo>
                <a:lnTo>
                  <a:pt x="74974" y="1583742"/>
                </a:lnTo>
                <a:cubicBezTo>
                  <a:pt x="33567" y="1583742"/>
                  <a:pt x="0" y="1550175"/>
                  <a:pt x="0" y="1508767"/>
                </a:cubicBezTo>
                <a:lnTo>
                  <a:pt x="0" y="74974"/>
                </a:lnTo>
                <a:cubicBezTo>
                  <a:pt x="0" y="33595"/>
                  <a:pt x="33595" y="0"/>
                  <a:pt x="74974" y="0"/>
                </a:cubicBezTo>
                <a:close/>
              </a:path>
            </a:pathLst>
          </a:custGeom>
          <a:solidFill>
            <a:srgbClr val="FFFFFF"/>
          </a:solidFill>
          <a:ln w="12700">
            <a:solidFill>
              <a:srgbClr val="8B0000">
                <a:alpha val="20000"/>
              </a:srgbClr>
            </a:solidFill>
            <a:prstDash val="solid"/>
          </a:ln>
        </p:spPr>
      </p:sp>
      <p:sp>
        <p:nvSpPr>
          <p:cNvPr id="33" name="Text 31"/>
          <p:cNvSpPr/>
          <p:nvPr/>
        </p:nvSpPr>
        <p:spPr>
          <a:xfrm>
            <a:off x="6537913" y="3851585"/>
            <a:ext cx="5013620"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3b: HHI Change</a:t>
            </a:r>
            <a:endParaRPr lang="en-US" sz="1600" dirty="0"/>
          </a:p>
        </p:txBody>
      </p:sp>
      <p:sp>
        <p:nvSpPr>
          <p:cNvPr id="34" name="Shape 32"/>
          <p:cNvSpPr/>
          <p:nvPr/>
        </p:nvSpPr>
        <p:spPr>
          <a:xfrm>
            <a:off x="6551970" y="4188950"/>
            <a:ext cx="4924593" cy="637245"/>
          </a:xfrm>
          <a:custGeom>
            <a:avLst/>
            <a:gdLst/>
            <a:ahLst/>
            <a:cxnLst/>
            <a:rect l="l" t="t" r="r" b="b"/>
            <a:pathLst>
              <a:path w="4924593" h="637245">
                <a:moveTo>
                  <a:pt x="0" y="0"/>
                </a:moveTo>
                <a:lnTo>
                  <a:pt x="4924593" y="0"/>
                </a:lnTo>
                <a:lnTo>
                  <a:pt x="4924593" y="637245"/>
                </a:lnTo>
                <a:lnTo>
                  <a:pt x="0" y="637245"/>
                </a:lnTo>
                <a:lnTo>
                  <a:pt x="0" y="0"/>
                </a:lnTo>
                <a:close/>
              </a:path>
            </a:pathLst>
          </a:custGeom>
          <a:solidFill>
            <a:srgbClr val="F9FAFB"/>
          </a:solidFill>
        </p:spPr>
      </p:sp>
      <p:sp>
        <p:nvSpPr>
          <p:cNvPr id="35" name="Shape 33"/>
          <p:cNvSpPr/>
          <p:nvPr/>
        </p:nvSpPr>
        <p:spPr>
          <a:xfrm>
            <a:off x="6551970" y="4188950"/>
            <a:ext cx="28114" cy="637245"/>
          </a:xfrm>
          <a:custGeom>
            <a:avLst/>
            <a:gdLst/>
            <a:ahLst/>
            <a:cxnLst/>
            <a:rect l="l" t="t" r="r" b="b"/>
            <a:pathLst>
              <a:path w="28114" h="637245">
                <a:moveTo>
                  <a:pt x="0" y="0"/>
                </a:moveTo>
                <a:lnTo>
                  <a:pt x="28114" y="0"/>
                </a:lnTo>
                <a:lnTo>
                  <a:pt x="28114" y="637245"/>
                </a:lnTo>
                <a:lnTo>
                  <a:pt x="0" y="637245"/>
                </a:lnTo>
                <a:lnTo>
                  <a:pt x="0" y="0"/>
                </a:lnTo>
                <a:close/>
              </a:path>
            </a:pathLst>
          </a:custGeom>
          <a:solidFill>
            <a:srgbClr val="8B0000"/>
          </a:solidFill>
        </p:spPr>
      </p:sp>
      <p:sp>
        <p:nvSpPr>
          <p:cNvPr id="36" name="Text 34"/>
          <p:cNvSpPr/>
          <p:nvPr/>
        </p:nvSpPr>
        <p:spPr>
          <a:xfrm>
            <a:off x="6715967" y="4301405"/>
            <a:ext cx="4676255" cy="412335"/>
          </a:xfrm>
          <a:prstGeom prst="rect">
            <a:avLst/>
          </a:prstGeom>
          <a:noFill/>
        </p:spPr>
        <p:txBody>
          <a:bodyPr wrap="square" lIns="0" tIns="0" rIns="0" bIns="0" rtlCol="0" anchor="ctr"/>
          <a:lstStyle/>
          <a:p>
            <a:pPr>
              <a:lnSpc>
                <a:spcPct val="140000"/>
              </a:lnSpc>
            </a:pPr>
            <a:r>
              <a:rPr lang="en-US" sz="1035" dirty="0">
                <a:solidFill>
                  <a:srgbClr val="1F2937"/>
                </a:solidFill>
                <a:latin typeface="MiSans" pitchFamily="34" charset="-122"/>
                <a:ea typeface="MiSans" pitchFamily="34" charset="-122"/>
                <a:cs typeface="MiSans" pitchFamily="34" charset="-120"/>
              </a:rPr>
              <a:t>ΔHHI</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α + φ₂(AI</a:t>
            </a:r>
            <a:r>
              <a:rPr lang="en-US" sz="775" dirty="0">
                <a:solidFill>
                  <a:srgbClr val="1F2937"/>
                </a:solidFill>
                <a:latin typeface="MiSans" pitchFamily="34" charset="-122"/>
                <a:ea typeface="MiSans" pitchFamily="34" charset="-122"/>
                <a:cs typeface="MiSans" pitchFamily="34" charset="-120"/>
              </a:rPr>
              <a:t>i</a:t>
            </a:r>
            <a:r>
              <a:rPr lang="en-US" sz="1035" dirty="0">
                <a:solidFill>
                  <a:srgbClr val="1F2937"/>
                </a:solidFill>
                <a:latin typeface="MiSans" pitchFamily="34" charset="-122"/>
                <a:ea typeface="MiSans" pitchFamily="34" charset="-122"/>
                <a:cs typeface="MiSans" pitchFamily="34" charset="-120"/>
              </a:rPr>
              <a:t> × Post</a:t>
            </a:r>
            <a:r>
              <a:rPr lang="en-US" sz="775" dirty="0">
                <a:solidFill>
                  <a:srgbClr val="1F2937"/>
                </a:solidFill>
                <a:latin typeface="MiSans" pitchFamily="34" charset="-122"/>
                <a:ea typeface="MiSans" pitchFamily="34" charset="-122"/>
                <a:cs typeface="MiSans" pitchFamily="34" charset="-120"/>
              </a:rPr>
              <a:t>t</a:t>
            </a:r>
            <a:r>
              <a:rPr lang="en-US" sz="1035" dirty="0">
                <a:solidFill>
                  <a:srgbClr val="1F2937"/>
                </a:solidFill>
                <a:latin typeface="MiSans" pitchFamily="34" charset="-122"/>
                <a:ea typeface="MiSans" pitchFamily="34" charset="-122"/>
                <a:cs typeface="MiSans" pitchFamily="34" charset="-120"/>
              </a:rPr>
              <a:t> × Flow</a:t>
            </a:r>
            <a:r>
              <a:rPr lang="en-US" sz="775" dirty="0">
                <a:solidFill>
                  <a:srgbClr val="1F2937"/>
                </a:solidFill>
                <a:latin typeface="MiSans" pitchFamily="34" charset="-122"/>
                <a:ea typeface="MiSans" pitchFamily="34" charset="-122"/>
                <a:cs typeface="MiSans" pitchFamily="34" charset="-120"/>
              </a:rPr>
              <a:t>i,t</a:t>
            </a:r>
            <a:r>
              <a:rPr lang="en-US" sz="1035" dirty="0">
                <a:solidFill>
                  <a:srgbClr val="1F2937"/>
                </a:solidFill>
                <a:latin typeface="MiSans" pitchFamily="34" charset="-122"/>
                <a:ea typeface="MiSans" pitchFamily="34" charset="-122"/>
                <a:cs typeface="MiSans" pitchFamily="34" charset="-120"/>
              </a:rPr>
              <a:t>) + controls + FE + ε</a:t>
            </a:r>
            <a:r>
              <a:rPr lang="en-US" sz="775" dirty="0">
                <a:solidFill>
                  <a:srgbClr val="1F2937"/>
                </a:solidFill>
                <a:latin typeface="MiSans" pitchFamily="34" charset="-122"/>
                <a:ea typeface="MiSans" pitchFamily="34" charset="-122"/>
                <a:cs typeface="MiSans" pitchFamily="34" charset="-120"/>
              </a:rPr>
              <a:t>i,t</a:t>
            </a:r>
            <a:endParaRPr lang="en-US" sz="1600" dirty="0"/>
          </a:p>
        </p:txBody>
      </p:sp>
      <p:sp>
        <p:nvSpPr>
          <p:cNvPr id="37" name="Shape 35"/>
          <p:cNvSpPr/>
          <p:nvPr/>
        </p:nvSpPr>
        <p:spPr>
          <a:xfrm>
            <a:off x="6556656" y="4957393"/>
            <a:ext cx="131198" cy="131198"/>
          </a:xfrm>
          <a:custGeom>
            <a:avLst/>
            <a:gdLst/>
            <a:ahLst/>
            <a:cxnLst/>
            <a:rect l="l" t="t" r="r" b="b"/>
            <a:pathLst>
              <a:path w="131198" h="131198">
                <a:moveTo>
                  <a:pt x="128789" y="71390"/>
                </a:moveTo>
                <a:cubicBezTo>
                  <a:pt x="131992" y="68187"/>
                  <a:pt x="131992" y="62985"/>
                  <a:pt x="128789" y="59782"/>
                </a:cubicBezTo>
                <a:lnTo>
                  <a:pt x="87790" y="18783"/>
                </a:lnTo>
                <a:cubicBezTo>
                  <a:pt x="84587" y="15580"/>
                  <a:pt x="79385" y="15580"/>
                  <a:pt x="76182" y="18783"/>
                </a:cubicBezTo>
                <a:cubicBezTo>
                  <a:pt x="72979" y="21986"/>
                  <a:pt x="72979" y="27188"/>
                  <a:pt x="76182" y="30391"/>
                </a:cubicBezTo>
                <a:lnTo>
                  <a:pt x="103190" y="57399"/>
                </a:lnTo>
                <a:lnTo>
                  <a:pt x="8200" y="57399"/>
                </a:lnTo>
                <a:cubicBezTo>
                  <a:pt x="3664" y="57399"/>
                  <a:pt x="0" y="61063"/>
                  <a:pt x="0" y="65599"/>
                </a:cubicBezTo>
                <a:cubicBezTo>
                  <a:pt x="0" y="70134"/>
                  <a:pt x="3664" y="73799"/>
                  <a:pt x="8200" y="73799"/>
                </a:cubicBezTo>
                <a:lnTo>
                  <a:pt x="103190" y="73799"/>
                </a:lnTo>
                <a:lnTo>
                  <a:pt x="76182" y="100807"/>
                </a:lnTo>
                <a:cubicBezTo>
                  <a:pt x="72979" y="104010"/>
                  <a:pt x="72979" y="109212"/>
                  <a:pt x="76182" y="112415"/>
                </a:cubicBezTo>
                <a:cubicBezTo>
                  <a:pt x="79385" y="115618"/>
                  <a:pt x="84587" y="115618"/>
                  <a:pt x="87790" y="112415"/>
                </a:cubicBezTo>
                <a:lnTo>
                  <a:pt x="128789" y="71416"/>
                </a:lnTo>
                <a:close/>
              </a:path>
            </a:pathLst>
          </a:custGeom>
          <a:solidFill>
            <a:srgbClr val="8B0000"/>
          </a:solidFill>
        </p:spPr>
      </p:sp>
      <p:sp>
        <p:nvSpPr>
          <p:cNvPr id="38" name="Text 36"/>
          <p:cNvSpPr/>
          <p:nvPr/>
        </p:nvSpPr>
        <p:spPr>
          <a:xfrm>
            <a:off x="6734256" y="4938650"/>
            <a:ext cx="4807907" cy="187425"/>
          </a:xfrm>
          <a:prstGeom prst="rect">
            <a:avLst/>
          </a:prstGeom>
          <a:noFill/>
        </p:spPr>
        <p:txBody>
          <a:bodyPr wrap="square" lIns="0" tIns="0" rIns="0" bIns="0" rtlCol="0" anchor="ctr"/>
          <a:lstStyle/>
          <a:p>
            <a:pPr>
              <a:lnSpc>
                <a:spcPct val="120000"/>
              </a:lnSpc>
            </a:pPr>
            <a:r>
              <a:rPr lang="en-US" sz="103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Negative ΔHHI = diversification (exploratory)</a:t>
            </a:r>
            <a:endParaRPr lang="en-US" sz="1600" dirty="0"/>
          </a:p>
        </p:txBody>
      </p:sp>
      <p:sp>
        <p:nvSpPr>
          <p:cNvPr id="39" name="Shape 37"/>
          <p:cNvSpPr/>
          <p:nvPr/>
        </p:nvSpPr>
        <p:spPr>
          <a:xfrm>
            <a:off x="6378602" y="5285387"/>
            <a:ext cx="5257273" cy="449820"/>
          </a:xfrm>
          <a:custGeom>
            <a:avLst/>
            <a:gdLst/>
            <a:ahLst/>
            <a:cxnLst/>
            <a:rect l="l" t="t" r="r" b="b"/>
            <a:pathLst>
              <a:path w="5257273" h="449820">
                <a:moveTo>
                  <a:pt x="74972" y="0"/>
                </a:moveTo>
                <a:lnTo>
                  <a:pt x="5182301" y="0"/>
                </a:lnTo>
                <a:cubicBezTo>
                  <a:pt x="5223707" y="0"/>
                  <a:pt x="5257273" y="33566"/>
                  <a:pt x="5257273" y="74972"/>
                </a:cubicBezTo>
                <a:lnTo>
                  <a:pt x="5257273" y="374849"/>
                </a:lnTo>
                <a:cubicBezTo>
                  <a:pt x="5257273" y="416254"/>
                  <a:pt x="5223707" y="449820"/>
                  <a:pt x="5182301" y="449820"/>
                </a:cubicBezTo>
                <a:lnTo>
                  <a:pt x="74972" y="449820"/>
                </a:lnTo>
                <a:cubicBezTo>
                  <a:pt x="33594" y="449820"/>
                  <a:pt x="0" y="416227"/>
                  <a:pt x="0" y="374849"/>
                </a:cubicBezTo>
                <a:lnTo>
                  <a:pt x="0" y="74972"/>
                </a:lnTo>
                <a:cubicBezTo>
                  <a:pt x="0" y="33566"/>
                  <a:pt x="33566" y="0"/>
                  <a:pt x="74972" y="0"/>
                </a:cubicBezTo>
                <a:close/>
              </a:path>
            </a:pathLst>
          </a:custGeom>
          <a:solidFill>
            <a:srgbClr val="8B0000">
              <a:alpha val="5098"/>
            </a:srgbClr>
          </a:solidFill>
        </p:spPr>
      </p:sp>
      <p:sp>
        <p:nvSpPr>
          <p:cNvPr id="40" name="Shape 38"/>
          <p:cNvSpPr/>
          <p:nvPr/>
        </p:nvSpPr>
        <p:spPr>
          <a:xfrm>
            <a:off x="6500428" y="5416584"/>
            <a:ext cx="168683" cy="149940"/>
          </a:xfrm>
          <a:custGeom>
            <a:avLst/>
            <a:gdLst/>
            <a:ahLst/>
            <a:cxnLst/>
            <a:rect l="l" t="t" r="r" b="b"/>
            <a:pathLst>
              <a:path w="168683" h="149940">
                <a:moveTo>
                  <a:pt x="90638" y="-5535"/>
                </a:moveTo>
                <a:cubicBezTo>
                  <a:pt x="89437" y="-7878"/>
                  <a:pt x="87006" y="-9371"/>
                  <a:pt x="84371" y="-9371"/>
                </a:cubicBezTo>
                <a:cubicBezTo>
                  <a:pt x="81735" y="-9371"/>
                  <a:pt x="79304" y="-7878"/>
                  <a:pt x="78104" y="-5535"/>
                </a:cubicBezTo>
                <a:lnTo>
                  <a:pt x="56550" y="36694"/>
                </a:lnTo>
                <a:lnTo>
                  <a:pt x="9723" y="44133"/>
                </a:lnTo>
                <a:cubicBezTo>
                  <a:pt x="7116" y="44543"/>
                  <a:pt x="4949" y="46388"/>
                  <a:pt x="4129" y="48906"/>
                </a:cubicBezTo>
                <a:cubicBezTo>
                  <a:pt x="3309" y="51425"/>
                  <a:pt x="3983" y="54178"/>
                  <a:pt x="5828" y="56052"/>
                </a:cubicBezTo>
                <a:lnTo>
                  <a:pt x="39330" y="89583"/>
                </a:lnTo>
                <a:lnTo>
                  <a:pt x="31950" y="136410"/>
                </a:lnTo>
                <a:cubicBezTo>
                  <a:pt x="31540" y="139017"/>
                  <a:pt x="32624" y="141652"/>
                  <a:pt x="34761" y="143204"/>
                </a:cubicBezTo>
                <a:cubicBezTo>
                  <a:pt x="36899" y="144757"/>
                  <a:pt x="39711" y="144991"/>
                  <a:pt x="42083" y="143790"/>
                </a:cubicBezTo>
                <a:lnTo>
                  <a:pt x="84371" y="122295"/>
                </a:lnTo>
                <a:lnTo>
                  <a:pt x="126629" y="143790"/>
                </a:lnTo>
                <a:cubicBezTo>
                  <a:pt x="128972" y="144991"/>
                  <a:pt x="131813" y="144757"/>
                  <a:pt x="133950" y="143204"/>
                </a:cubicBezTo>
                <a:cubicBezTo>
                  <a:pt x="136088" y="141652"/>
                  <a:pt x="137172" y="139046"/>
                  <a:pt x="136762" y="136410"/>
                </a:cubicBezTo>
                <a:lnTo>
                  <a:pt x="129353" y="89583"/>
                </a:lnTo>
                <a:lnTo>
                  <a:pt x="162855" y="56052"/>
                </a:lnTo>
                <a:cubicBezTo>
                  <a:pt x="164729" y="54178"/>
                  <a:pt x="165373" y="51425"/>
                  <a:pt x="164553" y="48906"/>
                </a:cubicBezTo>
                <a:cubicBezTo>
                  <a:pt x="163733" y="46388"/>
                  <a:pt x="161596" y="44543"/>
                  <a:pt x="158960" y="44133"/>
                </a:cubicBezTo>
                <a:lnTo>
                  <a:pt x="112162" y="36694"/>
                </a:lnTo>
                <a:lnTo>
                  <a:pt x="90638" y="-5535"/>
                </a:lnTo>
                <a:close/>
              </a:path>
            </a:pathLst>
          </a:custGeom>
          <a:solidFill>
            <a:srgbClr val="8B0000"/>
          </a:solidFill>
        </p:spPr>
      </p:sp>
      <p:sp>
        <p:nvSpPr>
          <p:cNvPr id="41" name="Text 39"/>
          <p:cNvSpPr/>
          <p:nvPr/>
        </p:nvSpPr>
        <p:spPr>
          <a:xfrm>
            <a:off x="6733802" y="5397842"/>
            <a:ext cx="4864588" cy="224910"/>
          </a:xfrm>
          <a:prstGeom prst="rect">
            <a:avLst/>
          </a:prstGeom>
          <a:noFill/>
        </p:spPr>
        <p:txBody>
          <a:bodyPr wrap="square" lIns="0" tIns="0" rIns="0" bIns="0" rtlCol="0" anchor="ctr"/>
          <a:lstStyle/>
          <a:p>
            <a:pPr>
              <a:lnSpc>
                <a:spcPct val="13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φ₁ &gt; 0, φ₂ &lt; 0 (more turnover, more diversification)</a:t>
            </a:r>
            <a:endParaRPr lang="en-US" sz="1600" dirty="0"/>
          </a:p>
        </p:txBody>
      </p:sp>
      <p:sp>
        <p:nvSpPr>
          <p:cNvPr id="42" name="Shape 40"/>
          <p:cNvSpPr/>
          <p:nvPr/>
        </p:nvSpPr>
        <p:spPr>
          <a:xfrm>
            <a:off x="393593" y="6072572"/>
            <a:ext cx="11423557" cy="787185"/>
          </a:xfrm>
          <a:custGeom>
            <a:avLst/>
            <a:gdLst/>
            <a:ahLst/>
            <a:cxnLst/>
            <a:rect l="l" t="t" r="r" b="b"/>
            <a:pathLst>
              <a:path w="11423557" h="787185">
                <a:moveTo>
                  <a:pt x="37485" y="0"/>
                </a:moveTo>
                <a:lnTo>
                  <a:pt x="11348586" y="0"/>
                </a:lnTo>
                <a:cubicBezTo>
                  <a:pt x="11389991" y="0"/>
                  <a:pt x="11423557" y="33566"/>
                  <a:pt x="11423557" y="74972"/>
                </a:cubicBezTo>
                <a:lnTo>
                  <a:pt x="11423557" y="712214"/>
                </a:lnTo>
                <a:cubicBezTo>
                  <a:pt x="11423557" y="753619"/>
                  <a:pt x="11389991" y="787185"/>
                  <a:pt x="11348586" y="787185"/>
                </a:cubicBezTo>
                <a:lnTo>
                  <a:pt x="37485" y="787185"/>
                </a:lnTo>
                <a:cubicBezTo>
                  <a:pt x="16783" y="787185"/>
                  <a:pt x="0" y="770403"/>
                  <a:pt x="0" y="749700"/>
                </a:cubicBezTo>
                <a:lnTo>
                  <a:pt x="0" y="37485"/>
                </a:lnTo>
                <a:cubicBezTo>
                  <a:pt x="0" y="16783"/>
                  <a:pt x="16783" y="0"/>
                  <a:pt x="37485" y="0"/>
                </a:cubicBezTo>
                <a:close/>
              </a:path>
            </a:pathLst>
          </a:custGeom>
          <a:solidFill>
            <a:srgbClr val="8B0000">
              <a:alpha val="5098"/>
            </a:srgbClr>
          </a:solidFill>
        </p:spPr>
      </p:sp>
      <p:sp>
        <p:nvSpPr>
          <p:cNvPr id="43" name="Shape 41"/>
          <p:cNvSpPr/>
          <p:nvPr/>
        </p:nvSpPr>
        <p:spPr>
          <a:xfrm>
            <a:off x="393593" y="6072572"/>
            <a:ext cx="37485" cy="787185"/>
          </a:xfrm>
          <a:custGeom>
            <a:avLst/>
            <a:gdLst/>
            <a:ahLst/>
            <a:cxnLst/>
            <a:rect l="l" t="t" r="r" b="b"/>
            <a:pathLst>
              <a:path w="37485" h="787185">
                <a:moveTo>
                  <a:pt x="37485" y="0"/>
                </a:moveTo>
                <a:lnTo>
                  <a:pt x="37485" y="0"/>
                </a:lnTo>
                <a:lnTo>
                  <a:pt x="37485" y="787185"/>
                </a:lnTo>
                <a:lnTo>
                  <a:pt x="37485" y="787185"/>
                </a:lnTo>
                <a:cubicBezTo>
                  <a:pt x="16783" y="787185"/>
                  <a:pt x="0" y="770403"/>
                  <a:pt x="0" y="749700"/>
                </a:cubicBezTo>
                <a:lnTo>
                  <a:pt x="0" y="37485"/>
                </a:lnTo>
                <a:cubicBezTo>
                  <a:pt x="0" y="16783"/>
                  <a:pt x="16783" y="0"/>
                  <a:pt x="37485" y="0"/>
                </a:cubicBezTo>
                <a:close/>
              </a:path>
            </a:pathLst>
          </a:custGeom>
          <a:solidFill>
            <a:srgbClr val="8B0000"/>
          </a:solidFill>
        </p:spPr>
      </p:sp>
      <p:sp>
        <p:nvSpPr>
          <p:cNvPr id="44" name="Shape 42"/>
          <p:cNvSpPr/>
          <p:nvPr/>
        </p:nvSpPr>
        <p:spPr>
          <a:xfrm>
            <a:off x="581018" y="6250626"/>
            <a:ext cx="149940" cy="149940"/>
          </a:xfrm>
          <a:custGeom>
            <a:avLst/>
            <a:gdLst/>
            <a:ahLst/>
            <a:cxnLst/>
            <a:rect l="l" t="t" r="r" b="b"/>
            <a:pathLst>
              <a:path w="149940" h="149940">
                <a:moveTo>
                  <a:pt x="74970" y="149940"/>
                </a:moveTo>
                <a:cubicBezTo>
                  <a:pt x="116347" y="149940"/>
                  <a:pt x="149940" y="116347"/>
                  <a:pt x="149940" y="74970"/>
                </a:cubicBezTo>
                <a:cubicBezTo>
                  <a:pt x="149940" y="33593"/>
                  <a:pt x="116347" y="0"/>
                  <a:pt x="74970" y="0"/>
                </a:cubicBezTo>
                <a:cubicBezTo>
                  <a:pt x="33593" y="0"/>
                  <a:pt x="0" y="33593"/>
                  <a:pt x="0" y="74970"/>
                </a:cubicBezTo>
                <a:cubicBezTo>
                  <a:pt x="0" y="116347"/>
                  <a:pt x="33593" y="149940"/>
                  <a:pt x="74970" y="149940"/>
                </a:cubicBezTo>
                <a:close/>
                <a:moveTo>
                  <a:pt x="65599" y="46856"/>
                </a:moveTo>
                <a:cubicBezTo>
                  <a:pt x="65599" y="41684"/>
                  <a:pt x="69798" y="37485"/>
                  <a:pt x="74970" y="37485"/>
                </a:cubicBezTo>
                <a:cubicBezTo>
                  <a:pt x="80142" y="37485"/>
                  <a:pt x="84341" y="41684"/>
                  <a:pt x="84341" y="46856"/>
                </a:cubicBezTo>
                <a:cubicBezTo>
                  <a:pt x="84341" y="52028"/>
                  <a:pt x="80142" y="56228"/>
                  <a:pt x="74970" y="56228"/>
                </a:cubicBezTo>
                <a:cubicBezTo>
                  <a:pt x="69798" y="56228"/>
                  <a:pt x="65599" y="52028"/>
                  <a:pt x="65599" y="46856"/>
                </a:cubicBezTo>
                <a:close/>
                <a:moveTo>
                  <a:pt x="63256" y="65599"/>
                </a:moveTo>
                <a:lnTo>
                  <a:pt x="77313" y="65599"/>
                </a:lnTo>
                <a:cubicBezTo>
                  <a:pt x="81208" y="65599"/>
                  <a:pt x="84341" y="68732"/>
                  <a:pt x="84341" y="72627"/>
                </a:cubicBezTo>
                <a:lnTo>
                  <a:pt x="84341" y="98398"/>
                </a:lnTo>
                <a:lnTo>
                  <a:pt x="86684" y="98398"/>
                </a:lnTo>
                <a:cubicBezTo>
                  <a:pt x="90579" y="98398"/>
                  <a:pt x="93713" y="101532"/>
                  <a:pt x="93713" y="105427"/>
                </a:cubicBezTo>
                <a:cubicBezTo>
                  <a:pt x="93713" y="109322"/>
                  <a:pt x="90579" y="112455"/>
                  <a:pt x="86684" y="112455"/>
                </a:cubicBezTo>
                <a:lnTo>
                  <a:pt x="63256" y="112455"/>
                </a:lnTo>
                <a:cubicBezTo>
                  <a:pt x="59361" y="112455"/>
                  <a:pt x="56228" y="109322"/>
                  <a:pt x="56228" y="105427"/>
                </a:cubicBezTo>
                <a:cubicBezTo>
                  <a:pt x="56228" y="101532"/>
                  <a:pt x="59361" y="98398"/>
                  <a:pt x="63256" y="98398"/>
                </a:cubicBezTo>
                <a:lnTo>
                  <a:pt x="70284" y="98398"/>
                </a:lnTo>
                <a:lnTo>
                  <a:pt x="70284" y="79656"/>
                </a:lnTo>
                <a:lnTo>
                  <a:pt x="63256" y="79656"/>
                </a:lnTo>
                <a:cubicBezTo>
                  <a:pt x="59361" y="79656"/>
                  <a:pt x="56228" y="76522"/>
                  <a:pt x="56228" y="72627"/>
                </a:cubicBezTo>
                <a:cubicBezTo>
                  <a:pt x="56228" y="68732"/>
                  <a:pt x="59361" y="65599"/>
                  <a:pt x="63256" y="65599"/>
                </a:cubicBezTo>
                <a:close/>
              </a:path>
            </a:pathLst>
          </a:custGeom>
          <a:solidFill>
            <a:srgbClr val="8B0000"/>
          </a:solidFill>
        </p:spPr>
      </p:sp>
      <p:sp>
        <p:nvSpPr>
          <p:cNvPr id="45" name="Text 43"/>
          <p:cNvSpPr/>
          <p:nvPr/>
        </p:nvSpPr>
        <p:spPr>
          <a:xfrm>
            <a:off x="805020" y="6222512"/>
            <a:ext cx="10937160" cy="487305"/>
          </a:xfrm>
          <a:prstGeom prst="rect">
            <a:avLst/>
          </a:prstGeom>
          <a:noFill/>
        </p:spPr>
        <p:txBody>
          <a:bodyPr wrap="square" lIns="0" tIns="0" rIns="0" bIns="0" rtlCol="0" anchor="ctr"/>
          <a:lstStyle/>
          <a:p>
            <a:pPr>
              <a:lnSpc>
                <a:spcPct val="140000"/>
              </a:lnSpc>
            </a:pP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Estimation:</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All models estimated using </a:t>
            </a: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Panel OLS</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with </a:t>
            </a:r>
            <a:r>
              <a:rPr lang="en-US" sz="118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cluster-robust standard errors</a:t>
            </a:r>
            <a:r>
              <a:rPr lang="en-US" sz="11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(by fund) to account for within-fund correlation. Fixed effects absorb unobserved heterogeneity at fund and time levels.</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1: Summary Statistics</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graphicFrame>
        <p:nvGraphicFramePr>
          <p:cNvPr id="14" name="Table 0"/>
          <p:cNvGraphicFramePr>
            <a:graphicFrameLocks noGrp="1"/>
          </p:cNvGraphicFramePr>
          <p:nvPr/>
        </p:nvGraphicFramePr>
        <p:xfrm>
          <a:off x="381000" y="1371600"/>
          <a:ext cx="11430000" cy="3381380"/>
        </p:xfrm>
        <a:graphic>
          <a:graphicData uri="http://schemas.openxmlformats.org/drawingml/2006/table">
            <a:tbl>
              <a:tblPr/>
              <a:tblGrid>
                <a:gridCol w="3207252"/>
                <a:gridCol w="1532248"/>
                <a:gridCol w="1522731"/>
                <a:gridCol w="2093755"/>
                <a:gridCol w="1503697"/>
                <a:gridCol w="1570316"/>
              </a:tblGrid>
              <a:tr h="338138">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Variable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Mean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Std. Dev.</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Min</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Max</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Flow_w</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0.104</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-0.389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0.617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AI_Exposure (%)</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52.47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23.48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AI_Exposure_std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-2.23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Post</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0.55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0.50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log_tna_lag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4.85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2.12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-2.30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12.34</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mret_lag (%)</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54,488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0.42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4.89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-28.45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35.67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pre_avg_std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53,177</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2.91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turn_ratio</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17,379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0.68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0.45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3.50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38138">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delta_hhi</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65,468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0.089</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-0.756</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0.823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810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7" name="Shape 4"/>
          <p:cNvSpPr/>
          <p:nvPr/>
        </p:nvSpPr>
        <p:spPr>
          <a:xfrm>
            <a:off x="3810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8" name="Text 5"/>
          <p:cNvSpPr/>
          <p:nvPr/>
        </p:nvSpPr>
        <p:spPr>
          <a:xfrm>
            <a:off x="5000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Total Observations</a:t>
            </a:r>
            <a:endParaRPr lang="en-US" sz="1600" dirty="0"/>
          </a:p>
        </p:txBody>
      </p:sp>
      <p:sp>
        <p:nvSpPr>
          <p:cNvPr id="9" name="Text 6"/>
          <p:cNvSpPr/>
          <p:nvPr/>
        </p:nvSpPr>
        <p:spPr>
          <a:xfrm>
            <a:off x="476250" y="5305425"/>
            <a:ext cx="2552700" cy="295275"/>
          </a:xfrm>
          <a:prstGeom prst="rect">
            <a:avLst/>
          </a:prstGeom>
          <a:noFill/>
        </p:spPr>
        <p:txBody>
          <a:bodyPr wrap="square" lIns="0" tIns="0" rIns="0" bIns="0" rtlCol="0" anchor="ctr"/>
          <a:lstStyle/>
          <a:p>
            <a:pPr algn="ctr">
              <a:lnSpc>
                <a:spcPct val="110000"/>
              </a:lnSpc>
            </a:pPr>
            <a:r>
              <a:rPr lang="en-US" sz="18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54,488</a:t>
            </a:r>
            <a:endParaRPr lang="en-US" sz="1600" dirty="0"/>
          </a:p>
        </p:txBody>
      </p:sp>
      <p:sp>
        <p:nvSpPr>
          <p:cNvPr id="10" name="Shape 7"/>
          <p:cNvSpPr/>
          <p:nvPr/>
        </p:nvSpPr>
        <p:spPr>
          <a:xfrm>
            <a:off x="32766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11" name="Shape 8"/>
          <p:cNvSpPr/>
          <p:nvPr/>
        </p:nvSpPr>
        <p:spPr>
          <a:xfrm>
            <a:off x="32766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12" name="Text 9"/>
          <p:cNvSpPr/>
          <p:nvPr/>
        </p:nvSpPr>
        <p:spPr>
          <a:xfrm>
            <a:off x="33956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Number of Funds</a:t>
            </a:r>
            <a:endParaRPr lang="en-US" sz="1600" dirty="0"/>
          </a:p>
        </p:txBody>
      </p:sp>
      <p:sp>
        <p:nvSpPr>
          <p:cNvPr id="13" name="Text 10"/>
          <p:cNvSpPr/>
          <p:nvPr/>
        </p:nvSpPr>
        <p:spPr>
          <a:xfrm>
            <a:off x="3371850" y="5305425"/>
            <a:ext cx="2552700" cy="295275"/>
          </a:xfrm>
          <a:prstGeom prst="rect">
            <a:avLst/>
          </a:prstGeom>
          <a:noFill/>
        </p:spPr>
        <p:txBody>
          <a:bodyPr wrap="square" lIns="0" tIns="0" rIns="0" bIns="0" rtlCol="0" anchor="ctr"/>
          <a:lstStyle/>
          <a:p>
            <a:pPr algn="ctr">
              <a:lnSpc>
                <a:spcPct val="110000"/>
              </a:lnSpc>
            </a:pPr>
            <a:r>
              <a:rPr lang="en-US" sz="18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1,229</a:t>
            </a:r>
            <a:endParaRPr lang="en-US" sz="1600" dirty="0"/>
          </a:p>
        </p:txBody>
      </p:sp>
      <p:sp>
        <p:nvSpPr>
          <p:cNvPr id="5" name="Shape 11"/>
          <p:cNvSpPr/>
          <p:nvPr/>
        </p:nvSpPr>
        <p:spPr>
          <a:xfrm>
            <a:off x="61722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15" name="Shape 12"/>
          <p:cNvSpPr/>
          <p:nvPr/>
        </p:nvSpPr>
        <p:spPr>
          <a:xfrm>
            <a:off x="61722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16" name="Text 13"/>
          <p:cNvSpPr/>
          <p:nvPr/>
        </p:nvSpPr>
        <p:spPr>
          <a:xfrm>
            <a:off x="62912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Periods</a:t>
            </a:r>
            <a:endParaRPr lang="en-US" sz="1600" dirty="0"/>
          </a:p>
        </p:txBody>
      </p:sp>
      <p:sp>
        <p:nvSpPr>
          <p:cNvPr id="17" name="Text 14"/>
          <p:cNvSpPr/>
          <p:nvPr/>
        </p:nvSpPr>
        <p:spPr>
          <a:xfrm>
            <a:off x="6267450" y="5305425"/>
            <a:ext cx="2552700" cy="295275"/>
          </a:xfrm>
          <a:prstGeom prst="rect">
            <a:avLst/>
          </a:prstGeom>
          <a:noFill/>
        </p:spPr>
        <p:txBody>
          <a:bodyPr wrap="square" lIns="0" tIns="0" rIns="0" bIns="0" rtlCol="0" anchor="ctr"/>
          <a:lstStyle/>
          <a:p>
            <a:pPr algn="ctr">
              <a:lnSpc>
                <a:spcPct val="110000"/>
              </a:lnSpc>
            </a:pPr>
            <a:r>
              <a:rPr lang="en-US" sz="180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47</a:t>
            </a:r>
            <a:endParaRPr lang="en-US" sz="1600" dirty="0"/>
          </a:p>
        </p:txBody>
      </p:sp>
      <p:sp>
        <p:nvSpPr>
          <p:cNvPr id="18" name="Shape 15"/>
          <p:cNvSpPr/>
          <p:nvPr/>
        </p:nvSpPr>
        <p:spPr>
          <a:xfrm>
            <a:off x="9067800" y="4914900"/>
            <a:ext cx="2743200" cy="838200"/>
          </a:xfrm>
          <a:custGeom>
            <a:avLst/>
            <a:gdLst/>
            <a:ahLst/>
            <a:cxnLst/>
            <a:rect l="l" t="t" r="r" b="b"/>
            <a:pathLst>
              <a:path w="2743200" h="838200">
                <a:moveTo>
                  <a:pt x="19050" y="0"/>
                </a:moveTo>
                <a:lnTo>
                  <a:pt x="2724150" y="0"/>
                </a:lnTo>
                <a:cubicBezTo>
                  <a:pt x="2734671" y="0"/>
                  <a:pt x="2743200" y="8529"/>
                  <a:pt x="2743200" y="19050"/>
                </a:cubicBezTo>
                <a:lnTo>
                  <a:pt x="2743200" y="761999"/>
                </a:lnTo>
                <a:cubicBezTo>
                  <a:pt x="2743200" y="804084"/>
                  <a:pt x="2709084" y="838200"/>
                  <a:pt x="2666999" y="838200"/>
                </a:cubicBezTo>
                <a:lnTo>
                  <a:pt x="76201" y="838200"/>
                </a:lnTo>
                <a:cubicBezTo>
                  <a:pt x="34116" y="838200"/>
                  <a:pt x="0" y="804084"/>
                  <a:pt x="0" y="761999"/>
                </a:cubicBezTo>
                <a:lnTo>
                  <a:pt x="0" y="19050"/>
                </a:lnTo>
                <a:cubicBezTo>
                  <a:pt x="0" y="8536"/>
                  <a:pt x="8536" y="0"/>
                  <a:pt x="19050" y="0"/>
                </a:cubicBezTo>
                <a:close/>
              </a:path>
            </a:pathLst>
          </a:custGeom>
          <a:solidFill>
            <a:srgbClr val="F9FAFB"/>
          </a:solidFill>
        </p:spPr>
      </p:sp>
      <p:sp>
        <p:nvSpPr>
          <p:cNvPr id="19" name="Shape 16"/>
          <p:cNvSpPr/>
          <p:nvPr/>
        </p:nvSpPr>
        <p:spPr>
          <a:xfrm>
            <a:off x="9067800" y="4914900"/>
            <a:ext cx="2743200" cy="19050"/>
          </a:xfrm>
          <a:custGeom>
            <a:avLst/>
            <a:gdLst/>
            <a:ahLst/>
            <a:cxnLst/>
            <a:rect l="l" t="t" r="r" b="b"/>
            <a:pathLst>
              <a:path w="2743200" h="19050">
                <a:moveTo>
                  <a:pt x="19050" y="0"/>
                </a:moveTo>
                <a:lnTo>
                  <a:pt x="2724150" y="0"/>
                </a:lnTo>
                <a:cubicBezTo>
                  <a:pt x="2734664" y="0"/>
                  <a:pt x="2743200" y="8536"/>
                  <a:pt x="2743200" y="19050"/>
                </a:cubicBezTo>
                <a:lnTo>
                  <a:pt x="2743200" y="19050"/>
                </a:lnTo>
                <a:lnTo>
                  <a:pt x="0" y="19050"/>
                </a:lnTo>
                <a:lnTo>
                  <a:pt x="0" y="19050"/>
                </a:lnTo>
                <a:cubicBezTo>
                  <a:pt x="0" y="8536"/>
                  <a:pt x="8536" y="0"/>
                  <a:pt x="19050" y="0"/>
                </a:cubicBezTo>
                <a:close/>
              </a:path>
            </a:pathLst>
          </a:custGeom>
          <a:solidFill>
            <a:srgbClr val="8B0000"/>
          </a:solidFill>
        </p:spPr>
      </p:sp>
      <p:sp>
        <p:nvSpPr>
          <p:cNvPr id="20" name="Text 17"/>
          <p:cNvSpPr/>
          <p:nvPr/>
        </p:nvSpPr>
        <p:spPr>
          <a:xfrm>
            <a:off x="9186863" y="5076825"/>
            <a:ext cx="2505075" cy="190500"/>
          </a:xfrm>
          <a:prstGeom prst="rect">
            <a:avLst/>
          </a:prstGeom>
          <a:noFill/>
        </p:spPr>
        <p:txBody>
          <a:bodyPr wrap="square" lIns="0" tIns="0" rIns="0" bIns="0" rtlCol="0" anchor="ctr"/>
          <a:lstStyle/>
          <a:p>
            <a:pPr algn="ctr">
              <a:lnSpc>
                <a:spcPct val="120000"/>
              </a:lnSpc>
            </a:pP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Period</a:t>
            </a:r>
            <a:endParaRPr lang="en-US" sz="1600" dirty="0"/>
          </a:p>
        </p:txBody>
      </p:sp>
      <p:sp>
        <p:nvSpPr>
          <p:cNvPr id="21" name="Text 18"/>
          <p:cNvSpPr/>
          <p:nvPr/>
        </p:nvSpPr>
        <p:spPr>
          <a:xfrm>
            <a:off x="9177338" y="5305425"/>
            <a:ext cx="2524125" cy="266700"/>
          </a:xfrm>
          <a:prstGeom prst="rect">
            <a:avLst/>
          </a:prstGeom>
          <a:noFill/>
        </p:spPr>
        <p:txBody>
          <a:bodyPr wrap="square" lIns="0" tIns="0" rIns="0" bIns="0" rtlCol="0" anchor="ctr"/>
          <a:lstStyle/>
          <a:p>
            <a:pPr algn="ctr">
              <a:lnSpc>
                <a:spcPct val="130000"/>
              </a:lnSpc>
            </a:pPr>
            <a:r>
              <a:rPr lang="en-US" sz="135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Jan 2021 - Dec 2024</a:t>
            </a:r>
            <a:endParaRPr lang="en-US" sz="1600" dirty="0"/>
          </a:p>
        </p:txBody>
      </p:sp>
      <p:sp>
        <p:nvSpPr>
          <p:cNvPr id="22" name="Shape 19"/>
          <p:cNvSpPr/>
          <p:nvPr/>
        </p:nvSpPr>
        <p:spPr>
          <a:xfrm>
            <a:off x="381000" y="5867400"/>
            <a:ext cx="11430000" cy="647700"/>
          </a:xfrm>
          <a:custGeom>
            <a:avLst/>
            <a:gdLst/>
            <a:ahLst/>
            <a:cxnLst/>
            <a:rect l="l" t="t" r="r" b="b"/>
            <a:pathLst>
              <a:path w="11430000" h="647700">
                <a:moveTo>
                  <a:pt x="76202" y="0"/>
                </a:moveTo>
                <a:lnTo>
                  <a:pt x="11353798" y="0"/>
                </a:lnTo>
                <a:cubicBezTo>
                  <a:pt x="11395883" y="0"/>
                  <a:pt x="11430000" y="34117"/>
                  <a:pt x="11430000" y="76202"/>
                </a:cubicBezTo>
                <a:lnTo>
                  <a:pt x="11430000" y="571498"/>
                </a:lnTo>
                <a:cubicBezTo>
                  <a:pt x="11430000" y="613583"/>
                  <a:pt x="11395883" y="647700"/>
                  <a:pt x="11353798" y="647700"/>
                </a:cubicBezTo>
                <a:lnTo>
                  <a:pt x="76202" y="647700"/>
                </a:lnTo>
                <a:cubicBezTo>
                  <a:pt x="34117" y="647700"/>
                  <a:pt x="0" y="613583"/>
                  <a:pt x="0" y="571498"/>
                </a:cubicBezTo>
                <a:lnTo>
                  <a:pt x="0" y="76202"/>
                </a:lnTo>
                <a:cubicBezTo>
                  <a:pt x="0" y="34117"/>
                  <a:pt x="34117" y="0"/>
                  <a:pt x="76202" y="0"/>
                </a:cubicBezTo>
                <a:close/>
              </a:path>
            </a:pathLst>
          </a:custGeom>
          <a:solidFill>
            <a:srgbClr val="8B0000">
              <a:alpha val="5098"/>
            </a:srgbClr>
          </a:solidFill>
        </p:spPr>
      </p:sp>
      <p:sp>
        <p:nvSpPr>
          <p:cNvPr id="23" name="Shape 20"/>
          <p:cNvSpPr/>
          <p:nvPr/>
        </p:nvSpPr>
        <p:spPr>
          <a:xfrm>
            <a:off x="514350" y="6010275"/>
            <a:ext cx="133350" cy="133350"/>
          </a:xfrm>
          <a:custGeom>
            <a:avLst/>
            <a:gdLst/>
            <a:ahLst/>
            <a:cxnLst/>
            <a:rect l="l" t="t" r="r" b="b"/>
            <a:pathLst>
              <a:path w="133350" h="133350">
                <a:moveTo>
                  <a:pt x="66675" y="133350"/>
                </a:moveTo>
                <a:cubicBezTo>
                  <a:pt x="103474" y="133350"/>
                  <a:pt x="133350" y="103474"/>
                  <a:pt x="133350" y="66675"/>
                </a:cubicBezTo>
                <a:cubicBezTo>
                  <a:pt x="133350" y="29876"/>
                  <a:pt x="103474" y="0"/>
                  <a:pt x="66675" y="0"/>
                </a:cubicBezTo>
                <a:cubicBezTo>
                  <a:pt x="29876" y="0"/>
                  <a:pt x="0" y="29876"/>
                  <a:pt x="0" y="66675"/>
                </a:cubicBezTo>
                <a:cubicBezTo>
                  <a:pt x="0" y="103474"/>
                  <a:pt x="29876" y="133350"/>
                  <a:pt x="66675" y="133350"/>
                </a:cubicBezTo>
                <a:close/>
                <a:moveTo>
                  <a:pt x="58341" y="41672"/>
                </a:moveTo>
                <a:cubicBezTo>
                  <a:pt x="58341" y="37072"/>
                  <a:pt x="62075" y="33337"/>
                  <a:pt x="66675" y="33337"/>
                </a:cubicBezTo>
                <a:cubicBezTo>
                  <a:pt x="71275" y="33337"/>
                  <a:pt x="75009" y="37072"/>
                  <a:pt x="75009" y="41672"/>
                </a:cubicBezTo>
                <a:cubicBezTo>
                  <a:pt x="75009" y="46272"/>
                  <a:pt x="71275" y="50006"/>
                  <a:pt x="66675" y="50006"/>
                </a:cubicBezTo>
                <a:cubicBezTo>
                  <a:pt x="62075" y="50006"/>
                  <a:pt x="58341" y="46272"/>
                  <a:pt x="58341" y="41672"/>
                </a:cubicBezTo>
                <a:close/>
                <a:moveTo>
                  <a:pt x="56257" y="58341"/>
                </a:moveTo>
                <a:lnTo>
                  <a:pt x="68759" y="58341"/>
                </a:lnTo>
                <a:cubicBezTo>
                  <a:pt x="72223" y="58341"/>
                  <a:pt x="75009" y="61127"/>
                  <a:pt x="75009" y="64591"/>
                </a:cubicBezTo>
                <a:lnTo>
                  <a:pt x="75009" y="87511"/>
                </a:lnTo>
                <a:lnTo>
                  <a:pt x="77093" y="87511"/>
                </a:lnTo>
                <a:cubicBezTo>
                  <a:pt x="80557" y="87511"/>
                  <a:pt x="83344" y="90298"/>
                  <a:pt x="83344" y="93762"/>
                </a:cubicBezTo>
                <a:cubicBezTo>
                  <a:pt x="83344" y="97226"/>
                  <a:pt x="80557" y="100013"/>
                  <a:pt x="77093" y="100013"/>
                </a:cubicBezTo>
                <a:lnTo>
                  <a:pt x="56257" y="100013"/>
                </a:lnTo>
                <a:cubicBezTo>
                  <a:pt x="52793" y="100013"/>
                  <a:pt x="50006" y="97226"/>
                  <a:pt x="50006" y="93762"/>
                </a:cubicBezTo>
                <a:cubicBezTo>
                  <a:pt x="50006" y="90298"/>
                  <a:pt x="52793" y="87511"/>
                  <a:pt x="56257" y="87511"/>
                </a:cubicBezTo>
                <a:lnTo>
                  <a:pt x="62508" y="87511"/>
                </a:lnTo>
                <a:lnTo>
                  <a:pt x="62508" y="70842"/>
                </a:lnTo>
                <a:lnTo>
                  <a:pt x="56257" y="70842"/>
                </a:lnTo>
                <a:cubicBezTo>
                  <a:pt x="52793" y="70842"/>
                  <a:pt x="50006" y="68055"/>
                  <a:pt x="50006" y="64591"/>
                </a:cubicBezTo>
                <a:cubicBezTo>
                  <a:pt x="50006" y="61127"/>
                  <a:pt x="52793" y="58341"/>
                  <a:pt x="56257" y="58341"/>
                </a:cubicBezTo>
                <a:close/>
              </a:path>
            </a:pathLst>
          </a:custGeom>
          <a:solidFill>
            <a:srgbClr val="8B0000"/>
          </a:solidFill>
        </p:spPr>
      </p:sp>
      <p:sp>
        <p:nvSpPr>
          <p:cNvPr id="24" name="Text 21"/>
          <p:cNvSpPr/>
          <p:nvPr/>
        </p:nvSpPr>
        <p:spPr>
          <a:xfrm>
            <a:off x="723900" y="5981700"/>
            <a:ext cx="11039475" cy="419100"/>
          </a:xfrm>
          <a:prstGeom prst="rect">
            <a:avLst/>
          </a:prstGeom>
          <a:noFill/>
        </p:spPr>
        <p:txBody>
          <a:bodyPr wrap="square" lIns="0" tIns="0" rIns="0" bIns="0" rtlCol="0" anchor="ctr"/>
          <a:lstStyle/>
          <a:p>
            <a:pPr>
              <a:lnSpc>
                <a:spcPct val="140000"/>
              </a:lnSpc>
            </a:pPr>
            <a:r>
              <a:rPr lang="en-US" sz="10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Notes:</a:t>
            </a:r>
            <a:r>
              <a:rPr lang="en-US" sz="105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Flow_w is winsorized at 1% and 99% to handle extreme outliers. AI_Exposure_std and pre_avg_std are standardized (mean=0, SD=1). Turnover and delta_hhi have fewer observations due to quarterly reporting frequency and data availability.</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506200" cy="228600"/>
          </a:xfrm>
          <a:prstGeom prst="rect">
            <a:avLst/>
          </a:prstGeom>
          <a:noFill/>
        </p:spPr>
        <p:txBody>
          <a:bodyPr wrap="square" lIns="0" tIns="0" rIns="0" bIns="0" rtlCol="0" anchor="ctr"/>
          <a:lstStyle/>
          <a:p>
            <a:pPr>
              <a:lnSpc>
                <a:spcPct val="130000"/>
              </a:lnSpc>
            </a:pPr>
            <a:r>
              <a:rPr lang="en-US" sz="1200" b="1" kern="0" spc="6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81000" y="685800"/>
            <a:ext cx="11601450" cy="381000"/>
          </a:xfrm>
          <a:prstGeom prst="rect">
            <a:avLst/>
          </a:prstGeom>
          <a:noFill/>
        </p:spPr>
        <p:txBody>
          <a:bodyPr wrap="square" lIns="0" tIns="0" rIns="0" bIns="0" rtlCol="0" anchor="ctr"/>
          <a:lstStyle/>
          <a:p>
            <a:pPr>
              <a:lnSpc>
                <a:spcPct val="90000"/>
              </a:lnSpc>
            </a:pPr>
            <a:r>
              <a:rPr lang="en-US" sz="27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2: Correlation Matrix</a:t>
            </a:r>
            <a:endParaRPr lang="en-US" sz="1600" dirty="0"/>
          </a:p>
        </p:txBody>
      </p:sp>
      <p:sp>
        <p:nvSpPr>
          <p:cNvPr id="4" name="Shape 2"/>
          <p:cNvSpPr/>
          <p:nvPr/>
        </p:nvSpPr>
        <p:spPr>
          <a:xfrm>
            <a:off x="381000" y="11811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8B0000"/>
          </a:solidFill>
        </p:spPr>
      </p:sp>
      <p:graphicFrame>
        <p:nvGraphicFramePr>
          <p:cNvPr id="15" name="Table 0"/>
          <p:cNvGraphicFramePr>
            <a:graphicFrameLocks noGrp="1"/>
          </p:cNvGraphicFramePr>
          <p:nvPr/>
        </p:nvGraphicFramePr>
        <p:xfrm>
          <a:off x="381000" y="1371600"/>
          <a:ext cx="6781800" cy="2381253"/>
        </p:xfrm>
        <a:graphic>
          <a:graphicData uri="http://schemas.openxmlformats.org/drawingml/2006/table">
            <a:tbl>
              <a:tblPr/>
              <a:tblGrid>
                <a:gridCol w="1859987"/>
                <a:gridCol w="906148"/>
                <a:gridCol w="867994"/>
                <a:gridCol w="858456"/>
                <a:gridCol w="848917"/>
                <a:gridCol w="829841"/>
                <a:gridCol w="610457"/>
              </a:tblGrid>
              <a:tr h="340179">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Variable</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(4)</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900" b="1" u="none" dirty="0">
                          <a:solidFill>
                            <a:srgbClr val="1F2937"/>
                          </a:solidFill>
                          <a:latin typeface="微软雅黑" pitchFamily="34" charset="0"/>
                          <a:ea typeface="微软雅黑" pitchFamily="34" charset="-122"/>
                          <a:cs typeface="微软雅黑" pitchFamily="34" charset="-120"/>
                        </a:rPr>
                        <a:t>(6)</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 Flow_w</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(2) AI_Exposure_std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(3) Post</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(4) log_tna_lag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0.08***</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(5) mret_lag</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0.15***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r h="340179">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(6) pre_avg_std</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0.03***</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0.01</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0.05***</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0.12***</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900" u="none" dirty="0">
                          <a:solidFill>
                            <a:srgbClr val="1F2937"/>
                          </a:solidFill>
                          <a:latin typeface="微软雅黑" pitchFamily="34" charset="0"/>
                          <a:ea typeface="微软雅黑" pitchFamily="34" charset="-122"/>
                          <a:cs typeface="微软雅黑" pitchFamily="34" charset="-120"/>
                        </a:rPr>
                        <a:t>1.00</a:t>
                      </a:r>
                      <a:endParaRPr lang="en-US" sz="900" dirty="0">
                        <a:latin typeface="微软雅黑" pitchFamily="34" charset="0"/>
                        <a:ea typeface="微软雅黑" pitchFamily="34" charset="0"/>
                        <a:cs typeface="微软雅黑" pitchFamily="34" charset="0"/>
                      </a:endParaRPr>
                    </a:p>
                  </a:txBody>
                  <a:tcPr marL="114300" marR="114300" marT="76200" marB="762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Text 3"/>
          <p:cNvSpPr/>
          <p:nvPr/>
        </p:nvSpPr>
        <p:spPr>
          <a:xfrm>
            <a:off x="381000" y="3867150"/>
            <a:ext cx="6848475" cy="190500"/>
          </a:xfrm>
          <a:prstGeom prst="rect">
            <a:avLst/>
          </a:prstGeom>
          <a:noFill/>
        </p:spPr>
        <p:txBody>
          <a:bodyPr wrap="square" lIns="0" tIns="0" rIns="0" bIns="0" rtlCol="0" anchor="ctr"/>
          <a:lstStyle/>
          <a:p>
            <a:pPr>
              <a:lnSpc>
                <a:spcPct val="120000"/>
              </a:lnSpc>
            </a:pPr>
            <a:r>
              <a:rPr lang="en-US" sz="105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Note:</a:t>
            </a:r>
            <a:r>
              <a:rPr lang="en-US" sz="10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 **, *** denote significance at 10%, 5%, and 1% levels, respectively.</a:t>
            </a:r>
            <a:endParaRPr lang="en-US" sz="1600" dirty="0"/>
          </a:p>
        </p:txBody>
      </p:sp>
      <p:sp>
        <p:nvSpPr>
          <p:cNvPr id="7" name="Shape 4"/>
          <p:cNvSpPr/>
          <p:nvPr/>
        </p:nvSpPr>
        <p:spPr>
          <a:xfrm>
            <a:off x="7353300" y="1390650"/>
            <a:ext cx="4457700" cy="5238750"/>
          </a:xfrm>
          <a:custGeom>
            <a:avLst/>
            <a:gdLst/>
            <a:ahLst/>
            <a:cxnLst/>
            <a:rect l="l" t="t" r="r" b="b"/>
            <a:pathLst>
              <a:path w="4457700" h="5238750">
                <a:moveTo>
                  <a:pt x="38100" y="0"/>
                </a:moveTo>
                <a:lnTo>
                  <a:pt x="4419600" y="0"/>
                </a:lnTo>
                <a:cubicBezTo>
                  <a:pt x="4440628" y="0"/>
                  <a:pt x="4457700" y="17072"/>
                  <a:pt x="4457700" y="38100"/>
                </a:cubicBezTo>
                <a:lnTo>
                  <a:pt x="4457700" y="5162568"/>
                </a:lnTo>
                <a:cubicBezTo>
                  <a:pt x="4457700" y="5204642"/>
                  <a:pt x="4423592" y="5238750"/>
                  <a:pt x="4381518" y="5238750"/>
                </a:cubicBezTo>
                <a:lnTo>
                  <a:pt x="76182" y="5238750"/>
                </a:lnTo>
                <a:cubicBezTo>
                  <a:pt x="34108" y="5238750"/>
                  <a:pt x="0" y="5204642"/>
                  <a:pt x="0" y="5162568"/>
                </a:cubicBezTo>
                <a:lnTo>
                  <a:pt x="0" y="38100"/>
                </a:lnTo>
                <a:cubicBezTo>
                  <a:pt x="0" y="17072"/>
                  <a:pt x="17072" y="0"/>
                  <a:pt x="38100" y="0"/>
                </a:cubicBezTo>
                <a:close/>
              </a:path>
            </a:pathLst>
          </a:custGeom>
          <a:solidFill>
            <a:srgbClr val="F9FAFB"/>
          </a:solidFill>
        </p:spPr>
      </p:sp>
      <p:sp>
        <p:nvSpPr>
          <p:cNvPr id="8" name="Shape 5"/>
          <p:cNvSpPr/>
          <p:nvPr/>
        </p:nvSpPr>
        <p:spPr>
          <a:xfrm>
            <a:off x="7353300" y="1390650"/>
            <a:ext cx="4457700" cy="38100"/>
          </a:xfrm>
          <a:custGeom>
            <a:avLst/>
            <a:gdLst/>
            <a:ahLst/>
            <a:cxnLst/>
            <a:rect l="l" t="t" r="r" b="b"/>
            <a:pathLst>
              <a:path w="4457700" h="38100">
                <a:moveTo>
                  <a:pt x="38100" y="0"/>
                </a:moveTo>
                <a:lnTo>
                  <a:pt x="4419600" y="0"/>
                </a:lnTo>
                <a:cubicBezTo>
                  <a:pt x="4440628" y="0"/>
                  <a:pt x="4457700" y="17072"/>
                  <a:pt x="4457700" y="38100"/>
                </a:cubicBezTo>
                <a:lnTo>
                  <a:pt x="4457700" y="38100"/>
                </a:lnTo>
                <a:lnTo>
                  <a:pt x="0" y="38100"/>
                </a:lnTo>
                <a:lnTo>
                  <a:pt x="0" y="38100"/>
                </a:lnTo>
                <a:cubicBezTo>
                  <a:pt x="0" y="17072"/>
                  <a:pt x="17072" y="0"/>
                  <a:pt x="38100" y="0"/>
                </a:cubicBezTo>
                <a:close/>
              </a:path>
            </a:pathLst>
          </a:custGeom>
          <a:solidFill>
            <a:srgbClr val="8B0000"/>
          </a:solidFill>
        </p:spPr>
      </p:sp>
      <p:sp>
        <p:nvSpPr>
          <p:cNvPr id="9" name="Shape 6"/>
          <p:cNvSpPr/>
          <p:nvPr/>
        </p:nvSpPr>
        <p:spPr>
          <a:xfrm>
            <a:off x="7567612" y="1638300"/>
            <a:ext cx="190500" cy="190500"/>
          </a:xfrm>
          <a:custGeom>
            <a:avLst/>
            <a:gdLst/>
            <a:ahLst/>
            <a:cxnLst/>
            <a:rect l="l" t="t" r="r" b="b"/>
            <a:pathLst>
              <a:path w="190500" h="190500">
                <a:moveTo>
                  <a:pt x="154781" y="77391"/>
                </a:moveTo>
                <a:cubicBezTo>
                  <a:pt x="154781" y="94469"/>
                  <a:pt x="149237" y="110244"/>
                  <a:pt x="139898" y="123044"/>
                </a:cubicBezTo>
                <a:lnTo>
                  <a:pt x="187003" y="170185"/>
                </a:lnTo>
                <a:cubicBezTo>
                  <a:pt x="191653" y="174836"/>
                  <a:pt x="191653" y="182389"/>
                  <a:pt x="187003" y="187040"/>
                </a:cubicBezTo>
                <a:cubicBezTo>
                  <a:pt x="182352" y="191691"/>
                  <a:pt x="174799" y="191691"/>
                  <a:pt x="170148" y="187040"/>
                </a:cubicBezTo>
                <a:lnTo>
                  <a:pt x="123044" y="139898"/>
                </a:lnTo>
                <a:cubicBezTo>
                  <a:pt x="110244" y="149237"/>
                  <a:pt x="94469" y="154781"/>
                  <a:pt x="77391" y="154781"/>
                </a:cubicBezTo>
                <a:cubicBezTo>
                  <a:pt x="34640" y="154781"/>
                  <a:pt x="0" y="120142"/>
                  <a:pt x="0" y="77391"/>
                </a:cubicBezTo>
                <a:cubicBezTo>
                  <a:pt x="0" y="34640"/>
                  <a:pt x="34640" y="0"/>
                  <a:pt x="77391" y="0"/>
                </a:cubicBezTo>
                <a:cubicBezTo>
                  <a:pt x="120142" y="0"/>
                  <a:pt x="154781" y="34640"/>
                  <a:pt x="154781" y="77391"/>
                </a:cubicBezTo>
                <a:close/>
                <a:moveTo>
                  <a:pt x="77391" y="130969"/>
                </a:moveTo>
                <a:cubicBezTo>
                  <a:pt x="106961" y="130969"/>
                  <a:pt x="130969" y="106961"/>
                  <a:pt x="130969" y="77391"/>
                </a:cubicBezTo>
                <a:cubicBezTo>
                  <a:pt x="130969" y="47820"/>
                  <a:pt x="106961" y="23812"/>
                  <a:pt x="77391" y="23812"/>
                </a:cubicBezTo>
                <a:cubicBezTo>
                  <a:pt x="47820" y="23812"/>
                  <a:pt x="23813" y="47820"/>
                  <a:pt x="23812" y="77391"/>
                </a:cubicBezTo>
                <a:cubicBezTo>
                  <a:pt x="23812" y="106961"/>
                  <a:pt x="47820" y="130969"/>
                  <a:pt x="77391" y="130969"/>
                </a:cubicBezTo>
                <a:close/>
              </a:path>
            </a:pathLst>
          </a:custGeom>
          <a:solidFill>
            <a:srgbClr val="8B0000"/>
          </a:solidFill>
        </p:spPr>
      </p:sp>
      <p:sp>
        <p:nvSpPr>
          <p:cNvPr id="10" name="Text 7"/>
          <p:cNvSpPr/>
          <p:nvPr/>
        </p:nvSpPr>
        <p:spPr>
          <a:xfrm>
            <a:off x="7781925" y="1600200"/>
            <a:ext cx="3933825" cy="266700"/>
          </a:xfrm>
          <a:prstGeom prst="rect">
            <a:avLst/>
          </a:prstGeom>
          <a:noFill/>
        </p:spPr>
        <p:txBody>
          <a:bodyPr wrap="square" lIns="0" tIns="0" rIns="0" bIns="0" rtlCol="0" anchor="ctr"/>
          <a:lstStyle/>
          <a:p>
            <a:pPr>
              <a:lnSpc>
                <a:spcPct val="120000"/>
              </a:lnSpc>
            </a:pPr>
            <a:r>
              <a:rPr lang="en-US" sz="15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Observations</a:t>
            </a:r>
            <a:endParaRPr lang="en-US" sz="1600" dirty="0"/>
          </a:p>
        </p:txBody>
      </p:sp>
      <p:sp>
        <p:nvSpPr>
          <p:cNvPr id="11" name="Shape 8"/>
          <p:cNvSpPr/>
          <p:nvPr/>
        </p:nvSpPr>
        <p:spPr>
          <a:xfrm>
            <a:off x="7548563" y="2024062"/>
            <a:ext cx="4067175" cy="1362075"/>
          </a:xfrm>
          <a:custGeom>
            <a:avLst/>
            <a:gdLst/>
            <a:ahLst/>
            <a:cxnLst/>
            <a:rect l="l" t="t" r="r" b="b"/>
            <a:pathLst>
              <a:path w="4067175" h="1362075">
                <a:moveTo>
                  <a:pt x="76194" y="0"/>
                </a:moveTo>
                <a:lnTo>
                  <a:pt x="3990981" y="0"/>
                </a:lnTo>
                <a:cubicBezTo>
                  <a:pt x="4033062" y="0"/>
                  <a:pt x="4067175" y="34113"/>
                  <a:pt x="4067175" y="76194"/>
                </a:cubicBezTo>
                <a:lnTo>
                  <a:pt x="4067175" y="1285881"/>
                </a:lnTo>
                <a:cubicBezTo>
                  <a:pt x="4067175" y="1327962"/>
                  <a:pt x="4033062" y="1362075"/>
                  <a:pt x="3990981" y="1362075"/>
                </a:cubicBezTo>
                <a:lnTo>
                  <a:pt x="76194" y="1362075"/>
                </a:lnTo>
                <a:cubicBezTo>
                  <a:pt x="34113" y="1362075"/>
                  <a:pt x="0" y="1327962"/>
                  <a:pt x="0" y="1285881"/>
                </a:cubicBezTo>
                <a:lnTo>
                  <a:pt x="0" y="76194"/>
                </a:lnTo>
                <a:cubicBezTo>
                  <a:pt x="0" y="34142"/>
                  <a:pt x="34142" y="0"/>
                  <a:pt x="76194" y="0"/>
                </a:cubicBezTo>
                <a:close/>
              </a:path>
            </a:pathLst>
          </a:custGeom>
          <a:solidFill>
            <a:srgbClr val="FFFFFF"/>
          </a:solidFill>
          <a:ln w="12700">
            <a:solidFill>
              <a:srgbClr val="8B0000">
                <a:alpha val="20000"/>
              </a:srgbClr>
            </a:solidFill>
            <a:prstDash val="solid"/>
          </a:ln>
        </p:spPr>
      </p:sp>
      <p:sp>
        <p:nvSpPr>
          <p:cNvPr id="12" name="Text 9"/>
          <p:cNvSpPr/>
          <p:nvPr/>
        </p:nvSpPr>
        <p:spPr>
          <a:xfrm>
            <a:off x="7705725" y="2181225"/>
            <a:ext cx="3829050" cy="228600"/>
          </a:xfrm>
          <a:prstGeom prst="rect">
            <a:avLst/>
          </a:prstGeom>
          <a:noFill/>
        </p:spPr>
        <p:txBody>
          <a:bodyPr wrap="square" lIns="0" tIns="0" rIns="0" bIns="0" rtlCol="0" anchor="ctr"/>
          <a:lstStyle/>
          <a:p>
            <a:pPr>
              <a:lnSpc>
                <a:spcPct val="130000"/>
              </a:lnSpc>
            </a:pPr>
            <a:r>
              <a:rPr lang="en-US" sz="900" b="1" dirty="0">
                <a:solidFill>
                  <a:srgbClr val="FFFFFF"/>
                </a:solidFill>
                <a:highlight>
                  <a:srgbClr val="8B0000">
                    <a:alpha val="100000"/>
                  </a:srgbClr>
                </a:highlight>
                <a:latin typeface="Sorts Mill Goudy" panose="02000503000000000000" pitchFamily="34" charset="0"/>
                <a:ea typeface="Sorts Mill Goudy" panose="02000503000000000000" pitchFamily="34" charset="-122"/>
                <a:cs typeface="Sorts Mill Goudy" panose="02000503000000000000" pitchFamily="34" charset="-120"/>
              </a:rPr>
              <a:t>1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Performance-Chasing</a:t>
            </a:r>
            <a:endParaRPr lang="en-US" sz="1600" dirty="0"/>
          </a:p>
        </p:txBody>
      </p:sp>
      <p:sp>
        <p:nvSpPr>
          <p:cNvPr id="13" name="Text 10"/>
          <p:cNvSpPr/>
          <p:nvPr/>
        </p:nvSpPr>
        <p:spPr>
          <a:xfrm>
            <a:off x="7705725" y="2486025"/>
            <a:ext cx="3829050" cy="742950"/>
          </a:xfrm>
          <a:prstGeom prst="rect">
            <a:avLst/>
          </a:prstGeom>
          <a:noFill/>
        </p:spPr>
        <p:txBody>
          <a:bodyPr wrap="square" lIns="0" tIns="0" rIns="0" bIns="0" rtlCol="0" anchor="ctr"/>
          <a:lstStyle/>
          <a:p>
            <a:pPr>
              <a:lnSpc>
                <a:spcPct val="140000"/>
              </a:lnSpc>
            </a:pP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Flow_w × mret_lag = 0.15***</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—strong positive correlation confirms investors chase past performance, consistent with Sirri &amp; Tufano (1998).</a:t>
            </a:r>
            <a:endParaRPr lang="en-US" sz="1600" dirty="0"/>
          </a:p>
        </p:txBody>
      </p:sp>
      <p:sp>
        <p:nvSpPr>
          <p:cNvPr id="14" name="Shape 11"/>
          <p:cNvSpPr/>
          <p:nvPr/>
        </p:nvSpPr>
        <p:spPr>
          <a:xfrm>
            <a:off x="7548563" y="3548063"/>
            <a:ext cx="4067175" cy="1362075"/>
          </a:xfrm>
          <a:custGeom>
            <a:avLst/>
            <a:gdLst/>
            <a:ahLst/>
            <a:cxnLst/>
            <a:rect l="l" t="t" r="r" b="b"/>
            <a:pathLst>
              <a:path w="4067175" h="1362075">
                <a:moveTo>
                  <a:pt x="76194" y="0"/>
                </a:moveTo>
                <a:lnTo>
                  <a:pt x="3990981" y="0"/>
                </a:lnTo>
                <a:cubicBezTo>
                  <a:pt x="4033062" y="0"/>
                  <a:pt x="4067175" y="34113"/>
                  <a:pt x="4067175" y="76194"/>
                </a:cubicBezTo>
                <a:lnTo>
                  <a:pt x="4067175" y="1285881"/>
                </a:lnTo>
                <a:cubicBezTo>
                  <a:pt x="4067175" y="1327962"/>
                  <a:pt x="4033062" y="1362075"/>
                  <a:pt x="3990981" y="1362075"/>
                </a:cubicBezTo>
                <a:lnTo>
                  <a:pt x="76194" y="1362075"/>
                </a:lnTo>
                <a:cubicBezTo>
                  <a:pt x="34113" y="1362075"/>
                  <a:pt x="0" y="1327962"/>
                  <a:pt x="0" y="1285881"/>
                </a:cubicBezTo>
                <a:lnTo>
                  <a:pt x="0" y="76194"/>
                </a:lnTo>
                <a:cubicBezTo>
                  <a:pt x="0" y="34142"/>
                  <a:pt x="34142" y="0"/>
                  <a:pt x="76194" y="0"/>
                </a:cubicBezTo>
                <a:close/>
              </a:path>
            </a:pathLst>
          </a:custGeom>
          <a:solidFill>
            <a:srgbClr val="FFFFFF"/>
          </a:solidFill>
          <a:ln w="12700">
            <a:solidFill>
              <a:srgbClr val="8B0000">
                <a:alpha val="20000"/>
              </a:srgbClr>
            </a:solidFill>
            <a:prstDash val="solid"/>
          </a:ln>
        </p:spPr>
      </p:sp>
      <p:sp>
        <p:nvSpPr>
          <p:cNvPr id="5" name="Text 12"/>
          <p:cNvSpPr/>
          <p:nvPr/>
        </p:nvSpPr>
        <p:spPr>
          <a:xfrm>
            <a:off x="7705725" y="3705225"/>
            <a:ext cx="3829050" cy="228600"/>
          </a:xfrm>
          <a:prstGeom prst="rect">
            <a:avLst/>
          </a:prstGeom>
          <a:noFill/>
        </p:spPr>
        <p:txBody>
          <a:bodyPr wrap="square" lIns="0" tIns="0" rIns="0" bIns="0" rtlCol="0" anchor="ctr"/>
          <a:lstStyle/>
          <a:p>
            <a:pPr>
              <a:lnSpc>
                <a:spcPct val="130000"/>
              </a:lnSpc>
            </a:pPr>
            <a:r>
              <a:rPr lang="en-US" sz="900" b="1" dirty="0">
                <a:solidFill>
                  <a:srgbClr val="FFFFFF"/>
                </a:solidFill>
                <a:highlight>
                  <a:srgbClr val="8B0000">
                    <a:alpha val="100000"/>
                  </a:srgbClr>
                </a:highlight>
                <a:latin typeface="Sorts Mill Goudy" panose="02000503000000000000" pitchFamily="34" charset="0"/>
                <a:ea typeface="Sorts Mill Goudy" panose="02000503000000000000" pitchFamily="34" charset="-122"/>
                <a:cs typeface="Sorts Mill Goudy" panose="02000503000000000000" pitchFamily="34" charset="-120"/>
              </a:rPr>
              <a:t>2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Low Multicollinearity</a:t>
            </a:r>
            <a:endParaRPr lang="en-US" sz="1600" dirty="0"/>
          </a:p>
        </p:txBody>
      </p:sp>
      <p:sp>
        <p:nvSpPr>
          <p:cNvPr id="16" name="Text 13"/>
          <p:cNvSpPr/>
          <p:nvPr/>
        </p:nvSpPr>
        <p:spPr>
          <a:xfrm>
            <a:off x="7705725" y="4010025"/>
            <a:ext cx="3829050" cy="742950"/>
          </a:xfrm>
          <a:prstGeom prst="rect">
            <a:avLst/>
          </a:prstGeom>
          <a:noFill/>
        </p:spPr>
        <p:txBody>
          <a:bodyPr wrap="square" lIns="0" tIns="0" rIns="0" bIns="0" rtlCol="0" anchor="ctr"/>
          <a:lstStyle/>
          <a:p>
            <a:pPr>
              <a:lnSpc>
                <a:spcPct val="140000"/>
              </a:lnSpc>
            </a:pP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AI_Exposure_std</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shows low correlations with controls (all &lt; 0.08), supporting identification strategy. No multicollinearity concerns for regression analysis.</a:t>
            </a:r>
            <a:endParaRPr lang="en-US" sz="1600" dirty="0"/>
          </a:p>
        </p:txBody>
      </p:sp>
      <p:sp>
        <p:nvSpPr>
          <p:cNvPr id="17" name="Shape 14"/>
          <p:cNvSpPr/>
          <p:nvPr/>
        </p:nvSpPr>
        <p:spPr>
          <a:xfrm>
            <a:off x="7548563" y="5072063"/>
            <a:ext cx="4067175" cy="1362075"/>
          </a:xfrm>
          <a:custGeom>
            <a:avLst/>
            <a:gdLst/>
            <a:ahLst/>
            <a:cxnLst/>
            <a:rect l="l" t="t" r="r" b="b"/>
            <a:pathLst>
              <a:path w="4067175" h="1362075">
                <a:moveTo>
                  <a:pt x="76194" y="0"/>
                </a:moveTo>
                <a:lnTo>
                  <a:pt x="3990981" y="0"/>
                </a:lnTo>
                <a:cubicBezTo>
                  <a:pt x="4033062" y="0"/>
                  <a:pt x="4067175" y="34113"/>
                  <a:pt x="4067175" y="76194"/>
                </a:cubicBezTo>
                <a:lnTo>
                  <a:pt x="4067175" y="1285881"/>
                </a:lnTo>
                <a:cubicBezTo>
                  <a:pt x="4067175" y="1327962"/>
                  <a:pt x="4033062" y="1362075"/>
                  <a:pt x="3990981" y="1362075"/>
                </a:cubicBezTo>
                <a:lnTo>
                  <a:pt x="76194" y="1362075"/>
                </a:lnTo>
                <a:cubicBezTo>
                  <a:pt x="34113" y="1362075"/>
                  <a:pt x="0" y="1327962"/>
                  <a:pt x="0" y="1285881"/>
                </a:cubicBezTo>
                <a:lnTo>
                  <a:pt x="0" y="76194"/>
                </a:lnTo>
                <a:cubicBezTo>
                  <a:pt x="0" y="34142"/>
                  <a:pt x="34142" y="0"/>
                  <a:pt x="76194" y="0"/>
                </a:cubicBezTo>
                <a:close/>
              </a:path>
            </a:pathLst>
          </a:custGeom>
          <a:solidFill>
            <a:srgbClr val="FFFFFF"/>
          </a:solidFill>
          <a:ln w="12700">
            <a:solidFill>
              <a:srgbClr val="8B0000">
                <a:alpha val="20000"/>
              </a:srgbClr>
            </a:solidFill>
            <a:prstDash val="solid"/>
          </a:ln>
        </p:spPr>
      </p:sp>
      <p:sp>
        <p:nvSpPr>
          <p:cNvPr id="18" name="Text 15"/>
          <p:cNvSpPr/>
          <p:nvPr/>
        </p:nvSpPr>
        <p:spPr>
          <a:xfrm>
            <a:off x="7705725" y="5229225"/>
            <a:ext cx="3829050" cy="228600"/>
          </a:xfrm>
          <a:prstGeom prst="rect">
            <a:avLst/>
          </a:prstGeom>
          <a:noFill/>
        </p:spPr>
        <p:txBody>
          <a:bodyPr wrap="square" lIns="0" tIns="0" rIns="0" bIns="0" rtlCol="0" anchor="ctr"/>
          <a:lstStyle/>
          <a:p>
            <a:pPr>
              <a:lnSpc>
                <a:spcPct val="130000"/>
              </a:lnSpc>
            </a:pPr>
            <a:r>
              <a:rPr lang="en-US" sz="900" b="1" dirty="0">
                <a:solidFill>
                  <a:srgbClr val="FFFFFF"/>
                </a:solidFill>
                <a:highlight>
                  <a:srgbClr val="8B0000">
                    <a:alpha val="100000"/>
                  </a:srgbClr>
                </a:highlight>
                <a:latin typeface="Sorts Mill Goudy" panose="02000503000000000000" pitchFamily="34" charset="0"/>
                <a:ea typeface="Sorts Mill Goudy" panose="02000503000000000000" pitchFamily="34" charset="-122"/>
                <a:cs typeface="Sorts Mill Goudy" panose="02000503000000000000" pitchFamily="34" charset="-120"/>
              </a:rPr>
              <a:t>3 </a:t>
            </a:r>
            <a:r>
              <a:rPr lang="en-US" sz="12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Size Effect</a:t>
            </a:r>
            <a:endParaRPr lang="en-US" sz="1600" dirty="0"/>
          </a:p>
        </p:txBody>
      </p:sp>
      <p:sp>
        <p:nvSpPr>
          <p:cNvPr id="19" name="Text 16"/>
          <p:cNvSpPr/>
          <p:nvPr/>
        </p:nvSpPr>
        <p:spPr>
          <a:xfrm>
            <a:off x="7705725" y="5534025"/>
            <a:ext cx="3829050" cy="742950"/>
          </a:xfrm>
          <a:prstGeom prst="rect">
            <a:avLst/>
          </a:prstGeom>
          <a:noFill/>
        </p:spPr>
        <p:txBody>
          <a:bodyPr wrap="square" lIns="0" tIns="0" rIns="0" bIns="0" rtlCol="0" anchor="ctr"/>
          <a:lstStyle/>
          <a:p>
            <a:pPr>
              <a:lnSpc>
                <a:spcPct val="140000"/>
              </a:lnSpc>
            </a:pPr>
            <a:r>
              <a:rPr lang="en-US" sz="120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Flow_w × log_tna_lag = -0.05***</a:t>
            </a:r>
            <a:r>
              <a:rPr lang="en-US" sz="12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—larger funds experience lower flows, consistent with diminishing marginal returns to scale.</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31755" y="331755"/>
            <a:ext cx="11594841" cy="199053"/>
          </a:xfrm>
          <a:prstGeom prst="rect">
            <a:avLst/>
          </a:prstGeom>
          <a:noFill/>
        </p:spPr>
        <p:txBody>
          <a:bodyPr wrap="square" lIns="0" tIns="0" rIns="0" bIns="0" rtlCol="0" anchor="ctr"/>
          <a:lstStyle/>
          <a:p>
            <a:pPr>
              <a:lnSpc>
                <a:spcPct val="130000"/>
              </a:lnSpc>
            </a:pPr>
            <a:r>
              <a:rPr lang="en-US" sz="1045" b="1" kern="0" spc="52"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31755" y="597159"/>
            <a:ext cx="11677780" cy="331755"/>
          </a:xfrm>
          <a:prstGeom prst="rect">
            <a:avLst/>
          </a:prstGeom>
          <a:noFill/>
        </p:spPr>
        <p:txBody>
          <a:bodyPr wrap="square" lIns="0" tIns="0" rIns="0" bIns="0" rtlCol="0" anchor="ctr"/>
          <a:lstStyle/>
          <a:p>
            <a:pPr>
              <a:lnSpc>
                <a:spcPct val="90000"/>
              </a:lnSpc>
            </a:pPr>
            <a:r>
              <a:rPr lang="en-US" sz="23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3: Main Regression Results (H1)</a:t>
            </a:r>
            <a:endParaRPr lang="en-US" sz="1600" dirty="0"/>
          </a:p>
        </p:txBody>
      </p:sp>
      <p:sp>
        <p:nvSpPr>
          <p:cNvPr id="4" name="Shape 2"/>
          <p:cNvSpPr/>
          <p:nvPr/>
        </p:nvSpPr>
        <p:spPr>
          <a:xfrm>
            <a:off x="331755" y="1028441"/>
            <a:ext cx="796212" cy="33176"/>
          </a:xfrm>
          <a:custGeom>
            <a:avLst/>
            <a:gdLst/>
            <a:ahLst/>
            <a:cxnLst/>
            <a:rect l="l" t="t" r="r" b="b"/>
            <a:pathLst>
              <a:path w="796212" h="33176">
                <a:moveTo>
                  <a:pt x="0" y="0"/>
                </a:moveTo>
                <a:lnTo>
                  <a:pt x="796212" y="0"/>
                </a:lnTo>
                <a:lnTo>
                  <a:pt x="796212" y="33176"/>
                </a:lnTo>
                <a:lnTo>
                  <a:pt x="0" y="33176"/>
                </a:lnTo>
                <a:lnTo>
                  <a:pt x="0" y="0"/>
                </a:lnTo>
                <a:close/>
              </a:path>
            </a:pathLst>
          </a:custGeom>
          <a:solidFill>
            <a:srgbClr val="8B0000"/>
          </a:solidFill>
        </p:spPr>
      </p:sp>
      <p:graphicFrame>
        <p:nvGraphicFramePr>
          <p:cNvPr id="16" name="Table 0"/>
          <p:cNvGraphicFramePr>
            <a:graphicFrameLocks noGrp="1"/>
          </p:cNvGraphicFramePr>
          <p:nvPr/>
        </p:nvGraphicFramePr>
        <p:xfrm>
          <a:off x="331755" y="1194318"/>
          <a:ext cx="11528490" cy="3541488"/>
        </p:xfrm>
        <a:graphic>
          <a:graphicData uri="http://schemas.openxmlformats.org/drawingml/2006/table">
            <a:tbl>
              <a:tblPr/>
              <a:tblGrid>
                <a:gridCol w="4036215"/>
                <a:gridCol w="2536102"/>
                <a:gridCol w="2536102"/>
                <a:gridCol w="2420071"/>
              </a:tblGrid>
              <a:tr h="295124">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Variable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(1) OLS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(2) OLS + Controls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(3) Panel FE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AI_Exposure_std × Post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0.0024*** (0.0008)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0.0023*** (0.0008)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0.0053*** (0.0009)</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AI_Exposure_std</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(0.0007)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(0.0007)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Post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-0.0051*** (0.0008)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-0.0064*** (0.0009)</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log_tna_lag</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-0.0011*** (0.0002)</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-0.0443*** (0.0043)</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mret_lag</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0.0517*** (0.0106)</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0.1627*** (0.0204)</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Constant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(0.0007)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0.0045*** (0.0012)</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Fund FE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Time FE</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No</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Observations</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54,488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54,488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54,488</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R-squared</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0.003</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0.0377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r h="29512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F-statistic</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19.14***</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23.81***</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694.67***</a:t>
                      </a:r>
                      <a:endParaRPr lang="en-US" sz="800" dirty="0">
                        <a:latin typeface="微软雅黑" pitchFamily="34" charset="0"/>
                        <a:ea typeface="微软雅黑" pitchFamily="34" charset="0"/>
                        <a:cs typeface="微软雅黑" pitchFamily="34" charset="0"/>
                      </a:endParaRPr>
                    </a:p>
                  </a:txBody>
                  <a:tcPr marL="99527" marR="99527" marT="66351" marB="66351"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48343" y="4835331"/>
            <a:ext cx="5681306" cy="2023706"/>
          </a:xfrm>
          <a:custGeom>
            <a:avLst/>
            <a:gdLst/>
            <a:ahLst/>
            <a:cxnLst/>
            <a:rect l="l" t="t" r="r" b="b"/>
            <a:pathLst>
              <a:path w="5681306" h="2023706">
                <a:moveTo>
                  <a:pt x="33176" y="0"/>
                </a:moveTo>
                <a:lnTo>
                  <a:pt x="5614949" y="0"/>
                </a:lnTo>
                <a:cubicBezTo>
                  <a:pt x="5651597" y="0"/>
                  <a:pt x="5681306" y="29709"/>
                  <a:pt x="5681306" y="66357"/>
                </a:cubicBezTo>
                <a:lnTo>
                  <a:pt x="5681306" y="1957349"/>
                </a:lnTo>
                <a:cubicBezTo>
                  <a:pt x="5681306" y="1993997"/>
                  <a:pt x="5651597" y="2023706"/>
                  <a:pt x="5614949" y="2023706"/>
                </a:cubicBezTo>
                <a:lnTo>
                  <a:pt x="33176" y="2023706"/>
                </a:lnTo>
                <a:cubicBezTo>
                  <a:pt x="14853" y="2023706"/>
                  <a:pt x="0" y="2008853"/>
                  <a:pt x="0" y="1990531"/>
                </a:cubicBezTo>
                <a:lnTo>
                  <a:pt x="0" y="33176"/>
                </a:lnTo>
                <a:cubicBezTo>
                  <a:pt x="0" y="14865"/>
                  <a:pt x="14865" y="0"/>
                  <a:pt x="33176" y="0"/>
                </a:cubicBezTo>
                <a:close/>
              </a:path>
            </a:pathLst>
          </a:custGeom>
          <a:solidFill>
            <a:srgbClr val="8B0000">
              <a:alpha val="5098"/>
            </a:srgbClr>
          </a:solidFill>
        </p:spPr>
      </p:sp>
      <p:sp>
        <p:nvSpPr>
          <p:cNvPr id="7" name="Shape 4"/>
          <p:cNvSpPr/>
          <p:nvPr/>
        </p:nvSpPr>
        <p:spPr>
          <a:xfrm>
            <a:off x="348343" y="4835331"/>
            <a:ext cx="33176" cy="2023706"/>
          </a:xfrm>
          <a:custGeom>
            <a:avLst/>
            <a:gdLst/>
            <a:ahLst/>
            <a:cxnLst/>
            <a:rect l="l" t="t" r="r" b="b"/>
            <a:pathLst>
              <a:path w="33176" h="2023706">
                <a:moveTo>
                  <a:pt x="33176" y="0"/>
                </a:moveTo>
                <a:lnTo>
                  <a:pt x="33176" y="0"/>
                </a:lnTo>
                <a:lnTo>
                  <a:pt x="33176" y="2023706"/>
                </a:lnTo>
                <a:lnTo>
                  <a:pt x="33176" y="2023706"/>
                </a:lnTo>
                <a:cubicBezTo>
                  <a:pt x="14853" y="2023706"/>
                  <a:pt x="0" y="2008853"/>
                  <a:pt x="0" y="1990531"/>
                </a:cubicBezTo>
                <a:lnTo>
                  <a:pt x="0" y="33176"/>
                </a:lnTo>
                <a:cubicBezTo>
                  <a:pt x="0" y="14853"/>
                  <a:pt x="14853" y="0"/>
                  <a:pt x="33176" y="0"/>
                </a:cubicBezTo>
                <a:close/>
              </a:path>
            </a:pathLst>
          </a:custGeom>
          <a:solidFill>
            <a:srgbClr val="8B0000"/>
          </a:solidFill>
        </p:spPr>
      </p:sp>
      <p:sp>
        <p:nvSpPr>
          <p:cNvPr id="8" name="Shape 5"/>
          <p:cNvSpPr/>
          <p:nvPr/>
        </p:nvSpPr>
        <p:spPr>
          <a:xfrm>
            <a:off x="518367" y="5009502"/>
            <a:ext cx="149290" cy="149290"/>
          </a:xfrm>
          <a:custGeom>
            <a:avLst/>
            <a:gdLst/>
            <a:ahLst/>
            <a:cxnLst/>
            <a:rect l="l" t="t" r="r" b="b"/>
            <a:pathLst>
              <a:path w="149290" h="149290">
                <a:moveTo>
                  <a:pt x="74645" y="149290"/>
                </a:moveTo>
                <a:cubicBezTo>
                  <a:pt x="115843" y="149290"/>
                  <a:pt x="149290" y="115843"/>
                  <a:pt x="149290" y="74645"/>
                </a:cubicBezTo>
                <a:cubicBezTo>
                  <a:pt x="149290" y="33447"/>
                  <a:pt x="115843" y="0"/>
                  <a:pt x="74645" y="0"/>
                </a:cubicBezTo>
                <a:cubicBezTo>
                  <a:pt x="33447" y="0"/>
                  <a:pt x="0" y="33447"/>
                  <a:pt x="0" y="74645"/>
                </a:cubicBezTo>
                <a:cubicBezTo>
                  <a:pt x="0" y="115843"/>
                  <a:pt x="33447" y="149290"/>
                  <a:pt x="74645" y="149290"/>
                </a:cubicBezTo>
                <a:close/>
                <a:moveTo>
                  <a:pt x="99254" y="62019"/>
                </a:moveTo>
                <a:lnTo>
                  <a:pt x="75928" y="99342"/>
                </a:lnTo>
                <a:cubicBezTo>
                  <a:pt x="74703" y="101295"/>
                  <a:pt x="72604" y="102520"/>
                  <a:pt x="70300" y="102637"/>
                </a:cubicBezTo>
                <a:cubicBezTo>
                  <a:pt x="67997" y="102753"/>
                  <a:pt x="65781" y="101704"/>
                  <a:pt x="64410" y="99838"/>
                </a:cubicBezTo>
                <a:lnTo>
                  <a:pt x="50414" y="81176"/>
                </a:lnTo>
                <a:cubicBezTo>
                  <a:pt x="48082" y="78086"/>
                  <a:pt x="48723" y="73712"/>
                  <a:pt x="51814" y="71379"/>
                </a:cubicBezTo>
                <a:cubicBezTo>
                  <a:pt x="54905" y="69047"/>
                  <a:pt x="59279" y="69688"/>
                  <a:pt x="61611" y="72779"/>
                </a:cubicBezTo>
                <a:lnTo>
                  <a:pt x="69484" y="83276"/>
                </a:lnTo>
                <a:lnTo>
                  <a:pt x="87387" y="54613"/>
                </a:lnTo>
                <a:cubicBezTo>
                  <a:pt x="89428" y="51348"/>
                  <a:pt x="93743" y="50327"/>
                  <a:pt x="97038" y="52397"/>
                </a:cubicBezTo>
                <a:cubicBezTo>
                  <a:pt x="100333" y="54467"/>
                  <a:pt x="101325" y="58754"/>
                  <a:pt x="99254" y="62049"/>
                </a:cubicBezTo>
                <a:close/>
              </a:path>
            </a:pathLst>
          </a:custGeom>
          <a:solidFill>
            <a:srgbClr val="8B0000"/>
          </a:solidFill>
        </p:spPr>
      </p:sp>
      <p:sp>
        <p:nvSpPr>
          <p:cNvPr id="9" name="Text 6"/>
          <p:cNvSpPr/>
          <p:nvPr/>
        </p:nvSpPr>
        <p:spPr>
          <a:xfrm>
            <a:off x="688392" y="4968033"/>
            <a:ext cx="5283200" cy="232229"/>
          </a:xfrm>
          <a:prstGeom prst="rect">
            <a:avLst/>
          </a:prstGeom>
          <a:noFill/>
        </p:spPr>
        <p:txBody>
          <a:bodyPr wrap="square" lIns="0" tIns="0" rIns="0" bIns="0" rtlCol="0" anchor="ctr"/>
          <a:lstStyle/>
          <a:p>
            <a:pPr>
              <a:lnSpc>
                <a:spcPct val="13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Findings</a:t>
            </a:r>
            <a:endParaRPr lang="en-US" sz="1600" dirty="0"/>
          </a:p>
        </p:txBody>
      </p:sp>
      <p:sp>
        <p:nvSpPr>
          <p:cNvPr id="10" name="Shape 7"/>
          <p:cNvSpPr/>
          <p:nvPr/>
        </p:nvSpPr>
        <p:spPr>
          <a:xfrm>
            <a:off x="505927" y="5324669"/>
            <a:ext cx="149290" cy="132702"/>
          </a:xfrm>
          <a:custGeom>
            <a:avLst/>
            <a:gdLst/>
            <a:ahLst/>
            <a:cxnLst/>
            <a:rect l="l" t="t" r="r" b="b"/>
            <a:pathLst>
              <a:path w="149290" h="132702">
                <a:moveTo>
                  <a:pt x="80217" y="-4899"/>
                </a:moveTo>
                <a:cubicBezTo>
                  <a:pt x="79155" y="-6972"/>
                  <a:pt x="77003" y="-8294"/>
                  <a:pt x="74671" y="-8294"/>
                </a:cubicBezTo>
                <a:cubicBezTo>
                  <a:pt x="72338" y="-8294"/>
                  <a:pt x="70187" y="-6972"/>
                  <a:pt x="69124" y="-4899"/>
                </a:cubicBezTo>
                <a:lnTo>
                  <a:pt x="50048" y="32476"/>
                </a:lnTo>
                <a:lnTo>
                  <a:pt x="8605" y="39059"/>
                </a:lnTo>
                <a:cubicBezTo>
                  <a:pt x="6298" y="39422"/>
                  <a:pt x="4380" y="41055"/>
                  <a:pt x="3654" y="43284"/>
                </a:cubicBezTo>
                <a:cubicBezTo>
                  <a:pt x="2929" y="45513"/>
                  <a:pt x="3525" y="47949"/>
                  <a:pt x="5158" y="49608"/>
                </a:cubicBezTo>
                <a:lnTo>
                  <a:pt x="34808" y="79284"/>
                </a:lnTo>
                <a:lnTo>
                  <a:pt x="28277" y="120728"/>
                </a:lnTo>
                <a:cubicBezTo>
                  <a:pt x="27914" y="123034"/>
                  <a:pt x="28873" y="125367"/>
                  <a:pt x="30765" y="126741"/>
                </a:cubicBezTo>
                <a:cubicBezTo>
                  <a:pt x="32657" y="128114"/>
                  <a:pt x="35145" y="128322"/>
                  <a:pt x="37245" y="127259"/>
                </a:cubicBezTo>
                <a:lnTo>
                  <a:pt x="74671" y="108235"/>
                </a:lnTo>
                <a:lnTo>
                  <a:pt x="112071" y="127259"/>
                </a:lnTo>
                <a:cubicBezTo>
                  <a:pt x="114144" y="128322"/>
                  <a:pt x="116659" y="128114"/>
                  <a:pt x="118551" y="126741"/>
                </a:cubicBezTo>
                <a:cubicBezTo>
                  <a:pt x="120443" y="125367"/>
                  <a:pt x="121402" y="123060"/>
                  <a:pt x="121039" y="120728"/>
                </a:cubicBezTo>
                <a:lnTo>
                  <a:pt x="114481" y="79284"/>
                </a:lnTo>
                <a:lnTo>
                  <a:pt x="144132" y="49608"/>
                </a:lnTo>
                <a:cubicBezTo>
                  <a:pt x="145791" y="47949"/>
                  <a:pt x="146361" y="45513"/>
                  <a:pt x="145635" y="43284"/>
                </a:cubicBezTo>
                <a:cubicBezTo>
                  <a:pt x="144910" y="41055"/>
                  <a:pt x="143018" y="39422"/>
                  <a:pt x="140685" y="39059"/>
                </a:cubicBezTo>
                <a:lnTo>
                  <a:pt x="99267" y="32476"/>
                </a:lnTo>
                <a:lnTo>
                  <a:pt x="80217" y="-4899"/>
                </a:lnTo>
                <a:close/>
              </a:path>
            </a:pathLst>
          </a:custGeom>
          <a:solidFill>
            <a:srgbClr val="8B0000"/>
          </a:solidFill>
        </p:spPr>
      </p:sp>
      <p:sp>
        <p:nvSpPr>
          <p:cNvPr id="11" name="Text 8"/>
          <p:cNvSpPr/>
          <p:nvPr/>
        </p:nvSpPr>
        <p:spPr>
          <a:xfrm>
            <a:off x="706841" y="5299788"/>
            <a:ext cx="5256456" cy="431282"/>
          </a:xfrm>
          <a:prstGeom prst="rect">
            <a:avLst/>
          </a:prstGeom>
          <a:noFill/>
        </p:spPr>
        <p:txBody>
          <a:bodyPr wrap="square" lIns="0" tIns="0" rIns="0" bIns="0" rtlCol="0" anchor="ctr"/>
          <a:lstStyle/>
          <a:p>
            <a:pPr>
              <a:lnSpc>
                <a:spcPct val="140000"/>
              </a:lnSpc>
            </a:pPr>
            <a:r>
              <a:rPr lang="en-US" sz="104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H1 Supported:</a:t>
            </a:r>
            <a:r>
              <a:rPr lang="en-US" sz="104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AI_Exposure_std × Post coefficient is </a:t>
            </a:r>
            <a:r>
              <a:rPr lang="en-US" sz="104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positive and highly significant</a:t>
            </a:r>
            <a:r>
              <a:rPr lang="en-US" sz="104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across all specifications (p &lt; 0.01)</a:t>
            </a:r>
            <a:endParaRPr lang="en-US" sz="1600" dirty="0"/>
          </a:p>
        </p:txBody>
      </p:sp>
      <p:sp>
        <p:nvSpPr>
          <p:cNvPr id="12" name="Shape 9"/>
          <p:cNvSpPr/>
          <p:nvPr/>
        </p:nvSpPr>
        <p:spPr>
          <a:xfrm>
            <a:off x="514220" y="5822302"/>
            <a:ext cx="132702" cy="132702"/>
          </a:xfrm>
          <a:custGeom>
            <a:avLst/>
            <a:gdLst/>
            <a:ahLst/>
            <a:cxnLst/>
            <a:rect l="l" t="t" r="r" b="b"/>
            <a:pathLst>
              <a:path w="132702" h="132702">
                <a:moveTo>
                  <a:pt x="130266" y="72209"/>
                </a:moveTo>
                <a:cubicBezTo>
                  <a:pt x="133506" y="68969"/>
                  <a:pt x="133506" y="63707"/>
                  <a:pt x="130266" y="60468"/>
                </a:cubicBezTo>
                <a:lnTo>
                  <a:pt x="88796" y="18998"/>
                </a:lnTo>
                <a:cubicBezTo>
                  <a:pt x="85557" y="15758"/>
                  <a:pt x="80295" y="15758"/>
                  <a:pt x="77055" y="18998"/>
                </a:cubicBezTo>
                <a:cubicBezTo>
                  <a:pt x="73816" y="22238"/>
                  <a:pt x="73816" y="27499"/>
                  <a:pt x="77055" y="30739"/>
                </a:cubicBezTo>
                <a:lnTo>
                  <a:pt x="104373" y="58057"/>
                </a:lnTo>
                <a:lnTo>
                  <a:pt x="8294" y="58057"/>
                </a:lnTo>
                <a:cubicBezTo>
                  <a:pt x="3706" y="58057"/>
                  <a:pt x="0" y="61763"/>
                  <a:pt x="0" y="66351"/>
                </a:cubicBezTo>
                <a:cubicBezTo>
                  <a:pt x="0" y="70939"/>
                  <a:pt x="3706" y="74645"/>
                  <a:pt x="8294" y="74645"/>
                </a:cubicBezTo>
                <a:lnTo>
                  <a:pt x="104373" y="74645"/>
                </a:lnTo>
                <a:lnTo>
                  <a:pt x="77055" y="101963"/>
                </a:lnTo>
                <a:cubicBezTo>
                  <a:pt x="73816" y="105203"/>
                  <a:pt x="73816" y="110464"/>
                  <a:pt x="77055" y="113704"/>
                </a:cubicBezTo>
                <a:cubicBezTo>
                  <a:pt x="80295" y="116944"/>
                  <a:pt x="85557" y="116944"/>
                  <a:pt x="88796" y="113704"/>
                </a:cubicBezTo>
                <a:lnTo>
                  <a:pt x="130266" y="72234"/>
                </a:lnTo>
                <a:close/>
              </a:path>
            </a:pathLst>
          </a:custGeom>
          <a:solidFill>
            <a:srgbClr val="8B0000"/>
          </a:solidFill>
        </p:spPr>
      </p:sp>
      <p:sp>
        <p:nvSpPr>
          <p:cNvPr id="13" name="Text 10"/>
          <p:cNvSpPr/>
          <p:nvPr/>
        </p:nvSpPr>
        <p:spPr>
          <a:xfrm>
            <a:off x="706841" y="5797420"/>
            <a:ext cx="5256456" cy="431282"/>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Economic magnitude:</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One SD increase in AI exposure → </a:t>
            </a: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0.53 percentage points</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higher monthly flows post-ChatGPT (FE model)</a:t>
            </a:r>
            <a:endParaRPr lang="en-US" sz="1600" dirty="0"/>
          </a:p>
        </p:txBody>
      </p:sp>
      <p:sp>
        <p:nvSpPr>
          <p:cNvPr id="14" name="Shape 11"/>
          <p:cNvSpPr/>
          <p:nvPr/>
        </p:nvSpPr>
        <p:spPr>
          <a:xfrm>
            <a:off x="514220" y="6319935"/>
            <a:ext cx="132702" cy="132702"/>
          </a:xfrm>
          <a:custGeom>
            <a:avLst/>
            <a:gdLst/>
            <a:ahLst/>
            <a:cxnLst/>
            <a:rect l="l" t="t" r="r" b="b"/>
            <a:pathLst>
              <a:path w="132702" h="132702">
                <a:moveTo>
                  <a:pt x="130266" y="72209"/>
                </a:moveTo>
                <a:cubicBezTo>
                  <a:pt x="133506" y="68969"/>
                  <a:pt x="133506" y="63707"/>
                  <a:pt x="130266" y="60468"/>
                </a:cubicBezTo>
                <a:lnTo>
                  <a:pt x="88796" y="18998"/>
                </a:lnTo>
                <a:cubicBezTo>
                  <a:pt x="85557" y="15758"/>
                  <a:pt x="80295" y="15758"/>
                  <a:pt x="77055" y="18998"/>
                </a:cubicBezTo>
                <a:cubicBezTo>
                  <a:pt x="73816" y="22238"/>
                  <a:pt x="73816" y="27499"/>
                  <a:pt x="77055" y="30739"/>
                </a:cubicBezTo>
                <a:lnTo>
                  <a:pt x="104373" y="58057"/>
                </a:lnTo>
                <a:lnTo>
                  <a:pt x="8294" y="58057"/>
                </a:lnTo>
                <a:cubicBezTo>
                  <a:pt x="3706" y="58057"/>
                  <a:pt x="0" y="61763"/>
                  <a:pt x="0" y="66351"/>
                </a:cubicBezTo>
                <a:cubicBezTo>
                  <a:pt x="0" y="70939"/>
                  <a:pt x="3706" y="74645"/>
                  <a:pt x="8294" y="74645"/>
                </a:cubicBezTo>
                <a:lnTo>
                  <a:pt x="104373" y="74645"/>
                </a:lnTo>
                <a:lnTo>
                  <a:pt x="77055" y="101963"/>
                </a:lnTo>
                <a:cubicBezTo>
                  <a:pt x="73816" y="105203"/>
                  <a:pt x="73816" y="110464"/>
                  <a:pt x="77055" y="113704"/>
                </a:cubicBezTo>
                <a:cubicBezTo>
                  <a:pt x="80295" y="116944"/>
                  <a:pt x="85557" y="116944"/>
                  <a:pt x="88796" y="113704"/>
                </a:cubicBezTo>
                <a:lnTo>
                  <a:pt x="130266" y="72234"/>
                </a:lnTo>
                <a:close/>
              </a:path>
            </a:pathLst>
          </a:custGeom>
          <a:solidFill>
            <a:srgbClr val="8B0000"/>
          </a:solidFill>
        </p:spPr>
      </p:sp>
      <p:sp>
        <p:nvSpPr>
          <p:cNvPr id="15" name="Text 12"/>
          <p:cNvSpPr/>
          <p:nvPr/>
        </p:nvSpPr>
        <p:spPr>
          <a:xfrm>
            <a:off x="706841" y="6295053"/>
            <a:ext cx="5256456" cy="431282"/>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Controls:</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Negative size effect (larger funds get lower flows); Positive performance-chasing (mret_lag)</a:t>
            </a:r>
            <a:endParaRPr lang="en-US" sz="1600" dirty="0"/>
          </a:p>
        </p:txBody>
      </p:sp>
      <p:sp>
        <p:nvSpPr>
          <p:cNvPr id="5" name="Shape 13"/>
          <p:cNvSpPr/>
          <p:nvPr/>
        </p:nvSpPr>
        <p:spPr>
          <a:xfrm>
            <a:off x="6179846" y="4835331"/>
            <a:ext cx="5681306" cy="2023706"/>
          </a:xfrm>
          <a:custGeom>
            <a:avLst/>
            <a:gdLst/>
            <a:ahLst/>
            <a:cxnLst/>
            <a:rect l="l" t="t" r="r" b="b"/>
            <a:pathLst>
              <a:path w="5681306" h="2023706">
                <a:moveTo>
                  <a:pt x="33176" y="0"/>
                </a:moveTo>
                <a:lnTo>
                  <a:pt x="5614949" y="0"/>
                </a:lnTo>
                <a:cubicBezTo>
                  <a:pt x="5651597" y="0"/>
                  <a:pt x="5681306" y="29709"/>
                  <a:pt x="5681306" y="66357"/>
                </a:cubicBezTo>
                <a:lnTo>
                  <a:pt x="5681306" y="1957349"/>
                </a:lnTo>
                <a:cubicBezTo>
                  <a:pt x="5681306" y="1993997"/>
                  <a:pt x="5651597" y="2023706"/>
                  <a:pt x="5614949" y="2023706"/>
                </a:cubicBezTo>
                <a:lnTo>
                  <a:pt x="33176" y="2023706"/>
                </a:lnTo>
                <a:cubicBezTo>
                  <a:pt x="14853" y="2023706"/>
                  <a:pt x="0" y="2008853"/>
                  <a:pt x="0" y="1990531"/>
                </a:cubicBezTo>
                <a:lnTo>
                  <a:pt x="0" y="33176"/>
                </a:lnTo>
                <a:cubicBezTo>
                  <a:pt x="0" y="14865"/>
                  <a:pt x="14865" y="0"/>
                  <a:pt x="33176" y="0"/>
                </a:cubicBezTo>
                <a:close/>
              </a:path>
            </a:pathLst>
          </a:custGeom>
          <a:solidFill>
            <a:srgbClr val="F9FAFB"/>
          </a:solidFill>
        </p:spPr>
      </p:sp>
      <p:sp>
        <p:nvSpPr>
          <p:cNvPr id="17" name="Shape 14"/>
          <p:cNvSpPr/>
          <p:nvPr/>
        </p:nvSpPr>
        <p:spPr>
          <a:xfrm>
            <a:off x="6179846" y="4835331"/>
            <a:ext cx="33176" cy="2023706"/>
          </a:xfrm>
          <a:custGeom>
            <a:avLst/>
            <a:gdLst/>
            <a:ahLst/>
            <a:cxnLst/>
            <a:rect l="l" t="t" r="r" b="b"/>
            <a:pathLst>
              <a:path w="33176" h="2023706">
                <a:moveTo>
                  <a:pt x="33176" y="0"/>
                </a:moveTo>
                <a:lnTo>
                  <a:pt x="33176" y="0"/>
                </a:lnTo>
                <a:lnTo>
                  <a:pt x="33176" y="2023706"/>
                </a:lnTo>
                <a:lnTo>
                  <a:pt x="33176" y="2023706"/>
                </a:lnTo>
                <a:cubicBezTo>
                  <a:pt x="14853" y="2023706"/>
                  <a:pt x="0" y="2008853"/>
                  <a:pt x="0" y="1990531"/>
                </a:cubicBezTo>
                <a:lnTo>
                  <a:pt x="0" y="33176"/>
                </a:lnTo>
                <a:cubicBezTo>
                  <a:pt x="0" y="14853"/>
                  <a:pt x="14853" y="0"/>
                  <a:pt x="33176" y="0"/>
                </a:cubicBezTo>
                <a:close/>
              </a:path>
            </a:pathLst>
          </a:custGeom>
          <a:solidFill>
            <a:srgbClr val="8B0000"/>
          </a:solidFill>
        </p:spPr>
      </p:sp>
      <p:sp>
        <p:nvSpPr>
          <p:cNvPr id="18" name="Shape 15"/>
          <p:cNvSpPr/>
          <p:nvPr/>
        </p:nvSpPr>
        <p:spPr>
          <a:xfrm>
            <a:off x="6349870" y="5009502"/>
            <a:ext cx="149290" cy="149290"/>
          </a:xfrm>
          <a:custGeom>
            <a:avLst/>
            <a:gdLst/>
            <a:ahLst/>
            <a:cxnLst/>
            <a:rect l="l" t="t" r="r" b="b"/>
            <a:pathLst>
              <a:path w="149290" h="149290">
                <a:moveTo>
                  <a:pt x="9331" y="9331"/>
                </a:moveTo>
                <a:cubicBezTo>
                  <a:pt x="14492" y="9331"/>
                  <a:pt x="18661" y="13500"/>
                  <a:pt x="18661" y="18661"/>
                </a:cubicBezTo>
                <a:lnTo>
                  <a:pt x="18661" y="116633"/>
                </a:lnTo>
                <a:cubicBezTo>
                  <a:pt x="18661" y="119199"/>
                  <a:pt x="20761" y="121298"/>
                  <a:pt x="23327" y="121298"/>
                </a:cubicBezTo>
                <a:lnTo>
                  <a:pt x="139959" y="121298"/>
                </a:lnTo>
                <a:cubicBezTo>
                  <a:pt x="145120" y="121298"/>
                  <a:pt x="149290" y="125468"/>
                  <a:pt x="149290" y="130629"/>
                </a:cubicBezTo>
                <a:cubicBezTo>
                  <a:pt x="149290" y="135790"/>
                  <a:pt x="145120" y="139959"/>
                  <a:pt x="139959" y="139959"/>
                </a:cubicBezTo>
                <a:lnTo>
                  <a:pt x="23327" y="139959"/>
                </a:lnTo>
                <a:cubicBezTo>
                  <a:pt x="10439" y="139959"/>
                  <a:pt x="0" y="129521"/>
                  <a:pt x="0" y="116633"/>
                </a:cubicBezTo>
                <a:lnTo>
                  <a:pt x="0" y="18661"/>
                </a:lnTo>
                <a:cubicBezTo>
                  <a:pt x="0" y="13500"/>
                  <a:pt x="4170" y="9331"/>
                  <a:pt x="9331" y="9331"/>
                </a:cubicBezTo>
                <a:close/>
                <a:moveTo>
                  <a:pt x="37322" y="27992"/>
                </a:moveTo>
                <a:cubicBezTo>
                  <a:pt x="37322" y="22831"/>
                  <a:pt x="41492" y="18661"/>
                  <a:pt x="46653" y="18661"/>
                </a:cubicBezTo>
                <a:lnTo>
                  <a:pt x="102637" y="18661"/>
                </a:lnTo>
                <a:cubicBezTo>
                  <a:pt x="107798" y="18661"/>
                  <a:pt x="111967" y="22831"/>
                  <a:pt x="111967" y="27992"/>
                </a:cubicBezTo>
                <a:cubicBezTo>
                  <a:pt x="111967" y="33153"/>
                  <a:pt x="107798" y="37322"/>
                  <a:pt x="102637" y="37322"/>
                </a:cubicBezTo>
                <a:lnTo>
                  <a:pt x="46653" y="37322"/>
                </a:lnTo>
                <a:cubicBezTo>
                  <a:pt x="41492" y="37322"/>
                  <a:pt x="37322" y="33153"/>
                  <a:pt x="37322" y="27992"/>
                </a:cubicBezTo>
                <a:close/>
                <a:moveTo>
                  <a:pt x="46653" y="51318"/>
                </a:moveTo>
                <a:lnTo>
                  <a:pt x="83976" y="51318"/>
                </a:lnTo>
                <a:cubicBezTo>
                  <a:pt x="89137" y="51318"/>
                  <a:pt x="93306" y="55488"/>
                  <a:pt x="93306" y="60649"/>
                </a:cubicBezTo>
                <a:cubicBezTo>
                  <a:pt x="93306" y="65810"/>
                  <a:pt x="89137" y="69980"/>
                  <a:pt x="83976" y="69980"/>
                </a:cubicBezTo>
                <a:lnTo>
                  <a:pt x="46653" y="69980"/>
                </a:lnTo>
                <a:cubicBezTo>
                  <a:pt x="41492" y="69980"/>
                  <a:pt x="37322" y="65810"/>
                  <a:pt x="37322" y="60649"/>
                </a:cubicBezTo>
                <a:cubicBezTo>
                  <a:pt x="37322" y="55488"/>
                  <a:pt x="41492" y="51318"/>
                  <a:pt x="46653" y="51318"/>
                </a:cubicBezTo>
                <a:close/>
                <a:moveTo>
                  <a:pt x="46653" y="83976"/>
                </a:moveTo>
                <a:lnTo>
                  <a:pt x="121298" y="83976"/>
                </a:lnTo>
                <a:cubicBezTo>
                  <a:pt x="126459" y="83976"/>
                  <a:pt x="130629" y="88145"/>
                  <a:pt x="130629" y="93306"/>
                </a:cubicBezTo>
                <a:cubicBezTo>
                  <a:pt x="130629" y="98467"/>
                  <a:pt x="126459" y="102637"/>
                  <a:pt x="121298" y="102637"/>
                </a:cubicBezTo>
                <a:lnTo>
                  <a:pt x="46653" y="102637"/>
                </a:lnTo>
                <a:cubicBezTo>
                  <a:pt x="41492" y="102637"/>
                  <a:pt x="37322" y="98467"/>
                  <a:pt x="37322" y="93306"/>
                </a:cubicBezTo>
                <a:cubicBezTo>
                  <a:pt x="37322" y="88145"/>
                  <a:pt x="41492" y="83976"/>
                  <a:pt x="46653" y="83976"/>
                </a:cubicBezTo>
                <a:close/>
              </a:path>
            </a:pathLst>
          </a:custGeom>
          <a:solidFill>
            <a:srgbClr val="8B0000"/>
          </a:solidFill>
        </p:spPr>
      </p:sp>
      <p:sp>
        <p:nvSpPr>
          <p:cNvPr id="19" name="Text 16"/>
          <p:cNvSpPr/>
          <p:nvPr/>
        </p:nvSpPr>
        <p:spPr>
          <a:xfrm>
            <a:off x="6519895" y="4968033"/>
            <a:ext cx="5283200" cy="232229"/>
          </a:xfrm>
          <a:prstGeom prst="rect">
            <a:avLst/>
          </a:prstGeom>
          <a:noFill/>
        </p:spPr>
        <p:txBody>
          <a:bodyPr wrap="square" lIns="0" tIns="0" rIns="0" bIns="0" rtlCol="0" anchor="ctr"/>
          <a:lstStyle/>
          <a:p>
            <a:pPr>
              <a:lnSpc>
                <a:spcPct val="13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Model Comparison</a:t>
            </a:r>
            <a:endParaRPr lang="en-US" sz="1600" dirty="0"/>
          </a:p>
        </p:txBody>
      </p:sp>
      <p:sp>
        <p:nvSpPr>
          <p:cNvPr id="20" name="Text 17"/>
          <p:cNvSpPr/>
          <p:nvPr/>
        </p:nvSpPr>
        <p:spPr>
          <a:xfrm>
            <a:off x="6329136" y="5299788"/>
            <a:ext cx="5465665" cy="215641"/>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Column (1)-(2):</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OLS with cluster-robust SE. Basic DiD without FE.</a:t>
            </a:r>
            <a:endParaRPr lang="en-US" sz="1600" dirty="0"/>
          </a:p>
        </p:txBody>
      </p:sp>
      <p:sp>
        <p:nvSpPr>
          <p:cNvPr id="21" name="Text 18"/>
          <p:cNvSpPr/>
          <p:nvPr/>
        </p:nvSpPr>
        <p:spPr>
          <a:xfrm>
            <a:off x="6329136" y="5581780"/>
            <a:ext cx="5465665" cy="431282"/>
          </a:xfrm>
          <a:prstGeom prst="rect">
            <a:avLst/>
          </a:prstGeom>
          <a:noFill/>
        </p:spPr>
        <p:txBody>
          <a:bodyPr wrap="square" lIns="0" tIns="0" rIns="0" bIns="0" rtlCol="0" anchor="ctr"/>
          <a:lstStyle/>
          <a:p>
            <a:pPr>
              <a:lnSpc>
                <a:spcPct val="140000"/>
              </a:lnSpc>
            </a:pPr>
            <a:r>
              <a:rPr lang="en-US" sz="104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Column (3):</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Panel FE preferred specification. Absorbs unobserved fund heterogeneity and common time shocks. </a:t>
            </a:r>
            <a:r>
              <a:rPr lang="en-US" sz="104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R² = 0.0377</a:t>
            </a:r>
            <a:r>
              <a:rPr lang="en-US" sz="104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indicates good model fit.</a:t>
            </a:r>
            <a:endParaRPr lang="en-US" sz="1600" dirty="0"/>
          </a:p>
        </p:txBody>
      </p:sp>
      <p:sp>
        <p:nvSpPr>
          <p:cNvPr id="22" name="Shape 19"/>
          <p:cNvSpPr/>
          <p:nvPr/>
        </p:nvSpPr>
        <p:spPr>
          <a:xfrm>
            <a:off x="6345723" y="6096000"/>
            <a:ext cx="116114" cy="116114"/>
          </a:xfrm>
          <a:custGeom>
            <a:avLst/>
            <a:gdLst/>
            <a:ahLst/>
            <a:cxnLst/>
            <a:rect l="l" t="t" r="r" b="b"/>
            <a:pathLst>
              <a:path w="116114" h="116114">
                <a:moveTo>
                  <a:pt x="58057" y="116114"/>
                </a:moveTo>
                <a:cubicBezTo>
                  <a:pt x="90100" y="116114"/>
                  <a:pt x="116114" y="90100"/>
                  <a:pt x="116114" y="58057"/>
                </a:cubicBezTo>
                <a:cubicBezTo>
                  <a:pt x="116114" y="26015"/>
                  <a:pt x="90100" y="0"/>
                  <a:pt x="58057" y="0"/>
                </a:cubicBezTo>
                <a:cubicBezTo>
                  <a:pt x="26015" y="0"/>
                  <a:pt x="0" y="26015"/>
                  <a:pt x="0" y="58057"/>
                </a:cubicBezTo>
                <a:cubicBezTo>
                  <a:pt x="0" y="90100"/>
                  <a:pt x="26015" y="116114"/>
                  <a:pt x="58057" y="116114"/>
                </a:cubicBezTo>
                <a:close/>
                <a:moveTo>
                  <a:pt x="50800" y="36286"/>
                </a:moveTo>
                <a:cubicBezTo>
                  <a:pt x="50800" y="32280"/>
                  <a:pt x="54052" y="29029"/>
                  <a:pt x="58057" y="29029"/>
                </a:cubicBezTo>
                <a:cubicBezTo>
                  <a:pt x="62062" y="29029"/>
                  <a:pt x="65314" y="32280"/>
                  <a:pt x="65314" y="36286"/>
                </a:cubicBezTo>
                <a:cubicBezTo>
                  <a:pt x="65314" y="40291"/>
                  <a:pt x="62062" y="43543"/>
                  <a:pt x="58057" y="43543"/>
                </a:cubicBezTo>
                <a:cubicBezTo>
                  <a:pt x="54052" y="43543"/>
                  <a:pt x="50800" y="40291"/>
                  <a:pt x="50800" y="36286"/>
                </a:cubicBezTo>
                <a:close/>
                <a:moveTo>
                  <a:pt x="48986" y="50800"/>
                </a:moveTo>
                <a:lnTo>
                  <a:pt x="59871" y="50800"/>
                </a:lnTo>
                <a:cubicBezTo>
                  <a:pt x="62888" y="50800"/>
                  <a:pt x="65314" y="53227"/>
                  <a:pt x="65314" y="56243"/>
                </a:cubicBezTo>
                <a:lnTo>
                  <a:pt x="65314" y="76200"/>
                </a:lnTo>
                <a:lnTo>
                  <a:pt x="67129" y="76200"/>
                </a:lnTo>
                <a:cubicBezTo>
                  <a:pt x="70145" y="76200"/>
                  <a:pt x="72571" y="78627"/>
                  <a:pt x="72571" y="81643"/>
                </a:cubicBezTo>
                <a:cubicBezTo>
                  <a:pt x="72571" y="84659"/>
                  <a:pt x="70145" y="87086"/>
                  <a:pt x="67129" y="87086"/>
                </a:cubicBezTo>
                <a:lnTo>
                  <a:pt x="48986" y="87086"/>
                </a:lnTo>
                <a:cubicBezTo>
                  <a:pt x="45969" y="87086"/>
                  <a:pt x="43543" y="84659"/>
                  <a:pt x="43543" y="81643"/>
                </a:cubicBezTo>
                <a:cubicBezTo>
                  <a:pt x="43543" y="78627"/>
                  <a:pt x="45969" y="76200"/>
                  <a:pt x="48986" y="76200"/>
                </a:cubicBezTo>
                <a:lnTo>
                  <a:pt x="54429" y="76200"/>
                </a:lnTo>
                <a:lnTo>
                  <a:pt x="54429" y="61686"/>
                </a:lnTo>
                <a:lnTo>
                  <a:pt x="48986" y="61686"/>
                </a:lnTo>
                <a:cubicBezTo>
                  <a:pt x="45969" y="61686"/>
                  <a:pt x="43543" y="59259"/>
                  <a:pt x="43543" y="56243"/>
                </a:cubicBezTo>
                <a:cubicBezTo>
                  <a:pt x="43543" y="53227"/>
                  <a:pt x="45969" y="50800"/>
                  <a:pt x="48986" y="50800"/>
                </a:cubicBezTo>
                <a:close/>
              </a:path>
            </a:pathLst>
          </a:custGeom>
          <a:solidFill>
            <a:srgbClr val="8B0000"/>
          </a:solidFill>
        </p:spPr>
      </p:sp>
      <p:sp>
        <p:nvSpPr>
          <p:cNvPr id="23" name="Text 20"/>
          <p:cNvSpPr/>
          <p:nvPr/>
        </p:nvSpPr>
        <p:spPr>
          <a:xfrm>
            <a:off x="6500091" y="6079412"/>
            <a:ext cx="5286416" cy="165878"/>
          </a:xfrm>
          <a:prstGeom prst="rect">
            <a:avLst/>
          </a:prstGeom>
          <a:noFill/>
        </p:spPr>
        <p:txBody>
          <a:bodyPr wrap="square" lIns="0" tIns="0" rIns="0" bIns="0" rtlCol="0" anchor="ctr"/>
          <a:lstStyle/>
          <a:p>
            <a:pPr>
              <a:lnSpc>
                <a:spcPct val="120000"/>
              </a:lnSpc>
            </a:pPr>
            <a:r>
              <a:rPr lang="en-US" sz="91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 errors clustered by fund in parentheses. *** p&lt;0.01, ** p&lt;0.05, * p&lt;0.1</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4934" y="354934"/>
            <a:ext cx="11553118" cy="212961"/>
          </a:xfrm>
          <a:prstGeom prst="rect">
            <a:avLst/>
          </a:prstGeom>
          <a:noFill/>
        </p:spPr>
        <p:txBody>
          <a:bodyPr wrap="square" lIns="0" tIns="0" rIns="0" bIns="0" rtlCol="0" anchor="ctr"/>
          <a:lstStyle/>
          <a:p>
            <a:pPr>
              <a:lnSpc>
                <a:spcPct val="130000"/>
              </a:lnSpc>
            </a:pPr>
            <a:r>
              <a:rPr lang="en-US" sz="1120" b="1" kern="0" spc="56"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54934" y="638882"/>
            <a:ext cx="11641852" cy="354934"/>
          </a:xfrm>
          <a:prstGeom prst="rect">
            <a:avLst/>
          </a:prstGeom>
          <a:noFill/>
        </p:spPr>
        <p:txBody>
          <a:bodyPr wrap="square" lIns="0" tIns="0" rIns="0" bIns="0" rtlCol="0" anchor="ctr"/>
          <a:lstStyle/>
          <a:p>
            <a:pPr>
              <a:lnSpc>
                <a:spcPct val="90000"/>
              </a:lnSpc>
            </a:pPr>
            <a:r>
              <a:rPr lang="en-US" sz="25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Parallel Trends Check</a:t>
            </a:r>
            <a:endParaRPr lang="en-US" sz="1600" dirty="0"/>
          </a:p>
        </p:txBody>
      </p:sp>
      <p:sp>
        <p:nvSpPr>
          <p:cNvPr id="4" name="Shape 2"/>
          <p:cNvSpPr/>
          <p:nvPr/>
        </p:nvSpPr>
        <p:spPr>
          <a:xfrm>
            <a:off x="354934" y="1100297"/>
            <a:ext cx="851843" cy="35493"/>
          </a:xfrm>
          <a:custGeom>
            <a:avLst/>
            <a:gdLst/>
            <a:ahLst/>
            <a:cxnLst/>
            <a:rect l="l" t="t" r="r" b="b"/>
            <a:pathLst>
              <a:path w="851843" h="35493">
                <a:moveTo>
                  <a:pt x="0" y="0"/>
                </a:moveTo>
                <a:lnTo>
                  <a:pt x="851843" y="0"/>
                </a:lnTo>
                <a:lnTo>
                  <a:pt x="851843" y="35493"/>
                </a:lnTo>
                <a:lnTo>
                  <a:pt x="0" y="35493"/>
                </a:lnTo>
                <a:lnTo>
                  <a:pt x="0" y="0"/>
                </a:lnTo>
                <a:close/>
              </a:path>
            </a:pathLst>
          </a:custGeom>
          <a:solidFill>
            <a:srgbClr val="8B0000"/>
          </a:solidFill>
        </p:spPr>
      </p:sp>
      <p:sp>
        <p:nvSpPr>
          <p:cNvPr id="5" name="Shape 3"/>
          <p:cNvSpPr/>
          <p:nvPr/>
        </p:nvSpPr>
        <p:spPr>
          <a:xfrm>
            <a:off x="354934" y="1295511"/>
            <a:ext cx="5652332" cy="4942463"/>
          </a:xfrm>
          <a:custGeom>
            <a:avLst/>
            <a:gdLst/>
            <a:ahLst/>
            <a:cxnLst/>
            <a:rect l="l" t="t" r="r" b="b"/>
            <a:pathLst>
              <a:path w="5652332" h="4942463">
                <a:moveTo>
                  <a:pt x="35493" y="0"/>
                </a:moveTo>
                <a:lnTo>
                  <a:pt x="5616838" y="0"/>
                </a:lnTo>
                <a:cubicBezTo>
                  <a:pt x="5636441" y="0"/>
                  <a:pt x="5652332" y="15891"/>
                  <a:pt x="5652332" y="35493"/>
                </a:cubicBezTo>
                <a:lnTo>
                  <a:pt x="5652332" y="4871489"/>
                </a:lnTo>
                <a:cubicBezTo>
                  <a:pt x="5652332" y="4910687"/>
                  <a:pt x="5620556" y="4942463"/>
                  <a:pt x="5581358" y="4942463"/>
                </a:cubicBezTo>
                <a:lnTo>
                  <a:pt x="70974" y="4942463"/>
                </a:lnTo>
                <a:cubicBezTo>
                  <a:pt x="31776" y="4942463"/>
                  <a:pt x="0" y="4910687"/>
                  <a:pt x="0" y="4871489"/>
                </a:cubicBezTo>
                <a:lnTo>
                  <a:pt x="0" y="35493"/>
                </a:lnTo>
                <a:cubicBezTo>
                  <a:pt x="0" y="15904"/>
                  <a:pt x="15904" y="0"/>
                  <a:pt x="35493" y="0"/>
                </a:cubicBezTo>
                <a:close/>
              </a:path>
            </a:pathLst>
          </a:custGeom>
          <a:solidFill>
            <a:srgbClr val="F9FAFB"/>
          </a:solidFill>
        </p:spPr>
      </p:sp>
      <p:sp>
        <p:nvSpPr>
          <p:cNvPr id="6" name="Shape 4"/>
          <p:cNvSpPr/>
          <p:nvPr/>
        </p:nvSpPr>
        <p:spPr>
          <a:xfrm>
            <a:off x="354934" y="1295511"/>
            <a:ext cx="5652332" cy="35493"/>
          </a:xfrm>
          <a:custGeom>
            <a:avLst/>
            <a:gdLst/>
            <a:ahLst/>
            <a:cxnLst/>
            <a:rect l="l" t="t" r="r" b="b"/>
            <a:pathLst>
              <a:path w="5652332" h="35493">
                <a:moveTo>
                  <a:pt x="35493" y="0"/>
                </a:moveTo>
                <a:lnTo>
                  <a:pt x="5616838" y="0"/>
                </a:lnTo>
                <a:cubicBezTo>
                  <a:pt x="5636441" y="0"/>
                  <a:pt x="5652332" y="15891"/>
                  <a:pt x="5652332" y="35493"/>
                </a:cubicBezTo>
                <a:lnTo>
                  <a:pt x="5652332" y="35493"/>
                </a:lnTo>
                <a:lnTo>
                  <a:pt x="0" y="35493"/>
                </a:lnTo>
                <a:lnTo>
                  <a:pt x="0" y="35493"/>
                </a:lnTo>
                <a:cubicBezTo>
                  <a:pt x="0" y="15904"/>
                  <a:pt x="15904" y="0"/>
                  <a:pt x="35493" y="0"/>
                </a:cubicBezTo>
                <a:close/>
              </a:path>
            </a:pathLst>
          </a:custGeom>
          <a:solidFill>
            <a:srgbClr val="8B0000"/>
          </a:solidFill>
        </p:spPr>
      </p:sp>
      <p:sp>
        <p:nvSpPr>
          <p:cNvPr id="7" name="Shape 5"/>
          <p:cNvSpPr/>
          <p:nvPr/>
        </p:nvSpPr>
        <p:spPr>
          <a:xfrm>
            <a:off x="554585" y="1526218"/>
            <a:ext cx="177467" cy="177467"/>
          </a:xfrm>
          <a:custGeom>
            <a:avLst/>
            <a:gdLst/>
            <a:ahLst/>
            <a:cxnLst/>
            <a:rect l="l" t="t" r="r" b="b"/>
            <a:pathLst>
              <a:path w="177467" h="177467">
                <a:moveTo>
                  <a:pt x="22183" y="22183"/>
                </a:moveTo>
                <a:cubicBezTo>
                  <a:pt x="22183" y="16048"/>
                  <a:pt x="17227" y="11092"/>
                  <a:pt x="11092" y="11092"/>
                </a:cubicBezTo>
                <a:cubicBezTo>
                  <a:pt x="4957" y="11092"/>
                  <a:pt x="0" y="16048"/>
                  <a:pt x="0" y="22183"/>
                </a:cubicBezTo>
                <a:lnTo>
                  <a:pt x="0" y="138646"/>
                </a:lnTo>
                <a:cubicBezTo>
                  <a:pt x="0" y="153967"/>
                  <a:pt x="12409" y="166376"/>
                  <a:pt x="27729" y="166376"/>
                </a:cubicBezTo>
                <a:lnTo>
                  <a:pt x="166376" y="166376"/>
                </a:lnTo>
                <a:cubicBezTo>
                  <a:pt x="172511" y="166376"/>
                  <a:pt x="177467" y="161419"/>
                  <a:pt x="177467" y="155284"/>
                </a:cubicBezTo>
                <a:cubicBezTo>
                  <a:pt x="177467" y="149149"/>
                  <a:pt x="172511" y="144192"/>
                  <a:pt x="166376" y="144192"/>
                </a:cubicBezTo>
                <a:lnTo>
                  <a:pt x="27729" y="144192"/>
                </a:lnTo>
                <a:cubicBezTo>
                  <a:pt x="24679" y="144192"/>
                  <a:pt x="22183" y="141697"/>
                  <a:pt x="22183" y="138646"/>
                </a:cubicBezTo>
                <a:lnTo>
                  <a:pt x="22183" y="22183"/>
                </a:lnTo>
                <a:close/>
                <a:moveTo>
                  <a:pt x="163117" y="52200"/>
                </a:moveTo>
                <a:cubicBezTo>
                  <a:pt x="167450" y="47868"/>
                  <a:pt x="167450" y="40831"/>
                  <a:pt x="163117" y="36499"/>
                </a:cubicBezTo>
                <a:cubicBezTo>
                  <a:pt x="158785" y="32166"/>
                  <a:pt x="151748" y="32166"/>
                  <a:pt x="147416" y="36499"/>
                </a:cubicBezTo>
                <a:lnTo>
                  <a:pt x="110917" y="73032"/>
                </a:lnTo>
                <a:lnTo>
                  <a:pt x="91021" y="53171"/>
                </a:lnTo>
                <a:cubicBezTo>
                  <a:pt x="86689" y="48838"/>
                  <a:pt x="79652" y="48838"/>
                  <a:pt x="75320" y="53171"/>
                </a:cubicBezTo>
                <a:lnTo>
                  <a:pt x="42044" y="86446"/>
                </a:lnTo>
                <a:cubicBezTo>
                  <a:pt x="37712" y="90779"/>
                  <a:pt x="37712" y="97815"/>
                  <a:pt x="42044" y="102148"/>
                </a:cubicBezTo>
                <a:cubicBezTo>
                  <a:pt x="46377" y="106480"/>
                  <a:pt x="53413" y="106480"/>
                  <a:pt x="57746" y="102148"/>
                </a:cubicBezTo>
                <a:lnTo>
                  <a:pt x="83188" y="76706"/>
                </a:lnTo>
                <a:lnTo>
                  <a:pt x="103084" y="96602"/>
                </a:lnTo>
                <a:cubicBezTo>
                  <a:pt x="107416" y="100934"/>
                  <a:pt x="114453" y="100934"/>
                  <a:pt x="118785" y="96602"/>
                </a:cubicBezTo>
                <a:lnTo>
                  <a:pt x="163152" y="52235"/>
                </a:lnTo>
                <a:close/>
              </a:path>
            </a:pathLst>
          </a:custGeom>
          <a:solidFill>
            <a:srgbClr val="8B0000"/>
          </a:solidFill>
        </p:spPr>
      </p:sp>
      <p:sp>
        <p:nvSpPr>
          <p:cNvPr id="8" name="Text 6"/>
          <p:cNvSpPr/>
          <p:nvPr/>
        </p:nvSpPr>
        <p:spPr>
          <a:xfrm>
            <a:off x="754236" y="1490725"/>
            <a:ext cx="5164297" cy="248454"/>
          </a:xfrm>
          <a:prstGeom prst="rect">
            <a:avLst/>
          </a:prstGeom>
          <a:noFill/>
        </p:spPr>
        <p:txBody>
          <a:bodyPr wrap="square" lIns="0" tIns="0" rIns="0" bIns="0" rtlCol="0" anchor="ctr"/>
          <a:lstStyle/>
          <a:p>
            <a:pPr>
              <a:lnSpc>
                <a:spcPct val="120000"/>
              </a:lnSpc>
            </a:pPr>
            <a:r>
              <a:rPr lang="en-US" sz="139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Event-Study Validation</a:t>
            </a:r>
            <a:endParaRPr lang="en-US" sz="1600" dirty="0"/>
          </a:p>
        </p:txBody>
      </p:sp>
      <p:sp>
        <p:nvSpPr>
          <p:cNvPr id="9" name="Text 7"/>
          <p:cNvSpPr/>
          <p:nvPr/>
        </p:nvSpPr>
        <p:spPr>
          <a:xfrm>
            <a:off x="532402" y="1881153"/>
            <a:ext cx="5368384" cy="461415"/>
          </a:xfrm>
          <a:prstGeom prst="rect">
            <a:avLst/>
          </a:prstGeom>
          <a:noFill/>
        </p:spPr>
        <p:txBody>
          <a:bodyPr wrap="square" lIns="0" tIns="0" rIns="0" bIns="0" rtlCol="0" anchor="ctr"/>
          <a:lstStyle/>
          <a:p>
            <a:pPr>
              <a:lnSpc>
                <a:spcPct val="14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Parallel trends assumption:</a:t>
            </a:r>
            <a:r>
              <a:rPr lang="en-US" sz="112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Pre-event, AI and non-AI funds should exhibit similar flow trends. Validated via dynamic DiD specification.</a:t>
            </a:r>
            <a:endParaRPr lang="en-US" sz="1600" dirty="0"/>
          </a:p>
        </p:txBody>
      </p:sp>
      <p:sp>
        <p:nvSpPr>
          <p:cNvPr id="10" name="Shape 8"/>
          <p:cNvSpPr/>
          <p:nvPr/>
        </p:nvSpPr>
        <p:spPr>
          <a:xfrm>
            <a:off x="536838" y="2488978"/>
            <a:ext cx="5288524" cy="1499598"/>
          </a:xfrm>
          <a:custGeom>
            <a:avLst/>
            <a:gdLst/>
            <a:ahLst/>
            <a:cxnLst/>
            <a:rect l="l" t="t" r="r" b="b"/>
            <a:pathLst>
              <a:path w="5288524" h="1499598">
                <a:moveTo>
                  <a:pt x="70991" y="0"/>
                </a:moveTo>
                <a:lnTo>
                  <a:pt x="5217533" y="0"/>
                </a:lnTo>
                <a:cubicBezTo>
                  <a:pt x="5256740" y="0"/>
                  <a:pt x="5288524" y="31784"/>
                  <a:pt x="5288524" y="70991"/>
                </a:cubicBezTo>
                <a:lnTo>
                  <a:pt x="5288524" y="1428607"/>
                </a:lnTo>
                <a:cubicBezTo>
                  <a:pt x="5288524" y="1467815"/>
                  <a:pt x="5256740" y="1499598"/>
                  <a:pt x="5217533" y="1499598"/>
                </a:cubicBezTo>
                <a:lnTo>
                  <a:pt x="70991" y="1499598"/>
                </a:lnTo>
                <a:cubicBezTo>
                  <a:pt x="31784" y="1499598"/>
                  <a:pt x="0" y="1467815"/>
                  <a:pt x="0" y="1428607"/>
                </a:cubicBezTo>
                <a:lnTo>
                  <a:pt x="0" y="70991"/>
                </a:lnTo>
                <a:cubicBezTo>
                  <a:pt x="0" y="31810"/>
                  <a:pt x="31810" y="0"/>
                  <a:pt x="70991" y="0"/>
                </a:cubicBezTo>
                <a:close/>
              </a:path>
            </a:pathLst>
          </a:custGeom>
          <a:solidFill>
            <a:srgbClr val="FFFFFF"/>
          </a:solidFill>
          <a:ln w="12700">
            <a:solidFill>
              <a:srgbClr val="8B0000">
                <a:alpha val="20000"/>
              </a:srgbClr>
            </a:solidFill>
            <a:prstDash val="solid"/>
          </a:ln>
        </p:spPr>
      </p:sp>
      <p:sp>
        <p:nvSpPr>
          <p:cNvPr id="11" name="Text 9"/>
          <p:cNvSpPr/>
          <p:nvPr/>
        </p:nvSpPr>
        <p:spPr>
          <a:xfrm>
            <a:off x="683249" y="2635389"/>
            <a:ext cx="5066690"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Dynamic DiD Model</a:t>
            </a:r>
            <a:endParaRPr lang="en-US" sz="1600" dirty="0"/>
          </a:p>
        </p:txBody>
      </p:sp>
      <p:sp>
        <p:nvSpPr>
          <p:cNvPr id="12" name="Shape 10"/>
          <p:cNvSpPr/>
          <p:nvPr/>
        </p:nvSpPr>
        <p:spPr>
          <a:xfrm>
            <a:off x="696559" y="2954830"/>
            <a:ext cx="4982393" cy="603389"/>
          </a:xfrm>
          <a:custGeom>
            <a:avLst/>
            <a:gdLst/>
            <a:ahLst/>
            <a:cxnLst/>
            <a:rect l="l" t="t" r="r" b="b"/>
            <a:pathLst>
              <a:path w="4982393" h="603389">
                <a:moveTo>
                  <a:pt x="0" y="0"/>
                </a:moveTo>
                <a:lnTo>
                  <a:pt x="4982393" y="0"/>
                </a:lnTo>
                <a:lnTo>
                  <a:pt x="4982393" y="603389"/>
                </a:lnTo>
                <a:lnTo>
                  <a:pt x="0" y="603389"/>
                </a:lnTo>
                <a:lnTo>
                  <a:pt x="0" y="0"/>
                </a:lnTo>
                <a:close/>
              </a:path>
            </a:pathLst>
          </a:custGeom>
          <a:solidFill>
            <a:srgbClr val="F9FAFB"/>
          </a:solidFill>
        </p:spPr>
      </p:sp>
      <p:sp>
        <p:nvSpPr>
          <p:cNvPr id="13" name="Shape 11"/>
          <p:cNvSpPr/>
          <p:nvPr/>
        </p:nvSpPr>
        <p:spPr>
          <a:xfrm>
            <a:off x="696559" y="2954830"/>
            <a:ext cx="26620" cy="603389"/>
          </a:xfrm>
          <a:custGeom>
            <a:avLst/>
            <a:gdLst/>
            <a:ahLst/>
            <a:cxnLst/>
            <a:rect l="l" t="t" r="r" b="b"/>
            <a:pathLst>
              <a:path w="26620" h="603389">
                <a:moveTo>
                  <a:pt x="0" y="0"/>
                </a:moveTo>
                <a:lnTo>
                  <a:pt x="26620" y="0"/>
                </a:lnTo>
                <a:lnTo>
                  <a:pt x="26620" y="603389"/>
                </a:lnTo>
                <a:lnTo>
                  <a:pt x="0" y="603389"/>
                </a:lnTo>
                <a:lnTo>
                  <a:pt x="0" y="0"/>
                </a:lnTo>
                <a:close/>
              </a:path>
            </a:pathLst>
          </a:custGeom>
          <a:solidFill>
            <a:srgbClr val="8B0000"/>
          </a:solidFill>
        </p:spPr>
      </p:sp>
      <p:sp>
        <p:nvSpPr>
          <p:cNvPr id="14" name="Text 12"/>
          <p:cNvSpPr/>
          <p:nvPr/>
        </p:nvSpPr>
        <p:spPr>
          <a:xfrm>
            <a:off x="851843" y="3061310"/>
            <a:ext cx="4747249" cy="390428"/>
          </a:xfrm>
          <a:prstGeom prst="rect">
            <a:avLst/>
          </a:prstGeom>
          <a:noFill/>
        </p:spPr>
        <p:txBody>
          <a:bodyPr wrap="square" lIns="0" tIns="0" rIns="0" bIns="0" rtlCol="0" anchor="ctr"/>
          <a:lstStyle/>
          <a:p>
            <a:pPr>
              <a:lnSpc>
                <a:spcPct val="140000"/>
              </a:lnSpc>
            </a:pPr>
            <a:r>
              <a:rPr lang="en-US" sz="980" dirty="0">
                <a:solidFill>
                  <a:srgbClr val="1F2937"/>
                </a:solidFill>
                <a:latin typeface="MiSans" pitchFamily="34" charset="-122"/>
                <a:ea typeface="MiSans" pitchFamily="34" charset="-122"/>
                <a:cs typeface="MiSans" pitchFamily="34" charset="-120"/>
              </a:rPr>
              <a:t>Flow</a:t>
            </a:r>
            <a:r>
              <a:rPr lang="en-US" sz="735" dirty="0">
                <a:solidFill>
                  <a:srgbClr val="1F2937"/>
                </a:solidFill>
                <a:latin typeface="MiSans" pitchFamily="34" charset="-122"/>
                <a:ea typeface="MiSans" pitchFamily="34" charset="-122"/>
                <a:cs typeface="MiSans" pitchFamily="34" charset="-120"/>
              </a:rPr>
              <a:t>i,t</a:t>
            </a:r>
            <a:r>
              <a:rPr lang="en-US" sz="980" dirty="0">
                <a:solidFill>
                  <a:srgbClr val="1F2937"/>
                </a:solidFill>
                <a:latin typeface="MiSans" pitchFamily="34" charset="-122"/>
                <a:ea typeface="MiSans" pitchFamily="34" charset="-122"/>
                <a:cs typeface="MiSans" pitchFamily="34" charset="-120"/>
              </a:rPr>
              <a:t> = α + Σ</a:t>
            </a:r>
            <a:r>
              <a:rPr lang="en-US" sz="735" dirty="0">
                <a:solidFill>
                  <a:srgbClr val="1F2937"/>
                </a:solidFill>
                <a:latin typeface="MiSans" pitchFamily="34" charset="-122"/>
                <a:ea typeface="MiSans" pitchFamily="34" charset="-122"/>
                <a:cs typeface="MiSans" pitchFamily="34" charset="-120"/>
              </a:rPr>
              <a:t>k≠-1</a:t>
            </a:r>
            <a:r>
              <a:rPr lang="en-US" sz="980" dirty="0">
                <a:solidFill>
                  <a:srgbClr val="1F2937"/>
                </a:solidFill>
                <a:latin typeface="MiSans" pitchFamily="34" charset="-122"/>
                <a:ea typeface="MiSans" pitchFamily="34" charset="-122"/>
                <a:cs typeface="MiSans" pitchFamily="34" charset="-120"/>
              </a:rPr>
              <a:t> β</a:t>
            </a:r>
            <a:r>
              <a:rPr lang="en-US" sz="735" dirty="0">
                <a:solidFill>
                  <a:srgbClr val="1F2937"/>
                </a:solidFill>
                <a:latin typeface="MiSans" pitchFamily="34" charset="-122"/>
                <a:ea typeface="MiSans" pitchFamily="34" charset="-122"/>
                <a:cs typeface="MiSans" pitchFamily="34" charset="-120"/>
              </a:rPr>
              <a:t>k</a:t>
            </a:r>
            <a:r>
              <a:rPr lang="en-US" sz="980" dirty="0">
                <a:solidFill>
                  <a:srgbClr val="1F2937"/>
                </a:solidFill>
                <a:latin typeface="MiSans" pitchFamily="34" charset="-122"/>
                <a:ea typeface="MiSans" pitchFamily="34" charset="-122"/>
                <a:cs typeface="MiSans" pitchFamily="34" charset="-120"/>
              </a:rPr>
              <a:t>(AI_Exp</a:t>
            </a:r>
            <a:r>
              <a:rPr lang="en-US" sz="735" dirty="0">
                <a:solidFill>
                  <a:srgbClr val="1F2937"/>
                </a:solidFill>
                <a:latin typeface="MiSans" pitchFamily="34" charset="-122"/>
                <a:ea typeface="MiSans" pitchFamily="34" charset="-122"/>
                <a:cs typeface="MiSans" pitchFamily="34" charset="-120"/>
              </a:rPr>
              <a:t>i</a:t>
            </a:r>
            <a:r>
              <a:rPr lang="en-US" sz="980" dirty="0">
                <a:solidFill>
                  <a:srgbClr val="1F2937"/>
                </a:solidFill>
                <a:latin typeface="MiSans" pitchFamily="34" charset="-122"/>
                <a:ea typeface="MiSans" pitchFamily="34" charset="-122"/>
                <a:cs typeface="MiSans" pitchFamily="34" charset="-120"/>
              </a:rPr>
              <a:t> × 1{t-t</a:t>
            </a:r>
            <a:r>
              <a:rPr lang="en-US" sz="735" dirty="0">
                <a:solidFill>
                  <a:srgbClr val="1F2937"/>
                </a:solidFill>
                <a:latin typeface="MiSans" pitchFamily="34" charset="-122"/>
                <a:ea typeface="MiSans" pitchFamily="34" charset="-122"/>
                <a:cs typeface="MiSans" pitchFamily="34" charset="-120"/>
              </a:rPr>
              <a:t>0</a:t>
            </a:r>
            <a:r>
              <a:rPr lang="en-US" sz="980" dirty="0">
                <a:solidFill>
                  <a:srgbClr val="1F2937"/>
                </a:solidFill>
                <a:latin typeface="MiSans" pitchFamily="34" charset="-122"/>
                <a:ea typeface="MiSans" pitchFamily="34" charset="-122"/>
                <a:cs typeface="MiSans" pitchFamily="34" charset="-120"/>
              </a:rPr>
              <a:t>=k}) + controls + FE + ε</a:t>
            </a:r>
            <a:r>
              <a:rPr lang="en-US" sz="735" dirty="0">
                <a:solidFill>
                  <a:srgbClr val="1F2937"/>
                </a:solidFill>
                <a:latin typeface="MiSans" pitchFamily="34" charset="-122"/>
                <a:ea typeface="MiSans" pitchFamily="34" charset="-122"/>
                <a:cs typeface="MiSans" pitchFamily="34" charset="-120"/>
              </a:rPr>
              <a:t>i,t</a:t>
            </a:r>
            <a:endParaRPr lang="en-US" sz="1600" dirty="0"/>
          </a:p>
        </p:txBody>
      </p:sp>
      <p:sp>
        <p:nvSpPr>
          <p:cNvPr id="15" name="Text 13"/>
          <p:cNvSpPr/>
          <p:nvPr/>
        </p:nvSpPr>
        <p:spPr>
          <a:xfrm>
            <a:off x="683249" y="3664699"/>
            <a:ext cx="5057817" cy="177467"/>
          </a:xfrm>
          <a:prstGeom prst="rect">
            <a:avLst/>
          </a:prstGeom>
          <a:noFill/>
        </p:spPr>
        <p:txBody>
          <a:bodyPr wrap="square" lIns="0" tIns="0" rIns="0" bIns="0" rtlCol="0" anchor="ctr"/>
          <a:lstStyle/>
          <a:p>
            <a:pPr>
              <a:lnSpc>
                <a:spcPct val="120000"/>
              </a:lnSpc>
            </a:pP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where k = months relative to ChatGPT release (Nov 2022 = 0)</a:t>
            </a:r>
            <a:endParaRPr lang="en-US" sz="1600" dirty="0"/>
          </a:p>
        </p:txBody>
      </p:sp>
      <p:sp>
        <p:nvSpPr>
          <p:cNvPr id="16" name="Shape 14"/>
          <p:cNvSpPr/>
          <p:nvPr/>
        </p:nvSpPr>
        <p:spPr>
          <a:xfrm>
            <a:off x="532402" y="4134987"/>
            <a:ext cx="5297397" cy="1925520"/>
          </a:xfrm>
          <a:custGeom>
            <a:avLst/>
            <a:gdLst/>
            <a:ahLst/>
            <a:cxnLst/>
            <a:rect l="l" t="t" r="r" b="b"/>
            <a:pathLst>
              <a:path w="5297397" h="1925520">
                <a:moveTo>
                  <a:pt x="70994" y="0"/>
                </a:moveTo>
                <a:lnTo>
                  <a:pt x="5226403" y="0"/>
                </a:lnTo>
                <a:cubicBezTo>
                  <a:pt x="5265612" y="0"/>
                  <a:pt x="5297397" y="31785"/>
                  <a:pt x="5297397" y="70994"/>
                </a:cubicBezTo>
                <a:lnTo>
                  <a:pt x="5297397" y="1854526"/>
                </a:lnTo>
                <a:cubicBezTo>
                  <a:pt x="5297397" y="1893735"/>
                  <a:pt x="5265612" y="1925520"/>
                  <a:pt x="5226403" y="1925520"/>
                </a:cubicBezTo>
                <a:lnTo>
                  <a:pt x="70994" y="1925520"/>
                </a:lnTo>
                <a:cubicBezTo>
                  <a:pt x="31785" y="1925520"/>
                  <a:pt x="0" y="1893735"/>
                  <a:pt x="0" y="1854526"/>
                </a:cubicBezTo>
                <a:lnTo>
                  <a:pt x="0" y="70994"/>
                </a:lnTo>
                <a:cubicBezTo>
                  <a:pt x="0" y="31785"/>
                  <a:pt x="31785" y="0"/>
                  <a:pt x="70994" y="0"/>
                </a:cubicBezTo>
                <a:close/>
              </a:path>
            </a:pathLst>
          </a:custGeom>
          <a:solidFill>
            <a:srgbClr val="8B0000">
              <a:alpha val="5098"/>
            </a:srgbClr>
          </a:solidFill>
        </p:spPr>
      </p:sp>
      <p:sp>
        <p:nvSpPr>
          <p:cNvPr id="17" name="Text 15"/>
          <p:cNvSpPr/>
          <p:nvPr/>
        </p:nvSpPr>
        <p:spPr>
          <a:xfrm>
            <a:off x="674376" y="4276961"/>
            <a:ext cx="5084437"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Statistical Evidence</a:t>
            </a:r>
            <a:endParaRPr lang="en-US" sz="1600" dirty="0"/>
          </a:p>
        </p:txBody>
      </p:sp>
      <p:sp>
        <p:nvSpPr>
          <p:cNvPr id="18" name="Text 16"/>
          <p:cNvSpPr/>
          <p:nvPr/>
        </p:nvSpPr>
        <p:spPr>
          <a:xfrm>
            <a:off x="674376" y="4560908"/>
            <a:ext cx="1694812" cy="212961"/>
          </a:xfrm>
          <a:prstGeom prst="rect">
            <a:avLst/>
          </a:prstGeom>
          <a:noFill/>
        </p:spPr>
        <p:txBody>
          <a:bodyPr wrap="square" lIns="0" tIns="0" rIns="0" bIns="0" rtlCol="0" anchor="ctr"/>
          <a:lstStyle/>
          <a:p>
            <a:pP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mean difference:</a:t>
            </a:r>
            <a:endParaRPr lang="en-US" sz="1600" dirty="0"/>
          </a:p>
        </p:txBody>
      </p:sp>
      <p:sp>
        <p:nvSpPr>
          <p:cNvPr id="19" name="Text 17"/>
          <p:cNvSpPr/>
          <p:nvPr/>
        </p:nvSpPr>
        <p:spPr>
          <a:xfrm>
            <a:off x="5139757" y="4560908"/>
            <a:ext cx="621135"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0.000221</a:t>
            </a:r>
            <a:endParaRPr lang="en-US" sz="1600" dirty="0"/>
          </a:p>
        </p:txBody>
      </p:sp>
      <p:sp>
        <p:nvSpPr>
          <p:cNvPr id="20" name="Text 18"/>
          <p:cNvSpPr/>
          <p:nvPr/>
        </p:nvSpPr>
        <p:spPr>
          <a:xfrm>
            <a:off x="674376" y="4844856"/>
            <a:ext cx="1517345" cy="212961"/>
          </a:xfrm>
          <a:prstGeom prst="rect">
            <a:avLst/>
          </a:prstGeom>
          <a:noFill/>
        </p:spPr>
        <p:txBody>
          <a:bodyPr wrap="square" lIns="0" tIns="0" rIns="0" bIns="0" rtlCol="0" anchor="ctr"/>
          <a:lstStyle/>
          <a:p>
            <a:pP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std deviation:</a:t>
            </a:r>
            <a:endParaRPr lang="en-US" sz="1600" dirty="0"/>
          </a:p>
        </p:txBody>
      </p:sp>
      <p:sp>
        <p:nvSpPr>
          <p:cNvPr id="21" name="Text 19"/>
          <p:cNvSpPr/>
          <p:nvPr/>
        </p:nvSpPr>
        <p:spPr>
          <a:xfrm>
            <a:off x="5143916" y="4844856"/>
            <a:ext cx="612262"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0.005073</a:t>
            </a:r>
            <a:endParaRPr lang="en-US" sz="1600" dirty="0"/>
          </a:p>
        </p:txBody>
      </p:sp>
      <p:sp>
        <p:nvSpPr>
          <p:cNvPr id="22" name="Text 20"/>
          <p:cNvSpPr/>
          <p:nvPr/>
        </p:nvSpPr>
        <p:spPr>
          <a:xfrm>
            <a:off x="674376" y="5128803"/>
            <a:ext cx="1428611" cy="212961"/>
          </a:xfrm>
          <a:prstGeom prst="rect">
            <a:avLst/>
          </a:prstGeom>
          <a:noFill/>
        </p:spPr>
        <p:txBody>
          <a:bodyPr wrap="square" lIns="0" tIns="0" rIns="0" bIns="0" rtlCol="0" anchor="ctr"/>
          <a:lstStyle/>
          <a:p>
            <a:pP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Pre-trend significance:</a:t>
            </a:r>
            <a:endParaRPr lang="en-US" sz="1600" dirty="0"/>
          </a:p>
        </p:txBody>
      </p:sp>
      <p:sp>
        <p:nvSpPr>
          <p:cNvPr id="23" name="Text 21"/>
          <p:cNvSpPr/>
          <p:nvPr/>
        </p:nvSpPr>
        <p:spPr>
          <a:xfrm>
            <a:off x="4734909" y="5128803"/>
            <a:ext cx="1029310" cy="212961"/>
          </a:xfrm>
          <a:prstGeom prst="rect">
            <a:avLst/>
          </a:prstGeom>
          <a:noFill/>
        </p:spPr>
        <p:txBody>
          <a:bodyPr wrap="square" lIns="0" tIns="0" rIns="0" bIns="0" rtlCol="0" anchor="ctr"/>
          <a:lstStyle/>
          <a:p>
            <a:pPr>
              <a:lnSpc>
                <a:spcPct val="130000"/>
              </a:lnSpc>
            </a:pPr>
            <a:r>
              <a:rPr lang="en-US" sz="1120"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Not significant</a:t>
            </a:r>
            <a:endParaRPr lang="en-US" sz="1600" dirty="0"/>
          </a:p>
        </p:txBody>
      </p:sp>
      <p:sp>
        <p:nvSpPr>
          <p:cNvPr id="24" name="Shape 22"/>
          <p:cNvSpPr/>
          <p:nvPr/>
        </p:nvSpPr>
        <p:spPr>
          <a:xfrm>
            <a:off x="674376" y="5452681"/>
            <a:ext cx="5013450" cy="8873"/>
          </a:xfrm>
          <a:custGeom>
            <a:avLst/>
            <a:gdLst/>
            <a:ahLst/>
            <a:cxnLst/>
            <a:rect l="l" t="t" r="r" b="b"/>
            <a:pathLst>
              <a:path w="5013450" h="8873">
                <a:moveTo>
                  <a:pt x="0" y="0"/>
                </a:moveTo>
                <a:lnTo>
                  <a:pt x="5013450" y="0"/>
                </a:lnTo>
                <a:lnTo>
                  <a:pt x="5013450" y="8873"/>
                </a:lnTo>
                <a:lnTo>
                  <a:pt x="0" y="8873"/>
                </a:lnTo>
                <a:lnTo>
                  <a:pt x="0" y="0"/>
                </a:lnTo>
                <a:close/>
              </a:path>
            </a:pathLst>
          </a:custGeom>
          <a:solidFill>
            <a:srgbClr val="8B0000">
              <a:alpha val="20000"/>
            </a:srgbClr>
          </a:solidFill>
        </p:spPr>
      </p:sp>
      <p:sp>
        <p:nvSpPr>
          <p:cNvPr id="25" name="Shape 23"/>
          <p:cNvSpPr/>
          <p:nvPr/>
        </p:nvSpPr>
        <p:spPr>
          <a:xfrm>
            <a:off x="692122" y="5581345"/>
            <a:ext cx="124227" cy="124227"/>
          </a:xfrm>
          <a:custGeom>
            <a:avLst/>
            <a:gdLst/>
            <a:ahLst/>
            <a:cxnLst/>
            <a:rect l="l" t="t" r="r" b="b"/>
            <a:pathLst>
              <a:path w="124227" h="124227">
                <a:moveTo>
                  <a:pt x="62114" y="124227"/>
                </a:moveTo>
                <a:cubicBezTo>
                  <a:pt x="96395" y="124227"/>
                  <a:pt x="124227" y="96395"/>
                  <a:pt x="124227" y="62114"/>
                </a:cubicBezTo>
                <a:cubicBezTo>
                  <a:pt x="124227" y="27832"/>
                  <a:pt x="96395" y="0"/>
                  <a:pt x="62114" y="0"/>
                </a:cubicBezTo>
                <a:cubicBezTo>
                  <a:pt x="27832" y="0"/>
                  <a:pt x="0" y="27832"/>
                  <a:pt x="0" y="62114"/>
                </a:cubicBezTo>
                <a:cubicBezTo>
                  <a:pt x="0" y="96395"/>
                  <a:pt x="27832" y="124227"/>
                  <a:pt x="62114" y="124227"/>
                </a:cubicBezTo>
                <a:close/>
                <a:moveTo>
                  <a:pt x="82592" y="51608"/>
                </a:moveTo>
                <a:lnTo>
                  <a:pt x="63181" y="82664"/>
                </a:lnTo>
                <a:cubicBezTo>
                  <a:pt x="62162" y="84290"/>
                  <a:pt x="60415" y="85309"/>
                  <a:pt x="58498" y="85406"/>
                </a:cubicBezTo>
                <a:cubicBezTo>
                  <a:pt x="56582" y="85503"/>
                  <a:pt x="54738" y="84630"/>
                  <a:pt x="53597" y="83077"/>
                </a:cubicBezTo>
                <a:lnTo>
                  <a:pt x="41951" y="67548"/>
                </a:lnTo>
                <a:cubicBezTo>
                  <a:pt x="40010" y="64977"/>
                  <a:pt x="40544" y="61337"/>
                  <a:pt x="43116" y="59396"/>
                </a:cubicBezTo>
                <a:cubicBezTo>
                  <a:pt x="45687" y="57455"/>
                  <a:pt x="49327" y="57989"/>
                  <a:pt x="51268" y="60561"/>
                </a:cubicBezTo>
                <a:lnTo>
                  <a:pt x="57819" y="69295"/>
                </a:lnTo>
                <a:lnTo>
                  <a:pt x="72717" y="45445"/>
                </a:lnTo>
                <a:cubicBezTo>
                  <a:pt x="74415" y="42727"/>
                  <a:pt x="78006" y="41878"/>
                  <a:pt x="80748" y="43601"/>
                </a:cubicBezTo>
                <a:cubicBezTo>
                  <a:pt x="83489" y="45323"/>
                  <a:pt x="84314" y="48890"/>
                  <a:pt x="82592" y="51632"/>
                </a:cubicBezTo>
                <a:close/>
              </a:path>
            </a:pathLst>
          </a:custGeom>
          <a:solidFill>
            <a:srgbClr val="8B0000"/>
          </a:solidFill>
        </p:spPr>
      </p:sp>
      <p:sp>
        <p:nvSpPr>
          <p:cNvPr id="26" name="Text 24"/>
          <p:cNvSpPr/>
          <p:nvPr/>
        </p:nvSpPr>
        <p:spPr>
          <a:xfrm>
            <a:off x="883694" y="5448245"/>
            <a:ext cx="4866245" cy="461415"/>
          </a:xfrm>
          <a:prstGeom prst="rect">
            <a:avLst/>
          </a:prstGeom>
          <a:noFill/>
        </p:spPr>
        <p:txBody>
          <a:bodyPr wrap="square" lIns="0" tIns="106480" rIns="0" bIns="0" rtlCol="0" anchor="ctr"/>
          <a:lstStyle/>
          <a:p>
            <a:pPr>
              <a:lnSpc>
                <a:spcPct val="120000"/>
              </a:lnSpc>
            </a:pP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Pre-event coefficients are near zero and statistically insignificant, supporting parallel trends.</a:t>
            </a:r>
            <a:endParaRPr lang="en-US" sz="1600" dirty="0"/>
          </a:p>
        </p:txBody>
      </p:sp>
      <p:sp>
        <p:nvSpPr>
          <p:cNvPr id="27" name="Shape 25"/>
          <p:cNvSpPr/>
          <p:nvPr/>
        </p:nvSpPr>
        <p:spPr>
          <a:xfrm>
            <a:off x="6185704" y="1295511"/>
            <a:ext cx="5652332" cy="4942463"/>
          </a:xfrm>
          <a:custGeom>
            <a:avLst/>
            <a:gdLst/>
            <a:ahLst/>
            <a:cxnLst/>
            <a:rect l="l" t="t" r="r" b="b"/>
            <a:pathLst>
              <a:path w="5652332" h="4942463">
                <a:moveTo>
                  <a:pt x="35493" y="0"/>
                </a:moveTo>
                <a:lnTo>
                  <a:pt x="5616838" y="0"/>
                </a:lnTo>
                <a:cubicBezTo>
                  <a:pt x="5636441" y="0"/>
                  <a:pt x="5652332" y="15891"/>
                  <a:pt x="5652332" y="35493"/>
                </a:cubicBezTo>
                <a:lnTo>
                  <a:pt x="5652332" y="4871489"/>
                </a:lnTo>
                <a:cubicBezTo>
                  <a:pt x="5652332" y="4910687"/>
                  <a:pt x="5620556" y="4942463"/>
                  <a:pt x="5581358" y="4942463"/>
                </a:cubicBezTo>
                <a:lnTo>
                  <a:pt x="70974" y="4942463"/>
                </a:lnTo>
                <a:cubicBezTo>
                  <a:pt x="31776" y="4942463"/>
                  <a:pt x="0" y="4910687"/>
                  <a:pt x="0" y="4871489"/>
                </a:cubicBezTo>
                <a:lnTo>
                  <a:pt x="0" y="35493"/>
                </a:lnTo>
                <a:cubicBezTo>
                  <a:pt x="0" y="15904"/>
                  <a:pt x="15904" y="0"/>
                  <a:pt x="35493" y="0"/>
                </a:cubicBezTo>
                <a:close/>
              </a:path>
            </a:pathLst>
          </a:custGeom>
          <a:solidFill>
            <a:srgbClr val="F9FAFB"/>
          </a:solidFill>
        </p:spPr>
      </p:sp>
      <p:sp>
        <p:nvSpPr>
          <p:cNvPr id="28" name="Shape 26"/>
          <p:cNvSpPr/>
          <p:nvPr/>
        </p:nvSpPr>
        <p:spPr>
          <a:xfrm>
            <a:off x="6185704" y="1295511"/>
            <a:ext cx="5652332" cy="35493"/>
          </a:xfrm>
          <a:custGeom>
            <a:avLst/>
            <a:gdLst/>
            <a:ahLst/>
            <a:cxnLst/>
            <a:rect l="l" t="t" r="r" b="b"/>
            <a:pathLst>
              <a:path w="5652332" h="35493">
                <a:moveTo>
                  <a:pt x="35493" y="0"/>
                </a:moveTo>
                <a:lnTo>
                  <a:pt x="5616838" y="0"/>
                </a:lnTo>
                <a:cubicBezTo>
                  <a:pt x="5636441" y="0"/>
                  <a:pt x="5652332" y="15891"/>
                  <a:pt x="5652332" y="35493"/>
                </a:cubicBezTo>
                <a:lnTo>
                  <a:pt x="5652332" y="35493"/>
                </a:lnTo>
                <a:lnTo>
                  <a:pt x="0" y="35493"/>
                </a:lnTo>
                <a:lnTo>
                  <a:pt x="0" y="35493"/>
                </a:lnTo>
                <a:cubicBezTo>
                  <a:pt x="0" y="15904"/>
                  <a:pt x="15904" y="0"/>
                  <a:pt x="35493" y="0"/>
                </a:cubicBezTo>
                <a:close/>
              </a:path>
            </a:pathLst>
          </a:custGeom>
          <a:solidFill>
            <a:srgbClr val="8B0000"/>
          </a:solidFill>
        </p:spPr>
      </p:sp>
      <p:sp>
        <p:nvSpPr>
          <p:cNvPr id="29" name="Shape 27"/>
          <p:cNvSpPr/>
          <p:nvPr/>
        </p:nvSpPr>
        <p:spPr>
          <a:xfrm>
            <a:off x="6396447" y="1526218"/>
            <a:ext cx="155284" cy="177467"/>
          </a:xfrm>
          <a:custGeom>
            <a:avLst/>
            <a:gdLst/>
            <a:ahLst/>
            <a:cxnLst/>
            <a:rect l="l" t="t" r="r" b="b"/>
            <a:pathLst>
              <a:path w="155284" h="177467">
                <a:moveTo>
                  <a:pt x="22183" y="11092"/>
                </a:moveTo>
                <a:cubicBezTo>
                  <a:pt x="9948" y="11092"/>
                  <a:pt x="0" y="21040"/>
                  <a:pt x="0" y="33275"/>
                </a:cubicBezTo>
                <a:lnTo>
                  <a:pt x="0" y="144192"/>
                </a:lnTo>
                <a:cubicBezTo>
                  <a:pt x="0" y="156428"/>
                  <a:pt x="9948" y="166376"/>
                  <a:pt x="22183" y="166376"/>
                </a:cubicBezTo>
                <a:lnTo>
                  <a:pt x="133100" y="166376"/>
                </a:lnTo>
                <a:cubicBezTo>
                  <a:pt x="145336" y="166376"/>
                  <a:pt x="155284" y="156428"/>
                  <a:pt x="155284" y="144192"/>
                </a:cubicBezTo>
                <a:lnTo>
                  <a:pt x="155284" y="33275"/>
                </a:lnTo>
                <a:cubicBezTo>
                  <a:pt x="155284" y="21040"/>
                  <a:pt x="145336" y="11092"/>
                  <a:pt x="133100" y="11092"/>
                </a:cubicBezTo>
                <a:lnTo>
                  <a:pt x="22183" y="11092"/>
                </a:lnTo>
                <a:close/>
                <a:moveTo>
                  <a:pt x="44367" y="38821"/>
                </a:moveTo>
                <a:cubicBezTo>
                  <a:pt x="53549" y="38821"/>
                  <a:pt x="61004" y="46276"/>
                  <a:pt x="61004" y="55459"/>
                </a:cubicBezTo>
                <a:cubicBezTo>
                  <a:pt x="61004" y="64641"/>
                  <a:pt x="53549" y="72096"/>
                  <a:pt x="44367" y="72096"/>
                </a:cubicBezTo>
                <a:cubicBezTo>
                  <a:pt x="35184" y="72096"/>
                  <a:pt x="27729" y="64641"/>
                  <a:pt x="27729" y="55459"/>
                </a:cubicBezTo>
                <a:cubicBezTo>
                  <a:pt x="27729" y="46276"/>
                  <a:pt x="35184" y="38821"/>
                  <a:pt x="44367" y="38821"/>
                </a:cubicBezTo>
                <a:close/>
                <a:moveTo>
                  <a:pt x="94279" y="77642"/>
                </a:moveTo>
                <a:cubicBezTo>
                  <a:pt x="97191" y="77642"/>
                  <a:pt x="99860" y="79167"/>
                  <a:pt x="101385" y="81628"/>
                </a:cubicBezTo>
                <a:lnTo>
                  <a:pt x="131887" y="131541"/>
                </a:lnTo>
                <a:cubicBezTo>
                  <a:pt x="133447" y="134106"/>
                  <a:pt x="133516" y="137329"/>
                  <a:pt x="132061" y="139963"/>
                </a:cubicBezTo>
                <a:cubicBezTo>
                  <a:pt x="130605" y="142598"/>
                  <a:pt x="127797" y="144192"/>
                  <a:pt x="124782" y="144192"/>
                </a:cubicBezTo>
                <a:lnTo>
                  <a:pt x="30502" y="144192"/>
                </a:lnTo>
                <a:cubicBezTo>
                  <a:pt x="27417" y="144192"/>
                  <a:pt x="24540" y="142459"/>
                  <a:pt x="23119" y="139721"/>
                </a:cubicBezTo>
                <a:cubicBezTo>
                  <a:pt x="21698" y="136983"/>
                  <a:pt x="21906" y="133655"/>
                  <a:pt x="23674" y="131125"/>
                </a:cubicBezTo>
                <a:lnTo>
                  <a:pt x="43084" y="103395"/>
                </a:lnTo>
                <a:cubicBezTo>
                  <a:pt x="44644" y="101177"/>
                  <a:pt x="47174" y="99860"/>
                  <a:pt x="49913" y="99860"/>
                </a:cubicBezTo>
                <a:cubicBezTo>
                  <a:pt x="52651" y="99860"/>
                  <a:pt x="55181" y="101177"/>
                  <a:pt x="56741" y="103395"/>
                </a:cubicBezTo>
                <a:lnTo>
                  <a:pt x="65892" y="116498"/>
                </a:lnTo>
                <a:lnTo>
                  <a:pt x="87174" y="81663"/>
                </a:lnTo>
                <a:cubicBezTo>
                  <a:pt x="88699" y="79202"/>
                  <a:pt x="91368" y="77677"/>
                  <a:pt x="94279" y="77677"/>
                </a:cubicBezTo>
                <a:close/>
              </a:path>
            </a:pathLst>
          </a:custGeom>
          <a:solidFill>
            <a:srgbClr val="8B0000"/>
          </a:solidFill>
        </p:spPr>
      </p:sp>
      <p:sp>
        <p:nvSpPr>
          <p:cNvPr id="30" name="Text 28"/>
          <p:cNvSpPr/>
          <p:nvPr/>
        </p:nvSpPr>
        <p:spPr>
          <a:xfrm>
            <a:off x="6585005" y="1490725"/>
            <a:ext cx="5164297" cy="248454"/>
          </a:xfrm>
          <a:prstGeom prst="rect">
            <a:avLst/>
          </a:prstGeom>
          <a:noFill/>
        </p:spPr>
        <p:txBody>
          <a:bodyPr wrap="square" lIns="0" tIns="0" rIns="0" bIns="0" rtlCol="0" anchor="ctr"/>
          <a:lstStyle/>
          <a:p>
            <a:pPr>
              <a:lnSpc>
                <a:spcPct val="120000"/>
              </a:lnSpc>
            </a:pPr>
            <a:r>
              <a:rPr lang="en-US" sz="139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[Figure: Parallel Trends Plot]</a:t>
            </a:r>
            <a:endParaRPr lang="en-US" sz="1600" dirty="0"/>
          </a:p>
        </p:txBody>
      </p:sp>
      <p:sp>
        <p:nvSpPr>
          <p:cNvPr id="31" name="Shape 29"/>
          <p:cNvSpPr/>
          <p:nvPr/>
        </p:nvSpPr>
        <p:spPr>
          <a:xfrm>
            <a:off x="6372045" y="1890026"/>
            <a:ext cx="5279651" cy="2466795"/>
          </a:xfrm>
          <a:custGeom>
            <a:avLst/>
            <a:gdLst/>
            <a:ahLst/>
            <a:cxnLst/>
            <a:rect l="l" t="t" r="r" b="b"/>
            <a:pathLst>
              <a:path w="5279651" h="2466795">
                <a:moveTo>
                  <a:pt x="70994" y="0"/>
                </a:moveTo>
                <a:lnTo>
                  <a:pt x="5208656" y="0"/>
                </a:lnTo>
                <a:cubicBezTo>
                  <a:pt x="5247865" y="0"/>
                  <a:pt x="5279651" y="31785"/>
                  <a:pt x="5279651" y="70994"/>
                </a:cubicBezTo>
                <a:lnTo>
                  <a:pt x="5279651" y="2395800"/>
                </a:lnTo>
                <a:cubicBezTo>
                  <a:pt x="5279651" y="2435010"/>
                  <a:pt x="5247865" y="2466795"/>
                  <a:pt x="5208656" y="2466795"/>
                </a:cubicBezTo>
                <a:lnTo>
                  <a:pt x="70994" y="2466795"/>
                </a:lnTo>
                <a:cubicBezTo>
                  <a:pt x="31785" y="2466795"/>
                  <a:pt x="0" y="2435010"/>
                  <a:pt x="0" y="2395800"/>
                </a:cubicBezTo>
                <a:lnTo>
                  <a:pt x="0" y="70994"/>
                </a:lnTo>
                <a:cubicBezTo>
                  <a:pt x="0" y="31785"/>
                  <a:pt x="31785" y="0"/>
                  <a:pt x="70994" y="0"/>
                </a:cubicBezTo>
                <a:close/>
              </a:path>
            </a:pathLst>
          </a:custGeom>
          <a:solidFill>
            <a:srgbClr val="FFFFFF"/>
          </a:solidFill>
          <a:ln w="25400">
            <a:solidFill>
              <a:srgbClr val="8B0000">
                <a:alpha val="20000"/>
              </a:srgbClr>
            </a:solidFill>
            <a:prstDash val="solid"/>
          </a:ln>
        </p:spPr>
      </p:sp>
      <p:sp>
        <p:nvSpPr>
          <p:cNvPr id="33" name="Text 31"/>
          <p:cNvSpPr/>
          <p:nvPr/>
        </p:nvSpPr>
        <p:spPr>
          <a:xfrm>
            <a:off x="7829772" y="2732996"/>
            <a:ext cx="2369188" cy="248454"/>
          </a:xfrm>
          <a:prstGeom prst="rect">
            <a:avLst/>
          </a:prstGeom>
          <a:noFill/>
        </p:spPr>
        <p:txBody>
          <a:bodyPr wrap="square" lIns="0" tIns="0" rIns="0" bIns="0" rtlCol="0" anchor="ctr"/>
          <a:lstStyle/>
          <a:p>
            <a:pPr algn="ctr">
              <a:lnSpc>
                <a:spcPct val="130000"/>
              </a:lnSpc>
            </a:pPr>
            <a:endParaRPr lang="en-US" sz="1600" dirty="0"/>
          </a:p>
        </p:txBody>
      </p:sp>
      <p:sp>
        <p:nvSpPr>
          <p:cNvPr id="34" name="Text 32"/>
          <p:cNvSpPr/>
          <p:nvPr/>
        </p:nvSpPr>
        <p:spPr>
          <a:xfrm>
            <a:off x="7834209" y="3052437"/>
            <a:ext cx="2360314" cy="212961"/>
          </a:xfrm>
          <a:prstGeom prst="rect">
            <a:avLst/>
          </a:prstGeom>
          <a:noFill/>
        </p:spPr>
        <p:txBody>
          <a:bodyPr wrap="square" lIns="0" tIns="0" rIns="0" bIns="0" rtlCol="0" anchor="ctr"/>
          <a:lstStyle/>
          <a:p>
            <a:pPr algn="ctr">
              <a:lnSpc>
                <a:spcPct val="130000"/>
              </a:lnSpc>
            </a:pPr>
            <a:endParaRPr lang="en-US" sz="1600" dirty="0"/>
          </a:p>
        </p:txBody>
      </p:sp>
      <p:sp>
        <p:nvSpPr>
          <p:cNvPr id="36" name="Text 34"/>
          <p:cNvSpPr/>
          <p:nvPr/>
        </p:nvSpPr>
        <p:spPr>
          <a:xfrm>
            <a:off x="8047964" y="3407371"/>
            <a:ext cx="2142123" cy="177467"/>
          </a:xfrm>
          <a:prstGeom prst="rect">
            <a:avLst/>
          </a:prstGeom>
          <a:noFill/>
        </p:spPr>
        <p:txBody>
          <a:bodyPr wrap="square" lIns="0" tIns="0" rIns="0" bIns="0" rtlCol="0" anchor="ctr"/>
          <a:lstStyle/>
          <a:p>
            <a:pPr algn="ctr">
              <a:lnSpc>
                <a:spcPct val="120000"/>
              </a:lnSpc>
            </a:pPr>
            <a:endParaRPr lang="en-US" sz="1600" dirty="0"/>
          </a:p>
        </p:txBody>
      </p:sp>
      <p:sp>
        <p:nvSpPr>
          <p:cNvPr id="41" name="Shape 39"/>
          <p:cNvSpPr/>
          <p:nvPr/>
        </p:nvSpPr>
        <p:spPr>
          <a:xfrm>
            <a:off x="6363171" y="4507668"/>
            <a:ext cx="5297397" cy="1171284"/>
          </a:xfrm>
          <a:custGeom>
            <a:avLst/>
            <a:gdLst/>
            <a:ahLst/>
            <a:cxnLst/>
            <a:rect l="l" t="t" r="r" b="b"/>
            <a:pathLst>
              <a:path w="5297397" h="1171284">
                <a:moveTo>
                  <a:pt x="70992" y="0"/>
                </a:moveTo>
                <a:lnTo>
                  <a:pt x="5226406" y="0"/>
                </a:lnTo>
                <a:cubicBezTo>
                  <a:pt x="5265613" y="0"/>
                  <a:pt x="5297397" y="31784"/>
                  <a:pt x="5297397" y="70992"/>
                </a:cubicBezTo>
                <a:lnTo>
                  <a:pt x="5297397" y="1100292"/>
                </a:lnTo>
                <a:cubicBezTo>
                  <a:pt x="5297397" y="1139500"/>
                  <a:pt x="5265613" y="1171284"/>
                  <a:pt x="5226406" y="1171284"/>
                </a:cubicBezTo>
                <a:lnTo>
                  <a:pt x="70992" y="1171284"/>
                </a:lnTo>
                <a:cubicBezTo>
                  <a:pt x="31784" y="1171284"/>
                  <a:pt x="0" y="1139500"/>
                  <a:pt x="0" y="1100292"/>
                </a:cubicBezTo>
                <a:lnTo>
                  <a:pt x="0" y="70992"/>
                </a:lnTo>
                <a:cubicBezTo>
                  <a:pt x="0" y="31784"/>
                  <a:pt x="31784" y="0"/>
                  <a:pt x="70992" y="0"/>
                </a:cubicBezTo>
                <a:close/>
              </a:path>
            </a:pathLst>
          </a:custGeom>
          <a:solidFill>
            <a:srgbClr val="8B0000">
              <a:alpha val="5098"/>
            </a:srgbClr>
          </a:solidFill>
        </p:spPr>
      </p:sp>
      <p:sp>
        <p:nvSpPr>
          <p:cNvPr id="42" name="Text 40"/>
          <p:cNvSpPr/>
          <p:nvPr/>
        </p:nvSpPr>
        <p:spPr>
          <a:xfrm>
            <a:off x="6505145" y="4649642"/>
            <a:ext cx="5084437" cy="212961"/>
          </a:xfrm>
          <a:prstGeom prst="rect">
            <a:avLst/>
          </a:prstGeom>
          <a:noFill/>
        </p:spPr>
        <p:txBody>
          <a:bodyPr wrap="square" lIns="0" tIns="0" rIns="0" bIns="0" rtlCol="0" anchor="ctr"/>
          <a:lstStyle/>
          <a:p>
            <a:pPr>
              <a:lnSpc>
                <a:spcPct val="130000"/>
              </a:lnSpc>
            </a:pPr>
            <a:r>
              <a:rPr lang="en-US" sz="112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Expected Pattern</a:t>
            </a:r>
            <a:endParaRPr lang="en-US" sz="1600" dirty="0"/>
          </a:p>
        </p:txBody>
      </p:sp>
      <p:sp>
        <p:nvSpPr>
          <p:cNvPr id="43" name="Shape 41"/>
          <p:cNvSpPr/>
          <p:nvPr/>
        </p:nvSpPr>
        <p:spPr>
          <a:xfrm>
            <a:off x="6530656" y="4951336"/>
            <a:ext cx="108699" cy="124227"/>
          </a:xfrm>
          <a:custGeom>
            <a:avLst/>
            <a:gdLst/>
            <a:ahLst/>
            <a:cxnLst/>
            <a:rect l="l" t="t" r="r" b="b"/>
            <a:pathLst>
              <a:path w="108699" h="124227">
                <a:moveTo>
                  <a:pt x="105496" y="17008"/>
                </a:moveTo>
                <a:cubicBezTo>
                  <a:pt x="108966" y="19532"/>
                  <a:pt x="109742" y="24384"/>
                  <a:pt x="107219" y="27854"/>
                </a:cubicBezTo>
                <a:lnTo>
                  <a:pt x="45105" y="113260"/>
                </a:lnTo>
                <a:cubicBezTo>
                  <a:pt x="43771" y="115104"/>
                  <a:pt x="41708" y="116245"/>
                  <a:pt x="39428" y="116439"/>
                </a:cubicBezTo>
                <a:cubicBezTo>
                  <a:pt x="37147" y="116633"/>
                  <a:pt x="34939" y="115784"/>
                  <a:pt x="33338" y="114182"/>
                </a:cubicBezTo>
                <a:lnTo>
                  <a:pt x="2281" y="83125"/>
                </a:lnTo>
                <a:cubicBezTo>
                  <a:pt x="-752" y="80092"/>
                  <a:pt x="-752" y="75167"/>
                  <a:pt x="2281" y="72134"/>
                </a:cubicBezTo>
                <a:cubicBezTo>
                  <a:pt x="5314" y="69101"/>
                  <a:pt x="10239" y="69101"/>
                  <a:pt x="13272" y="72134"/>
                </a:cubicBezTo>
                <a:lnTo>
                  <a:pt x="37899" y="96761"/>
                </a:lnTo>
                <a:lnTo>
                  <a:pt x="94675" y="18707"/>
                </a:lnTo>
                <a:cubicBezTo>
                  <a:pt x="97198" y="15237"/>
                  <a:pt x="102051" y="14461"/>
                  <a:pt x="105520" y="16984"/>
                </a:cubicBezTo>
                <a:close/>
              </a:path>
            </a:pathLst>
          </a:custGeom>
          <a:solidFill>
            <a:srgbClr val="8B0000"/>
          </a:solidFill>
        </p:spPr>
      </p:sp>
      <p:sp>
        <p:nvSpPr>
          <p:cNvPr id="44" name="Text 42"/>
          <p:cNvSpPr/>
          <p:nvPr/>
        </p:nvSpPr>
        <p:spPr>
          <a:xfrm>
            <a:off x="6714464" y="4933590"/>
            <a:ext cx="4866245" cy="177467"/>
          </a:xfrm>
          <a:prstGeom prst="rect">
            <a:avLst/>
          </a:prstGeom>
          <a:noFill/>
        </p:spPr>
        <p:txBody>
          <a:bodyPr wrap="square" lIns="0" tIns="0" rIns="0" bIns="0" rtlCol="0" anchor="ctr"/>
          <a:lstStyle/>
          <a:p>
            <a:pPr>
              <a:lnSpc>
                <a:spcPct val="120000"/>
              </a:lnSpc>
            </a:pPr>
            <a:r>
              <a:rPr lang="en-US" sz="9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 &lt; 0 (Pre-event):</a:t>
            </a: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Coefficients ≈ 0, insignificant</a:t>
            </a:r>
            <a:endParaRPr lang="en-US" sz="1600" dirty="0"/>
          </a:p>
        </p:txBody>
      </p:sp>
      <p:sp>
        <p:nvSpPr>
          <p:cNvPr id="45" name="Shape 43"/>
          <p:cNvSpPr/>
          <p:nvPr/>
        </p:nvSpPr>
        <p:spPr>
          <a:xfrm>
            <a:off x="6530656" y="5164297"/>
            <a:ext cx="108699" cy="124227"/>
          </a:xfrm>
          <a:custGeom>
            <a:avLst/>
            <a:gdLst/>
            <a:ahLst/>
            <a:cxnLst/>
            <a:rect l="l" t="t" r="r" b="b"/>
            <a:pathLst>
              <a:path w="108699" h="124227">
                <a:moveTo>
                  <a:pt x="105496" y="17008"/>
                </a:moveTo>
                <a:cubicBezTo>
                  <a:pt x="108966" y="19532"/>
                  <a:pt x="109742" y="24384"/>
                  <a:pt x="107219" y="27854"/>
                </a:cubicBezTo>
                <a:lnTo>
                  <a:pt x="45105" y="113260"/>
                </a:lnTo>
                <a:cubicBezTo>
                  <a:pt x="43771" y="115104"/>
                  <a:pt x="41708" y="116245"/>
                  <a:pt x="39428" y="116439"/>
                </a:cubicBezTo>
                <a:cubicBezTo>
                  <a:pt x="37147" y="116633"/>
                  <a:pt x="34939" y="115784"/>
                  <a:pt x="33338" y="114182"/>
                </a:cubicBezTo>
                <a:lnTo>
                  <a:pt x="2281" y="83125"/>
                </a:lnTo>
                <a:cubicBezTo>
                  <a:pt x="-752" y="80092"/>
                  <a:pt x="-752" y="75167"/>
                  <a:pt x="2281" y="72134"/>
                </a:cubicBezTo>
                <a:cubicBezTo>
                  <a:pt x="5314" y="69101"/>
                  <a:pt x="10239" y="69101"/>
                  <a:pt x="13272" y="72134"/>
                </a:cubicBezTo>
                <a:lnTo>
                  <a:pt x="37899" y="96761"/>
                </a:lnTo>
                <a:lnTo>
                  <a:pt x="94675" y="18707"/>
                </a:lnTo>
                <a:cubicBezTo>
                  <a:pt x="97198" y="15237"/>
                  <a:pt x="102051" y="14461"/>
                  <a:pt x="105520" y="16984"/>
                </a:cubicBezTo>
                <a:close/>
              </a:path>
            </a:pathLst>
          </a:custGeom>
          <a:solidFill>
            <a:srgbClr val="8B0000"/>
          </a:solidFill>
        </p:spPr>
      </p:sp>
      <p:sp>
        <p:nvSpPr>
          <p:cNvPr id="46" name="Text 44"/>
          <p:cNvSpPr/>
          <p:nvPr/>
        </p:nvSpPr>
        <p:spPr>
          <a:xfrm>
            <a:off x="6714464" y="5146550"/>
            <a:ext cx="4866245" cy="177467"/>
          </a:xfrm>
          <a:prstGeom prst="rect">
            <a:avLst/>
          </a:prstGeom>
          <a:noFill/>
        </p:spPr>
        <p:txBody>
          <a:bodyPr wrap="square" lIns="0" tIns="0" rIns="0" bIns="0" rtlCol="0" anchor="ctr"/>
          <a:lstStyle/>
          <a:p>
            <a:pPr>
              <a:lnSpc>
                <a:spcPct val="120000"/>
              </a:lnSpc>
            </a:pPr>
            <a:r>
              <a:rPr lang="en-US" sz="9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 = 0 (Event):</a:t>
            </a: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Sharp increase begins</a:t>
            </a:r>
            <a:endParaRPr lang="en-US" sz="1600" dirty="0"/>
          </a:p>
        </p:txBody>
      </p:sp>
      <p:sp>
        <p:nvSpPr>
          <p:cNvPr id="47" name="Shape 45"/>
          <p:cNvSpPr/>
          <p:nvPr/>
        </p:nvSpPr>
        <p:spPr>
          <a:xfrm>
            <a:off x="6530656" y="5377258"/>
            <a:ext cx="108699" cy="124227"/>
          </a:xfrm>
          <a:custGeom>
            <a:avLst/>
            <a:gdLst/>
            <a:ahLst/>
            <a:cxnLst/>
            <a:rect l="l" t="t" r="r" b="b"/>
            <a:pathLst>
              <a:path w="108699" h="124227">
                <a:moveTo>
                  <a:pt x="105496" y="17008"/>
                </a:moveTo>
                <a:cubicBezTo>
                  <a:pt x="108966" y="19532"/>
                  <a:pt x="109742" y="24384"/>
                  <a:pt x="107219" y="27854"/>
                </a:cubicBezTo>
                <a:lnTo>
                  <a:pt x="45105" y="113260"/>
                </a:lnTo>
                <a:cubicBezTo>
                  <a:pt x="43771" y="115104"/>
                  <a:pt x="41708" y="116245"/>
                  <a:pt x="39428" y="116439"/>
                </a:cubicBezTo>
                <a:cubicBezTo>
                  <a:pt x="37147" y="116633"/>
                  <a:pt x="34939" y="115784"/>
                  <a:pt x="33338" y="114182"/>
                </a:cubicBezTo>
                <a:lnTo>
                  <a:pt x="2281" y="83125"/>
                </a:lnTo>
                <a:cubicBezTo>
                  <a:pt x="-752" y="80092"/>
                  <a:pt x="-752" y="75167"/>
                  <a:pt x="2281" y="72134"/>
                </a:cubicBezTo>
                <a:cubicBezTo>
                  <a:pt x="5314" y="69101"/>
                  <a:pt x="10239" y="69101"/>
                  <a:pt x="13272" y="72134"/>
                </a:cubicBezTo>
                <a:lnTo>
                  <a:pt x="37899" y="96761"/>
                </a:lnTo>
                <a:lnTo>
                  <a:pt x="94675" y="18707"/>
                </a:lnTo>
                <a:cubicBezTo>
                  <a:pt x="97198" y="15237"/>
                  <a:pt x="102051" y="14461"/>
                  <a:pt x="105520" y="16984"/>
                </a:cubicBezTo>
                <a:close/>
              </a:path>
            </a:pathLst>
          </a:custGeom>
          <a:solidFill>
            <a:srgbClr val="8B0000"/>
          </a:solidFill>
        </p:spPr>
      </p:sp>
      <p:sp>
        <p:nvSpPr>
          <p:cNvPr id="48" name="Text 46"/>
          <p:cNvSpPr/>
          <p:nvPr/>
        </p:nvSpPr>
        <p:spPr>
          <a:xfrm>
            <a:off x="6714464" y="5359511"/>
            <a:ext cx="4866245" cy="177467"/>
          </a:xfrm>
          <a:prstGeom prst="rect">
            <a:avLst/>
          </a:prstGeom>
          <a:noFill/>
        </p:spPr>
        <p:txBody>
          <a:bodyPr wrap="square" lIns="0" tIns="0" rIns="0" bIns="0" rtlCol="0" anchor="ctr"/>
          <a:lstStyle/>
          <a:p>
            <a:pPr>
              <a:lnSpc>
                <a:spcPct val="120000"/>
              </a:lnSpc>
            </a:pPr>
            <a:r>
              <a:rPr lang="en-US" sz="98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 &gt; 0 (Post-event):</a:t>
            </a:r>
            <a:r>
              <a:rPr lang="en-US" sz="98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Positive, persistent divergence</a:t>
            </a:r>
            <a:endParaRPr lang="en-US" sz="1600" dirty="0"/>
          </a:p>
        </p:txBody>
      </p:sp>
      <p:sp>
        <p:nvSpPr>
          <p:cNvPr id="49" name="Shape 47"/>
          <p:cNvSpPr/>
          <p:nvPr/>
        </p:nvSpPr>
        <p:spPr>
          <a:xfrm>
            <a:off x="354934" y="6344454"/>
            <a:ext cx="11482131" cy="514655"/>
          </a:xfrm>
          <a:custGeom>
            <a:avLst/>
            <a:gdLst/>
            <a:ahLst/>
            <a:cxnLst/>
            <a:rect l="l" t="t" r="r" b="b"/>
            <a:pathLst>
              <a:path w="11482131" h="514655">
                <a:moveTo>
                  <a:pt x="70986" y="0"/>
                </a:moveTo>
                <a:lnTo>
                  <a:pt x="11411145" y="0"/>
                </a:lnTo>
                <a:cubicBezTo>
                  <a:pt x="11450349" y="0"/>
                  <a:pt x="11482131" y="31782"/>
                  <a:pt x="11482131" y="70986"/>
                </a:cubicBezTo>
                <a:lnTo>
                  <a:pt x="11482131" y="443669"/>
                </a:lnTo>
                <a:cubicBezTo>
                  <a:pt x="11482131" y="482873"/>
                  <a:pt x="11450349" y="514655"/>
                  <a:pt x="11411145" y="514655"/>
                </a:cubicBezTo>
                <a:lnTo>
                  <a:pt x="70986" y="514655"/>
                </a:lnTo>
                <a:cubicBezTo>
                  <a:pt x="31782" y="514655"/>
                  <a:pt x="0" y="482873"/>
                  <a:pt x="0" y="443669"/>
                </a:cubicBezTo>
                <a:lnTo>
                  <a:pt x="0" y="70986"/>
                </a:lnTo>
                <a:cubicBezTo>
                  <a:pt x="0" y="31808"/>
                  <a:pt x="31808" y="0"/>
                  <a:pt x="70986" y="0"/>
                </a:cubicBezTo>
                <a:close/>
              </a:path>
            </a:pathLst>
          </a:custGeom>
          <a:solidFill>
            <a:srgbClr val="8B0000"/>
          </a:solidFill>
        </p:spPr>
      </p:sp>
      <p:sp>
        <p:nvSpPr>
          <p:cNvPr id="50" name="Shape 48"/>
          <p:cNvSpPr/>
          <p:nvPr/>
        </p:nvSpPr>
        <p:spPr>
          <a:xfrm>
            <a:off x="514655" y="6513048"/>
            <a:ext cx="141974" cy="141974"/>
          </a:xfrm>
          <a:custGeom>
            <a:avLst/>
            <a:gdLst/>
            <a:ahLst/>
            <a:cxnLst/>
            <a:rect l="l" t="t" r="r" b="b"/>
            <a:pathLst>
              <a:path w="141974" h="141974">
                <a:moveTo>
                  <a:pt x="70987" y="141974"/>
                </a:moveTo>
                <a:cubicBezTo>
                  <a:pt x="110166" y="141974"/>
                  <a:pt x="141974" y="110166"/>
                  <a:pt x="141974" y="70987"/>
                </a:cubicBezTo>
                <a:cubicBezTo>
                  <a:pt x="141974" y="31808"/>
                  <a:pt x="110166" y="0"/>
                  <a:pt x="70987" y="0"/>
                </a:cubicBezTo>
                <a:cubicBezTo>
                  <a:pt x="31808" y="0"/>
                  <a:pt x="0" y="31808"/>
                  <a:pt x="0" y="70987"/>
                </a:cubicBezTo>
                <a:cubicBezTo>
                  <a:pt x="0" y="110166"/>
                  <a:pt x="31808" y="141974"/>
                  <a:pt x="70987" y="141974"/>
                </a:cubicBezTo>
                <a:close/>
                <a:moveTo>
                  <a:pt x="94390" y="58980"/>
                </a:moveTo>
                <a:lnTo>
                  <a:pt x="72207" y="94474"/>
                </a:lnTo>
                <a:cubicBezTo>
                  <a:pt x="71042" y="96331"/>
                  <a:pt x="69046" y="97496"/>
                  <a:pt x="66855" y="97607"/>
                </a:cubicBezTo>
                <a:cubicBezTo>
                  <a:pt x="64665" y="97718"/>
                  <a:pt x="62557" y="96720"/>
                  <a:pt x="61254" y="94945"/>
                </a:cubicBezTo>
                <a:lnTo>
                  <a:pt x="47944" y="77198"/>
                </a:lnTo>
                <a:cubicBezTo>
                  <a:pt x="45726" y="74259"/>
                  <a:pt x="46336" y="70100"/>
                  <a:pt x="49275" y="67881"/>
                </a:cubicBezTo>
                <a:cubicBezTo>
                  <a:pt x="52214" y="65663"/>
                  <a:pt x="56374" y="66273"/>
                  <a:pt x="58592" y="69212"/>
                </a:cubicBezTo>
                <a:lnTo>
                  <a:pt x="66079" y="79195"/>
                </a:lnTo>
                <a:lnTo>
                  <a:pt x="83105" y="51937"/>
                </a:lnTo>
                <a:cubicBezTo>
                  <a:pt x="85046" y="48831"/>
                  <a:pt x="89150" y="47861"/>
                  <a:pt x="92283" y="49829"/>
                </a:cubicBezTo>
                <a:cubicBezTo>
                  <a:pt x="95416" y="51798"/>
                  <a:pt x="96359" y="55874"/>
                  <a:pt x="94390" y="59008"/>
                </a:cubicBezTo>
                <a:close/>
              </a:path>
            </a:pathLst>
          </a:custGeom>
          <a:solidFill>
            <a:srgbClr val="FFFFFF"/>
          </a:solidFill>
        </p:spPr>
      </p:sp>
      <p:sp>
        <p:nvSpPr>
          <p:cNvPr id="51" name="Text 49"/>
          <p:cNvSpPr/>
          <p:nvPr/>
        </p:nvSpPr>
        <p:spPr>
          <a:xfrm>
            <a:off x="723973" y="6486428"/>
            <a:ext cx="11042105" cy="230707"/>
          </a:xfrm>
          <a:prstGeom prst="rect">
            <a:avLst/>
          </a:prstGeom>
          <a:noFill/>
        </p:spPr>
        <p:txBody>
          <a:bodyPr wrap="square" lIns="0" tIns="0" rIns="0" bIns="0" rtlCol="0" anchor="ctr"/>
          <a:lstStyle/>
          <a:p>
            <a:pPr>
              <a:lnSpc>
                <a:spcPct val="140000"/>
              </a:lnSpc>
            </a:pPr>
            <a:r>
              <a:rPr lang="en-US" sz="112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Conclusion:</a:t>
            </a:r>
            <a:r>
              <a:rPr lang="en-US" sz="1120"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Parallel trends assumption is satisfied. The significant post-event divergence supports causal interpretation of the DiD estimates.</a:t>
            </a:r>
            <a:endParaRPr lang="en-US" sz="1600" dirty="0"/>
          </a:p>
        </p:txBody>
      </p:sp>
      <p:pic>
        <p:nvPicPr>
          <p:cNvPr id="52" name="图片 51"/>
          <p:cNvPicPr>
            <a:picLocks noChangeAspect="1"/>
          </p:cNvPicPr>
          <p:nvPr/>
        </p:nvPicPr>
        <p:blipFill>
          <a:blip r:embed="rId1"/>
          <a:stretch>
            <a:fillRect/>
          </a:stretch>
        </p:blipFill>
        <p:spPr>
          <a:xfrm>
            <a:off x="6639560" y="1739265"/>
            <a:ext cx="4747895" cy="2823210"/>
          </a:xfrm>
          <a:prstGeom prst="rect">
            <a:avLst/>
          </a:prstGeom>
        </p:spPr>
      </p:pic>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2753" y="322753"/>
            <a:ext cx="11611044" cy="193652"/>
          </a:xfrm>
          <a:prstGeom prst="rect">
            <a:avLst/>
          </a:prstGeom>
          <a:noFill/>
        </p:spPr>
        <p:txBody>
          <a:bodyPr wrap="square" lIns="0" tIns="0" rIns="0" bIns="0" rtlCol="0" anchor="ctr"/>
          <a:lstStyle/>
          <a:p>
            <a:pPr>
              <a:lnSpc>
                <a:spcPct val="130000"/>
              </a:lnSpc>
            </a:pPr>
            <a:r>
              <a:rPr lang="en-US" sz="1015" b="1" kern="0" spc="5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22753" y="580956"/>
            <a:ext cx="11691733" cy="322753"/>
          </a:xfrm>
          <a:prstGeom prst="rect">
            <a:avLst/>
          </a:prstGeom>
          <a:noFill/>
        </p:spPr>
        <p:txBody>
          <a:bodyPr wrap="square" lIns="0" tIns="0" rIns="0" bIns="0" rtlCol="0" anchor="ctr"/>
          <a:lstStyle/>
          <a:p>
            <a:pPr>
              <a:lnSpc>
                <a:spcPct val="90000"/>
              </a:lnSpc>
            </a:pPr>
            <a:r>
              <a:rPr lang="en-US" sz="228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4: Cross-section Analysis (H2 &amp; H3)</a:t>
            </a:r>
            <a:endParaRPr lang="en-US" sz="1600" dirty="0"/>
          </a:p>
        </p:txBody>
      </p:sp>
      <p:sp>
        <p:nvSpPr>
          <p:cNvPr id="4" name="Shape 2"/>
          <p:cNvSpPr/>
          <p:nvPr/>
        </p:nvSpPr>
        <p:spPr>
          <a:xfrm>
            <a:off x="322753" y="1000535"/>
            <a:ext cx="774608" cy="32275"/>
          </a:xfrm>
          <a:custGeom>
            <a:avLst/>
            <a:gdLst/>
            <a:ahLst/>
            <a:cxnLst/>
            <a:rect l="l" t="t" r="r" b="b"/>
            <a:pathLst>
              <a:path w="774608" h="32275">
                <a:moveTo>
                  <a:pt x="0" y="0"/>
                </a:moveTo>
                <a:lnTo>
                  <a:pt x="774608" y="0"/>
                </a:lnTo>
                <a:lnTo>
                  <a:pt x="774608" y="32275"/>
                </a:lnTo>
                <a:lnTo>
                  <a:pt x="0" y="32275"/>
                </a:lnTo>
                <a:lnTo>
                  <a:pt x="0" y="0"/>
                </a:lnTo>
                <a:close/>
              </a:path>
            </a:pathLst>
          </a:custGeom>
          <a:solidFill>
            <a:srgbClr val="8B0000"/>
          </a:solidFill>
        </p:spPr>
      </p:sp>
      <p:graphicFrame>
        <p:nvGraphicFramePr>
          <p:cNvPr id="18" name="Table 0"/>
          <p:cNvGraphicFramePr>
            <a:graphicFrameLocks noGrp="1"/>
          </p:cNvGraphicFramePr>
          <p:nvPr/>
        </p:nvGraphicFramePr>
        <p:xfrm>
          <a:off x="322753" y="1161911"/>
          <a:ext cx="11546494" cy="4292617"/>
        </p:xfrm>
        <a:graphic>
          <a:graphicData uri="http://schemas.openxmlformats.org/drawingml/2006/table">
            <a:tbl>
              <a:tblPr/>
              <a:tblGrid>
                <a:gridCol w="4618597"/>
                <a:gridCol w="2309299"/>
                <a:gridCol w="2309299"/>
                <a:gridCol w="2309299"/>
              </a:tblGrid>
              <a:tr h="286174">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Variable</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H2: Flow (DDD)</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H3a: Turnover</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H3b: ΔHHI</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Post × 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-0.0026* (0.0014)</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Post × Flow</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-0.0353 (0.2323)</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0.0013 (0.0009)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Post</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0.0049*** (0.0010)</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0.0441** (0.0193)</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0.0006*** (0.0001)</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Post × 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-0.0001 (0.0014)</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Post × Flow</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-0.0855 (0.1460)</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-0.0007 (0.0008)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Flow</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0.0833 (0.1169)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 (0.0006)</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AI_Exp_std × 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Perf</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log_tna_lag</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-0.0445*** (0.0041)</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0.0095 (0.0265)</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0.0000 (0.0001)</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mret_lag</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0.1806*** (0.0219)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0.4676* (0.2613)</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0.0010 (0.0014)</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Fund FE / Time FE</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 / Yes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 / Yes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Yes / Yes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25400" cap="flat" cmpd="sng" algn="ctr">
                      <a:solidFill>
                        <a:srgbClr val="1F2937"/>
                      </a:solidFill>
                      <a:prstDash val="solid"/>
                      <a:round/>
                      <a:headEnd type="none" w="med" len="med"/>
                      <a:tailEnd type="none" w="med" len="med"/>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Observations</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53,177</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17,379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65,468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R-squared (Within)</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0.0262</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0.0008</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r h="286174">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Triple-interaction p-value</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0.0566</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0.8792</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0.1339</a:t>
                      </a:r>
                      <a:endParaRPr lang="en-US" sz="800" dirty="0">
                        <a:latin typeface="微软雅黑" pitchFamily="34" charset="0"/>
                        <a:ea typeface="微软雅黑" pitchFamily="34" charset="0"/>
                        <a:cs typeface="微软雅黑" pitchFamily="34" charset="0"/>
                      </a:endParaRPr>
                    </a:p>
                  </a:txBody>
                  <a:tcPr marL="96826" marR="96826" marT="64551" marB="64551"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22753" y="5559423"/>
            <a:ext cx="3760074" cy="1121567"/>
          </a:xfrm>
          <a:custGeom>
            <a:avLst/>
            <a:gdLst/>
            <a:ahLst/>
            <a:cxnLst/>
            <a:rect l="l" t="t" r="r" b="b"/>
            <a:pathLst>
              <a:path w="3760074" h="1121567">
                <a:moveTo>
                  <a:pt x="16138" y="0"/>
                </a:moveTo>
                <a:lnTo>
                  <a:pt x="3743936" y="0"/>
                </a:lnTo>
                <a:cubicBezTo>
                  <a:pt x="3752849" y="0"/>
                  <a:pt x="3760074" y="7225"/>
                  <a:pt x="3760074" y="16138"/>
                </a:cubicBezTo>
                <a:lnTo>
                  <a:pt x="3760074" y="1057021"/>
                </a:lnTo>
                <a:cubicBezTo>
                  <a:pt x="3760074" y="1092669"/>
                  <a:pt x="3731176" y="1121567"/>
                  <a:pt x="3695528" y="1121567"/>
                </a:cubicBezTo>
                <a:lnTo>
                  <a:pt x="64546" y="1121567"/>
                </a:lnTo>
                <a:cubicBezTo>
                  <a:pt x="28898" y="1121567"/>
                  <a:pt x="0" y="1092669"/>
                  <a:pt x="0" y="1057021"/>
                </a:cubicBezTo>
                <a:lnTo>
                  <a:pt x="0" y="16138"/>
                </a:lnTo>
                <a:cubicBezTo>
                  <a:pt x="0" y="7225"/>
                  <a:pt x="7225" y="0"/>
                  <a:pt x="16138" y="0"/>
                </a:cubicBezTo>
                <a:close/>
              </a:path>
            </a:pathLst>
          </a:custGeom>
          <a:solidFill>
            <a:srgbClr val="F9FAFB"/>
          </a:solidFill>
        </p:spPr>
      </p:sp>
      <p:sp>
        <p:nvSpPr>
          <p:cNvPr id="7" name="Shape 4"/>
          <p:cNvSpPr/>
          <p:nvPr/>
        </p:nvSpPr>
        <p:spPr>
          <a:xfrm>
            <a:off x="322753" y="5559423"/>
            <a:ext cx="3760074" cy="16138"/>
          </a:xfrm>
          <a:custGeom>
            <a:avLst/>
            <a:gdLst/>
            <a:ahLst/>
            <a:cxnLst/>
            <a:rect l="l" t="t" r="r" b="b"/>
            <a:pathLst>
              <a:path w="3760074" h="16138">
                <a:moveTo>
                  <a:pt x="16138" y="0"/>
                </a:moveTo>
                <a:lnTo>
                  <a:pt x="3743936" y="0"/>
                </a:lnTo>
                <a:cubicBezTo>
                  <a:pt x="3752849" y="0"/>
                  <a:pt x="3760074" y="7225"/>
                  <a:pt x="3760074" y="16138"/>
                </a:cubicBezTo>
                <a:lnTo>
                  <a:pt x="3760074" y="16138"/>
                </a:lnTo>
                <a:lnTo>
                  <a:pt x="0" y="16138"/>
                </a:lnTo>
                <a:lnTo>
                  <a:pt x="0" y="16138"/>
                </a:lnTo>
                <a:cubicBezTo>
                  <a:pt x="0" y="7231"/>
                  <a:pt x="7231" y="0"/>
                  <a:pt x="16138" y="0"/>
                </a:cubicBezTo>
                <a:close/>
              </a:path>
            </a:pathLst>
          </a:custGeom>
          <a:solidFill>
            <a:srgbClr val="8B0000"/>
          </a:solidFill>
        </p:spPr>
      </p:sp>
      <p:sp>
        <p:nvSpPr>
          <p:cNvPr id="8" name="Shape 5"/>
          <p:cNvSpPr/>
          <p:nvPr/>
        </p:nvSpPr>
        <p:spPr>
          <a:xfrm>
            <a:off x="467992" y="5728868"/>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64551" y="44379"/>
                </a:moveTo>
                <a:cubicBezTo>
                  <a:pt x="60088" y="44379"/>
                  <a:pt x="56482" y="47984"/>
                  <a:pt x="56482" y="52447"/>
                </a:cubicBezTo>
                <a:cubicBezTo>
                  <a:pt x="56482" y="55801"/>
                  <a:pt x="53784" y="58499"/>
                  <a:pt x="50430" y="58499"/>
                </a:cubicBezTo>
                <a:cubicBezTo>
                  <a:pt x="47077" y="58499"/>
                  <a:pt x="44379" y="55801"/>
                  <a:pt x="44379" y="52447"/>
                </a:cubicBezTo>
                <a:cubicBezTo>
                  <a:pt x="44379" y="41302"/>
                  <a:pt x="53406" y="32275"/>
                  <a:pt x="64551" y="32275"/>
                </a:cubicBezTo>
                <a:cubicBezTo>
                  <a:pt x="75696" y="32275"/>
                  <a:pt x="84723" y="41302"/>
                  <a:pt x="84723" y="52447"/>
                </a:cubicBezTo>
                <a:cubicBezTo>
                  <a:pt x="84723" y="64349"/>
                  <a:pt x="75645" y="69392"/>
                  <a:pt x="70602" y="71233"/>
                </a:cubicBezTo>
                <a:lnTo>
                  <a:pt x="70602" y="72191"/>
                </a:lnTo>
                <a:cubicBezTo>
                  <a:pt x="70602" y="75544"/>
                  <a:pt x="67904" y="78242"/>
                  <a:pt x="64551" y="78242"/>
                </a:cubicBezTo>
                <a:cubicBezTo>
                  <a:pt x="61197" y="78242"/>
                  <a:pt x="58499" y="75544"/>
                  <a:pt x="58499" y="72191"/>
                </a:cubicBezTo>
                <a:lnTo>
                  <a:pt x="58499" y="70148"/>
                </a:lnTo>
                <a:cubicBezTo>
                  <a:pt x="58499" y="64979"/>
                  <a:pt x="62231" y="61273"/>
                  <a:pt x="66089" y="60012"/>
                </a:cubicBezTo>
                <a:cubicBezTo>
                  <a:pt x="67703" y="59482"/>
                  <a:pt x="69417" y="58625"/>
                  <a:pt x="70678" y="57415"/>
                </a:cubicBezTo>
                <a:cubicBezTo>
                  <a:pt x="71762" y="56356"/>
                  <a:pt x="72619" y="54893"/>
                  <a:pt x="72619" y="52473"/>
                </a:cubicBezTo>
                <a:cubicBezTo>
                  <a:pt x="72619" y="48010"/>
                  <a:pt x="69014" y="44404"/>
                  <a:pt x="64551" y="44404"/>
                </a:cubicBezTo>
                <a:close/>
                <a:moveTo>
                  <a:pt x="56482" y="92792"/>
                </a:moveTo>
                <a:cubicBezTo>
                  <a:pt x="56482" y="88338"/>
                  <a:pt x="60097" y="84723"/>
                  <a:pt x="64551" y="84723"/>
                </a:cubicBezTo>
                <a:cubicBezTo>
                  <a:pt x="69004" y="84723"/>
                  <a:pt x="72619" y="88338"/>
                  <a:pt x="72619" y="92792"/>
                </a:cubicBezTo>
                <a:cubicBezTo>
                  <a:pt x="72619" y="97245"/>
                  <a:pt x="69004" y="100860"/>
                  <a:pt x="64551" y="100860"/>
                </a:cubicBezTo>
                <a:cubicBezTo>
                  <a:pt x="60097" y="100860"/>
                  <a:pt x="56482" y="97245"/>
                  <a:pt x="56482" y="92792"/>
                </a:cubicBezTo>
                <a:close/>
              </a:path>
            </a:pathLst>
          </a:custGeom>
          <a:solidFill>
            <a:srgbClr val="8B0000"/>
          </a:solidFill>
        </p:spPr>
      </p:sp>
      <p:sp>
        <p:nvSpPr>
          <p:cNvPr id="9" name="Text 6"/>
          <p:cNvSpPr/>
          <p:nvPr/>
        </p:nvSpPr>
        <p:spPr>
          <a:xfrm>
            <a:off x="613231" y="5696593"/>
            <a:ext cx="3405046" cy="193652"/>
          </a:xfrm>
          <a:prstGeom prst="rect">
            <a:avLst/>
          </a:prstGeom>
          <a:noFill/>
        </p:spPr>
        <p:txBody>
          <a:bodyPr wrap="square" lIns="0" tIns="0" rIns="0" bIns="0" rtlCol="0" anchor="ctr"/>
          <a:lstStyle/>
          <a:p>
            <a:pPr>
              <a:lnSpc>
                <a:spcPct val="130000"/>
              </a:lnSpc>
            </a:pPr>
            <a:r>
              <a:rPr lang="en-US" sz="10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Performance Contingency</a:t>
            </a:r>
            <a:endParaRPr lang="en-US" sz="1600" dirty="0"/>
          </a:p>
        </p:txBody>
      </p:sp>
      <p:sp>
        <p:nvSpPr>
          <p:cNvPr id="10" name="Text 7"/>
          <p:cNvSpPr/>
          <p:nvPr/>
        </p:nvSpPr>
        <p:spPr>
          <a:xfrm>
            <a:off x="451854" y="5954795"/>
            <a:ext cx="3558353" cy="177514"/>
          </a:xfrm>
          <a:prstGeom prst="rect">
            <a:avLst/>
          </a:prstGeom>
          <a:noFill/>
        </p:spPr>
        <p:txBody>
          <a:bodyPr wrap="square" lIns="0" tIns="0" rIns="0" bIns="0" rtlCol="0" anchor="ctr"/>
          <a:lstStyle/>
          <a:p>
            <a:pPr>
              <a:lnSpc>
                <a:spcPct val="140000"/>
              </a:lnSpc>
            </a:pPr>
            <a:r>
              <a:rPr lang="en-US" sz="8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 interaction:</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-0.0026</a:t>
            </a:r>
            <a:r>
              <a:rPr lang="en-US" sz="66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(p=0.0566)</a:t>
            </a:r>
            <a:endParaRPr lang="en-US" sz="1600" dirty="0"/>
          </a:p>
        </p:txBody>
      </p:sp>
      <p:sp>
        <p:nvSpPr>
          <p:cNvPr id="11" name="Text 8"/>
          <p:cNvSpPr/>
          <p:nvPr/>
        </p:nvSpPr>
        <p:spPr>
          <a:xfrm>
            <a:off x="451854" y="6196860"/>
            <a:ext cx="3558353" cy="355028"/>
          </a:xfrm>
          <a:prstGeom prst="rect">
            <a:avLst/>
          </a:prstGeom>
          <a:noFill/>
        </p:spPr>
        <p:txBody>
          <a:bodyPr wrap="square" lIns="0" tIns="0" rIns="0" bIns="0" rtlCol="0" anchor="ctr"/>
          <a:lstStyle/>
          <a:p>
            <a:pPr>
              <a:lnSpc>
                <a:spcPct val="140000"/>
              </a:lnSpc>
            </a:pP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Marginally significant, but </a:t>
            </a:r>
            <a:r>
              <a:rPr lang="en-US" sz="89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negative</a:t>
            </a: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—contrary to expectation. Suggests AI-flow effect is slightly weaker for high performers.</a:t>
            </a:r>
            <a:endParaRPr lang="en-US" sz="1600" dirty="0"/>
          </a:p>
        </p:txBody>
      </p:sp>
      <p:sp>
        <p:nvSpPr>
          <p:cNvPr id="12" name="Shape 9"/>
          <p:cNvSpPr/>
          <p:nvPr/>
        </p:nvSpPr>
        <p:spPr>
          <a:xfrm>
            <a:off x="4214828" y="5559423"/>
            <a:ext cx="3760074" cy="1121567"/>
          </a:xfrm>
          <a:custGeom>
            <a:avLst/>
            <a:gdLst/>
            <a:ahLst/>
            <a:cxnLst/>
            <a:rect l="l" t="t" r="r" b="b"/>
            <a:pathLst>
              <a:path w="3760074" h="1121567">
                <a:moveTo>
                  <a:pt x="16138" y="0"/>
                </a:moveTo>
                <a:lnTo>
                  <a:pt x="3743936" y="0"/>
                </a:lnTo>
                <a:cubicBezTo>
                  <a:pt x="3752849" y="0"/>
                  <a:pt x="3760074" y="7225"/>
                  <a:pt x="3760074" y="16138"/>
                </a:cubicBezTo>
                <a:lnTo>
                  <a:pt x="3760074" y="1057021"/>
                </a:lnTo>
                <a:cubicBezTo>
                  <a:pt x="3760074" y="1092669"/>
                  <a:pt x="3731176" y="1121567"/>
                  <a:pt x="3695528" y="1121567"/>
                </a:cubicBezTo>
                <a:lnTo>
                  <a:pt x="64546" y="1121567"/>
                </a:lnTo>
                <a:cubicBezTo>
                  <a:pt x="28898" y="1121567"/>
                  <a:pt x="0" y="1092669"/>
                  <a:pt x="0" y="1057021"/>
                </a:cubicBezTo>
                <a:lnTo>
                  <a:pt x="0" y="16138"/>
                </a:lnTo>
                <a:cubicBezTo>
                  <a:pt x="0" y="7225"/>
                  <a:pt x="7225" y="0"/>
                  <a:pt x="16138" y="0"/>
                </a:cubicBezTo>
                <a:close/>
              </a:path>
            </a:pathLst>
          </a:custGeom>
          <a:solidFill>
            <a:srgbClr val="F9FAFB"/>
          </a:solidFill>
        </p:spPr>
      </p:sp>
      <p:sp>
        <p:nvSpPr>
          <p:cNvPr id="13" name="Shape 10"/>
          <p:cNvSpPr/>
          <p:nvPr/>
        </p:nvSpPr>
        <p:spPr>
          <a:xfrm>
            <a:off x="4214828" y="5559423"/>
            <a:ext cx="3760074" cy="16138"/>
          </a:xfrm>
          <a:custGeom>
            <a:avLst/>
            <a:gdLst/>
            <a:ahLst/>
            <a:cxnLst/>
            <a:rect l="l" t="t" r="r" b="b"/>
            <a:pathLst>
              <a:path w="3760074" h="16138">
                <a:moveTo>
                  <a:pt x="16138" y="0"/>
                </a:moveTo>
                <a:lnTo>
                  <a:pt x="3743936" y="0"/>
                </a:lnTo>
                <a:cubicBezTo>
                  <a:pt x="3752849" y="0"/>
                  <a:pt x="3760074" y="7225"/>
                  <a:pt x="3760074" y="16138"/>
                </a:cubicBezTo>
                <a:lnTo>
                  <a:pt x="3760074" y="16138"/>
                </a:lnTo>
                <a:lnTo>
                  <a:pt x="0" y="16138"/>
                </a:lnTo>
                <a:lnTo>
                  <a:pt x="0" y="16138"/>
                </a:lnTo>
                <a:cubicBezTo>
                  <a:pt x="0" y="7231"/>
                  <a:pt x="7231" y="0"/>
                  <a:pt x="16138" y="0"/>
                </a:cubicBezTo>
                <a:close/>
              </a:path>
            </a:pathLst>
          </a:custGeom>
          <a:solidFill>
            <a:srgbClr val="8B0000"/>
          </a:solidFill>
        </p:spPr>
      </p:sp>
      <p:sp>
        <p:nvSpPr>
          <p:cNvPr id="14" name="Shape 11"/>
          <p:cNvSpPr/>
          <p:nvPr/>
        </p:nvSpPr>
        <p:spPr>
          <a:xfrm>
            <a:off x="4360067" y="5728868"/>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42109" y="42109"/>
                </a:moveTo>
                <a:cubicBezTo>
                  <a:pt x="44479" y="39739"/>
                  <a:pt x="48312" y="39739"/>
                  <a:pt x="50657" y="42109"/>
                </a:cubicBezTo>
                <a:lnTo>
                  <a:pt x="64525" y="55977"/>
                </a:lnTo>
                <a:lnTo>
                  <a:pt x="78394" y="42109"/>
                </a:lnTo>
                <a:cubicBezTo>
                  <a:pt x="80764" y="39739"/>
                  <a:pt x="84597" y="39739"/>
                  <a:pt x="86942" y="42109"/>
                </a:cubicBezTo>
                <a:cubicBezTo>
                  <a:pt x="89287" y="44479"/>
                  <a:pt x="89312" y="48312"/>
                  <a:pt x="86942" y="50657"/>
                </a:cubicBezTo>
                <a:lnTo>
                  <a:pt x="73073" y="64525"/>
                </a:lnTo>
                <a:lnTo>
                  <a:pt x="86942" y="78394"/>
                </a:lnTo>
                <a:cubicBezTo>
                  <a:pt x="89312" y="80764"/>
                  <a:pt x="89312" y="84597"/>
                  <a:pt x="86942" y="86942"/>
                </a:cubicBezTo>
                <a:cubicBezTo>
                  <a:pt x="84571" y="89287"/>
                  <a:pt x="80739" y="89312"/>
                  <a:pt x="78394" y="86942"/>
                </a:cubicBezTo>
                <a:lnTo>
                  <a:pt x="64525" y="73073"/>
                </a:lnTo>
                <a:lnTo>
                  <a:pt x="50657" y="86942"/>
                </a:lnTo>
                <a:cubicBezTo>
                  <a:pt x="48287" y="89312"/>
                  <a:pt x="44454" y="89312"/>
                  <a:pt x="42109" y="86942"/>
                </a:cubicBezTo>
                <a:cubicBezTo>
                  <a:pt x="39764" y="84571"/>
                  <a:pt x="39739" y="80739"/>
                  <a:pt x="42109" y="78394"/>
                </a:cubicBezTo>
                <a:lnTo>
                  <a:pt x="55977" y="64525"/>
                </a:lnTo>
                <a:lnTo>
                  <a:pt x="42109" y="50657"/>
                </a:lnTo>
                <a:cubicBezTo>
                  <a:pt x="39739" y="48287"/>
                  <a:pt x="39739" y="44454"/>
                  <a:pt x="42109" y="42109"/>
                </a:cubicBezTo>
                <a:close/>
              </a:path>
            </a:pathLst>
          </a:custGeom>
          <a:solidFill>
            <a:srgbClr val="8B0000"/>
          </a:solidFill>
        </p:spPr>
      </p:sp>
      <p:sp>
        <p:nvSpPr>
          <p:cNvPr id="15" name="Text 12"/>
          <p:cNvSpPr/>
          <p:nvPr/>
        </p:nvSpPr>
        <p:spPr>
          <a:xfrm>
            <a:off x="4505306" y="5696593"/>
            <a:ext cx="3405046" cy="193652"/>
          </a:xfrm>
          <a:prstGeom prst="rect">
            <a:avLst/>
          </a:prstGeom>
          <a:noFill/>
        </p:spPr>
        <p:txBody>
          <a:bodyPr wrap="square" lIns="0" tIns="0" rIns="0" bIns="0" rtlCol="0" anchor="ctr"/>
          <a:lstStyle/>
          <a:p>
            <a:pPr>
              <a:lnSpc>
                <a:spcPct val="130000"/>
              </a:lnSpc>
            </a:pPr>
            <a:r>
              <a:rPr lang="en-US" sz="10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H3a: Turnover</a:t>
            </a:r>
            <a:endParaRPr lang="en-US" sz="1600" dirty="0"/>
          </a:p>
        </p:txBody>
      </p:sp>
      <p:sp>
        <p:nvSpPr>
          <p:cNvPr id="16" name="Text 13"/>
          <p:cNvSpPr/>
          <p:nvPr/>
        </p:nvSpPr>
        <p:spPr>
          <a:xfrm>
            <a:off x="4343930" y="5954795"/>
            <a:ext cx="3558353" cy="177514"/>
          </a:xfrm>
          <a:prstGeom prst="rect">
            <a:avLst/>
          </a:prstGeom>
          <a:noFill/>
        </p:spPr>
        <p:txBody>
          <a:bodyPr wrap="square" lIns="0" tIns="0" rIns="0" bIns="0" rtlCol="0" anchor="ctr"/>
          <a:lstStyle/>
          <a:p>
            <a:pPr>
              <a:lnSpc>
                <a:spcPct val="140000"/>
              </a:lnSpc>
            </a:pPr>
            <a:r>
              <a:rPr lang="en-US" sz="8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 interaction:</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-0.0353 (p=0.8792)</a:t>
            </a:r>
            <a:endParaRPr lang="en-US" sz="1600" dirty="0"/>
          </a:p>
        </p:txBody>
      </p:sp>
      <p:sp>
        <p:nvSpPr>
          <p:cNvPr id="17" name="Text 14"/>
          <p:cNvSpPr/>
          <p:nvPr/>
        </p:nvSpPr>
        <p:spPr>
          <a:xfrm>
            <a:off x="4343930" y="6196860"/>
            <a:ext cx="3558353" cy="355028"/>
          </a:xfrm>
          <a:prstGeom prst="rect">
            <a:avLst/>
          </a:prstGeom>
          <a:noFill/>
        </p:spPr>
        <p:txBody>
          <a:bodyPr wrap="square" lIns="0" tIns="0" rIns="0" bIns="0" rtlCol="0" anchor="ctr"/>
          <a:lstStyle/>
          <a:p>
            <a:pPr>
              <a:lnSpc>
                <a:spcPct val="140000"/>
              </a:lnSpc>
            </a:pPr>
            <a:r>
              <a:rPr lang="en-US" sz="89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Not significant.</a:t>
            </a: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No evidence that AI-exposed funds with higher inflows increased trading activity.</a:t>
            </a:r>
            <a:endParaRPr lang="en-US" sz="1600" dirty="0"/>
          </a:p>
        </p:txBody>
      </p:sp>
      <p:sp>
        <p:nvSpPr>
          <p:cNvPr id="5" name="Shape 15"/>
          <p:cNvSpPr/>
          <p:nvPr/>
        </p:nvSpPr>
        <p:spPr>
          <a:xfrm>
            <a:off x="8107029" y="5559423"/>
            <a:ext cx="3760074" cy="1121567"/>
          </a:xfrm>
          <a:custGeom>
            <a:avLst/>
            <a:gdLst/>
            <a:ahLst/>
            <a:cxnLst/>
            <a:rect l="l" t="t" r="r" b="b"/>
            <a:pathLst>
              <a:path w="3760074" h="1121567">
                <a:moveTo>
                  <a:pt x="16138" y="0"/>
                </a:moveTo>
                <a:lnTo>
                  <a:pt x="3743936" y="0"/>
                </a:lnTo>
                <a:cubicBezTo>
                  <a:pt x="3752849" y="0"/>
                  <a:pt x="3760074" y="7225"/>
                  <a:pt x="3760074" y="16138"/>
                </a:cubicBezTo>
                <a:lnTo>
                  <a:pt x="3760074" y="1057021"/>
                </a:lnTo>
                <a:cubicBezTo>
                  <a:pt x="3760074" y="1092669"/>
                  <a:pt x="3731176" y="1121567"/>
                  <a:pt x="3695528" y="1121567"/>
                </a:cubicBezTo>
                <a:lnTo>
                  <a:pt x="64546" y="1121567"/>
                </a:lnTo>
                <a:cubicBezTo>
                  <a:pt x="28898" y="1121567"/>
                  <a:pt x="0" y="1092669"/>
                  <a:pt x="0" y="1057021"/>
                </a:cubicBezTo>
                <a:lnTo>
                  <a:pt x="0" y="16138"/>
                </a:lnTo>
                <a:cubicBezTo>
                  <a:pt x="0" y="7225"/>
                  <a:pt x="7225" y="0"/>
                  <a:pt x="16138" y="0"/>
                </a:cubicBezTo>
                <a:close/>
              </a:path>
            </a:pathLst>
          </a:custGeom>
          <a:solidFill>
            <a:srgbClr val="F9FAFB"/>
          </a:solidFill>
        </p:spPr>
      </p:sp>
      <p:sp>
        <p:nvSpPr>
          <p:cNvPr id="19" name="Shape 16"/>
          <p:cNvSpPr/>
          <p:nvPr/>
        </p:nvSpPr>
        <p:spPr>
          <a:xfrm>
            <a:off x="8107029" y="5559423"/>
            <a:ext cx="3760074" cy="16138"/>
          </a:xfrm>
          <a:custGeom>
            <a:avLst/>
            <a:gdLst/>
            <a:ahLst/>
            <a:cxnLst/>
            <a:rect l="l" t="t" r="r" b="b"/>
            <a:pathLst>
              <a:path w="3760074" h="16138">
                <a:moveTo>
                  <a:pt x="16138" y="0"/>
                </a:moveTo>
                <a:lnTo>
                  <a:pt x="3743936" y="0"/>
                </a:lnTo>
                <a:cubicBezTo>
                  <a:pt x="3752849" y="0"/>
                  <a:pt x="3760074" y="7225"/>
                  <a:pt x="3760074" y="16138"/>
                </a:cubicBezTo>
                <a:lnTo>
                  <a:pt x="3760074" y="16138"/>
                </a:lnTo>
                <a:lnTo>
                  <a:pt x="0" y="16138"/>
                </a:lnTo>
                <a:lnTo>
                  <a:pt x="0" y="16138"/>
                </a:lnTo>
                <a:cubicBezTo>
                  <a:pt x="0" y="7231"/>
                  <a:pt x="7231" y="0"/>
                  <a:pt x="16138" y="0"/>
                </a:cubicBezTo>
                <a:close/>
              </a:path>
            </a:pathLst>
          </a:custGeom>
          <a:solidFill>
            <a:srgbClr val="8B0000"/>
          </a:solidFill>
        </p:spPr>
      </p:sp>
      <p:sp>
        <p:nvSpPr>
          <p:cNvPr id="20" name="Shape 17"/>
          <p:cNvSpPr/>
          <p:nvPr/>
        </p:nvSpPr>
        <p:spPr>
          <a:xfrm>
            <a:off x="8252268" y="5728868"/>
            <a:ext cx="129101" cy="129101"/>
          </a:xfrm>
          <a:custGeom>
            <a:avLst/>
            <a:gdLst/>
            <a:ahLst/>
            <a:cxnLst/>
            <a:rect l="l" t="t" r="r" b="b"/>
            <a:pathLst>
              <a:path w="129101" h="129101">
                <a:moveTo>
                  <a:pt x="64551" y="129101"/>
                </a:moveTo>
                <a:cubicBezTo>
                  <a:pt x="100177" y="129101"/>
                  <a:pt x="129101" y="100177"/>
                  <a:pt x="129101" y="64551"/>
                </a:cubicBezTo>
                <a:cubicBezTo>
                  <a:pt x="129101" y="28924"/>
                  <a:pt x="100177" y="0"/>
                  <a:pt x="64551" y="0"/>
                </a:cubicBezTo>
                <a:cubicBezTo>
                  <a:pt x="28924" y="0"/>
                  <a:pt x="0" y="28924"/>
                  <a:pt x="0" y="64551"/>
                </a:cubicBezTo>
                <a:cubicBezTo>
                  <a:pt x="0" y="100177"/>
                  <a:pt x="28924" y="129101"/>
                  <a:pt x="64551" y="129101"/>
                </a:cubicBezTo>
                <a:close/>
                <a:moveTo>
                  <a:pt x="42109" y="42109"/>
                </a:moveTo>
                <a:cubicBezTo>
                  <a:pt x="44479" y="39739"/>
                  <a:pt x="48312" y="39739"/>
                  <a:pt x="50657" y="42109"/>
                </a:cubicBezTo>
                <a:lnTo>
                  <a:pt x="64525" y="55977"/>
                </a:lnTo>
                <a:lnTo>
                  <a:pt x="78394" y="42109"/>
                </a:lnTo>
                <a:cubicBezTo>
                  <a:pt x="80764" y="39739"/>
                  <a:pt x="84597" y="39739"/>
                  <a:pt x="86942" y="42109"/>
                </a:cubicBezTo>
                <a:cubicBezTo>
                  <a:pt x="89287" y="44479"/>
                  <a:pt x="89312" y="48312"/>
                  <a:pt x="86942" y="50657"/>
                </a:cubicBezTo>
                <a:lnTo>
                  <a:pt x="73073" y="64525"/>
                </a:lnTo>
                <a:lnTo>
                  <a:pt x="86942" y="78394"/>
                </a:lnTo>
                <a:cubicBezTo>
                  <a:pt x="89312" y="80764"/>
                  <a:pt x="89312" y="84597"/>
                  <a:pt x="86942" y="86942"/>
                </a:cubicBezTo>
                <a:cubicBezTo>
                  <a:pt x="84571" y="89287"/>
                  <a:pt x="80739" y="89312"/>
                  <a:pt x="78394" y="86942"/>
                </a:cubicBezTo>
                <a:lnTo>
                  <a:pt x="64525" y="73073"/>
                </a:lnTo>
                <a:lnTo>
                  <a:pt x="50657" y="86942"/>
                </a:lnTo>
                <a:cubicBezTo>
                  <a:pt x="48287" y="89312"/>
                  <a:pt x="44454" y="89312"/>
                  <a:pt x="42109" y="86942"/>
                </a:cubicBezTo>
                <a:cubicBezTo>
                  <a:pt x="39764" y="84571"/>
                  <a:pt x="39739" y="80739"/>
                  <a:pt x="42109" y="78394"/>
                </a:cubicBezTo>
                <a:lnTo>
                  <a:pt x="55977" y="64525"/>
                </a:lnTo>
                <a:lnTo>
                  <a:pt x="42109" y="50657"/>
                </a:lnTo>
                <a:cubicBezTo>
                  <a:pt x="39739" y="48287"/>
                  <a:pt x="39739" y="44454"/>
                  <a:pt x="42109" y="42109"/>
                </a:cubicBezTo>
                <a:close/>
              </a:path>
            </a:pathLst>
          </a:custGeom>
          <a:solidFill>
            <a:srgbClr val="8B0000"/>
          </a:solidFill>
        </p:spPr>
      </p:sp>
      <p:sp>
        <p:nvSpPr>
          <p:cNvPr id="21" name="Text 18"/>
          <p:cNvSpPr/>
          <p:nvPr/>
        </p:nvSpPr>
        <p:spPr>
          <a:xfrm>
            <a:off x="8397507" y="5696593"/>
            <a:ext cx="3405046" cy="193652"/>
          </a:xfrm>
          <a:prstGeom prst="rect">
            <a:avLst/>
          </a:prstGeom>
          <a:noFill/>
        </p:spPr>
        <p:txBody>
          <a:bodyPr wrap="square" lIns="0" tIns="0" rIns="0" bIns="0" rtlCol="0" anchor="ctr"/>
          <a:lstStyle/>
          <a:p>
            <a:pPr>
              <a:lnSpc>
                <a:spcPct val="130000"/>
              </a:lnSpc>
            </a:pPr>
            <a:r>
              <a:rPr lang="en-US" sz="101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H3b: Diversification</a:t>
            </a:r>
            <a:endParaRPr lang="en-US" sz="1600" dirty="0"/>
          </a:p>
        </p:txBody>
      </p:sp>
      <p:sp>
        <p:nvSpPr>
          <p:cNvPr id="22" name="Text 19"/>
          <p:cNvSpPr/>
          <p:nvPr/>
        </p:nvSpPr>
        <p:spPr>
          <a:xfrm>
            <a:off x="8236131" y="5954795"/>
            <a:ext cx="3558353" cy="177514"/>
          </a:xfrm>
          <a:prstGeom prst="rect">
            <a:avLst/>
          </a:prstGeom>
          <a:noFill/>
        </p:spPr>
        <p:txBody>
          <a:bodyPr wrap="square" lIns="0" tIns="0" rIns="0" bIns="0" rtlCol="0" anchor="ctr"/>
          <a:lstStyle/>
          <a:p>
            <a:pPr>
              <a:lnSpc>
                <a:spcPct val="140000"/>
              </a:lnSpc>
            </a:pPr>
            <a:r>
              <a:rPr lang="en-US" sz="89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Triple interaction:</a:t>
            </a:r>
            <a:r>
              <a:rPr lang="en-US" sz="89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0.0013 (p=0.1339)</a:t>
            </a:r>
            <a:endParaRPr lang="en-US" sz="1600" dirty="0"/>
          </a:p>
        </p:txBody>
      </p:sp>
      <p:sp>
        <p:nvSpPr>
          <p:cNvPr id="23" name="Text 20"/>
          <p:cNvSpPr/>
          <p:nvPr/>
        </p:nvSpPr>
        <p:spPr>
          <a:xfrm>
            <a:off x="8236131" y="6196860"/>
            <a:ext cx="3558353" cy="355028"/>
          </a:xfrm>
          <a:prstGeom prst="rect">
            <a:avLst/>
          </a:prstGeom>
          <a:noFill/>
        </p:spPr>
        <p:txBody>
          <a:bodyPr wrap="square" lIns="0" tIns="0" rIns="0" bIns="0" rtlCol="0" anchor="ctr"/>
          <a:lstStyle/>
          <a:p>
            <a:pPr>
              <a:lnSpc>
                <a:spcPct val="140000"/>
              </a:lnSpc>
            </a:pPr>
            <a:r>
              <a:rPr lang="en-US" sz="89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Not significant.</a:t>
            </a:r>
            <a:r>
              <a:rPr lang="en-US" sz="89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No evidence that AI-exposed funds with higher inflows changed portfolio concentration.</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p:spPr>
        <p:txBody>
          <a:bodyPr wrap="square" lIns="0" tIns="0" rIns="0" bIns="0" rtlCol="0" anchor="ctr"/>
          <a:lstStyle/>
          <a:p>
            <a:pPr>
              <a:lnSpc>
                <a:spcPct val="130000"/>
              </a:lnSpc>
            </a:pPr>
            <a:r>
              <a:rPr lang="en-US" sz="1000" b="1" kern="0" spc="5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17500" y="571500"/>
            <a:ext cx="11699875" cy="317500"/>
          </a:xfrm>
          <a:prstGeom prst="rect">
            <a:avLst/>
          </a:prstGeom>
          <a:noFill/>
        </p:spPr>
        <p:txBody>
          <a:bodyPr wrap="square" lIns="0" tIns="0" rIns="0" bIns="0" rtlCol="0" anchor="ctr"/>
          <a:lstStyle/>
          <a:p>
            <a:pPr>
              <a:lnSpc>
                <a:spcPct val="90000"/>
              </a:lnSpc>
            </a:pPr>
            <a:r>
              <a:rPr lang="en-US" sz="2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Table 5: Robustness Checks</a:t>
            </a:r>
            <a:endParaRPr lang="en-US" sz="1600" dirty="0"/>
          </a:p>
        </p:txBody>
      </p:sp>
      <p:sp>
        <p:nvSpPr>
          <p:cNvPr id="4" name="Shape 2"/>
          <p:cNvSpPr/>
          <p:nvPr/>
        </p:nvSpPr>
        <p:spPr>
          <a:xfrm>
            <a:off x="317500" y="984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8B0000"/>
          </a:solidFill>
        </p:spPr>
      </p:sp>
      <p:graphicFrame>
        <p:nvGraphicFramePr>
          <p:cNvPr id="19" name="Table 0"/>
          <p:cNvGraphicFramePr>
            <a:graphicFrameLocks noGrp="1"/>
          </p:cNvGraphicFramePr>
          <p:nvPr/>
        </p:nvGraphicFramePr>
        <p:xfrm>
          <a:off x="317500" y="1143000"/>
          <a:ext cx="11557000" cy="3095625"/>
        </p:xfrm>
        <a:graphic>
          <a:graphicData uri="http://schemas.openxmlformats.org/drawingml/2006/table">
            <a:tbl>
              <a:tblPr/>
              <a:tblGrid>
                <a:gridCol w="5202636"/>
                <a:gridCol w="2311400"/>
                <a:gridCol w="1731564"/>
                <a:gridCol w="2311400"/>
              </a:tblGrid>
              <a:tr h="281420">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Specification</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AI_Exp × Post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Std. Error</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c>
                  <a:txBody>
                    <a:bodyPr/>
                    <a:lstStyle/>
                    <a:p>
                      <a:pPr algn="l"/>
                      <a:r>
                        <a:rPr lang="en-US" sz="800" b="1" u="none" dirty="0">
                          <a:solidFill>
                            <a:srgbClr val="1F2937"/>
                          </a:solidFill>
                          <a:latin typeface="微软雅黑" pitchFamily="34" charset="0"/>
                          <a:ea typeface="微软雅黑" pitchFamily="34" charset="-122"/>
                          <a:cs typeface="微软雅黑" pitchFamily="34" charset="-120"/>
                        </a:rPr>
                        <a:t>Significance</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25400" cap="flat" cmpd="sng" algn="ctr">
                      <a:solidFill>
                        <a:srgbClr val="1F2937"/>
                      </a:solidFill>
                      <a:prstDash val="solid"/>
                      <a:round/>
                      <a:headEnd type="none" w="med" len="med"/>
                      <a:tailEnd type="none" w="med" len="med"/>
                    </a:lnT>
                    <a:lnB w="12700" cap="flat" cmpd="sng" algn="ctr">
                      <a:solidFill>
                        <a:srgbClr val="1F2937"/>
                      </a:solidFill>
                      <a:prstDash val="solid"/>
                      <a:round/>
                      <a:headEnd type="none" w="med" len="med"/>
                      <a:tailEnd type="none" w="med" len="med"/>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 Baseline (Panel FE)</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0.0053</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(2) Alternative Winsorization (2.5%-97.5%)</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(3) No Winsorization</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0.0062</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(4) Binary AI (10%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0.0048</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(0.0012)</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(5) Binary AI (25%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(0.0010)</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(6) Binary AI (33%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0.0054</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(7) Binary AI (50% cutoff)</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0.0050</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(0.0011)</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(8) Exclude Extreme Flows (|Flow| &gt; 0.5)</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(0.0008)</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(9) Alternative Standardization (Robust Z-score)</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0.0052</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(0.0009)</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r h="281420">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(10) Subsample: 2022-2024 Only</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0.0047</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(0.0010)</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c>
                  <a:txBody>
                    <a:bodyPr/>
                    <a:lstStyle/>
                    <a:p>
                      <a:pPr algn="l"/>
                      <a:r>
                        <a:rPr lang="en-US" sz="800" u="none" dirty="0">
                          <a:solidFill>
                            <a:srgbClr val="1F2937"/>
                          </a:solidFill>
                          <a:latin typeface="微软雅黑" pitchFamily="34" charset="0"/>
                          <a:ea typeface="微软雅黑" pitchFamily="34" charset="-122"/>
                          <a:cs typeface="微软雅黑" pitchFamily="34" charset="-120"/>
                        </a:rPr>
                        <a:t>***</a:t>
                      </a:r>
                      <a:endParaRPr lang="en-US" sz="800" dirty="0">
                        <a:latin typeface="微软雅黑" pitchFamily="34" charset="0"/>
                        <a:ea typeface="微软雅黑" pitchFamily="34" charset="0"/>
                        <a:cs typeface="微软雅黑" pitchFamily="34" charset="0"/>
                      </a:endParaRPr>
                    </a:p>
                  </a:txBody>
                  <a:tcPr marL="95250" marR="95250" marT="63500" marB="63500" anchor="ctr">
                    <a:lnL w="0" cap="flat" cmpd="sng" algn="ctr">
                      <a:noFill/>
                    </a:lnL>
                    <a:lnR w="0" cap="flat" cmpd="sng" algn="ctr">
                      <a:noFill/>
                    </a:lnR>
                    <a:lnT w="0" cap="flat" cmpd="sng" algn="ctr">
                      <a:noFill/>
                    </a:lnT>
                    <a:lnB w="0" cap="flat" cmpd="sng" algn="ctr">
                      <a:noFill/>
                    </a:lnB>
                    <a:solidFill>
                      <a:srgbClr val="FFFFFF">
                        <a:alpha val="0"/>
                      </a:srgbClr>
                    </a:solidFill>
                  </a:tcPr>
                </a:tc>
              </a:tr>
            </a:tbl>
          </a:graphicData>
        </a:graphic>
      </p:graphicFrame>
      <p:sp>
        <p:nvSpPr>
          <p:cNvPr id="6" name="Shape 3"/>
          <p:cNvSpPr/>
          <p:nvPr/>
        </p:nvSpPr>
        <p:spPr>
          <a:xfrm>
            <a:off x="333375" y="4365625"/>
            <a:ext cx="5699125" cy="2635250"/>
          </a:xfrm>
          <a:custGeom>
            <a:avLst/>
            <a:gdLst/>
            <a:ahLst/>
            <a:cxnLst/>
            <a:rect l="l" t="t" r="r" b="b"/>
            <a:pathLst>
              <a:path w="5699125" h="2635250">
                <a:moveTo>
                  <a:pt x="31750" y="0"/>
                </a:moveTo>
                <a:lnTo>
                  <a:pt x="5635615" y="0"/>
                </a:lnTo>
                <a:cubicBezTo>
                  <a:pt x="5670691" y="0"/>
                  <a:pt x="5699125" y="28434"/>
                  <a:pt x="5699125" y="63510"/>
                </a:cubicBezTo>
                <a:lnTo>
                  <a:pt x="5699125" y="2571740"/>
                </a:lnTo>
                <a:cubicBezTo>
                  <a:pt x="5699125" y="2606816"/>
                  <a:pt x="5670691" y="2635250"/>
                  <a:pt x="5635615" y="2635250"/>
                </a:cubicBezTo>
                <a:lnTo>
                  <a:pt x="31750" y="2635250"/>
                </a:lnTo>
                <a:cubicBezTo>
                  <a:pt x="14215" y="2635250"/>
                  <a:pt x="0" y="2621035"/>
                  <a:pt x="0" y="2603500"/>
                </a:cubicBezTo>
                <a:lnTo>
                  <a:pt x="0" y="31750"/>
                </a:lnTo>
                <a:cubicBezTo>
                  <a:pt x="0" y="14227"/>
                  <a:pt x="14227" y="0"/>
                  <a:pt x="31750" y="0"/>
                </a:cubicBezTo>
                <a:close/>
              </a:path>
            </a:pathLst>
          </a:custGeom>
          <a:solidFill>
            <a:srgbClr val="8B0000">
              <a:alpha val="5098"/>
            </a:srgbClr>
          </a:solidFill>
        </p:spPr>
      </p:sp>
      <p:sp>
        <p:nvSpPr>
          <p:cNvPr id="7" name="Shape 4"/>
          <p:cNvSpPr/>
          <p:nvPr/>
        </p:nvSpPr>
        <p:spPr>
          <a:xfrm>
            <a:off x="333375" y="4365625"/>
            <a:ext cx="31750" cy="2635250"/>
          </a:xfrm>
          <a:custGeom>
            <a:avLst/>
            <a:gdLst/>
            <a:ahLst/>
            <a:cxnLst/>
            <a:rect l="l" t="t" r="r" b="b"/>
            <a:pathLst>
              <a:path w="31750" h="2635250">
                <a:moveTo>
                  <a:pt x="31750" y="0"/>
                </a:moveTo>
                <a:lnTo>
                  <a:pt x="31750" y="0"/>
                </a:lnTo>
                <a:lnTo>
                  <a:pt x="31750" y="2635250"/>
                </a:lnTo>
                <a:lnTo>
                  <a:pt x="31750" y="2635250"/>
                </a:lnTo>
                <a:cubicBezTo>
                  <a:pt x="14227" y="2635250"/>
                  <a:pt x="0" y="2621023"/>
                  <a:pt x="0" y="2603500"/>
                </a:cubicBezTo>
                <a:lnTo>
                  <a:pt x="0" y="31750"/>
                </a:lnTo>
                <a:cubicBezTo>
                  <a:pt x="0" y="14227"/>
                  <a:pt x="14227" y="0"/>
                  <a:pt x="31750" y="0"/>
                </a:cubicBezTo>
                <a:close/>
              </a:path>
            </a:pathLst>
          </a:custGeom>
          <a:solidFill>
            <a:srgbClr val="8B0000"/>
          </a:solidFill>
        </p:spPr>
      </p:sp>
      <p:sp>
        <p:nvSpPr>
          <p:cNvPr id="8" name="Shape 5"/>
          <p:cNvSpPr/>
          <p:nvPr/>
        </p:nvSpPr>
        <p:spPr>
          <a:xfrm>
            <a:off x="527844" y="4556125"/>
            <a:ext cx="158750" cy="158750"/>
          </a:xfrm>
          <a:custGeom>
            <a:avLst/>
            <a:gdLst/>
            <a:ahLst/>
            <a:cxnLst/>
            <a:rect l="l" t="t" r="r" b="b"/>
            <a:pathLst>
              <a:path w="158750" h="158750">
                <a:moveTo>
                  <a:pt x="79375" y="0"/>
                </a:moveTo>
                <a:cubicBezTo>
                  <a:pt x="80801" y="0"/>
                  <a:pt x="82228" y="310"/>
                  <a:pt x="83530" y="899"/>
                </a:cubicBezTo>
                <a:lnTo>
                  <a:pt x="141945" y="25673"/>
                </a:lnTo>
                <a:cubicBezTo>
                  <a:pt x="148766" y="28556"/>
                  <a:pt x="153851" y="35285"/>
                  <a:pt x="153820" y="43408"/>
                </a:cubicBezTo>
                <a:cubicBezTo>
                  <a:pt x="153665" y="74166"/>
                  <a:pt x="141015" y="130442"/>
                  <a:pt x="87592" y="156021"/>
                </a:cubicBezTo>
                <a:cubicBezTo>
                  <a:pt x="82414" y="158502"/>
                  <a:pt x="76398" y="158502"/>
                  <a:pt x="71220" y="156021"/>
                </a:cubicBezTo>
                <a:cubicBezTo>
                  <a:pt x="17766" y="130442"/>
                  <a:pt x="5147" y="74166"/>
                  <a:pt x="4992" y="43408"/>
                </a:cubicBezTo>
                <a:cubicBezTo>
                  <a:pt x="4961" y="35285"/>
                  <a:pt x="10046" y="28556"/>
                  <a:pt x="16867" y="25673"/>
                </a:cubicBezTo>
                <a:lnTo>
                  <a:pt x="75251" y="899"/>
                </a:lnTo>
                <a:cubicBezTo>
                  <a:pt x="76553" y="310"/>
                  <a:pt x="77949" y="0"/>
                  <a:pt x="79375" y="0"/>
                </a:cubicBezTo>
                <a:close/>
                <a:moveTo>
                  <a:pt x="79375" y="20712"/>
                </a:moveTo>
                <a:lnTo>
                  <a:pt x="79375" y="137945"/>
                </a:lnTo>
                <a:cubicBezTo>
                  <a:pt x="122163" y="117233"/>
                  <a:pt x="133666" y="71344"/>
                  <a:pt x="133945" y="43873"/>
                </a:cubicBezTo>
                <a:lnTo>
                  <a:pt x="79375" y="20743"/>
                </a:lnTo>
                <a:lnTo>
                  <a:pt x="79375" y="20743"/>
                </a:lnTo>
                <a:close/>
              </a:path>
            </a:pathLst>
          </a:custGeom>
          <a:solidFill>
            <a:srgbClr val="8B0000"/>
          </a:solidFill>
        </p:spPr>
      </p:sp>
      <p:sp>
        <p:nvSpPr>
          <p:cNvPr id="9" name="Text 6"/>
          <p:cNvSpPr/>
          <p:nvPr/>
        </p:nvSpPr>
        <p:spPr>
          <a:xfrm>
            <a:off x="706438" y="4524375"/>
            <a:ext cx="5246688" cy="222250"/>
          </a:xfrm>
          <a:prstGeom prst="rect">
            <a:avLst/>
          </a:prstGeom>
          <a:noFill/>
        </p:spPr>
        <p:txBody>
          <a:bodyPr wrap="square" lIns="0" tIns="0" rIns="0" bIns="0" rtlCol="0" anchor="ctr"/>
          <a:lstStyle/>
          <a:p>
            <a:pPr>
              <a:lnSpc>
                <a:spcPct val="12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Robustness Conclusion</a:t>
            </a:r>
            <a:endParaRPr lang="en-US" sz="1600" dirty="0"/>
          </a:p>
        </p:txBody>
      </p:sp>
      <p:sp>
        <p:nvSpPr>
          <p:cNvPr id="10" name="Text 7"/>
          <p:cNvSpPr/>
          <p:nvPr/>
        </p:nvSpPr>
        <p:spPr>
          <a:xfrm>
            <a:off x="508000" y="4841875"/>
            <a:ext cx="5429250" cy="412750"/>
          </a:xfrm>
          <a:prstGeom prst="rect">
            <a:avLst/>
          </a:prstGeom>
          <a:noFill/>
        </p:spPr>
        <p:txBody>
          <a:bodyPr wrap="square" lIns="0" tIns="0" rIns="0" bIns="0" rtlCol="0" anchor="ctr"/>
          <a:lstStyle/>
          <a:p>
            <a:pPr>
              <a:lnSpc>
                <a:spcPct val="14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H1 results are robust across all specifications.</a:t>
            </a:r>
            <a:r>
              <a:rPr lang="en-US" sz="100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The positive and significant AI_Exposure × Post coefficient persists regardless of:</a:t>
            </a:r>
            <a:endParaRPr lang="en-US" sz="1600" dirty="0"/>
          </a:p>
        </p:txBody>
      </p:sp>
      <p:sp>
        <p:nvSpPr>
          <p:cNvPr id="11" name="Shape 8"/>
          <p:cNvSpPr/>
          <p:nvPr/>
        </p:nvSpPr>
        <p:spPr>
          <a:xfrm>
            <a:off x="531813" y="5365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2" name="Text 9"/>
          <p:cNvSpPr/>
          <p:nvPr/>
        </p:nvSpPr>
        <p:spPr>
          <a:xfrm>
            <a:off x="706438" y="5349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Winsorization level (1%, 2.5%, or none)</a:t>
            </a:r>
            <a:endParaRPr lang="en-US" sz="1600" dirty="0"/>
          </a:p>
        </p:txBody>
      </p:sp>
      <p:sp>
        <p:nvSpPr>
          <p:cNvPr id="13" name="Shape 10"/>
          <p:cNvSpPr/>
          <p:nvPr/>
        </p:nvSpPr>
        <p:spPr>
          <a:xfrm>
            <a:off x="531813" y="5619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4" name="Text 11"/>
          <p:cNvSpPr/>
          <p:nvPr/>
        </p:nvSpPr>
        <p:spPr>
          <a:xfrm>
            <a:off x="706438" y="5603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 exposure measure (continuous or binary with various cutoffs)</a:t>
            </a:r>
            <a:endParaRPr lang="en-US" sz="1600" dirty="0"/>
          </a:p>
        </p:txBody>
      </p:sp>
      <p:sp>
        <p:nvSpPr>
          <p:cNvPr id="15" name="Shape 12"/>
          <p:cNvSpPr/>
          <p:nvPr/>
        </p:nvSpPr>
        <p:spPr>
          <a:xfrm>
            <a:off x="531813" y="5873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6" name="Text 13"/>
          <p:cNvSpPr/>
          <p:nvPr/>
        </p:nvSpPr>
        <p:spPr>
          <a:xfrm>
            <a:off x="706438" y="5857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Sample composition (excluding extreme observations)</a:t>
            </a:r>
            <a:endParaRPr lang="en-US" sz="1600" dirty="0"/>
          </a:p>
        </p:txBody>
      </p:sp>
      <p:sp>
        <p:nvSpPr>
          <p:cNvPr id="17" name="Shape 14"/>
          <p:cNvSpPr/>
          <p:nvPr/>
        </p:nvSpPr>
        <p:spPr>
          <a:xfrm>
            <a:off x="531813" y="6127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18" name="Text 15"/>
          <p:cNvSpPr/>
          <p:nvPr/>
        </p:nvSpPr>
        <p:spPr>
          <a:xfrm>
            <a:off x="706438" y="6111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Standardization method</a:t>
            </a:r>
            <a:endParaRPr lang="en-US" sz="1600" dirty="0"/>
          </a:p>
        </p:txBody>
      </p:sp>
      <p:sp>
        <p:nvSpPr>
          <p:cNvPr id="5" name="Shape 16"/>
          <p:cNvSpPr/>
          <p:nvPr/>
        </p:nvSpPr>
        <p:spPr>
          <a:xfrm>
            <a:off x="531813" y="6381750"/>
            <a:ext cx="111125" cy="127000"/>
          </a:xfrm>
          <a:custGeom>
            <a:avLst/>
            <a:gdLst/>
            <a:ahLst/>
            <a:cxnLst/>
            <a:rect l="l" t="t" r="r" b="b"/>
            <a:pathLst>
              <a:path w="111125" h="127000">
                <a:moveTo>
                  <a:pt x="107851" y="17388"/>
                </a:moveTo>
                <a:cubicBezTo>
                  <a:pt x="111398" y="19968"/>
                  <a:pt x="112192" y="24929"/>
                  <a:pt x="109612" y="28476"/>
                </a:cubicBezTo>
                <a:lnTo>
                  <a:pt x="46112" y="115788"/>
                </a:lnTo>
                <a:cubicBezTo>
                  <a:pt x="44748" y="117673"/>
                  <a:pt x="42639" y="118839"/>
                  <a:pt x="40308" y="119038"/>
                </a:cubicBezTo>
                <a:cubicBezTo>
                  <a:pt x="37976" y="119236"/>
                  <a:pt x="35719" y="118368"/>
                  <a:pt x="34082" y="116731"/>
                </a:cubicBezTo>
                <a:lnTo>
                  <a:pt x="2332" y="84981"/>
                </a:lnTo>
                <a:cubicBezTo>
                  <a:pt x="-769" y="81880"/>
                  <a:pt x="-769" y="76845"/>
                  <a:pt x="2332" y="73744"/>
                </a:cubicBezTo>
                <a:cubicBezTo>
                  <a:pt x="5432" y="70644"/>
                  <a:pt x="10468" y="70644"/>
                  <a:pt x="13568" y="73744"/>
                </a:cubicBezTo>
                <a:lnTo>
                  <a:pt x="38745" y="98921"/>
                </a:lnTo>
                <a:lnTo>
                  <a:pt x="96788" y="19124"/>
                </a:lnTo>
                <a:cubicBezTo>
                  <a:pt x="99368" y="15577"/>
                  <a:pt x="104329" y="14784"/>
                  <a:pt x="107876" y="17363"/>
                </a:cubicBezTo>
                <a:close/>
              </a:path>
            </a:pathLst>
          </a:custGeom>
          <a:solidFill>
            <a:srgbClr val="8B0000"/>
          </a:solidFill>
        </p:spPr>
      </p:sp>
      <p:sp>
        <p:nvSpPr>
          <p:cNvPr id="20" name="Text 17"/>
          <p:cNvSpPr/>
          <p:nvPr/>
        </p:nvSpPr>
        <p:spPr>
          <a:xfrm>
            <a:off x="706438" y="6365875"/>
            <a:ext cx="5230813" cy="190500"/>
          </a:xfrm>
          <a:prstGeom prst="rect">
            <a:avLst/>
          </a:prstGeom>
          <a:noFill/>
        </p:spPr>
        <p:txBody>
          <a:bodyPr wrap="square" lIns="0" tIns="0" rIns="0" bIns="0" rtlCol="0" anchor="ctr"/>
          <a:lstStyle/>
          <a:p>
            <a:pPr>
              <a:lnSpc>
                <a:spcPct val="130000"/>
              </a:lnSpc>
            </a:pPr>
            <a:r>
              <a:rPr lang="en-US" sz="100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Time period</a:t>
            </a:r>
            <a:endParaRPr lang="en-US" sz="1600" dirty="0"/>
          </a:p>
        </p:txBody>
      </p:sp>
      <p:sp>
        <p:nvSpPr>
          <p:cNvPr id="21" name="Shape 18"/>
          <p:cNvSpPr/>
          <p:nvPr/>
        </p:nvSpPr>
        <p:spPr>
          <a:xfrm>
            <a:off x="6175375" y="4365625"/>
            <a:ext cx="5699125" cy="2635250"/>
          </a:xfrm>
          <a:custGeom>
            <a:avLst/>
            <a:gdLst/>
            <a:ahLst/>
            <a:cxnLst/>
            <a:rect l="l" t="t" r="r" b="b"/>
            <a:pathLst>
              <a:path w="5699125" h="2635250">
                <a:moveTo>
                  <a:pt x="31750" y="0"/>
                </a:moveTo>
                <a:lnTo>
                  <a:pt x="5635615" y="0"/>
                </a:lnTo>
                <a:cubicBezTo>
                  <a:pt x="5670691" y="0"/>
                  <a:pt x="5699125" y="28434"/>
                  <a:pt x="5699125" y="63510"/>
                </a:cubicBezTo>
                <a:lnTo>
                  <a:pt x="5699125" y="2571740"/>
                </a:lnTo>
                <a:cubicBezTo>
                  <a:pt x="5699125" y="2606816"/>
                  <a:pt x="5670691" y="2635250"/>
                  <a:pt x="5635615" y="2635250"/>
                </a:cubicBezTo>
                <a:lnTo>
                  <a:pt x="31750" y="2635250"/>
                </a:lnTo>
                <a:cubicBezTo>
                  <a:pt x="14215" y="2635250"/>
                  <a:pt x="0" y="2621035"/>
                  <a:pt x="0" y="2603500"/>
                </a:cubicBezTo>
                <a:lnTo>
                  <a:pt x="0" y="31750"/>
                </a:lnTo>
                <a:cubicBezTo>
                  <a:pt x="0" y="14227"/>
                  <a:pt x="14227" y="0"/>
                  <a:pt x="31750" y="0"/>
                </a:cubicBezTo>
                <a:close/>
              </a:path>
            </a:pathLst>
          </a:custGeom>
          <a:solidFill>
            <a:srgbClr val="F9FAFB"/>
          </a:solidFill>
        </p:spPr>
      </p:sp>
      <p:sp>
        <p:nvSpPr>
          <p:cNvPr id="22" name="Shape 19"/>
          <p:cNvSpPr/>
          <p:nvPr/>
        </p:nvSpPr>
        <p:spPr>
          <a:xfrm>
            <a:off x="6175375" y="4365625"/>
            <a:ext cx="31750" cy="2635250"/>
          </a:xfrm>
          <a:custGeom>
            <a:avLst/>
            <a:gdLst/>
            <a:ahLst/>
            <a:cxnLst/>
            <a:rect l="l" t="t" r="r" b="b"/>
            <a:pathLst>
              <a:path w="31750" h="2635250">
                <a:moveTo>
                  <a:pt x="31750" y="0"/>
                </a:moveTo>
                <a:lnTo>
                  <a:pt x="31750" y="0"/>
                </a:lnTo>
                <a:lnTo>
                  <a:pt x="31750" y="2635250"/>
                </a:lnTo>
                <a:lnTo>
                  <a:pt x="31750" y="2635250"/>
                </a:lnTo>
                <a:cubicBezTo>
                  <a:pt x="14227" y="2635250"/>
                  <a:pt x="0" y="2621023"/>
                  <a:pt x="0" y="2603500"/>
                </a:cubicBezTo>
                <a:lnTo>
                  <a:pt x="0" y="31750"/>
                </a:lnTo>
                <a:cubicBezTo>
                  <a:pt x="0" y="14227"/>
                  <a:pt x="14227" y="0"/>
                  <a:pt x="31750" y="0"/>
                </a:cubicBezTo>
                <a:close/>
              </a:path>
            </a:pathLst>
          </a:custGeom>
          <a:solidFill>
            <a:srgbClr val="8B0000"/>
          </a:solidFill>
        </p:spPr>
      </p:sp>
      <p:sp>
        <p:nvSpPr>
          <p:cNvPr id="23" name="Shape 20"/>
          <p:cNvSpPr/>
          <p:nvPr/>
        </p:nvSpPr>
        <p:spPr>
          <a:xfrm>
            <a:off x="6389688" y="4556125"/>
            <a:ext cx="119063" cy="158750"/>
          </a:xfrm>
          <a:custGeom>
            <a:avLst/>
            <a:gdLst/>
            <a:ahLst/>
            <a:cxnLst/>
            <a:rect l="l" t="t" r="r" b="b"/>
            <a:pathLst>
              <a:path w="119063" h="158750">
                <a:moveTo>
                  <a:pt x="90816" y="119062"/>
                </a:moveTo>
                <a:cubicBezTo>
                  <a:pt x="93080" y="112148"/>
                  <a:pt x="97606" y="105885"/>
                  <a:pt x="102722" y="100490"/>
                </a:cubicBezTo>
                <a:cubicBezTo>
                  <a:pt x="112861" y="89824"/>
                  <a:pt x="119062" y="75406"/>
                  <a:pt x="119062" y="59531"/>
                </a:cubicBezTo>
                <a:cubicBezTo>
                  <a:pt x="119062" y="26665"/>
                  <a:pt x="92397" y="0"/>
                  <a:pt x="59531" y="0"/>
                </a:cubicBezTo>
                <a:cubicBezTo>
                  <a:pt x="26665" y="0"/>
                  <a:pt x="0" y="26665"/>
                  <a:pt x="0" y="59531"/>
                </a:cubicBezTo>
                <a:cubicBezTo>
                  <a:pt x="0" y="75406"/>
                  <a:pt x="6201" y="89824"/>
                  <a:pt x="16340" y="100490"/>
                </a:cubicBezTo>
                <a:cubicBezTo>
                  <a:pt x="21456" y="105885"/>
                  <a:pt x="26014" y="112148"/>
                  <a:pt x="28246" y="119062"/>
                </a:cubicBezTo>
                <a:lnTo>
                  <a:pt x="90785" y="119062"/>
                </a:lnTo>
                <a:close/>
                <a:moveTo>
                  <a:pt x="89297" y="133945"/>
                </a:moveTo>
                <a:lnTo>
                  <a:pt x="29766" y="133945"/>
                </a:lnTo>
                <a:lnTo>
                  <a:pt x="29766" y="138906"/>
                </a:lnTo>
                <a:cubicBezTo>
                  <a:pt x="29766" y="152611"/>
                  <a:pt x="40866" y="163711"/>
                  <a:pt x="54570" y="163711"/>
                </a:cubicBezTo>
                <a:lnTo>
                  <a:pt x="64492" y="163711"/>
                </a:lnTo>
                <a:cubicBezTo>
                  <a:pt x="78197" y="163711"/>
                  <a:pt x="89297" y="152611"/>
                  <a:pt x="89297" y="138906"/>
                </a:cubicBezTo>
                <a:lnTo>
                  <a:pt x="89297" y="133945"/>
                </a:lnTo>
                <a:close/>
                <a:moveTo>
                  <a:pt x="57051" y="34727"/>
                </a:moveTo>
                <a:cubicBezTo>
                  <a:pt x="44710" y="34727"/>
                  <a:pt x="34727" y="44710"/>
                  <a:pt x="34727" y="57051"/>
                </a:cubicBezTo>
                <a:cubicBezTo>
                  <a:pt x="34727" y="61175"/>
                  <a:pt x="31409" y="64492"/>
                  <a:pt x="27285" y="64492"/>
                </a:cubicBezTo>
                <a:cubicBezTo>
                  <a:pt x="23161" y="64492"/>
                  <a:pt x="19844" y="61175"/>
                  <a:pt x="19844" y="57051"/>
                </a:cubicBezTo>
                <a:cubicBezTo>
                  <a:pt x="19844" y="36494"/>
                  <a:pt x="36494" y="19844"/>
                  <a:pt x="57051" y="19844"/>
                </a:cubicBezTo>
                <a:cubicBezTo>
                  <a:pt x="61175" y="19844"/>
                  <a:pt x="64492" y="23161"/>
                  <a:pt x="64492" y="27285"/>
                </a:cubicBezTo>
                <a:cubicBezTo>
                  <a:pt x="64492" y="31409"/>
                  <a:pt x="61175" y="34727"/>
                  <a:pt x="57051" y="34727"/>
                </a:cubicBezTo>
                <a:close/>
              </a:path>
            </a:pathLst>
          </a:custGeom>
          <a:solidFill>
            <a:srgbClr val="8B0000"/>
          </a:solidFill>
        </p:spPr>
      </p:sp>
      <p:sp>
        <p:nvSpPr>
          <p:cNvPr id="24" name="Text 21"/>
          <p:cNvSpPr/>
          <p:nvPr/>
        </p:nvSpPr>
        <p:spPr>
          <a:xfrm>
            <a:off x="6548438" y="4524375"/>
            <a:ext cx="5246688" cy="222250"/>
          </a:xfrm>
          <a:prstGeom prst="rect">
            <a:avLst/>
          </a:prstGeom>
          <a:noFill/>
        </p:spPr>
        <p:txBody>
          <a:bodyPr wrap="square" lIns="0" tIns="0" rIns="0" bIns="0" rtlCol="0" anchor="ctr"/>
          <a:lstStyle/>
          <a:p>
            <a:pPr>
              <a:lnSpc>
                <a:spcPct val="12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Key Insights</a:t>
            </a:r>
            <a:endParaRPr lang="en-US" sz="1600" dirty="0"/>
          </a:p>
        </p:txBody>
      </p:sp>
      <p:sp>
        <p:nvSpPr>
          <p:cNvPr id="25" name="Shape 22"/>
          <p:cNvSpPr/>
          <p:nvPr/>
        </p:nvSpPr>
        <p:spPr>
          <a:xfrm>
            <a:off x="6353969" y="4845844"/>
            <a:ext cx="5357813" cy="595313"/>
          </a:xfrm>
          <a:custGeom>
            <a:avLst/>
            <a:gdLst/>
            <a:ahLst/>
            <a:cxnLst/>
            <a:rect l="l" t="t" r="r" b="b"/>
            <a:pathLst>
              <a:path w="5357813" h="595313">
                <a:moveTo>
                  <a:pt x="63502" y="0"/>
                </a:moveTo>
                <a:lnTo>
                  <a:pt x="5294311" y="0"/>
                </a:lnTo>
                <a:cubicBezTo>
                  <a:pt x="5329382" y="0"/>
                  <a:pt x="5357813" y="28431"/>
                  <a:pt x="5357813" y="63502"/>
                </a:cubicBezTo>
                <a:lnTo>
                  <a:pt x="5357813" y="531811"/>
                </a:lnTo>
                <a:cubicBezTo>
                  <a:pt x="5357813" y="566882"/>
                  <a:pt x="5329382" y="595312"/>
                  <a:pt x="5294311" y="595313"/>
                </a:cubicBezTo>
                <a:lnTo>
                  <a:pt x="63502" y="595313"/>
                </a:lnTo>
                <a:cubicBezTo>
                  <a:pt x="28431" y="595313"/>
                  <a:pt x="0" y="566882"/>
                  <a:pt x="0" y="531811"/>
                </a:cubicBezTo>
                <a:lnTo>
                  <a:pt x="0" y="63502"/>
                </a:lnTo>
                <a:cubicBezTo>
                  <a:pt x="0" y="28454"/>
                  <a:pt x="28454" y="0"/>
                  <a:pt x="63502" y="0"/>
                </a:cubicBezTo>
                <a:close/>
              </a:path>
            </a:pathLst>
          </a:custGeom>
          <a:solidFill>
            <a:srgbClr val="FFFFFF"/>
          </a:solidFill>
          <a:ln w="12700">
            <a:solidFill>
              <a:srgbClr val="8B0000">
                <a:alpha val="20000"/>
              </a:srgbClr>
            </a:solidFill>
            <a:prstDash val="solid"/>
          </a:ln>
        </p:spPr>
      </p:sp>
      <p:sp>
        <p:nvSpPr>
          <p:cNvPr id="26" name="Text 23"/>
          <p:cNvSpPr/>
          <p:nvPr/>
        </p:nvSpPr>
        <p:spPr>
          <a:xfrm>
            <a:off x="6453188" y="4945063"/>
            <a:ext cx="5222875"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Magnitude Stability</a:t>
            </a:r>
            <a:endParaRPr lang="en-US" sz="1600" dirty="0"/>
          </a:p>
        </p:txBody>
      </p:sp>
      <p:sp>
        <p:nvSpPr>
          <p:cNvPr id="27" name="Text 24"/>
          <p:cNvSpPr/>
          <p:nvPr/>
        </p:nvSpPr>
        <p:spPr>
          <a:xfrm>
            <a:off x="6453188" y="5167313"/>
            <a:ext cx="5214938" cy="174625"/>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Coefficients range from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0.0047 to 0.0062</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showing consistent economic significance across specifications.</a:t>
            </a:r>
            <a:endParaRPr lang="en-US" sz="1600" dirty="0"/>
          </a:p>
        </p:txBody>
      </p:sp>
      <p:sp>
        <p:nvSpPr>
          <p:cNvPr id="28" name="Shape 25"/>
          <p:cNvSpPr/>
          <p:nvPr/>
        </p:nvSpPr>
        <p:spPr>
          <a:xfrm>
            <a:off x="6353969" y="5544344"/>
            <a:ext cx="5357813" cy="595313"/>
          </a:xfrm>
          <a:custGeom>
            <a:avLst/>
            <a:gdLst/>
            <a:ahLst/>
            <a:cxnLst/>
            <a:rect l="l" t="t" r="r" b="b"/>
            <a:pathLst>
              <a:path w="5357813" h="595313">
                <a:moveTo>
                  <a:pt x="63502" y="0"/>
                </a:moveTo>
                <a:lnTo>
                  <a:pt x="5294311" y="0"/>
                </a:lnTo>
                <a:cubicBezTo>
                  <a:pt x="5329382" y="0"/>
                  <a:pt x="5357813" y="28431"/>
                  <a:pt x="5357813" y="63502"/>
                </a:cubicBezTo>
                <a:lnTo>
                  <a:pt x="5357813" y="531811"/>
                </a:lnTo>
                <a:cubicBezTo>
                  <a:pt x="5357813" y="566882"/>
                  <a:pt x="5329382" y="595312"/>
                  <a:pt x="5294311" y="595313"/>
                </a:cubicBezTo>
                <a:lnTo>
                  <a:pt x="63502" y="595313"/>
                </a:lnTo>
                <a:cubicBezTo>
                  <a:pt x="28431" y="595313"/>
                  <a:pt x="0" y="566882"/>
                  <a:pt x="0" y="531811"/>
                </a:cubicBezTo>
                <a:lnTo>
                  <a:pt x="0" y="63502"/>
                </a:lnTo>
                <a:cubicBezTo>
                  <a:pt x="0" y="28454"/>
                  <a:pt x="28454" y="0"/>
                  <a:pt x="63502" y="0"/>
                </a:cubicBezTo>
                <a:close/>
              </a:path>
            </a:pathLst>
          </a:custGeom>
          <a:solidFill>
            <a:srgbClr val="FFFFFF"/>
          </a:solidFill>
          <a:ln w="12700">
            <a:solidFill>
              <a:srgbClr val="8B0000">
                <a:alpha val="20000"/>
              </a:srgbClr>
            </a:solidFill>
            <a:prstDash val="solid"/>
          </a:ln>
        </p:spPr>
      </p:sp>
      <p:sp>
        <p:nvSpPr>
          <p:cNvPr id="29" name="Text 26"/>
          <p:cNvSpPr/>
          <p:nvPr/>
        </p:nvSpPr>
        <p:spPr>
          <a:xfrm>
            <a:off x="6453188" y="5643563"/>
            <a:ext cx="5222875"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Statistical Significance</a:t>
            </a:r>
            <a:endParaRPr lang="en-US" sz="1600" dirty="0"/>
          </a:p>
        </p:txBody>
      </p:sp>
      <p:sp>
        <p:nvSpPr>
          <p:cNvPr id="30" name="Text 27"/>
          <p:cNvSpPr/>
          <p:nvPr/>
        </p:nvSpPr>
        <p:spPr>
          <a:xfrm>
            <a:off x="6453188" y="5865813"/>
            <a:ext cx="5214938" cy="174625"/>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All specifications yield </a:t>
            </a:r>
            <a:r>
              <a:rPr lang="en-US" sz="875" b="1"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p &lt; 0.01</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confirming the reliability of the main finding.</a:t>
            </a:r>
            <a:endParaRPr lang="en-US" sz="1600" dirty="0"/>
          </a:p>
        </p:txBody>
      </p:sp>
      <p:sp>
        <p:nvSpPr>
          <p:cNvPr id="31" name="Shape 28"/>
          <p:cNvSpPr/>
          <p:nvPr/>
        </p:nvSpPr>
        <p:spPr>
          <a:xfrm>
            <a:off x="6353969" y="6242844"/>
            <a:ext cx="5357813" cy="595313"/>
          </a:xfrm>
          <a:custGeom>
            <a:avLst/>
            <a:gdLst/>
            <a:ahLst/>
            <a:cxnLst/>
            <a:rect l="l" t="t" r="r" b="b"/>
            <a:pathLst>
              <a:path w="5357813" h="595313">
                <a:moveTo>
                  <a:pt x="63502" y="0"/>
                </a:moveTo>
                <a:lnTo>
                  <a:pt x="5294311" y="0"/>
                </a:lnTo>
                <a:cubicBezTo>
                  <a:pt x="5329382" y="0"/>
                  <a:pt x="5357813" y="28431"/>
                  <a:pt x="5357813" y="63502"/>
                </a:cubicBezTo>
                <a:lnTo>
                  <a:pt x="5357813" y="531811"/>
                </a:lnTo>
                <a:cubicBezTo>
                  <a:pt x="5357813" y="566882"/>
                  <a:pt x="5329382" y="595312"/>
                  <a:pt x="5294311" y="595313"/>
                </a:cubicBezTo>
                <a:lnTo>
                  <a:pt x="63502" y="595313"/>
                </a:lnTo>
                <a:cubicBezTo>
                  <a:pt x="28431" y="595313"/>
                  <a:pt x="0" y="566882"/>
                  <a:pt x="0" y="531811"/>
                </a:cubicBezTo>
                <a:lnTo>
                  <a:pt x="0" y="63502"/>
                </a:lnTo>
                <a:cubicBezTo>
                  <a:pt x="0" y="28454"/>
                  <a:pt x="28454" y="0"/>
                  <a:pt x="63502" y="0"/>
                </a:cubicBezTo>
                <a:close/>
              </a:path>
            </a:pathLst>
          </a:custGeom>
          <a:solidFill>
            <a:srgbClr val="FFFFFF"/>
          </a:solidFill>
          <a:ln w="12700">
            <a:solidFill>
              <a:srgbClr val="8B0000">
                <a:alpha val="20000"/>
              </a:srgbClr>
            </a:solidFill>
            <a:prstDash val="solid"/>
          </a:ln>
        </p:spPr>
      </p:sp>
      <p:sp>
        <p:nvSpPr>
          <p:cNvPr id="32" name="Text 29"/>
          <p:cNvSpPr/>
          <p:nvPr/>
        </p:nvSpPr>
        <p:spPr>
          <a:xfrm>
            <a:off x="6453188" y="6342063"/>
            <a:ext cx="5222875"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Identification Strength</a:t>
            </a:r>
            <a:endParaRPr lang="en-US" sz="1600" dirty="0"/>
          </a:p>
        </p:txBody>
      </p:sp>
      <p:sp>
        <p:nvSpPr>
          <p:cNvPr id="33" name="Text 30"/>
          <p:cNvSpPr/>
          <p:nvPr/>
        </p:nvSpPr>
        <p:spPr>
          <a:xfrm>
            <a:off x="6453188" y="6564313"/>
            <a:ext cx="5214938" cy="174625"/>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Results are not driven by outlier treatment or measurement choices—</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causal interpretation is supported</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
            </a:r>
            <a:endParaRPr lang="en-US" sz="1600" dirty="0"/>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3701" y="373701"/>
            <a:ext cx="11519338" cy="224221"/>
          </a:xfrm>
          <a:prstGeom prst="rect">
            <a:avLst/>
          </a:prstGeom>
          <a:noFill/>
        </p:spPr>
        <p:txBody>
          <a:bodyPr wrap="square" lIns="0" tIns="0" rIns="0" bIns="0" rtlCol="0" anchor="ctr"/>
          <a:lstStyle/>
          <a:p>
            <a:pPr>
              <a:lnSpc>
                <a:spcPct val="130000"/>
              </a:lnSpc>
            </a:pPr>
            <a:r>
              <a:rPr lang="en-US" sz="1175" b="1" kern="0" spc="59"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5. EMPIRICAL RESULTS &amp; DISCUSSION</a:t>
            </a:r>
            <a:endParaRPr lang="en-US" sz="1600" dirty="0"/>
          </a:p>
        </p:txBody>
      </p:sp>
      <p:sp>
        <p:nvSpPr>
          <p:cNvPr id="3" name="Text 1"/>
          <p:cNvSpPr/>
          <p:nvPr/>
        </p:nvSpPr>
        <p:spPr>
          <a:xfrm>
            <a:off x="373701" y="672662"/>
            <a:ext cx="11612763" cy="373701"/>
          </a:xfrm>
          <a:prstGeom prst="rect">
            <a:avLst/>
          </a:prstGeom>
          <a:noFill/>
        </p:spPr>
        <p:txBody>
          <a:bodyPr wrap="square" lIns="0" tIns="0" rIns="0" bIns="0" rtlCol="0" anchor="ctr"/>
          <a:lstStyle/>
          <a:p>
            <a:pPr>
              <a:lnSpc>
                <a:spcPct val="90000"/>
              </a:lnSpc>
            </a:pPr>
            <a:r>
              <a:rPr lang="en-US" sz="26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Discussion and Interpretation</a:t>
            </a:r>
            <a:endParaRPr lang="en-US" sz="1600" dirty="0"/>
          </a:p>
        </p:txBody>
      </p:sp>
      <p:sp>
        <p:nvSpPr>
          <p:cNvPr id="4" name="Shape 2"/>
          <p:cNvSpPr/>
          <p:nvPr/>
        </p:nvSpPr>
        <p:spPr>
          <a:xfrm>
            <a:off x="373701" y="1158474"/>
            <a:ext cx="896883" cy="37370"/>
          </a:xfrm>
          <a:custGeom>
            <a:avLst/>
            <a:gdLst/>
            <a:ahLst/>
            <a:cxnLst/>
            <a:rect l="l" t="t" r="r" b="b"/>
            <a:pathLst>
              <a:path w="896883" h="37370">
                <a:moveTo>
                  <a:pt x="0" y="0"/>
                </a:moveTo>
                <a:lnTo>
                  <a:pt x="896883" y="0"/>
                </a:lnTo>
                <a:lnTo>
                  <a:pt x="896883" y="37370"/>
                </a:lnTo>
                <a:lnTo>
                  <a:pt x="0" y="37370"/>
                </a:lnTo>
                <a:lnTo>
                  <a:pt x="0" y="0"/>
                </a:lnTo>
                <a:close/>
              </a:path>
            </a:pathLst>
          </a:custGeom>
          <a:solidFill>
            <a:srgbClr val="8B0000"/>
          </a:solidFill>
        </p:spPr>
      </p:sp>
      <p:sp>
        <p:nvSpPr>
          <p:cNvPr id="5" name="Shape 3"/>
          <p:cNvSpPr/>
          <p:nvPr/>
        </p:nvSpPr>
        <p:spPr>
          <a:xfrm>
            <a:off x="373701" y="1345324"/>
            <a:ext cx="3690299" cy="4110713"/>
          </a:xfrm>
          <a:custGeom>
            <a:avLst/>
            <a:gdLst/>
            <a:ahLst/>
            <a:cxnLst/>
            <a:rect l="l" t="t" r="r" b="b"/>
            <a:pathLst>
              <a:path w="3690299" h="4110713">
                <a:moveTo>
                  <a:pt x="74729" y="0"/>
                </a:moveTo>
                <a:lnTo>
                  <a:pt x="3615570" y="0"/>
                </a:lnTo>
                <a:cubicBezTo>
                  <a:pt x="3656842" y="0"/>
                  <a:pt x="3690299" y="33457"/>
                  <a:pt x="3690299" y="74729"/>
                </a:cubicBezTo>
                <a:lnTo>
                  <a:pt x="3690299" y="4035984"/>
                </a:lnTo>
                <a:cubicBezTo>
                  <a:pt x="3690299" y="4077256"/>
                  <a:pt x="3656842" y="4110713"/>
                  <a:pt x="3615570" y="4110713"/>
                </a:cubicBezTo>
                <a:lnTo>
                  <a:pt x="74729" y="4110713"/>
                </a:lnTo>
                <a:cubicBezTo>
                  <a:pt x="33457" y="4110713"/>
                  <a:pt x="0" y="4077256"/>
                  <a:pt x="0" y="4035984"/>
                </a:cubicBezTo>
                <a:lnTo>
                  <a:pt x="0" y="74729"/>
                </a:lnTo>
                <a:cubicBezTo>
                  <a:pt x="0" y="33457"/>
                  <a:pt x="33457" y="0"/>
                  <a:pt x="74729" y="0"/>
                </a:cubicBezTo>
                <a:close/>
              </a:path>
            </a:pathLst>
          </a:custGeom>
          <a:solidFill>
            <a:srgbClr val="8B0000"/>
          </a:solidFill>
        </p:spPr>
      </p:sp>
      <p:sp>
        <p:nvSpPr>
          <p:cNvPr id="6" name="Shape 4"/>
          <p:cNvSpPr/>
          <p:nvPr/>
        </p:nvSpPr>
        <p:spPr>
          <a:xfrm>
            <a:off x="583908" y="1569545"/>
            <a:ext cx="186851" cy="186851"/>
          </a:xfrm>
          <a:custGeom>
            <a:avLst/>
            <a:gdLst/>
            <a:ahLst/>
            <a:cxnLst/>
            <a:rect l="l" t="t" r="r" b="b"/>
            <a:pathLst>
              <a:path w="186851" h="186851">
                <a:moveTo>
                  <a:pt x="93425" y="186851"/>
                </a:moveTo>
                <a:cubicBezTo>
                  <a:pt x="144988" y="186851"/>
                  <a:pt x="186851" y="144988"/>
                  <a:pt x="186851" y="93425"/>
                </a:cubicBezTo>
                <a:cubicBezTo>
                  <a:pt x="186851" y="41862"/>
                  <a:pt x="144988" y="0"/>
                  <a:pt x="93425" y="0"/>
                </a:cubicBezTo>
                <a:cubicBezTo>
                  <a:pt x="41862" y="0"/>
                  <a:pt x="0" y="41862"/>
                  <a:pt x="0" y="93425"/>
                </a:cubicBezTo>
                <a:cubicBezTo>
                  <a:pt x="0" y="144988"/>
                  <a:pt x="41862" y="186851"/>
                  <a:pt x="93425" y="186851"/>
                </a:cubicBezTo>
                <a:close/>
                <a:moveTo>
                  <a:pt x="124226" y="77623"/>
                </a:moveTo>
                <a:lnTo>
                  <a:pt x="95031" y="124336"/>
                </a:lnTo>
                <a:cubicBezTo>
                  <a:pt x="93498" y="126781"/>
                  <a:pt x="90871" y="128314"/>
                  <a:pt x="87988" y="128460"/>
                </a:cubicBezTo>
                <a:cubicBezTo>
                  <a:pt x="85105" y="128606"/>
                  <a:pt x="82331" y="127292"/>
                  <a:pt x="80616" y="124956"/>
                </a:cubicBezTo>
                <a:lnTo>
                  <a:pt x="63099" y="101600"/>
                </a:lnTo>
                <a:cubicBezTo>
                  <a:pt x="60179" y="97732"/>
                  <a:pt x="60982" y="92257"/>
                  <a:pt x="64850" y="89338"/>
                </a:cubicBezTo>
                <a:cubicBezTo>
                  <a:pt x="68719" y="86418"/>
                  <a:pt x="74193" y="87221"/>
                  <a:pt x="77112" y="91090"/>
                </a:cubicBezTo>
                <a:lnTo>
                  <a:pt x="86966" y="104228"/>
                </a:lnTo>
                <a:lnTo>
                  <a:pt x="109373" y="68354"/>
                </a:lnTo>
                <a:cubicBezTo>
                  <a:pt x="111928" y="64266"/>
                  <a:pt x="117329" y="62989"/>
                  <a:pt x="121453" y="65580"/>
                </a:cubicBezTo>
                <a:cubicBezTo>
                  <a:pt x="125577" y="68171"/>
                  <a:pt x="126818" y="73536"/>
                  <a:pt x="124226" y="77660"/>
                </a:cubicBezTo>
                <a:close/>
              </a:path>
            </a:pathLst>
          </a:custGeom>
          <a:solidFill>
            <a:srgbClr val="FFFFFF"/>
          </a:solidFill>
        </p:spPr>
      </p:sp>
      <p:sp>
        <p:nvSpPr>
          <p:cNvPr id="7" name="Text 5"/>
          <p:cNvSpPr/>
          <p:nvPr/>
        </p:nvSpPr>
        <p:spPr>
          <a:xfrm>
            <a:off x="794115" y="1532175"/>
            <a:ext cx="3176460" cy="261591"/>
          </a:xfrm>
          <a:prstGeom prst="rect">
            <a:avLst/>
          </a:prstGeom>
          <a:noFill/>
        </p:spPr>
        <p:txBody>
          <a:bodyPr wrap="square" lIns="0" tIns="0" rIns="0" bIns="0" rtlCol="0" anchor="ctr"/>
          <a:lstStyle/>
          <a:p>
            <a:pPr>
              <a:lnSpc>
                <a:spcPct val="120000"/>
              </a:lnSpc>
            </a:pPr>
            <a:r>
              <a:rPr lang="en-US" sz="147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H1: Strong Support</a:t>
            </a:r>
            <a:endParaRPr lang="en-US" sz="1600" dirty="0"/>
          </a:p>
        </p:txBody>
      </p:sp>
      <p:sp>
        <p:nvSpPr>
          <p:cNvPr id="8" name="Text 6"/>
          <p:cNvSpPr/>
          <p:nvPr/>
        </p:nvSpPr>
        <p:spPr>
          <a:xfrm>
            <a:off x="560552" y="1905876"/>
            <a:ext cx="3391338" cy="485811"/>
          </a:xfrm>
          <a:prstGeom prst="rect">
            <a:avLst/>
          </a:prstGeom>
          <a:noFill/>
        </p:spPr>
        <p:txBody>
          <a:bodyPr wrap="square" lIns="0" tIns="0" rIns="0" bIns="0" rtlCol="0" anchor="ctr"/>
          <a:lstStyle/>
          <a:p>
            <a:pPr>
              <a:lnSpc>
                <a:spcPct val="140000"/>
              </a:lnSpc>
            </a:pPr>
            <a:r>
              <a:rPr lang="en-US" sz="1175"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Finding:</a:t>
            </a:r>
            <a:r>
              <a:rPr lang="en-US" sz="1175"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ChatGPT shock significantly increased capital inflows to AI-exposed funds.</a:t>
            </a:r>
            <a:endParaRPr lang="en-US" sz="1600" dirty="0"/>
          </a:p>
        </p:txBody>
      </p:sp>
      <p:sp>
        <p:nvSpPr>
          <p:cNvPr id="9" name="Shape 7"/>
          <p:cNvSpPr/>
          <p:nvPr/>
        </p:nvSpPr>
        <p:spPr>
          <a:xfrm>
            <a:off x="560552" y="2503798"/>
            <a:ext cx="3316598" cy="429756"/>
          </a:xfrm>
          <a:custGeom>
            <a:avLst/>
            <a:gdLst/>
            <a:ahLst/>
            <a:cxnLst/>
            <a:rect l="l" t="t" r="r" b="b"/>
            <a:pathLst>
              <a:path w="3316598" h="429756">
                <a:moveTo>
                  <a:pt x="74739" y="0"/>
                </a:moveTo>
                <a:lnTo>
                  <a:pt x="3241859" y="0"/>
                </a:lnTo>
                <a:cubicBezTo>
                  <a:pt x="3283136" y="0"/>
                  <a:pt x="3316598" y="33462"/>
                  <a:pt x="3316598" y="74739"/>
                </a:cubicBezTo>
                <a:lnTo>
                  <a:pt x="3316598" y="355017"/>
                </a:lnTo>
                <a:cubicBezTo>
                  <a:pt x="3316598" y="396267"/>
                  <a:pt x="3283108" y="429756"/>
                  <a:pt x="3241859" y="429756"/>
                </a:cubicBezTo>
                <a:lnTo>
                  <a:pt x="74739" y="429756"/>
                </a:lnTo>
                <a:cubicBezTo>
                  <a:pt x="33462" y="429756"/>
                  <a:pt x="0" y="396295"/>
                  <a:pt x="0" y="355017"/>
                </a:cubicBezTo>
                <a:lnTo>
                  <a:pt x="0" y="74739"/>
                </a:lnTo>
                <a:cubicBezTo>
                  <a:pt x="0" y="33489"/>
                  <a:pt x="33489" y="0"/>
                  <a:pt x="74739" y="0"/>
                </a:cubicBezTo>
                <a:close/>
              </a:path>
            </a:pathLst>
          </a:custGeom>
          <a:solidFill>
            <a:srgbClr val="FFFFFF">
              <a:alpha val="10196"/>
            </a:srgbClr>
          </a:solidFill>
        </p:spPr>
      </p:sp>
      <p:sp>
        <p:nvSpPr>
          <p:cNvPr id="10" name="Text 8"/>
          <p:cNvSpPr/>
          <p:nvPr/>
        </p:nvSpPr>
        <p:spPr>
          <a:xfrm>
            <a:off x="672662" y="2615908"/>
            <a:ext cx="3157775" cy="205536"/>
          </a:xfrm>
          <a:prstGeom prst="rect">
            <a:avLst/>
          </a:prstGeom>
          <a:noFill/>
        </p:spPr>
        <p:txBody>
          <a:bodyPr wrap="square" lIns="0" tIns="0" rIns="0" bIns="0" rtlCol="0" anchor="ctr"/>
          <a:lstStyle/>
          <a:p>
            <a:pPr>
              <a:lnSpc>
                <a:spcPct val="140000"/>
              </a:lnSpc>
            </a:pPr>
            <a:r>
              <a:rPr lang="en-US" sz="1030" b="1"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Coefficient:</a:t>
            </a:r>
            <a:r>
              <a:rPr lang="en-US" sz="1030" dirty="0">
                <a:solidFill>
                  <a:srgbClr val="FFFFFF"/>
                </a:solidFill>
                <a:latin typeface="Sorts Mill Goudy" panose="02000503000000000000" pitchFamily="34" charset="0"/>
                <a:ea typeface="Sorts Mill Goudy" panose="02000503000000000000" pitchFamily="34" charset="-122"/>
                <a:cs typeface="Sorts Mill Goudy" panose="02000503000000000000" pitchFamily="34" charset="-120"/>
              </a:rPr>
              <a:t> 0.0053*** (Panel FE)</a:t>
            </a:r>
            <a:endParaRPr lang="en-US" sz="1600" dirty="0"/>
          </a:p>
        </p:txBody>
      </p:sp>
      <p:sp>
        <p:nvSpPr>
          <p:cNvPr id="11" name="Text 9"/>
          <p:cNvSpPr/>
          <p:nvPr/>
        </p:nvSpPr>
        <p:spPr>
          <a:xfrm>
            <a:off x="560552" y="3045664"/>
            <a:ext cx="3381995" cy="822143"/>
          </a:xfrm>
          <a:prstGeom prst="rect">
            <a:avLst/>
          </a:prstGeom>
          <a:noFill/>
        </p:spPr>
        <p:txBody>
          <a:bodyPr wrap="square" lIns="0" tIns="0" rIns="0" bIns="0" rtlCol="0" anchor="ctr"/>
          <a:lstStyle/>
          <a:p>
            <a:pPr>
              <a:lnSpc>
                <a:spcPct val="140000"/>
              </a:lnSpc>
            </a:pPr>
            <a:r>
              <a:rPr lang="en-US" sz="1030" b="1"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Interpretation:</a:t>
            </a:r>
            <a:r>
              <a:rPr lang="en-US" sz="103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 Consistent with </a:t>
            </a:r>
            <a:r>
              <a:rPr lang="en-US" sz="1030" b="1"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attention-driven capital allocation theory</a:t>
            </a:r>
            <a:r>
              <a:rPr lang="en-US" sz="1030" dirty="0">
                <a:solidFill>
                  <a:srgbClr val="FFFFFF">
                    <a:alpha val="90000"/>
                  </a:srgbClr>
                </a:solidFill>
                <a:latin typeface="Sorts Mill Goudy" panose="02000503000000000000" pitchFamily="34" charset="0"/>
                <a:ea typeface="Sorts Mill Goudy" panose="02000503000000000000" pitchFamily="34" charset="-122"/>
                <a:cs typeface="Sorts Mill Goudy" panose="02000503000000000000" pitchFamily="34" charset="-120"/>
              </a:rPr>
              <a:t> (Barber &amp; Odean, 2008). The AI narrative created a demand shock that favored pre-exposed funds, independent of fundamental value changes.</a:t>
            </a:r>
            <a:endParaRPr lang="en-US" sz="1600" dirty="0"/>
          </a:p>
        </p:txBody>
      </p:sp>
      <p:sp>
        <p:nvSpPr>
          <p:cNvPr id="12" name="Shape 10"/>
          <p:cNvSpPr/>
          <p:nvPr/>
        </p:nvSpPr>
        <p:spPr>
          <a:xfrm>
            <a:off x="392386" y="5605517"/>
            <a:ext cx="3671614" cy="1251899"/>
          </a:xfrm>
          <a:custGeom>
            <a:avLst/>
            <a:gdLst/>
            <a:ahLst/>
            <a:cxnLst/>
            <a:rect l="l" t="t" r="r" b="b"/>
            <a:pathLst>
              <a:path w="3671614" h="1251899">
                <a:moveTo>
                  <a:pt x="37370" y="0"/>
                </a:moveTo>
                <a:lnTo>
                  <a:pt x="3596875" y="0"/>
                </a:lnTo>
                <a:cubicBezTo>
                  <a:pt x="3638152" y="0"/>
                  <a:pt x="3671614" y="33462"/>
                  <a:pt x="3671614" y="74738"/>
                </a:cubicBezTo>
                <a:lnTo>
                  <a:pt x="3671614" y="1177160"/>
                </a:lnTo>
                <a:cubicBezTo>
                  <a:pt x="3671614" y="1218437"/>
                  <a:pt x="3638152" y="1251899"/>
                  <a:pt x="3596875" y="1251899"/>
                </a:cubicBezTo>
                <a:lnTo>
                  <a:pt x="37370" y="1251899"/>
                </a:lnTo>
                <a:cubicBezTo>
                  <a:pt x="16731" y="1251899"/>
                  <a:pt x="0" y="1235168"/>
                  <a:pt x="0" y="1214529"/>
                </a:cubicBezTo>
                <a:lnTo>
                  <a:pt x="0" y="37370"/>
                </a:lnTo>
                <a:cubicBezTo>
                  <a:pt x="0" y="16745"/>
                  <a:pt x="16745" y="0"/>
                  <a:pt x="37370" y="0"/>
                </a:cubicBezTo>
                <a:close/>
              </a:path>
            </a:pathLst>
          </a:custGeom>
          <a:solidFill>
            <a:srgbClr val="F9FAFB"/>
          </a:solidFill>
        </p:spPr>
      </p:sp>
      <p:sp>
        <p:nvSpPr>
          <p:cNvPr id="13" name="Shape 11"/>
          <p:cNvSpPr/>
          <p:nvPr/>
        </p:nvSpPr>
        <p:spPr>
          <a:xfrm>
            <a:off x="392386" y="5605517"/>
            <a:ext cx="37370" cy="1251899"/>
          </a:xfrm>
          <a:custGeom>
            <a:avLst/>
            <a:gdLst/>
            <a:ahLst/>
            <a:cxnLst/>
            <a:rect l="l" t="t" r="r" b="b"/>
            <a:pathLst>
              <a:path w="37370" h="1251899">
                <a:moveTo>
                  <a:pt x="37370" y="0"/>
                </a:moveTo>
                <a:lnTo>
                  <a:pt x="37370" y="0"/>
                </a:lnTo>
                <a:lnTo>
                  <a:pt x="37370" y="1251899"/>
                </a:lnTo>
                <a:lnTo>
                  <a:pt x="37370" y="1251899"/>
                </a:lnTo>
                <a:cubicBezTo>
                  <a:pt x="16731" y="1251899"/>
                  <a:pt x="0" y="1235168"/>
                  <a:pt x="0" y="1214529"/>
                </a:cubicBezTo>
                <a:lnTo>
                  <a:pt x="0" y="37370"/>
                </a:lnTo>
                <a:cubicBezTo>
                  <a:pt x="0" y="16745"/>
                  <a:pt x="16745" y="0"/>
                  <a:pt x="37370" y="0"/>
                </a:cubicBezTo>
                <a:close/>
              </a:path>
            </a:pathLst>
          </a:custGeom>
          <a:solidFill>
            <a:srgbClr val="8B0000"/>
          </a:solidFill>
        </p:spPr>
      </p:sp>
      <p:sp>
        <p:nvSpPr>
          <p:cNvPr id="14" name="Shape 12"/>
          <p:cNvSpPr/>
          <p:nvPr/>
        </p:nvSpPr>
        <p:spPr>
          <a:xfrm>
            <a:off x="583908" y="5801710"/>
            <a:ext cx="168166" cy="168166"/>
          </a:xfrm>
          <a:custGeom>
            <a:avLst/>
            <a:gdLst/>
            <a:ahLst/>
            <a:cxnLst/>
            <a:rect l="l" t="t" r="r" b="b"/>
            <a:pathLst>
              <a:path w="168166" h="168166">
                <a:moveTo>
                  <a:pt x="84083" y="168166"/>
                </a:moveTo>
                <a:cubicBezTo>
                  <a:pt x="130489" y="168166"/>
                  <a:pt x="168166" y="130489"/>
                  <a:pt x="168166" y="84083"/>
                </a:cubicBezTo>
                <a:cubicBezTo>
                  <a:pt x="168166" y="37676"/>
                  <a:pt x="130489" y="0"/>
                  <a:pt x="84083" y="0"/>
                </a:cubicBezTo>
                <a:cubicBezTo>
                  <a:pt x="37676" y="0"/>
                  <a:pt x="0" y="37676"/>
                  <a:pt x="0" y="84083"/>
                </a:cubicBezTo>
                <a:cubicBezTo>
                  <a:pt x="0" y="130489"/>
                  <a:pt x="37676" y="168166"/>
                  <a:pt x="84083" y="168166"/>
                </a:cubicBezTo>
                <a:close/>
                <a:moveTo>
                  <a:pt x="84083" y="57807"/>
                </a:moveTo>
                <a:cubicBezTo>
                  <a:pt x="78269" y="57807"/>
                  <a:pt x="73572" y="62504"/>
                  <a:pt x="73572" y="68317"/>
                </a:cubicBezTo>
                <a:cubicBezTo>
                  <a:pt x="73572" y="72686"/>
                  <a:pt x="70058" y="76200"/>
                  <a:pt x="65690" y="76200"/>
                </a:cubicBezTo>
                <a:cubicBezTo>
                  <a:pt x="61321" y="76200"/>
                  <a:pt x="57807" y="72686"/>
                  <a:pt x="57807" y="68317"/>
                </a:cubicBezTo>
                <a:cubicBezTo>
                  <a:pt x="57807" y="53800"/>
                  <a:pt x="69565" y="42041"/>
                  <a:pt x="84083" y="42041"/>
                </a:cubicBezTo>
                <a:cubicBezTo>
                  <a:pt x="98600" y="42041"/>
                  <a:pt x="110359" y="53800"/>
                  <a:pt x="110359" y="68317"/>
                </a:cubicBezTo>
                <a:cubicBezTo>
                  <a:pt x="110359" y="83820"/>
                  <a:pt x="98534" y="90389"/>
                  <a:pt x="91966" y="92787"/>
                </a:cubicBezTo>
                <a:lnTo>
                  <a:pt x="91966" y="94035"/>
                </a:lnTo>
                <a:cubicBezTo>
                  <a:pt x="91966" y="98403"/>
                  <a:pt x="88451" y="101918"/>
                  <a:pt x="84083" y="101918"/>
                </a:cubicBezTo>
                <a:cubicBezTo>
                  <a:pt x="79714" y="101918"/>
                  <a:pt x="76200" y="98403"/>
                  <a:pt x="76200" y="94035"/>
                </a:cubicBezTo>
                <a:lnTo>
                  <a:pt x="76200" y="91374"/>
                </a:lnTo>
                <a:cubicBezTo>
                  <a:pt x="76200" y="84641"/>
                  <a:pt x="81061" y="79813"/>
                  <a:pt x="86086" y="78171"/>
                </a:cubicBezTo>
                <a:cubicBezTo>
                  <a:pt x="88188" y="77481"/>
                  <a:pt x="90422" y="76364"/>
                  <a:pt x="92064" y="74788"/>
                </a:cubicBezTo>
                <a:cubicBezTo>
                  <a:pt x="93476" y="73408"/>
                  <a:pt x="94593" y="71503"/>
                  <a:pt x="94593" y="68350"/>
                </a:cubicBezTo>
                <a:cubicBezTo>
                  <a:pt x="94593" y="62537"/>
                  <a:pt x="89896" y="57840"/>
                  <a:pt x="84083" y="57840"/>
                </a:cubicBezTo>
                <a:close/>
                <a:moveTo>
                  <a:pt x="73572" y="120869"/>
                </a:moveTo>
                <a:cubicBezTo>
                  <a:pt x="73572" y="115068"/>
                  <a:pt x="78282" y="110359"/>
                  <a:pt x="84083" y="110359"/>
                </a:cubicBezTo>
                <a:cubicBezTo>
                  <a:pt x="89884" y="110359"/>
                  <a:pt x="94593" y="115068"/>
                  <a:pt x="94593" y="120869"/>
                </a:cubicBezTo>
                <a:cubicBezTo>
                  <a:pt x="94593" y="126670"/>
                  <a:pt x="89884" y="131379"/>
                  <a:pt x="84083" y="131379"/>
                </a:cubicBezTo>
                <a:cubicBezTo>
                  <a:pt x="78282" y="131379"/>
                  <a:pt x="73572" y="126670"/>
                  <a:pt x="73572" y="120869"/>
                </a:cubicBezTo>
                <a:close/>
              </a:path>
            </a:pathLst>
          </a:custGeom>
          <a:solidFill>
            <a:srgbClr val="8B0000"/>
          </a:solidFill>
        </p:spPr>
      </p:sp>
      <p:sp>
        <p:nvSpPr>
          <p:cNvPr id="15" name="Text 13"/>
          <p:cNvSpPr/>
          <p:nvPr/>
        </p:nvSpPr>
        <p:spPr>
          <a:xfrm>
            <a:off x="775430" y="5754998"/>
            <a:ext cx="3223172" cy="261591"/>
          </a:xfrm>
          <a:prstGeom prst="rect">
            <a:avLst/>
          </a:prstGeom>
          <a:noFill/>
        </p:spPr>
        <p:txBody>
          <a:bodyPr wrap="square" lIns="0" tIns="0" rIns="0" bIns="0" rtlCol="0" anchor="ctr"/>
          <a:lstStyle/>
          <a:p>
            <a:pPr>
              <a:lnSpc>
                <a:spcPct val="130000"/>
              </a:lnSpc>
            </a:pPr>
            <a:r>
              <a:rPr lang="en-US" sz="13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Theoretical Alignment</a:t>
            </a:r>
            <a:endParaRPr lang="en-US" sz="1600" dirty="0"/>
          </a:p>
        </p:txBody>
      </p:sp>
      <p:sp>
        <p:nvSpPr>
          <p:cNvPr id="16" name="Text 14"/>
          <p:cNvSpPr/>
          <p:nvPr/>
        </p:nvSpPr>
        <p:spPr>
          <a:xfrm>
            <a:off x="560552" y="6091329"/>
            <a:ext cx="3419366" cy="616607"/>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Results align with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Kaniel et al. (2007)</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Cabrera (2017)</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investor attention shifts trigger capital reallocation across asset classes.</a:t>
            </a:r>
            <a:endParaRPr lang="en-US" sz="1600" dirty="0"/>
          </a:p>
        </p:txBody>
      </p:sp>
      <p:sp>
        <p:nvSpPr>
          <p:cNvPr id="17" name="Shape 15"/>
          <p:cNvSpPr/>
          <p:nvPr/>
        </p:nvSpPr>
        <p:spPr>
          <a:xfrm>
            <a:off x="4250413" y="1364009"/>
            <a:ext cx="3690299" cy="4092028"/>
          </a:xfrm>
          <a:custGeom>
            <a:avLst/>
            <a:gdLst/>
            <a:ahLst/>
            <a:cxnLst/>
            <a:rect l="l" t="t" r="r" b="b"/>
            <a:pathLst>
              <a:path w="3690299" h="4092028">
                <a:moveTo>
                  <a:pt x="37370" y="0"/>
                </a:moveTo>
                <a:lnTo>
                  <a:pt x="3652929" y="0"/>
                </a:lnTo>
                <a:cubicBezTo>
                  <a:pt x="3673568" y="0"/>
                  <a:pt x="3690299" y="16731"/>
                  <a:pt x="3690299" y="37370"/>
                </a:cubicBezTo>
                <a:lnTo>
                  <a:pt x="3690299" y="4017299"/>
                </a:lnTo>
                <a:cubicBezTo>
                  <a:pt x="3690299" y="4058570"/>
                  <a:pt x="3656842" y="4092028"/>
                  <a:pt x="3615570" y="4092028"/>
                </a:cubicBezTo>
                <a:lnTo>
                  <a:pt x="74729" y="4092028"/>
                </a:lnTo>
                <a:cubicBezTo>
                  <a:pt x="33457" y="4092028"/>
                  <a:pt x="0" y="4058570"/>
                  <a:pt x="0" y="4017299"/>
                </a:cubicBezTo>
                <a:lnTo>
                  <a:pt x="0" y="37370"/>
                </a:lnTo>
                <a:cubicBezTo>
                  <a:pt x="0" y="16745"/>
                  <a:pt x="16745" y="0"/>
                  <a:pt x="37370" y="0"/>
                </a:cubicBezTo>
                <a:close/>
              </a:path>
            </a:pathLst>
          </a:custGeom>
          <a:solidFill>
            <a:srgbClr val="F9FAFB"/>
          </a:solidFill>
        </p:spPr>
      </p:sp>
      <p:sp>
        <p:nvSpPr>
          <p:cNvPr id="18" name="Shape 16"/>
          <p:cNvSpPr/>
          <p:nvPr/>
        </p:nvSpPr>
        <p:spPr>
          <a:xfrm>
            <a:off x="4250413" y="1364009"/>
            <a:ext cx="3690299" cy="37370"/>
          </a:xfrm>
          <a:custGeom>
            <a:avLst/>
            <a:gdLst/>
            <a:ahLst/>
            <a:cxnLst/>
            <a:rect l="l" t="t" r="r" b="b"/>
            <a:pathLst>
              <a:path w="3690299" h="37370">
                <a:moveTo>
                  <a:pt x="37370" y="0"/>
                </a:moveTo>
                <a:lnTo>
                  <a:pt x="3652929" y="0"/>
                </a:lnTo>
                <a:cubicBezTo>
                  <a:pt x="3673568" y="0"/>
                  <a:pt x="3690299" y="16731"/>
                  <a:pt x="3690299" y="37370"/>
                </a:cubicBezTo>
                <a:lnTo>
                  <a:pt x="3690299" y="37370"/>
                </a:lnTo>
                <a:lnTo>
                  <a:pt x="0" y="37370"/>
                </a:lnTo>
                <a:lnTo>
                  <a:pt x="0" y="37370"/>
                </a:lnTo>
                <a:cubicBezTo>
                  <a:pt x="0" y="16745"/>
                  <a:pt x="16745" y="0"/>
                  <a:pt x="37370" y="0"/>
                </a:cubicBezTo>
                <a:close/>
              </a:path>
            </a:pathLst>
          </a:custGeom>
          <a:solidFill>
            <a:srgbClr val="8B0000"/>
          </a:solidFill>
        </p:spPr>
      </p:sp>
      <p:sp>
        <p:nvSpPr>
          <p:cNvPr id="19" name="Shape 17"/>
          <p:cNvSpPr/>
          <p:nvPr/>
        </p:nvSpPr>
        <p:spPr>
          <a:xfrm>
            <a:off x="4460620" y="1606915"/>
            <a:ext cx="186851" cy="186851"/>
          </a:xfrm>
          <a:custGeom>
            <a:avLst/>
            <a:gdLst/>
            <a:ahLst/>
            <a:cxnLst/>
            <a:rect l="l" t="t" r="r" b="b"/>
            <a:pathLst>
              <a:path w="186851" h="186851">
                <a:moveTo>
                  <a:pt x="93425" y="0"/>
                </a:moveTo>
                <a:cubicBezTo>
                  <a:pt x="98790" y="0"/>
                  <a:pt x="103717" y="2956"/>
                  <a:pt x="106271" y="7664"/>
                </a:cubicBezTo>
                <a:lnTo>
                  <a:pt x="185099" y="153641"/>
                </a:lnTo>
                <a:cubicBezTo>
                  <a:pt x="187544" y="158166"/>
                  <a:pt x="187434" y="163640"/>
                  <a:pt x="184807" y="168056"/>
                </a:cubicBezTo>
                <a:cubicBezTo>
                  <a:pt x="182179" y="172472"/>
                  <a:pt x="177399" y="175172"/>
                  <a:pt x="172253" y="175172"/>
                </a:cubicBezTo>
                <a:lnTo>
                  <a:pt x="14598" y="175172"/>
                </a:lnTo>
                <a:cubicBezTo>
                  <a:pt x="9452" y="175172"/>
                  <a:pt x="4708" y="172472"/>
                  <a:pt x="2044" y="168056"/>
                </a:cubicBezTo>
                <a:cubicBezTo>
                  <a:pt x="-620" y="163640"/>
                  <a:pt x="-693" y="158166"/>
                  <a:pt x="1752" y="153641"/>
                </a:cubicBezTo>
                <a:lnTo>
                  <a:pt x="80579" y="7664"/>
                </a:lnTo>
                <a:cubicBezTo>
                  <a:pt x="83134" y="2956"/>
                  <a:pt x="88061" y="0"/>
                  <a:pt x="93425" y="0"/>
                </a:cubicBezTo>
                <a:close/>
                <a:moveTo>
                  <a:pt x="93425" y="61310"/>
                </a:moveTo>
                <a:cubicBezTo>
                  <a:pt x="88572" y="61310"/>
                  <a:pt x="84667" y="65215"/>
                  <a:pt x="84667" y="70069"/>
                </a:cubicBezTo>
                <a:lnTo>
                  <a:pt x="84667" y="110943"/>
                </a:lnTo>
                <a:cubicBezTo>
                  <a:pt x="84667" y="115796"/>
                  <a:pt x="88572" y="119701"/>
                  <a:pt x="93425" y="119701"/>
                </a:cubicBezTo>
                <a:cubicBezTo>
                  <a:pt x="98279" y="119701"/>
                  <a:pt x="102184" y="115796"/>
                  <a:pt x="102184" y="110943"/>
                </a:cubicBezTo>
                <a:lnTo>
                  <a:pt x="102184" y="70069"/>
                </a:lnTo>
                <a:cubicBezTo>
                  <a:pt x="102184" y="65215"/>
                  <a:pt x="98279" y="61310"/>
                  <a:pt x="93425" y="61310"/>
                </a:cubicBezTo>
                <a:close/>
                <a:moveTo>
                  <a:pt x="103169" y="140138"/>
                </a:moveTo>
                <a:cubicBezTo>
                  <a:pt x="103391" y="136521"/>
                  <a:pt x="101587" y="133080"/>
                  <a:pt x="98487" y="131205"/>
                </a:cubicBezTo>
                <a:cubicBezTo>
                  <a:pt x="95386" y="129329"/>
                  <a:pt x="91501" y="129329"/>
                  <a:pt x="88400" y="131205"/>
                </a:cubicBezTo>
                <a:cubicBezTo>
                  <a:pt x="85300" y="133080"/>
                  <a:pt x="83496" y="136521"/>
                  <a:pt x="83718" y="140138"/>
                </a:cubicBezTo>
                <a:cubicBezTo>
                  <a:pt x="83496" y="143755"/>
                  <a:pt x="85300" y="147196"/>
                  <a:pt x="88400" y="149071"/>
                </a:cubicBezTo>
                <a:cubicBezTo>
                  <a:pt x="91501" y="150947"/>
                  <a:pt x="95386" y="150947"/>
                  <a:pt x="98487" y="149071"/>
                </a:cubicBezTo>
                <a:cubicBezTo>
                  <a:pt x="101587" y="147196"/>
                  <a:pt x="103391" y="143755"/>
                  <a:pt x="103169" y="140138"/>
                </a:cubicBezTo>
                <a:close/>
              </a:path>
            </a:pathLst>
          </a:custGeom>
          <a:solidFill>
            <a:srgbClr val="8B0000"/>
          </a:solidFill>
        </p:spPr>
      </p:sp>
      <p:sp>
        <p:nvSpPr>
          <p:cNvPr id="20" name="Text 18"/>
          <p:cNvSpPr/>
          <p:nvPr/>
        </p:nvSpPr>
        <p:spPr>
          <a:xfrm>
            <a:off x="4670826" y="1569545"/>
            <a:ext cx="3176460" cy="261591"/>
          </a:xfrm>
          <a:prstGeom prst="rect">
            <a:avLst/>
          </a:prstGeom>
          <a:noFill/>
        </p:spPr>
        <p:txBody>
          <a:bodyPr wrap="square" lIns="0" tIns="0" rIns="0" bIns="0" rtlCol="0" anchor="ctr"/>
          <a:lstStyle/>
          <a:p>
            <a:pPr>
              <a:lnSpc>
                <a:spcPct val="120000"/>
              </a:lnSpc>
            </a:pPr>
            <a:r>
              <a:rPr lang="en-US" sz="14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H2: Limited Support</a:t>
            </a:r>
            <a:endParaRPr lang="en-US" sz="1600" dirty="0"/>
          </a:p>
        </p:txBody>
      </p:sp>
      <p:sp>
        <p:nvSpPr>
          <p:cNvPr id="21" name="Text 19"/>
          <p:cNvSpPr/>
          <p:nvPr/>
        </p:nvSpPr>
        <p:spPr>
          <a:xfrm>
            <a:off x="4437263" y="1943246"/>
            <a:ext cx="3391338" cy="485811"/>
          </a:xfrm>
          <a:prstGeom prst="rect">
            <a:avLst/>
          </a:prstGeom>
          <a:noFill/>
        </p:spPr>
        <p:txBody>
          <a:bodyPr wrap="square" lIns="0" tIns="0" rIns="0" bIns="0" rtlCol="0" anchor="ctr"/>
          <a:lstStyle/>
          <a:p>
            <a:pPr>
              <a:lnSpc>
                <a:spcPct val="14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Finding:</a:t>
            </a:r>
            <a:r>
              <a:rPr lang="en-US" sz="117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Performance contingency is weak and directionally opposite to expectation.</a:t>
            </a:r>
            <a:endParaRPr lang="en-US" sz="1600" dirty="0"/>
          </a:p>
        </p:txBody>
      </p:sp>
      <p:sp>
        <p:nvSpPr>
          <p:cNvPr id="22" name="Shape 20"/>
          <p:cNvSpPr/>
          <p:nvPr/>
        </p:nvSpPr>
        <p:spPr>
          <a:xfrm>
            <a:off x="4441934" y="2545839"/>
            <a:ext cx="3307255" cy="439099"/>
          </a:xfrm>
          <a:custGeom>
            <a:avLst/>
            <a:gdLst/>
            <a:ahLst/>
            <a:cxnLst/>
            <a:rect l="l" t="t" r="r" b="b"/>
            <a:pathLst>
              <a:path w="3307255" h="439099">
                <a:moveTo>
                  <a:pt x="74739" y="0"/>
                </a:moveTo>
                <a:lnTo>
                  <a:pt x="3232516" y="0"/>
                </a:lnTo>
                <a:cubicBezTo>
                  <a:pt x="3273793" y="0"/>
                  <a:pt x="3307255" y="33462"/>
                  <a:pt x="3307255" y="74739"/>
                </a:cubicBezTo>
                <a:lnTo>
                  <a:pt x="3307255" y="364360"/>
                </a:lnTo>
                <a:cubicBezTo>
                  <a:pt x="3307255" y="405637"/>
                  <a:pt x="3273793" y="439099"/>
                  <a:pt x="3232516" y="439099"/>
                </a:cubicBezTo>
                <a:lnTo>
                  <a:pt x="74739" y="439099"/>
                </a:lnTo>
                <a:cubicBezTo>
                  <a:pt x="33462" y="439099"/>
                  <a:pt x="0" y="405637"/>
                  <a:pt x="0" y="364360"/>
                </a:cubicBezTo>
                <a:lnTo>
                  <a:pt x="0" y="74739"/>
                </a:lnTo>
                <a:cubicBezTo>
                  <a:pt x="0" y="33489"/>
                  <a:pt x="33489" y="0"/>
                  <a:pt x="74739" y="0"/>
                </a:cubicBezTo>
                <a:close/>
              </a:path>
            </a:pathLst>
          </a:custGeom>
          <a:solidFill>
            <a:srgbClr val="FFFFFF"/>
          </a:solidFill>
          <a:ln w="12700">
            <a:solidFill>
              <a:srgbClr val="8B0000">
                <a:alpha val="20000"/>
              </a:srgbClr>
            </a:solidFill>
            <a:prstDash val="solid"/>
          </a:ln>
        </p:spPr>
      </p:sp>
      <p:sp>
        <p:nvSpPr>
          <p:cNvPr id="23" name="Text 21"/>
          <p:cNvSpPr/>
          <p:nvPr/>
        </p:nvSpPr>
        <p:spPr>
          <a:xfrm>
            <a:off x="4558716" y="2662621"/>
            <a:ext cx="3139090" cy="205536"/>
          </a:xfrm>
          <a:prstGeom prst="rect">
            <a:avLst/>
          </a:prstGeom>
          <a:noFill/>
        </p:spPr>
        <p:txBody>
          <a:bodyPr wrap="square" lIns="0" tIns="0" rIns="0" bIns="0" rtlCol="0" anchor="ctr"/>
          <a:lstStyle/>
          <a:p>
            <a:pPr>
              <a:lnSpc>
                <a:spcPct val="140000"/>
              </a:lnSpc>
            </a:pPr>
            <a:r>
              <a:rPr lang="en-US" sz="10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Coefficient:</a:t>
            </a:r>
            <a:r>
              <a:rPr lang="en-US" sz="103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-0.0026* (p=0.0566)</a:t>
            </a:r>
            <a:endParaRPr lang="en-US" sz="1600" dirty="0"/>
          </a:p>
        </p:txBody>
      </p:sp>
      <p:sp>
        <p:nvSpPr>
          <p:cNvPr id="24" name="Text 22"/>
          <p:cNvSpPr/>
          <p:nvPr/>
        </p:nvSpPr>
        <p:spPr>
          <a:xfrm>
            <a:off x="4437263" y="3111062"/>
            <a:ext cx="1580772" cy="214878"/>
          </a:xfrm>
          <a:prstGeom prst="rect">
            <a:avLst/>
          </a:prstGeom>
          <a:noFill/>
        </p:spPr>
        <p:txBody>
          <a:bodyPr wrap="square" lIns="0" tIns="0" rIns="0" bIns="0" rtlCol="0" anchor="ctr"/>
          <a:lstStyle/>
          <a:p>
            <a:pPr>
              <a:lnSpc>
                <a:spcPct val="140000"/>
              </a:lnSpc>
            </a:pPr>
            <a:r>
              <a:rPr lang="en-US" sz="11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Possible explanations:</a:t>
            </a:r>
            <a:endParaRPr lang="en-US" sz="1600" dirty="0"/>
          </a:p>
        </p:txBody>
      </p:sp>
      <p:sp>
        <p:nvSpPr>
          <p:cNvPr id="25" name="Shape 23"/>
          <p:cNvSpPr/>
          <p:nvPr/>
        </p:nvSpPr>
        <p:spPr>
          <a:xfrm>
            <a:off x="4455948" y="3475421"/>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26" name="Text 24"/>
          <p:cNvSpPr/>
          <p:nvPr/>
        </p:nvSpPr>
        <p:spPr>
          <a:xfrm>
            <a:off x="4660410" y="3456736"/>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AI narrative dominance:</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Thematic shock may have overwhelmed performance considerations</a:t>
            </a:r>
            <a:endParaRPr lang="en-US" sz="1600" dirty="0"/>
          </a:p>
        </p:txBody>
      </p:sp>
      <p:sp>
        <p:nvSpPr>
          <p:cNvPr id="27" name="Shape 25"/>
          <p:cNvSpPr/>
          <p:nvPr/>
        </p:nvSpPr>
        <p:spPr>
          <a:xfrm>
            <a:off x="4455948" y="3923862"/>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28" name="Text 26"/>
          <p:cNvSpPr/>
          <p:nvPr/>
        </p:nvSpPr>
        <p:spPr>
          <a:xfrm>
            <a:off x="4660410" y="3905177"/>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Performance measure timing:</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Prior performance measured during volatile 2022 may not reflect true skill</a:t>
            </a:r>
            <a:endParaRPr lang="en-US" sz="1600" dirty="0"/>
          </a:p>
        </p:txBody>
      </p:sp>
      <p:sp>
        <p:nvSpPr>
          <p:cNvPr id="29" name="Shape 27"/>
          <p:cNvSpPr/>
          <p:nvPr/>
        </p:nvSpPr>
        <p:spPr>
          <a:xfrm>
            <a:off x="4455948" y="4372303"/>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30" name="Text 28"/>
          <p:cNvSpPr/>
          <p:nvPr/>
        </p:nvSpPr>
        <p:spPr>
          <a:xfrm>
            <a:off x="4660410" y="4353618"/>
            <a:ext cx="3158849" cy="560552"/>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 sophistication: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Flows may be driven by unsophisticated attention rather than rational performance evaluation</a:t>
            </a:r>
            <a:endParaRPr lang="en-US" sz="1600" dirty="0"/>
          </a:p>
        </p:txBody>
      </p:sp>
      <p:sp>
        <p:nvSpPr>
          <p:cNvPr id="31" name="Shape 29"/>
          <p:cNvSpPr/>
          <p:nvPr/>
        </p:nvSpPr>
        <p:spPr>
          <a:xfrm>
            <a:off x="4269098" y="5605517"/>
            <a:ext cx="3671614" cy="1251899"/>
          </a:xfrm>
          <a:custGeom>
            <a:avLst/>
            <a:gdLst/>
            <a:ahLst/>
            <a:cxnLst/>
            <a:rect l="l" t="t" r="r" b="b"/>
            <a:pathLst>
              <a:path w="3671614" h="1251899">
                <a:moveTo>
                  <a:pt x="37370" y="0"/>
                </a:moveTo>
                <a:lnTo>
                  <a:pt x="3596875" y="0"/>
                </a:lnTo>
                <a:cubicBezTo>
                  <a:pt x="3638152" y="0"/>
                  <a:pt x="3671614" y="33462"/>
                  <a:pt x="3671614" y="74738"/>
                </a:cubicBezTo>
                <a:lnTo>
                  <a:pt x="3671614" y="1177160"/>
                </a:lnTo>
                <a:cubicBezTo>
                  <a:pt x="3671614" y="1218437"/>
                  <a:pt x="3638152" y="1251899"/>
                  <a:pt x="3596875" y="1251899"/>
                </a:cubicBezTo>
                <a:lnTo>
                  <a:pt x="37370" y="1251899"/>
                </a:lnTo>
                <a:cubicBezTo>
                  <a:pt x="16731" y="1251899"/>
                  <a:pt x="0" y="1235168"/>
                  <a:pt x="0" y="1214529"/>
                </a:cubicBezTo>
                <a:lnTo>
                  <a:pt x="0" y="37370"/>
                </a:lnTo>
                <a:cubicBezTo>
                  <a:pt x="0" y="16745"/>
                  <a:pt x="16745" y="0"/>
                  <a:pt x="37370" y="0"/>
                </a:cubicBezTo>
                <a:close/>
              </a:path>
            </a:pathLst>
          </a:custGeom>
          <a:solidFill>
            <a:srgbClr val="F9FAFB"/>
          </a:solidFill>
        </p:spPr>
      </p:sp>
      <p:sp>
        <p:nvSpPr>
          <p:cNvPr id="32" name="Shape 30"/>
          <p:cNvSpPr/>
          <p:nvPr/>
        </p:nvSpPr>
        <p:spPr>
          <a:xfrm>
            <a:off x="4269098" y="5605517"/>
            <a:ext cx="37370" cy="1251899"/>
          </a:xfrm>
          <a:custGeom>
            <a:avLst/>
            <a:gdLst/>
            <a:ahLst/>
            <a:cxnLst/>
            <a:rect l="l" t="t" r="r" b="b"/>
            <a:pathLst>
              <a:path w="37370" h="1251899">
                <a:moveTo>
                  <a:pt x="37370" y="0"/>
                </a:moveTo>
                <a:lnTo>
                  <a:pt x="37370" y="0"/>
                </a:lnTo>
                <a:lnTo>
                  <a:pt x="37370" y="1251899"/>
                </a:lnTo>
                <a:lnTo>
                  <a:pt x="37370" y="1251899"/>
                </a:lnTo>
                <a:cubicBezTo>
                  <a:pt x="16731" y="1251899"/>
                  <a:pt x="0" y="1235168"/>
                  <a:pt x="0" y="1214529"/>
                </a:cubicBezTo>
                <a:lnTo>
                  <a:pt x="0" y="37370"/>
                </a:lnTo>
                <a:cubicBezTo>
                  <a:pt x="0" y="16745"/>
                  <a:pt x="16745" y="0"/>
                  <a:pt x="37370" y="0"/>
                </a:cubicBezTo>
                <a:close/>
              </a:path>
            </a:pathLst>
          </a:custGeom>
          <a:solidFill>
            <a:srgbClr val="8B0000"/>
          </a:solidFill>
        </p:spPr>
      </p:sp>
      <p:sp>
        <p:nvSpPr>
          <p:cNvPr id="33" name="Shape 31"/>
          <p:cNvSpPr/>
          <p:nvPr/>
        </p:nvSpPr>
        <p:spPr>
          <a:xfrm>
            <a:off x="4471130" y="5801710"/>
            <a:ext cx="147145" cy="168166"/>
          </a:xfrm>
          <a:custGeom>
            <a:avLst/>
            <a:gdLst/>
            <a:ahLst/>
            <a:cxnLst/>
            <a:rect l="l" t="t" r="r" b="b"/>
            <a:pathLst>
              <a:path w="147145" h="168166">
                <a:moveTo>
                  <a:pt x="126124" y="168166"/>
                </a:moveTo>
                <a:lnTo>
                  <a:pt x="31531" y="168166"/>
                </a:lnTo>
                <a:cubicBezTo>
                  <a:pt x="14123" y="168166"/>
                  <a:pt x="0" y="154042"/>
                  <a:pt x="0" y="136634"/>
                </a:cubicBezTo>
                <a:lnTo>
                  <a:pt x="0" y="31531"/>
                </a:lnTo>
                <a:cubicBezTo>
                  <a:pt x="0" y="14123"/>
                  <a:pt x="14123" y="0"/>
                  <a:pt x="31531" y="0"/>
                </a:cubicBezTo>
                <a:lnTo>
                  <a:pt x="131379" y="0"/>
                </a:lnTo>
                <a:cubicBezTo>
                  <a:pt x="140083" y="0"/>
                  <a:pt x="147145" y="7062"/>
                  <a:pt x="147145" y="15766"/>
                </a:cubicBezTo>
                <a:lnTo>
                  <a:pt x="147145" y="110359"/>
                </a:lnTo>
                <a:cubicBezTo>
                  <a:pt x="147145" y="117223"/>
                  <a:pt x="142744" y="123070"/>
                  <a:pt x="136634" y="125237"/>
                </a:cubicBezTo>
                <a:lnTo>
                  <a:pt x="136634" y="147145"/>
                </a:lnTo>
                <a:cubicBezTo>
                  <a:pt x="142448" y="147145"/>
                  <a:pt x="147145" y="151842"/>
                  <a:pt x="147145" y="157655"/>
                </a:cubicBezTo>
                <a:cubicBezTo>
                  <a:pt x="147145" y="163469"/>
                  <a:pt x="142448" y="168166"/>
                  <a:pt x="136634" y="168166"/>
                </a:cubicBezTo>
                <a:lnTo>
                  <a:pt x="126124" y="168166"/>
                </a:lnTo>
                <a:close/>
                <a:moveTo>
                  <a:pt x="31531" y="126124"/>
                </a:moveTo>
                <a:cubicBezTo>
                  <a:pt x="25717" y="126124"/>
                  <a:pt x="21021" y="130821"/>
                  <a:pt x="21021" y="136634"/>
                </a:cubicBezTo>
                <a:cubicBezTo>
                  <a:pt x="21021" y="142448"/>
                  <a:pt x="25717" y="147145"/>
                  <a:pt x="31531" y="147145"/>
                </a:cubicBezTo>
                <a:lnTo>
                  <a:pt x="115614" y="147145"/>
                </a:lnTo>
                <a:lnTo>
                  <a:pt x="115614" y="126124"/>
                </a:lnTo>
                <a:lnTo>
                  <a:pt x="31531" y="126124"/>
                </a:lnTo>
                <a:close/>
                <a:moveTo>
                  <a:pt x="42041" y="49924"/>
                </a:moveTo>
                <a:cubicBezTo>
                  <a:pt x="42041" y="54293"/>
                  <a:pt x="45556" y="57807"/>
                  <a:pt x="49924" y="57807"/>
                </a:cubicBezTo>
                <a:lnTo>
                  <a:pt x="107731" y="57807"/>
                </a:lnTo>
                <a:cubicBezTo>
                  <a:pt x="112099" y="57807"/>
                  <a:pt x="115614" y="54293"/>
                  <a:pt x="115614" y="49924"/>
                </a:cubicBezTo>
                <a:cubicBezTo>
                  <a:pt x="115614" y="45556"/>
                  <a:pt x="112099" y="42041"/>
                  <a:pt x="107731" y="42041"/>
                </a:cubicBezTo>
                <a:lnTo>
                  <a:pt x="49924" y="42041"/>
                </a:lnTo>
                <a:cubicBezTo>
                  <a:pt x="45556" y="42041"/>
                  <a:pt x="42041" y="45556"/>
                  <a:pt x="42041" y="49924"/>
                </a:cubicBezTo>
                <a:close/>
                <a:moveTo>
                  <a:pt x="49924" y="73572"/>
                </a:moveTo>
                <a:cubicBezTo>
                  <a:pt x="45556" y="73572"/>
                  <a:pt x="42041" y="77087"/>
                  <a:pt x="42041" y="81455"/>
                </a:cubicBezTo>
                <a:cubicBezTo>
                  <a:pt x="42041" y="85824"/>
                  <a:pt x="45556" y="89338"/>
                  <a:pt x="49924" y="89338"/>
                </a:cubicBezTo>
                <a:lnTo>
                  <a:pt x="107731" y="89338"/>
                </a:lnTo>
                <a:cubicBezTo>
                  <a:pt x="112099" y="89338"/>
                  <a:pt x="115614" y="85824"/>
                  <a:pt x="115614" y="81455"/>
                </a:cubicBezTo>
                <a:cubicBezTo>
                  <a:pt x="115614" y="77087"/>
                  <a:pt x="112099" y="73572"/>
                  <a:pt x="107731" y="73572"/>
                </a:cubicBezTo>
                <a:lnTo>
                  <a:pt x="49924" y="73572"/>
                </a:lnTo>
                <a:close/>
              </a:path>
            </a:pathLst>
          </a:custGeom>
          <a:solidFill>
            <a:srgbClr val="8B0000"/>
          </a:solidFill>
        </p:spPr>
      </p:sp>
      <p:sp>
        <p:nvSpPr>
          <p:cNvPr id="34" name="Text 32"/>
          <p:cNvSpPr/>
          <p:nvPr/>
        </p:nvSpPr>
        <p:spPr>
          <a:xfrm>
            <a:off x="4652141" y="5754998"/>
            <a:ext cx="3223172" cy="261591"/>
          </a:xfrm>
          <a:prstGeom prst="rect">
            <a:avLst/>
          </a:prstGeom>
          <a:noFill/>
        </p:spPr>
        <p:txBody>
          <a:bodyPr wrap="square" lIns="0" tIns="0" rIns="0" bIns="0" rtlCol="0" anchor="ctr"/>
          <a:lstStyle/>
          <a:p>
            <a:pPr>
              <a:lnSpc>
                <a:spcPct val="130000"/>
              </a:lnSpc>
            </a:pPr>
            <a:r>
              <a:rPr lang="en-US" sz="13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Literature Context</a:t>
            </a:r>
            <a:endParaRPr lang="en-US" sz="1600" dirty="0"/>
          </a:p>
        </p:txBody>
      </p:sp>
      <p:sp>
        <p:nvSpPr>
          <p:cNvPr id="35" name="Text 33"/>
          <p:cNvSpPr/>
          <p:nvPr/>
        </p:nvSpPr>
        <p:spPr>
          <a:xfrm>
            <a:off x="4437263" y="6091329"/>
            <a:ext cx="3419366" cy="616607"/>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Contrasts with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Jain &amp; Wu (2000)</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and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Vilas et al. (2024)</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who find strong performance-flow relationships in thematic investing.</a:t>
            </a:r>
            <a:endParaRPr lang="en-US" sz="1600" dirty="0"/>
          </a:p>
        </p:txBody>
      </p:sp>
      <p:sp>
        <p:nvSpPr>
          <p:cNvPr id="36" name="Shape 34"/>
          <p:cNvSpPr/>
          <p:nvPr/>
        </p:nvSpPr>
        <p:spPr>
          <a:xfrm>
            <a:off x="8127124" y="1364009"/>
            <a:ext cx="3690299" cy="3886492"/>
          </a:xfrm>
          <a:custGeom>
            <a:avLst/>
            <a:gdLst/>
            <a:ahLst/>
            <a:cxnLst/>
            <a:rect l="l" t="t" r="r" b="b"/>
            <a:pathLst>
              <a:path w="3690299" h="3886492">
                <a:moveTo>
                  <a:pt x="37370" y="0"/>
                </a:moveTo>
                <a:lnTo>
                  <a:pt x="3652929" y="0"/>
                </a:lnTo>
                <a:cubicBezTo>
                  <a:pt x="3673568" y="0"/>
                  <a:pt x="3690299" y="16731"/>
                  <a:pt x="3690299" y="37370"/>
                </a:cubicBezTo>
                <a:lnTo>
                  <a:pt x="3690299" y="3811763"/>
                </a:lnTo>
                <a:cubicBezTo>
                  <a:pt x="3690299" y="3853035"/>
                  <a:pt x="3656842" y="3886492"/>
                  <a:pt x="3615570" y="3886492"/>
                </a:cubicBezTo>
                <a:lnTo>
                  <a:pt x="74729" y="3886492"/>
                </a:lnTo>
                <a:cubicBezTo>
                  <a:pt x="33457" y="3886492"/>
                  <a:pt x="0" y="3853035"/>
                  <a:pt x="0" y="3811763"/>
                </a:cubicBezTo>
                <a:lnTo>
                  <a:pt x="0" y="37370"/>
                </a:lnTo>
                <a:cubicBezTo>
                  <a:pt x="0" y="16745"/>
                  <a:pt x="16745" y="0"/>
                  <a:pt x="37370" y="0"/>
                </a:cubicBezTo>
                <a:close/>
              </a:path>
            </a:pathLst>
          </a:custGeom>
          <a:solidFill>
            <a:srgbClr val="F9FAFB"/>
          </a:solidFill>
        </p:spPr>
      </p:sp>
      <p:sp>
        <p:nvSpPr>
          <p:cNvPr id="37" name="Shape 35"/>
          <p:cNvSpPr/>
          <p:nvPr/>
        </p:nvSpPr>
        <p:spPr>
          <a:xfrm>
            <a:off x="8127124" y="1364009"/>
            <a:ext cx="3690299" cy="37370"/>
          </a:xfrm>
          <a:custGeom>
            <a:avLst/>
            <a:gdLst/>
            <a:ahLst/>
            <a:cxnLst/>
            <a:rect l="l" t="t" r="r" b="b"/>
            <a:pathLst>
              <a:path w="3690299" h="37370">
                <a:moveTo>
                  <a:pt x="37370" y="0"/>
                </a:moveTo>
                <a:lnTo>
                  <a:pt x="3652929" y="0"/>
                </a:lnTo>
                <a:cubicBezTo>
                  <a:pt x="3673568" y="0"/>
                  <a:pt x="3690299" y="16731"/>
                  <a:pt x="3690299" y="37370"/>
                </a:cubicBezTo>
                <a:lnTo>
                  <a:pt x="3690299" y="37370"/>
                </a:lnTo>
                <a:lnTo>
                  <a:pt x="0" y="37370"/>
                </a:lnTo>
                <a:lnTo>
                  <a:pt x="0" y="37370"/>
                </a:lnTo>
                <a:cubicBezTo>
                  <a:pt x="0" y="16745"/>
                  <a:pt x="16745" y="0"/>
                  <a:pt x="37370" y="0"/>
                </a:cubicBezTo>
                <a:close/>
              </a:path>
            </a:pathLst>
          </a:custGeom>
          <a:solidFill>
            <a:srgbClr val="8B0000"/>
          </a:solidFill>
        </p:spPr>
      </p:sp>
      <p:sp>
        <p:nvSpPr>
          <p:cNvPr id="38" name="Shape 36"/>
          <p:cNvSpPr/>
          <p:nvPr/>
        </p:nvSpPr>
        <p:spPr>
          <a:xfrm>
            <a:off x="8337331" y="1606915"/>
            <a:ext cx="186851" cy="186851"/>
          </a:xfrm>
          <a:custGeom>
            <a:avLst/>
            <a:gdLst/>
            <a:ahLst/>
            <a:cxnLst/>
            <a:rect l="l" t="t" r="r" b="b"/>
            <a:pathLst>
              <a:path w="186851" h="186851">
                <a:moveTo>
                  <a:pt x="93425" y="186851"/>
                </a:moveTo>
                <a:cubicBezTo>
                  <a:pt x="144988" y="186851"/>
                  <a:pt x="186851" y="144988"/>
                  <a:pt x="186851" y="93425"/>
                </a:cubicBezTo>
                <a:cubicBezTo>
                  <a:pt x="186851" y="41862"/>
                  <a:pt x="144988" y="0"/>
                  <a:pt x="93425" y="0"/>
                </a:cubicBezTo>
                <a:cubicBezTo>
                  <a:pt x="41862" y="0"/>
                  <a:pt x="0" y="41862"/>
                  <a:pt x="0" y="93425"/>
                </a:cubicBezTo>
                <a:cubicBezTo>
                  <a:pt x="0" y="144988"/>
                  <a:pt x="41862" y="186851"/>
                  <a:pt x="93425" y="186851"/>
                </a:cubicBezTo>
                <a:close/>
                <a:moveTo>
                  <a:pt x="60945" y="60945"/>
                </a:moveTo>
                <a:cubicBezTo>
                  <a:pt x="64376" y="57515"/>
                  <a:pt x="69923" y="57515"/>
                  <a:pt x="73317" y="60945"/>
                </a:cubicBezTo>
                <a:lnTo>
                  <a:pt x="93389" y="81017"/>
                </a:lnTo>
                <a:lnTo>
                  <a:pt x="113461" y="60945"/>
                </a:lnTo>
                <a:cubicBezTo>
                  <a:pt x="116891" y="57515"/>
                  <a:pt x="122438" y="57515"/>
                  <a:pt x="125832" y="60945"/>
                </a:cubicBezTo>
                <a:cubicBezTo>
                  <a:pt x="129226" y="64376"/>
                  <a:pt x="129263" y="69923"/>
                  <a:pt x="125832" y="73317"/>
                </a:cubicBezTo>
                <a:lnTo>
                  <a:pt x="105760" y="93389"/>
                </a:lnTo>
                <a:lnTo>
                  <a:pt x="125832" y="113461"/>
                </a:lnTo>
                <a:cubicBezTo>
                  <a:pt x="129263" y="116891"/>
                  <a:pt x="129263" y="122438"/>
                  <a:pt x="125832" y="125832"/>
                </a:cubicBezTo>
                <a:cubicBezTo>
                  <a:pt x="122402" y="129226"/>
                  <a:pt x="116855" y="129263"/>
                  <a:pt x="113461" y="125832"/>
                </a:cubicBezTo>
                <a:lnTo>
                  <a:pt x="93389" y="105760"/>
                </a:lnTo>
                <a:lnTo>
                  <a:pt x="73317" y="125832"/>
                </a:lnTo>
                <a:cubicBezTo>
                  <a:pt x="69886" y="129263"/>
                  <a:pt x="64339" y="129263"/>
                  <a:pt x="60945" y="125832"/>
                </a:cubicBezTo>
                <a:cubicBezTo>
                  <a:pt x="57551" y="122402"/>
                  <a:pt x="57515" y="116855"/>
                  <a:pt x="60945" y="113461"/>
                </a:cubicBezTo>
                <a:lnTo>
                  <a:pt x="81017" y="93389"/>
                </a:lnTo>
                <a:lnTo>
                  <a:pt x="60945" y="73317"/>
                </a:lnTo>
                <a:cubicBezTo>
                  <a:pt x="57515" y="69886"/>
                  <a:pt x="57515" y="64339"/>
                  <a:pt x="60945" y="60945"/>
                </a:cubicBezTo>
                <a:close/>
              </a:path>
            </a:pathLst>
          </a:custGeom>
          <a:solidFill>
            <a:srgbClr val="8B0000"/>
          </a:solidFill>
        </p:spPr>
      </p:sp>
      <p:sp>
        <p:nvSpPr>
          <p:cNvPr id="39" name="Text 37"/>
          <p:cNvSpPr/>
          <p:nvPr/>
        </p:nvSpPr>
        <p:spPr>
          <a:xfrm>
            <a:off x="8547538" y="1569545"/>
            <a:ext cx="3176460" cy="261591"/>
          </a:xfrm>
          <a:prstGeom prst="rect">
            <a:avLst/>
          </a:prstGeom>
          <a:noFill/>
        </p:spPr>
        <p:txBody>
          <a:bodyPr wrap="square" lIns="0" tIns="0" rIns="0" bIns="0" rtlCol="0" anchor="ctr"/>
          <a:lstStyle/>
          <a:p>
            <a:pPr>
              <a:lnSpc>
                <a:spcPct val="120000"/>
              </a:lnSpc>
            </a:pPr>
            <a:r>
              <a:rPr lang="en-US" sz="147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H3: No Significant Evidence</a:t>
            </a:r>
            <a:endParaRPr lang="en-US" sz="1600" dirty="0"/>
          </a:p>
        </p:txBody>
      </p:sp>
      <p:sp>
        <p:nvSpPr>
          <p:cNvPr id="40" name="Text 38"/>
          <p:cNvSpPr/>
          <p:nvPr/>
        </p:nvSpPr>
        <p:spPr>
          <a:xfrm>
            <a:off x="8313975" y="1943246"/>
            <a:ext cx="3391338" cy="485811"/>
          </a:xfrm>
          <a:prstGeom prst="rect">
            <a:avLst/>
          </a:prstGeom>
          <a:noFill/>
        </p:spPr>
        <p:txBody>
          <a:bodyPr wrap="square" lIns="0" tIns="0" rIns="0" bIns="0" rtlCol="0" anchor="ctr"/>
          <a:lstStyle/>
          <a:p>
            <a:pPr>
              <a:lnSpc>
                <a:spcPct val="140000"/>
              </a:lnSpc>
            </a:pPr>
            <a:r>
              <a:rPr lang="en-US" sz="117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Finding:</a:t>
            </a:r>
            <a:r>
              <a:rPr lang="en-US" sz="1175"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No evidence of exploratory behavior change among AI-exposed funds.</a:t>
            </a:r>
            <a:endParaRPr lang="en-US" sz="1600" dirty="0"/>
          </a:p>
        </p:txBody>
      </p:sp>
      <p:sp>
        <p:nvSpPr>
          <p:cNvPr id="41" name="Shape 39"/>
          <p:cNvSpPr/>
          <p:nvPr/>
        </p:nvSpPr>
        <p:spPr>
          <a:xfrm>
            <a:off x="8318646" y="2545839"/>
            <a:ext cx="3307255" cy="345674"/>
          </a:xfrm>
          <a:custGeom>
            <a:avLst/>
            <a:gdLst/>
            <a:ahLst/>
            <a:cxnLst/>
            <a:rect l="l" t="t" r="r" b="b"/>
            <a:pathLst>
              <a:path w="3307255" h="345674">
                <a:moveTo>
                  <a:pt x="74742" y="0"/>
                </a:moveTo>
                <a:lnTo>
                  <a:pt x="3232514" y="0"/>
                </a:lnTo>
                <a:cubicBezTo>
                  <a:pt x="3273792" y="0"/>
                  <a:pt x="3307255" y="33463"/>
                  <a:pt x="3307255" y="74742"/>
                </a:cubicBezTo>
                <a:lnTo>
                  <a:pt x="3307255" y="270932"/>
                </a:lnTo>
                <a:cubicBezTo>
                  <a:pt x="3307255" y="312211"/>
                  <a:pt x="3273792" y="345674"/>
                  <a:pt x="3232514" y="345674"/>
                </a:cubicBezTo>
                <a:lnTo>
                  <a:pt x="74742" y="345674"/>
                </a:lnTo>
                <a:cubicBezTo>
                  <a:pt x="33463" y="345674"/>
                  <a:pt x="0" y="312211"/>
                  <a:pt x="0" y="270932"/>
                </a:cubicBezTo>
                <a:lnTo>
                  <a:pt x="0" y="74742"/>
                </a:lnTo>
                <a:cubicBezTo>
                  <a:pt x="0" y="33463"/>
                  <a:pt x="33463" y="0"/>
                  <a:pt x="74742" y="0"/>
                </a:cubicBezTo>
                <a:close/>
              </a:path>
            </a:pathLst>
          </a:custGeom>
          <a:solidFill>
            <a:srgbClr val="FFFFFF"/>
          </a:solidFill>
          <a:ln w="12700">
            <a:solidFill>
              <a:srgbClr val="8B0000">
                <a:alpha val="20000"/>
              </a:srgbClr>
            </a:solidFill>
            <a:prstDash val="solid"/>
          </a:ln>
        </p:spPr>
      </p:sp>
      <p:sp>
        <p:nvSpPr>
          <p:cNvPr id="42" name="Text 40"/>
          <p:cNvSpPr/>
          <p:nvPr/>
        </p:nvSpPr>
        <p:spPr>
          <a:xfrm>
            <a:off x="8398057" y="2625251"/>
            <a:ext cx="3213830" cy="186851"/>
          </a:xfrm>
          <a:prstGeom prst="rect">
            <a:avLst/>
          </a:prstGeom>
          <a:noFill/>
        </p:spPr>
        <p:txBody>
          <a:bodyPr wrap="square" lIns="0" tIns="0" rIns="0" bIns="0" rtlCol="0" anchor="ctr"/>
          <a:lstStyle/>
          <a:p>
            <a:pPr>
              <a:lnSpc>
                <a:spcPct val="120000"/>
              </a:lnSpc>
            </a:pPr>
            <a:r>
              <a:rPr lang="en-US" sz="10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Turnover:</a:t>
            </a:r>
            <a:r>
              <a:rPr lang="en-US" sz="103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-0.0353 (p=0.8792)</a:t>
            </a:r>
            <a:endParaRPr lang="en-US" sz="1600" dirty="0"/>
          </a:p>
        </p:txBody>
      </p:sp>
      <p:sp>
        <p:nvSpPr>
          <p:cNvPr id="43" name="Shape 41"/>
          <p:cNvSpPr/>
          <p:nvPr/>
        </p:nvSpPr>
        <p:spPr>
          <a:xfrm>
            <a:off x="8318646" y="2975595"/>
            <a:ext cx="3307255" cy="345674"/>
          </a:xfrm>
          <a:custGeom>
            <a:avLst/>
            <a:gdLst/>
            <a:ahLst/>
            <a:cxnLst/>
            <a:rect l="l" t="t" r="r" b="b"/>
            <a:pathLst>
              <a:path w="3307255" h="345674">
                <a:moveTo>
                  <a:pt x="74742" y="0"/>
                </a:moveTo>
                <a:lnTo>
                  <a:pt x="3232514" y="0"/>
                </a:lnTo>
                <a:cubicBezTo>
                  <a:pt x="3273792" y="0"/>
                  <a:pt x="3307255" y="33463"/>
                  <a:pt x="3307255" y="74742"/>
                </a:cubicBezTo>
                <a:lnTo>
                  <a:pt x="3307255" y="270932"/>
                </a:lnTo>
                <a:cubicBezTo>
                  <a:pt x="3307255" y="312211"/>
                  <a:pt x="3273792" y="345674"/>
                  <a:pt x="3232514" y="345674"/>
                </a:cubicBezTo>
                <a:lnTo>
                  <a:pt x="74742" y="345674"/>
                </a:lnTo>
                <a:cubicBezTo>
                  <a:pt x="33463" y="345674"/>
                  <a:pt x="0" y="312211"/>
                  <a:pt x="0" y="270932"/>
                </a:cubicBezTo>
                <a:lnTo>
                  <a:pt x="0" y="74742"/>
                </a:lnTo>
                <a:cubicBezTo>
                  <a:pt x="0" y="33463"/>
                  <a:pt x="33463" y="0"/>
                  <a:pt x="74742" y="0"/>
                </a:cubicBezTo>
                <a:close/>
              </a:path>
            </a:pathLst>
          </a:custGeom>
          <a:solidFill>
            <a:srgbClr val="FFFFFF"/>
          </a:solidFill>
          <a:ln w="12700">
            <a:solidFill>
              <a:srgbClr val="8B0000">
                <a:alpha val="20000"/>
              </a:srgbClr>
            </a:solidFill>
            <a:prstDash val="solid"/>
          </a:ln>
        </p:spPr>
      </p:sp>
      <p:sp>
        <p:nvSpPr>
          <p:cNvPr id="44" name="Text 42"/>
          <p:cNvSpPr/>
          <p:nvPr/>
        </p:nvSpPr>
        <p:spPr>
          <a:xfrm>
            <a:off x="8398057" y="3055007"/>
            <a:ext cx="3213830" cy="186851"/>
          </a:xfrm>
          <a:prstGeom prst="rect">
            <a:avLst/>
          </a:prstGeom>
          <a:noFill/>
        </p:spPr>
        <p:txBody>
          <a:bodyPr wrap="square" lIns="0" tIns="0" rIns="0" bIns="0" rtlCol="0" anchor="ctr"/>
          <a:lstStyle/>
          <a:p>
            <a:pPr>
              <a:lnSpc>
                <a:spcPct val="120000"/>
              </a:lnSpc>
            </a:pPr>
            <a:r>
              <a:rPr lang="en-US" sz="103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ΔHHI:</a:t>
            </a:r>
            <a:r>
              <a:rPr lang="en-US" sz="103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 0.0013 (p=0.1339)</a:t>
            </a:r>
            <a:endParaRPr lang="en-US" sz="1600" dirty="0"/>
          </a:p>
        </p:txBody>
      </p:sp>
      <p:sp>
        <p:nvSpPr>
          <p:cNvPr id="45" name="Text 43"/>
          <p:cNvSpPr/>
          <p:nvPr/>
        </p:nvSpPr>
        <p:spPr>
          <a:xfrm>
            <a:off x="8313975" y="3447393"/>
            <a:ext cx="1580773" cy="214878"/>
          </a:xfrm>
          <a:prstGeom prst="rect">
            <a:avLst/>
          </a:prstGeom>
          <a:noFill/>
        </p:spPr>
        <p:txBody>
          <a:bodyPr wrap="square" lIns="0" tIns="0" rIns="0" bIns="0" rtlCol="0" anchor="ctr"/>
          <a:lstStyle/>
          <a:p>
            <a:pPr>
              <a:lnSpc>
                <a:spcPct val="140000"/>
              </a:lnSpc>
            </a:pPr>
            <a:r>
              <a:rPr lang="en-US" sz="11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Possible explanations:</a:t>
            </a:r>
            <a:endParaRPr lang="en-US" sz="1600" dirty="0"/>
          </a:p>
        </p:txBody>
      </p:sp>
      <p:sp>
        <p:nvSpPr>
          <p:cNvPr id="46" name="Shape 44"/>
          <p:cNvSpPr/>
          <p:nvPr/>
        </p:nvSpPr>
        <p:spPr>
          <a:xfrm>
            <a:off x="8332660" y="3811752"/>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47" name="Text 45"/>
          <p:cNvSpPr/>
          <p:nvPr/>
        </p:nvSpPr>
        <p:spPr>
          <a:xfrm>
            <a:off x="8537122" y="3793067"/>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Pre-existing AI strategies:</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Funds with high AI exposure already had established AI-focused strategies</a:t>
            </a:r>
            <a:endParaRPr lang="en-US" sz="1600" dirty="0"/>
          </a:p>
        </p:txBody>
      </p:sp>
      <p:sp>
        <p:nvSpPr>
          <p:cNvPr id="48" name="Shape 46"/>
          <p:cNvSpPr/>
          <p:nvPr/>
        </p:nvSpPr>
        <p:spPr>
          <a:xfrm>
            <a:off x="8332660" y="4260193"/>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49" name="Text 47"/>
          <p:cNvSpPr/>
          <p:nvPr/>
        </p:nvSpPr>
        <p:spPr>
          <a:xfrm>
            <a:off x="8537122" y="4241508"/>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Short time horizon: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Managerial adaptation may require longer than 2 years</a:t>
            </a:r>
            <a:endParaRPr lang="en-US" sz="1600" dirty="0"/>
          </a:p>
        </p:txBody>
      </p:sp>
      <p:sp>
        <p:nvSpPr>
          <p:cNvPr id="50" name="Shape 48"/>
          <p:cNvSpPr/>
          <p:nvPr/>
        </p:nvSpPr>
        <p:spPr>
          <a:xfrm>
            <a:off x="8332660" y="4708634"/>
            <a:ext cx="130795" cy="130795"/>
          </a:xfrm>
          <a:custGeom>
            <a:avLst/>
            <a:gdLst/>
            <a:ahLst/>
            <a:cxnLst/>
            <a:rect l="l" t="t" r="r" b="b"/>
            <a:pathLst>
              <a:path w="130795" h="130795">
                <a:moveTo>
                  <a:pt x="128394" y="71171"/>
                </a:moveTo>
                <a:cubicBezTo>
                  <a:pt x="131587" y="67978"/>
                  <a:pt x="131587" y="62792"/>
                  <a:pt x="128394" y="59599"/>
                </a:cubicBezTo>
                <a:lnTo>
                  <a:pt x="87521" y="18725"/>
                </a:lnTo>
                <a:cubicBezTo>
                  <a:pt x="84327" y="15532"/>
                  <a:pt x="79141" y="15532"/>
                  <a:pt x="75948" y="18725"/>
                </a:cubicBezTo>
                <a:cubicBezTo>
                  <a:pt x="72755" y="21918"/>
                  <a:pt x="72755" y="27104"/>
                  <a:pt x="75948" y="30298"/>
                </a:cubicBezTo>
                <a:lnTo>
                  <a:pt x="102874" y="57223"/>
                </a:lnTo>
                <a:lnTo>
                  <a:pt x="8175" y="57223"/>
                </a:lnTo>
                <a:cubicBezTo>
                  <a:pt x="3653" y="57223"/>
                  <a:pt x="0" y="60876"/>
                  <a:pt x="0" y="65398"/>
                </a:cubicBezTo>
                <a:cubicBezTo>
                  <a:pt x="0" y="69919"/>
                  <a:pt x="3653" y="73572"/>
                  <a:pt x="8175" y="73572"/>
                </a:cubicBezTo>
                <a:lnTo>
                  <a:pt x="102874" y="73572"/>
                </a:lnTo>
                <a:lnTo>
                  <a:pt x="75948" y="100498"/>
                </a:lnTo>
                <a:cubicBezTo>
                  <a:pt x="72755" y="103691"/>
                  <a:pt x="72755" y="108877"/>
                  <a:pt x="75948" y="112070"/>
                </a:cubicBezTo>
                <a:cubicBezTo>
                  <a:pt x="79141" y="115263"/>
                  <a:pt x="84327" y="115263"/>
                  <a:pt x="87521" y="112070"/>
                </a:cubicBezTo>
                <a:lnTo>
                  <a:pt x="128394" y="71197"/>
                </a:lnTo>
                <a:close/>
              </a:path>
            </a:pathLst>
          </a:custGeom>
          <a:solidFill>
            <a:srgbClr val="8B0000"/>
          </a:solidFill>
        </p:spPr>
      </p:sp>
      <p:sp>
        <p:nvSpPr>
          <p:cNvPr id="51" name="Text 49"/>
          <p:cNvSpPr/>
          <p:nvPr/>
        </p:nvSpPr>
        <p:spPr>
          <a:xfrm>
            <a:off x="8537122" y="4689949"/>
            <a:ext cx="3158849" cy="373701"/>
          </a:xfrm>
          <a:prstGeom prst="rect">
            <a:avLst/>
          </a:prstGeom>
          <a:noFill/>
        </p:spPr>
        <p:txBody>
          <a:bodyPr wrap="square" lIns="0" tIns="0" rIns="0" bIns="0" rtlCol="0" anchor="ctr"/>
          <a:lstStyle/>
          <a:p>
            <a:pPr>
              <a:lnSpc>
                <a:spcPct val="120000"/>
              </a:lnSpc>
            </a:pP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Institutional constraints:</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Fund mandates and investment policies limit strategic flexibility</a:t>
            </a:r>
            <a:endParaRPr lang="en-US" sz="1600" dirty="0"/>
          </a:p>
        </p:txBody>
      </p:sp>
      <p:sp>
        <p:nvSpPr>
          <p:cNvPr id="52" name="Shape 50"/>
          <p:cNvSpPr/>
          <p:nvPr/>
        </p:nvSpPr>
        <p:spPr>
          <a:xfrm>
            <a:off x="8145809" y="5399982"/>
            <a:ext cx="3671614" cy="1457434"/>
          </a:xfrm>
          <a:custGeom>
            <a:avLst/>
            <a:gdLst/>
            <a:ahLst/>
            <a:cxnLst/>
            <a:rect l="l" t="t" r="r" b="b"/>
            <a:pathLst>
              <a:path w="3671614" h="1457434">
                <a:moveTo>
                  <a:pt x="37370" y="0"/>
                </a:moveTo>
                <a:lnTo>
                  <a:pt x="3596877" y="0"/>
                </a:lnTo>
                <a:cubicBezTo>
                  <a:pt x="3638153" y="0"/>
                  <a:pt x="3671614" y="33461"/>
                  <a:pt x="3671614" y="74737"/>
                </a:cubicBezTo>
                <a:lnTo>
                  <a:pt x="3671614" y="1382697"/>
                </a:lnTo>
                <a:cubicBezTo>
                  <a:pt x="3671614" y="1423973"/>
                  <a:pt x="3638153" y="1457434"/>
                  <a:pt x="3596877" y="1457434"/>
                </a:cubicBezTo>
                <a:lnTo>
                  <a:pt x="37370" y="1457434"/>
                </a:lnTo>
                <a:cubicBezTo>
                  <a:pt x="16731" y="1457434"/>
                  <a:pt x="0" y="1440703"/>
                  <a:pt x="0" y="1420064"/>
                </a:cubicBezTo>
                <a:lnTo>
                  <a:pt x="0" y="37370"/>
                </a:lnTo>
                <a:cubicBezTo>
                  <a:pt x="0" y="16745"/>
                  <a:pt x="16745" y="0"/>
                  <a:pt x="37370" y="0"/>
                </a:cubicBezTo>
                <a:close/>
              </a:path>
            </a:pathLst>
          </a:custGeom>
          <a:solidFill>
            <a:srgbClr val="F9FAFB"/>
          </a:solidFill>
        </p:spPr>
      </p:sp>
      <p:sp>
        <p:nvSpPr>
          <p:cNvPr id="53" name="Shape 51"/>
          <p:cNvSpPr/>
          <p:nvPr/>
        </p:nvSpPr>
        <p:spPr>
          <a:xfrm>
            <a:off x="8145809" y="5399982"/>
            <a:ext cx="37370" cy="1457434"/>
          </a:xfrm>
          <a:custGeom>
            <a:avLst/>
            <a:gdLst/>
            <a:ahLst/>
            <a:cxnLst/>
            <a:rect l="l" t="t" r="r" b="b"/>
            <a:pathLst>
              <a:path w="37370" h="1457434">
                <a:moveTo>
                  <a:pt x="37370" y="0"/>
                </a:moveTo>
                <a:lnTo>
                  <a:pt x="37370" y="0"/>
                </a:lnTo>
                <a:lnTo>
                  <a:pt x="37370" y="1457434"/>
                </a:lnTo>
                <a:lnTo>
                  <a:pt x="37370" y="1457434"/>
                </a:lnTo>
                <a:cubicBezTo>
                  <a:pt x="16731" y="1457434"/>
                  <a:pt x="0" y="1440703"/>
                  <a:pt x="0" y="1420064"/>
                </a:cubicBezTo>
                <a:lnTo>
                  <a:pt x="0" y="37370"/>
                </a:lnTo>
                <a:cubicBezTo>
                  <a:pt x="0" y="16745"/>
                  <a:pt x="16745" y="0"/>
                  <a:pt x="37370" y="0"/>
                </a:cubicBezTo>
                <a:close/>
              </a:path>
            </a:pathLst>
          </a:custGeom>
          <a:solidFill>
            <a:srgbClr val="8B0000"/>
          </a:solidFill>
        </p:spPr>
      </p:sp>
      <p:sp>
        <p:nvSpPr>
          <p:cNvPr id="54" name="Shape 52"/>
          <p:cNvSpPr/>
          <p:nvPr/>
        </p:nvSpPr>
        <p:spPr>
          <a:xfrm>
            <a:off x="8358352" y="5596175"/>
            <a:ext cx="126124" cy="168166"/>
          </a:xfrm>
          <a:custGeom>
            <a:avLst/>
            <a:gdLst/>
            <a:ahLst/>
            <a:cxnLst/>
            <a:rect l="l" t="t" r="r" b="b"/>
            <a:pathLst>
              <a:path w="126124" h="168166">
                <a:moveTo>
                  <a:pt x="96203" y="126124"/>
                </a:moveTo>
                <a:cubicBezTo>
                  <a:pt x="98600" y="118800"/>
                  <a:pt x="103396" y="112165"/>
                  <a:pt x="108815" y="106450"/>
                </a:cubicBezTo>
                <a:cubicBezTo>
                  <a:pt x="119555" y="95151"/>
                  <a:pt x="126124" y="79879"/>
                  <a:pt x="126124" y="63062"/>
                </a:cubicBezTo>
                <a:cubicBezTo>
                  <a:pt x="126124" y="28247"/>
                  <a:pt x="97878" y="0"/>
                  <a:pt x="63062" y="0"/>
                </a:cubicBezTo>
                <a:cubicBezTo>
                  <a:pt x="28247" y="0"/>
                  <a:pt x="0" y="28247"/>
                  <a:pt x="0" y="63062"/>
                </a:cubicBezTo>
                <a:cubicBezTo>
                  <a:pt x="0" y="79879"/>
                  <a:pt x="6569" y="95151"/>
                  <a:pt x="17309" y="106450"/>
                </a:cubicBezTo>
                <a:cubicBezTo>
                  <a:pt x="22729" y="112165"/>
                  <a:pt x="27557" y="118800"/>
                  <a:pt x="29922" y="126124"/>
                </a:cubicBezTo>
                <a:lnTo>
                  <a:pt x="96170" y="126124"/>
                </a:lnTo>
                <a:close/>
                <a:moveTo>
                  <a:pt x="94593" y="141890"/>
                </a:moveTo>
                <a:lnTo>
                  <a:pt x="31531" y="141890"/>
                </a:lnTo>
                <a:lnTo>
                  <a:pt x="31531" y="147145"/>
                </a:lnTo>
                <a:cubicBezTo>
                  <a:pt x="31531" y="161662"/>
                  <a:pt x="43289" y="173421"/>
                  <a:pt x="57807" y="173421"/>
                </a:cubicBezTo>
                <a:lnTo>
                  <a:pt x="68317" y="173421"/>
                </a:lnTo>
                <a:cubicBezTo>
                  <a:pt x="82835" y="173421"/>
                  <a:pt x="94593" y="161662"/>
                  <a:pt x="94593" y="147145"/>
                </a:cubicBezTo>
                <a:lnTo>
                  <a:pt x="94593" y="141890"/>
                </a:lnTo>
                <a:close/>
                <a:moveTo>
                  <a:pt x="60434" y="36786"/>
                </a:moveTo>
                <a:cubicBezTo>
                  <a:pt x="47362" y="36786"/>
                  <a:pt x="36786" y="47362"/>
                  <a:pt x="36786" y="60434"/>
                </a:cubicBezTo>
                <a:cubicBezTo>
                  <a:pt x="36786" y="64803"/>
                  <a:pt x="33272" y="68317"/>
                  <a:pt x="28903" y="68317"/>
                </a:cubicBezTo>
                <a:cubicBezTo>
                  <a:pt x="24535" y="68317"/>
                  <a:pt x="21021" y="64803"/>
                  <a:pt x="21021" y="60434"/>
                </a:cubicBezTo>
                <a:cubicBezTo>
                  <a:pt x="21021" y="38658"/>
                  <a:pt x="38658" y="21021"/>
                  <a:pt x="60434" y="21021"/>
                </a:cubicBezTo>
                <a:cubicBezTo>
                  <a:pt x="64803" y="21021"/>
                  <a:pt x="68317" y="24535"/>
                  <a:pt x="68317" y="28903"/>
                </a:cubicBezTo>
                <a:cubicBezTo>
                  <a:pt x="68317" y="33272"/>
                  <a:pt x="64803" y="36786"/>
                  <a:pt x="60434" y="36786"/>
                </a:cubicBezTo>
                <a:close/>
              </a:path>
            </a:pathLst>
          </a:custGeom>
          <a:solidFill>
            <a:srgbClr val="8B0000"/>
          </a:solidFill>
        </p:spPr>
      </p:sp>
      <p:sp>
        <p:nvSpPr>
          <p:cNvPr id="55" name="Text 53"/>
          <p:cNvSpPr/>
          <p:nvPr/>
        </p:nvSpPr>
        <p:spPr>
          <a:xfrm>
            <a:off x="8528853" y="5549462"/>
            <a:ext cx="3223172" cy="261591"/>
          </a:xfrm>
          <a:prstGeom prst="rect">
            <a:avLst/>
          </a:prstGeom>
          <a:noFill/>
        </p:spPr>
        <p:txBody>
          <a:bodyPr wrap="square" lIns="0" tIns="0" rIns="0" bIns="0" rtlCol="0" anchor="ctr"/>
          <a:lstStyle/>
          <a:p>
            <a:pPr>
              <a:lnSpc>
                <a:spcPct val="130000"/>
              </a:lnSpc>
            </a:pPr>
            <a:r>
              <a:rPr lang="en-US" sz="13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Implications</a:t>
            </a:r>
            <a:endParaRPr lang="en-US" sz="1600" dirty="0"/>
          </a:p>
        </p:txBody>
      </p:sp>
      <p:sp>
        <p:nvSpPr>
          <p:cNvPr id="56" name="Text 54"/>
          <p:cNvSpPr/>
          <p:nvPr/>
        </p:nvSpPr>
        <p:spPr>
          <a:xfrm>
            <a:off x="8313975" y="5885793"/>
            <a:ext cx="3419366" cy="822143"/>
          </a:xfrm>
          <a:prstGeom prst="rect">
            <a:avLst/>
          </a:prstGeom>
          <a:noFill/>
        </p:spPr>
        <p:txBody>
          <a:bodyPr wrap="square" lIns="0" tIns="0" rIns="0" bIns="0" rtlCol="0" anchor="ctr"/>
          <a:lstStyle/>
          <a:p>
            <a:pPr>
              <a:lnSpc>
                <a:spcPct val="140000"/>
              </a:lnSpc>
            </a:pP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Suggests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passive capital reallocation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rather than </a:t>
            </a:r>
            <a:r>
              <a:rPr lang="en-US" sz="1030"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active strategic adaptation</a:t>
            </a:r>
            <a:r>
              <a:rPr lang="en-US" sz="103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Investors moved capital to AI-exposed funds, but managers did not significantly alter investment behavior.</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20500" cy="190500"/>
          </a:xfrm>
          <a:prstGeom prst="rect">
            <a:avLst/>
          </a:prstGeom>
          <a:noFill/>
        </p:spPr>
        <p:txBody>
          <a:bodyPr wrap="square" lIns="0" tIns="0" rIns="0" bIns="0" rtlCol="0" anchor="ctr"/>
          <a:lstStyle/>
          <a:p>
            <a:pPr>
              <a:lnSpc>
                <a:spcPct val="130000"/>
              </a:lnSpc>
            </a:pPr>
            <a:r>
              <a:rPr lang="en-US" sz="1000" b="1" kern="0" spc="50"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6. CONCLUSIONS</a:t>
            </a:r>
            <a:endParaRPr lang="en-US" sz="1600" dirty="0"/>
          </a:p>
        </p:txBody>
      </p:sp>
      <p:sp>
        <p:nvSpPr>
          <p:cNvPr id="3" name="Text 1"/>
          <p:cNvSpPr/>
          <p:nvPr/>
        </p:nvSpPr>
        <p:spPr>
          <a:xfrm>
            <a:off x="317500" y="571500"/>
            <a:ext cx="11699875" cy="317500"/>
          </a:xfrm>
          <a:prstGeom prst="rect">
            <a:avLst/>
          </a:prstGeom>
          <a:noFill/>
        </p:spPr>
        <p:txBody>
          <a:bodyPr wrap="square" lIns="0" tIns="0" rIns="0" bIns="0" rtlCol="0" anchor="ctr"/>
          <a:lstStyle/>
          <a:p>
            <a:pPr>
              <a:lnSpc>
                <a:spcPct val="90000"/>
              </a:lnSpc>
            </a:pPr>
            <a:r>
              <a:rPr lang="en-US" sz="2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Conclusions and References</a:t>
            </a:r>
            <a:endParaRPr lang="en-US" sz="1600" dirty="0"/>
          </a:p>
        </p:txBody>
      </p:sp>
      <p:sp>
        <p:nvSpPr>
          <p:cNvPr id="4" name="Shape 2"/>
          <p:cNvSpPr/>
          <p:nvPr/>
        </p:nvSpPr>
        <p:spPr>
          <a:xfrm>
            <a:off x="317500" y="984250"/>
            <a:ext cx="762000" cy="31750"/>
          </a:xfrm>
          <a:custGeom>
            <a:avLst/>
            <a:gdLst/>
            <a:ahLst/>
            <a:cxnLst/>
            <a:rect l="l" t="t" r="r" b="b"/>
            <a:pathLst>
              <a:path w="762000" h="31750">
                <a:moveTo>
                  <a:pt x="0" y="0"/>
                </a:moveTo>
                <a:lnTo>
                  <a:pt x="762000" y="0"/>
                </a:lnTo>
                <a:lnTo>
                  <a:pt x="762000" y="31750"/>
                </a:lnTo>
                <a:lnTo>
                  <a:pt x="0" y="31750"/>
                </a:lnTo>
                <a:lnTo>
                  <a:pt x="0" y="0"/>
                </a:lnTo>
                <a:close/>
              </a:path>
            </a:pathLst>
          </a:custGeom>
          <a:solidFill>
            <a:srgbClr val="8B0000"/>
          </a:solidFill>
        </p:spPr>
      </p:sp>
      <p:sp>
        <p:nvSpPr>
          <p:cNvPr id="5" name="Shape 3"/>
          <p:cNvSpPr/>
          <p:nvPr/>
        </p:nvSpPr>
        <p:spPr>
          <a:xfrm>
            <a:off x="317500" y="1041400"/>
            <a:ext cx="5683250" cy="3286125"/>
          </a:xfrm>
          <a:custGeom>
            <a:avLst/>
            <a:gdLst/>
            <a:ahLst/>
            <a:cxnLst/>
            <a:rect l="l" t="t" r="r" b="b"/>
            <a:pathLst>
              <a:path w="5683250" h="3286125">
                <a:moveTo>
                  <a:pt x="31750" y="0"/>
                </a:moveTo>
                <a:lnTo>
                  <a:pt x="5619762" y="0"/>
                </a:lnTo>
                <a:cubicBezTo>
                  <a:pt x="5654825" y="0"/>
                  <a:pt x="5683250" y="28425"/>
                  <a:pt x="5683250" y="63488"/>
                </a:cubicBezTo>
                <a:lnTo>
                  <a:pt x="5683250" y="3222637"/>
                </a:lnTo>
                <a:cubicBezTo>
                  <a:pt x="5683250" y="3257700"/>
                  <a:pt x="5654825" y="3286125"/>
                  <a:pt x="5619762" y="3286125"/>
                </a:cubicBezTo>
                <a:lnTo>
                  <a:pt x="31750" y="3286125"/>
                </a:lnTo>
                <a:cubicBezTo>
                  <a:pt x="14215" y="3286125"/>
                  <a:pt x="0" y="3271910"/>
                  <a:pt x="0" y="3254375"/>
                </a:cubicBezTo>
                <a:lnTo>
                  <a:pt x="0" y="31750"/>
                </a:lnTo>
                <a:cubicBezTo>
                  <a:pt x="0" y="14227"/>
                  <a:pt x="14227" y="0"/>
                  <a:pt x="31750" y="0"/>
                </a:cubicBezTo>
                <a:close/>
              </a:path>
            </a:pathLst>
          </a:custGeom>
          <a:solidFill>
            <a:srgbClr val="8B0000">
              <a:alpha val="5098"/>
            </a:srgbClr>
          </a:solidFill>
        </p:spPr>
      </p:sp>
      <p:sp>
        <p:nvSpPr>
          <p:cNvPr id="6" name="Shape 4"/>
          <p:cNvSpPr/>
          <p:nvPr/>
        </p:nvSpPr>
        <p:spPr>
          <a:xfrm>
            <a:off x="333375" y="1143000"/>
            <a:ext cx="31750" cy="3286125"/>
          </a:xfrm>
          <a:custGeom>
            <a:avLst/>
            <a:gdLst/>
            <a:ahLst/>
            <a:cxnLst/>
            <a:rect l="l" t="t" r="r" b="b"/>
            <a:pathLst>
              <a:path w="31750" h="3286125">
                <a:moveTo>
                  <a:pt x="31750" y="0"/>
                </a:moveTo>
                <a:lnTo>
                  <a:pt x="31750" y="0"/>
                </a:lnTo>
                <a:lnTo>
                  <a:pt x="31750" y="3286125"/>
                </a:lnTo>
                <a:lnTo>
                  <a:pt x="31750" y="3286125"/>
                </a:lnTo>
                <a:cubicBezTo>
                  <a:pt x="14227" y="3286125"/>
                  <a:pt x="0" y="3271898"/>
                  <a:pt x="0" y="3254375"/>
                </a:cubicBezTo>
                <a:lnTo>
                  <a:pt x="0" y="31750"/>
                </a:lnTo>
                <a:cubicBezTo>
                  <a:pt x="0" y="14227"/>
                  <a:pt x="14227" y="0"/>
                  <a:pt x="31750" y="0"/>
                </a:cubicBezTo>
                <a:close/>
              </a:path>
            </a:pathLst>
          </a:custGeom>
          <a:solidFill>
            <a:srgbClr val="8B0000"/>
          </a:solidFill>
        </p:spPr>
      </p:sp>
      <p:sp>
        <p:nvSpPr>
          <p:cNvPr id="7" name="Shape 5"/>
          <p:cNvSpPr/>
          <p:nvPr/>
        </p:nvSpPr>
        <p:spPr>
          <a:xfrm>
            <a:off x="547688" y="1333500"/>
            <a:ext cx="119063" cy="158750"/>
          </a:xfrm>
          <a:custGeom>
            <a:avLst/>
            <a:gdLst/>
            <a:ahLst/>
            <a:cxnLst/>
            <a:rect l="l" t="t" r="r" b="b"/>
            <a:pathLst>
              <a:path w="119063" h="158750">
                <a:moveTo>
                  <a:pt x="96552" y="9922"/>
                </a:moveTo>
                <a:lnTo>
                  <a:pt x="99219" y="9922"/>
                </a:lnTo>
                <a:cubicBezTo>
                  <a:pt x="110164" y="9922"/>
                  <a:pt x="119062" y="18821"/>
                  <a:pt x="119062" y="29766"/>
                </a:cubicBezTo>
                <a:lnTo>
                  <a:pt x="119062" y="138906"/>
                </a:lnTo>
                <a:cubicBezTo>
                  <a:pt x="119062" y="149851"/>
                  <a:pt x="110164" y="158750"/>
                  <a:pt x="99219" y="158750"/>
                </a:cubicBezTo>
                <a:lnTo>
                  <a:pt x="19844" y="158750"/>
                </a:lnTo>
                <a:cubicBezTo>
                  <a:pt x="8899" y="158750"/>
                  <a:pt x="0" y="149851"/>
                  <a:pt x="0" y="138906"/>
                </a:cubicBezTo>
                <a:lnTo>
                  <a:pt x="0" y="29766"/>
                </a:lnTo>
                <a:cubicBezTo>
                  <a:pt x="0" y="18821"/>
                  <a:pt x="8899" y="9922"/>
                  <a:pt x="19844" y="9922"/>
                </a:cubicBezTo>
                <a:lnTo>
                  <a:pt x="22510" y="9922"/>
                </a:lnTo>
                <a:cubicBezTo>
                  <a:pt x="25921" y="4000"/>
                  <a:pt x="32339" y="0"/>
                  <a:pt x="39688" y="0"/>
                </a:cubicBezTo>
                <a:lnTo>
                  <a:pt x="79375" y="0"/>
                </a:lnTo>
                <a:cubicBezTo>
                  <a:pt x="86723" y="0"/>
                  <a:pt x="93142" y="4000"/>
                  <a:pt x="96552" y="9922"/>
                </a:cubicBezTo>
                <a:close/>
                <a:moveTo>
                  <a:pt x="76895" y="34727"/>
                </a:moveTo>
                <a:cubicBezTo>
                  <a:pt x="81018" y="34727"/>
                  <a:pt x="84336" y="31409"/>
                  <a:pt x="84336" y="27285"/>
                </a:cubicBezTo>
                <a:cubicBezTo>
                  <a:pt x="84336" y="23161"/>
                  <a:pt x="81018" y="19844"/>
                  <a:pt x="76895" y="19844"/>
                </a:cubicBezTo>
                <a:lnTo>
                  <a:pt x="42168" y="19844"/>
                </a:lnTo>
                <a:cubicBezTo>
                  <a:pt x="38044" y="19844"/>
                  <a:pt x="34727" y="23161"/>
                  <a:pt x="34727" y="27285"/>
                </a:cubicBezTo>
                <a:cubicBezTo>
                  <a:pt x="34727" y="31409"/>
                  <a:pt x="38044" y="34727"/>
                  <a:pt x="42168" y="34727"/>
                </a:cubicBezTo>
                <a:lnTo>
                  <a:pt x="76895" y="34727"/>
                </a:lnTo>
                <a:close/>
                <a:moveTo>
                  <a:pt x="85700" y="80832"/>
                </a:moveTo>
                <a:cubicBezTo>
                  <a:pt x="87871" y="77360"/>
                  <a:pt x="86816" y="72771"/>
                  <a:pt x="83344" y="70569"/>
                </a:cubicBezTo>
                <a:cubicBezTo>
                  <a:pt x="79871" y="68368"/>
                  <a:pt x="75282" y="69453"/>
                  <a:pt x="73081" y="72926"/>
                </a:cubicBezTo>
                <a:lnTo>
                  <a:pt x="54043" y="103405"/>
                </a:lnTo>
                <a:lnTo>
                  <a:pt x="45672" y="92242"/>
                </a:lnTo>
                <a:cubicBezTo>
                  <a:pt x="43191" y="88956"/>
                  <a:pt x="38540" y="88274"/>
                  <a:pt x="35254" y="90754"/>
                </a:cubicBezTo>
                <a:cubicBezTo>
                  <a:pt x="31967" y="93235"/>
                  <a:pt x="31285" y="97885"/>
                  <a:pt x="33765" y="101172"/>
                </a:cubicBezTo>
                <a:lnTo>
                  <a:pt x="48648" y="121016"/>
                </a:lnTo>
                <a:cubicBezTo>
                  <a:pt x="50105" y="122969"/>
                  <a:pt x="52462" y="124085"/>
                  <a:pt x="54911" y="123992"/>
                </a:cubicBezTo>
                <a:cubicBezTo>
                  <a:pt x="57361" y="123899"/>
                  <a:pt x="59593" y="122597"/>
                  <a:pt x="60896" y="120489"/>
                </a:cubicBezTo>
                <a:lnTo>
                  <a:pt x="85700" y="80801"/>
                </a:lnTo>
                <a:close/>
              </a:path>
            </a:pathLst>
          </a:custGeom>
          <a:solidFill>
            <a:srgbClr val="8B0000"/>
          </a:solidFill>
        </p:spPr>
      </p:sp>
      <p:sp>
        <p:nvSpPr>
          <p:cNvPr id="8" name="Text 6"/>
          <p:cNvSpPr/>
          <p:nvPr/>
        </p:nvSpPr>
        <p:spPr>
          <a:xfrm>
            <a:off x="706438" y="1301750"/>
            <a:ext cx="5230813" cy="222250"/>
          </a:xfrm>
          <a:prstGeom prst="rect">
            <a:avLst/>
          </a:prstGeom>
          <a:noFill/>
        </p:spPr>
        <p:txBody>
          <a:bodyPr wrap="square" lIns="0" tIns="0" rIns="0" bIns="0" rtlCol="0" anchor="ctr"/>
          <a:lstStyle/>
          <a:p>
            <a:pPr>
              <a:lnSpc>
                <a:spcPct val="120000"/>
              </a:lnSpc>
            </a:pPr>
            <a:r>
              <a:rPr lang="en-US" sz="125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Main Conclusions</a:t>
            </a:r>
            <a:endParaRPr lang="en-US" sz="1600" dirty="0"/>
          </a:p>
        </p:txBody>
      </p:sp>
      <p:sp>
        <p:nvSpPr>
          <p:cNvPr id="9" name="Shape 7"/>
          <p:cNvSpPr/>
          <p:nvPr/>
        </p:nvSpPr>
        <p:spPr>
          <a:xfrm>
            <a:off x="511969" y="1654969"/>
            <a:ext cx="5341938" cy="801688"/>
          </a:xfrm>
          <a:custGeom>
            <a:avLst/>
            <a:gdLst/>
            <a:ahLst/>
            <a:cxnLst/>
            <a:rect l="l" t="t" r="r" b="b"/>
            <a:pathLst>
              <a:path w="5341938" h="801688">
                <a:moveTo>
                  <a:pt x="63502" y="0"/>
                </a:moveTo>
                <a:lnTo>
                  <a:pt x="5278436" y="0"/>
                </a:lnTo>
                <a:cubicBezTo>
                  <a:pt x="5313507" y="0"/>
                  <a:pt x="5341938" y="28431"/>
                  <a:pt x="5341938" y="63502"/>
                </a:cubicBezTo>
                <a:lnTo>
                  <a:pt x="5341938" y="738186"/>
                </a:lnTo>
                <a:cubicBezTo>
                  <a:pt x="5341938" y="773257"/>
                  <a:pt x="5313507" y="801687"/>
                  <a:pt x="5278436" y="801688"/>
                </a:cubicBezTo>
                <a:lnTo>
                  <a:pt x="63502" y="801688"/>
                </a:lnTo>
                <a:cubicBezTo>
                  <a:pt x="28431" y="801688"/>
                  <a:pt x="0" y="773257"/>
                  <a:pt x="0" y="738186"/>
                </a:cubicBezTo>
                <a:lnTo>
                  <a:pt x="0" y="63502"/>
                </a:lnTo>
                <a:cubicBezTo>
                  <a:pt x="0" y="28431"/>
                  <a:pt x="28431" y="0"/>
                  <a:pt x="63502" y="0"/>
                </a:cubicBezTo>
                <a:close/>
              </a:path>
            </a:pathLst>
          </a:custGeom>
          <a:solidFill>
            <a:srgbClr val="FFFFFF"/>
          </a:solidFill>
          <a:ln w="12700">
            <a:solidFill>
              <a:srgbClr val="8B0000">
                <a:alpha val="20000"/>
              </a:srgbClr>
            </a:solidFill>
            <a:prstDash val="solid"/>
          </a:ln>
        </p:spPr>
      </p:sp>
      <p:sp>
        <p:nvSpPr>
          <p:cNvPr id="10" name="Text 8"/>
          <p:cNvSpPr/>
          <p:nvPr/>
        </p:nvSpPr>
        <p:spPr>
          <a:xfrm>
            <a:off x="611188" y="1754188"/>
            <a:ext cx="5207000"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1. Capital Flow Effect (H1)</a:t>
            </a:r>
            <a:endParaRPr lang="en-US" sz="1600" dirty="0"/>
          </a:p>
        </p:txBody>
      </p:sp>
      <p:sp>
        <p:nvSpPr>
          <p:cNvPr id="11" name="Text 9"/>
          <p:cNvSpPr/>
          <p:nvPr/>
        </p:nvSpPr>
        <p:spPr>
          <a:xfrm>
            <a:off x="611188" y="2008187"/>
            <a:ext cx="5199063" cy="349250"/>
          </a:xfrm>
          <a:prstGeom prst="rect">
            <a:avLst/>
          </a:prstGeom>
          <a:noFill/>
        </p:spPr>
        <p:txBody>
          <a:bodyPr wrap="square" lIns="0" tIns="0" rIns="0" bIns="0" rtlCol="0" anchor="ctr"/>
          <a:lstStyle/>
          <a:p>
            <a:pPr>
              <a:lnSpc>
                <a:spcPct val="14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ChatGPT's release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significantly increased capital inflows</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to AI-exposed mutual funds. One SD increase in AI exposure associated with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0.53 percentage points higher monthly flows</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post-shock.</a:t>
            </a:r>
            <a:endParaRPr lang="en-US" sz="1600" dirty="0"/>
          </a:p>
        </p:txBody>
      </p:sp>
      <p:sp>
        <p:nvSpPr>
          <p:cNvPr id="12" name="Shape 10"/>
          <p:cNvSpPr/>
          <p:nvPr/>
        </p:nvSpPr>
        <p:spPr>
          <a:xfrm>
            <a:off x="511969" y="2559844"/>
            <a:ext cx="5341938" cy="801688"/>
          </a:xfrm>
          <a:custGeom>
            <a:avLst/>
            <a:gdLst/>
            <a:ahLst/>
            <a:cxnLst/>
            <a:rect l="l" t="t" r="r" b="b"/>
            <a:pathLst>
              <a:path w="5341938" h="801688">
                <a:moveTo>
                  <a:pt x="63502" y="0"/>
                </a:moveTo>
                <a:lnTo>
                  <a:pt x="5278436" y="0"/>
                </a:lnTo>
                <a:cubicBezTo>
                  <a:pt x="5313507" y="0"/>
                  <a:pt x="5341938" y="28431"/>
                  <a:pt x="5341938" y="63502"/>
                </a:cubicBezTo>
                <a:lnTo>
                  <a:pt x="5341938" y="738186"/>
                </a:lnTo>
                <a:cubicBezTo>
                  <a:pt x="5341938" y="773257"/>
                  <a:pt x="5313507" y="801687"/>
                  <a:pt x="5278436" y="801688"/>
                </a:cubicBezTo>
                <a:lnTo>
                  <a:pt x="63502" y="801688"/>
                </a:lnTo>
                <a:cubicBezTo>
                  <a:pt x="28431" y="801688"/>
                  <a:pt x="0" y="773257"/>
                  <a:pt x="0" y="738186"/>
                </a:cubicBezTo>
                <a:lnTo>
                  <a:pt x="0" y="63502"/>
                </a:lnTo>
                <a:cubicBezTo>
                  <a:pt x="0" y="28431"/>
                  <a:pt x="28431" y="0"/>
                  <a:pt x="63502" y="0"/>
                </a:cubicBezTo>
                <a:close/>
              </a:path>
            </a:pathLst>
          </a:custGeom>
          <a:solidFill>
            <a:srgbClr val="FFFFFF"/>
          </a:solidFill>
          <a:ln w="12700">
            <a:solidFill>
              <a:srgbClr val="8B0000">
                <a:alpha val="20000"/>
              </a:srgbClr>
            </a:solidFill>
            <a:prstDash val="solid"/>
          </a:ln>
        </p:spPr>
      </p:sp>
      <p:sp>
        <p:nvSpPr>
          <p:cNvPr id="13" name="Text 11"/>
          <p:cNvSpPr/>
          <p:nvPr/>
        </p:nvSpPr>
        <p:spPr>
          <a:xfrm>
            <a:off x="611188" y="2659063"/>
            <a:ext cx="5207000"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2. Performance Contingency (H2)</a:t>
            </a:r>
            <a:endParaRPr lang="en-US" sz="1600" dirty="0"/>
          </a:p>
        </p:txBody>
      </p:sp>
      <p:sp>
        <p:nvSpPr>
          <p:cNvPr id="14" name="Text 12"/>
          <p:cNvSpPr/>
          <p:nvPr/>
        </p:nvSpPr>
        <p:spPr>
          <a:xfrm>
            <a:off x="611188" y="2913063"/>
            <a:ext cx="5199063" cy="349250"/>
          </a:xfrm>
          <a:prstGeom prst="rect">
            <a:avLst/>
          </a:prstGeom>
          <a:noFill/>
        </p:spPr>
        <p:txBody>
          <a:bodyPr wrap="square" lIns="0" tIns="0" rIns="0" bIns="0" rtlCol="0" anchor="ctr"/>
          <a:lstStyle/>
          <a:p>
            <a:pPr>
              <a:lnSpc>
                <a:spcPct val="140000"/>
              </a:lnSpc>
            </a:pP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Limited evidence</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for performance amplification. The AI-flow effect appears to operate through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attention mechanisms</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rather than performance-chasing behavior.</a:t>
            </a:r>
            <a:endParaRPr lang="en-US" sz="1600" dirty="0"/>
          </a:p>
        </p:txBody>
      </p:sp>
      <p:sp>
        <p:nvSpPr>
          <p:cNvPr id="15" name="Shape 13"/>
          <p:cNvSpPr/>
          <p:nvPr/>
        </p:nvSpPr>
        <p:spPr>
          <a:xfrm>
            <a:off x="511969" y="3464719"/>
            <a:ext cx="5341938" cy="801688"/>
          </a:xfrm>
          <a:custGeom>
            <a:avLst/>
            <a:gdLst/>
            <a:ahLst/>
            <a:cxnLst/>
            <a:rect l="l" t="t" r="r" b="b"/>
            <a:pathLst>
              <a:path w="5341938" h="801688">
                <a:moveTo>
                  <a:pt x="63502" y="0"/>
                </a:moveTo>
                <a:lnTo>
                  <a:pt x="5278436" y="0"/>
                </a:lnTo>
                <a:cubicBezTo>
                  <a:pt x="5313507" y="0"/>
                  <a:pt x="5341938" y="28431"/>
                  <a:pt x="5341938" y="63502"/>
                </a:cubicBezTo>
                <a:lnTo>
                  <a:pt x="5341938" y="738186"/>
                </a:lnTo>
                <a:cubicBezTo>
                  <a:pt x="5341938" y="773257"/>
                  <a:pt x="5313507" y="801687"/>
                  <a:pt x="5278436" y="801688"/>
                </a:cubicBezTo>
                <a:lnTo>
                  <a:pt x="63502" y="801688"/>
                </a:lnTo>
                <a:cubicBezTo>
                  <a:pt x="28431" y="801688"/>
                  <a:pt x="0" y="773257"/>
                  <a:pt x="0" y="738186"/>
                </a:cubicBezTo>
                <a:lnTo>
                  <a:pt x="0" y="63502"/>
                </a:lnTo>
                <a:cubicBezTo>
                  <a:pt x="0" y="28431"/>
                  <a:pt x="28431" y="0"/>
                  <a:pt x="63502" y="0"/>
                </a:cubicBezTo>
                <a:close/>
              </a:path>
            </a:pathLst>
          </a:custGeom>
          <a:solidFill>
            <a:srgbClr val="FFFFFF"/>
          </a:solidFill>
          <a:ln w="12700">
            <a:solidFill>
              <a:srgbClr val="8B0000">
                <a:alpha val="20000"/>
              </a:srgbClr>
            </a:solidFill>
            <a:prstDash val="solid"/>
          </a:ln>
        </p:spPr>
      </p:sp>
      <p:sp>
        <p:nvSpPr>
          <p:cNvPr id="16" name="Text 14"/>
          <p:cNvSpPr/>
          <p:nvPr/>
        </p:nvSpPr>
        <p:spPr>
          <a:xfrm>
            <a:off x="611188" y="3563938"/>
            <a:ext cx="5207000" cy="190500"/>
          </a:xfrm>
          <a:prstGeom prst="rect">
            <a:avLst/>
          </a:prstGeom>
          <a:noFill/>
        </p:spPr>
        <p:txBody>
          <a:bodyPr wrap="square" lIns="0" tIns="0" rIns="0" bIns="0" rtlCol="0" anchor="ctr"/>
          <a:lstStyle/>
          <a:p>
            <a:pPr>
              <a:lnSpc>
                <a:spcPct val="130000"/>
              </a:lnSpc>
            </a:pPr>
            <a:r>
              <a:rPr lang="en-US" sz="10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3. Managerial Adaptation (H3)</a:t>
            </a:r>
            <a:endParaRPr lang="en-US" sz="1600" dirty="0"/>
          </a:p>
        </p:txBody>
      </p:sp>
      <p:sp>
        <p:nvSpPr>
          <p:cNvPr id="17" name="Text 15"/>
          <p:cNvSpPr/>
          <p:nvPr/>
        </p:nvSpPr>
        <p:spPr>
          <a:xfrm>
            <a:off x="611188" y="3817938"/>
            <a:ext cx="5199063" cy="349250"/>
          </a:xfrm>
          <a:prstGeom prst="rect">
            <a:avLst/>
          </a:prstGeom>
          <a:noFill/>
        </p:spPr>
        <p:txBody>
          <a:bodyPr wrap="square" lIns="0" tIns="0" rIns="0" bIns="0" rtlCol="0" anchor="ctr"/>
          <a:lstStyle/>
          <a:p>
            <a:pPr>
              <a:lnSpc>
                <a:spcPct val="140000"/>
              </a:lnSpc>
            </a:pP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No significant evidence</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 of exploratory behavior change. AI-exposed funds did not increase turnover or alter portfolio concentration, suggesting </a:t>
            </a:r>
            <a:r>
              <a:rPr lang="en-US" sz="875" b="1"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passive rather than active adaptation</a:t>
            </a: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a:t>
            </a:r>
            <a:endParaRPr lang="en-US" sz="1600" dirty="0"/>
          </a:p>
        </p:txBody>
      </p:sp>
      <p:sp>
        <p:nvSpPr>
          <p:cNvPr id="18" name="Shape 16"/>
          <p:cNvSpPr/>
          <p:nvPr/>
        </p:nvSpPr>
        <p:spPr>
          <a:xfrm>
            <a:off x="317500" y="4572000"/>
            <a:ext cx="5699125" cy="1190625"/>
          </a:xfrm>
          <a:custGeom>
            <a:avLst/>
            <a:gdLst/>
            <a:ahLst/>
            <a:cxnLst/>
            <a:rect l="l" t="t" r="r" b="b"/>
            <a:pathLst>
              <a:path w="5699125" h="1190625">
                <a:moveTo>
                  <a:pt x="31750" y="0"/>
                </a:moveTo>
                <a:lnTo>
                  <a:pt x="5667375" y="0"/>
                </a:lnTo>
                <a:cubicBezTo>
                  <a:pt x="5684910" y="0"/>
                  <a:pt x="5699125" y="14215"/>
                  <a:pt x="5699125" y="31750"/>
                </a:cubicBezTo>
                <a:lnTo>
                  <a:pt x="5699125" y="1127129"/>
                </a:lnTo>
                <a:cubicBezTo>
                  <a:pt x="5699125" y="1162197"/>
                  <a:pt x="5670697" y="1190625"/>
                  <a:pt x="5635629" y="1190625"/>
                </a:cubicBezTo>
                <a:lnTo>
                  <a:pt x="63496" y="1190625"/>
                </a:lnTo>
                <a:cubicBezTo>
                  <a:pt x="28428" y="1190625"/>
                  <a:pt x="0" y="1162197"/>
                  <a:pt x="0" y="1127129"/>
                </a:cubicBezTo>
                <a:lnTo>
                  <a:pt x="0" y="31750"/>
                </a:lnTo>
                <a:cubicBezTo>
                  <a:pt x="0" y="14227"/>
                  <a:pt x="14227" y="0"/>
                  <a:pt x="31750" y="0"/>
                </a:cubicBezTo>
                <a:close/>
              </a:path>
            </a:pathLst>
          </a:custGeom>
          <a:solidFill>
            <a:srgbClr val="F9FAFB"/>
          </a:solidFill>
        </p:spPr>
      </p:sp>
      <p:sp>
        <p:nvSpPr>
          <p:cNvPr id="19" name="Shape 17"/>
          <p:cNvSpPr/>
          <p:nvPr/>
        </p:nvSpPr>
        <p:spPr>
          <a:xfrm>
            <a:off x="317500" y="4572000"/>
            <a:ext cx="5699125" cy="31750"/>
          </a:xfrm>
          <a:custGeom>
            <a:avLst/>
            <a:gdLst/>
            <a:ahLst/>
            <a:cxnLst/>
            <a:rect l="l" t="t" r="r" b="b"/>
            <a:pathLst>
              <a:path w="5699125" h="31750">
                <a:moveTo>
                  <a:pt x="31750" y="0"/>
                </a:moveTo>
                <a:lnTo>
                  <a:pt x="5667375" y="0"/>
                </a:lnTo>
                <a:cubicBezTo>
                  <a:pt x="5684898" y="0"/>
                  <a:pt x="5699125" y="14227"/>
                  <a:pt x="5699125" y="31750"/>
                </a:cubicBezTo>
                <a:lnTo>
                  <a:pt x="5699125" y="31750"/>
                </a:lnTo>
                <a:lnTo>
                  <a:pt x="0" y="31750"/>
                </a:lnTo>
                <a:lnTo>
                  <a:pt x="0" y="31750"/>
                </a:lnTo>
                <a:cubicBezTo>
                  <a:pt x="0" y="14227"/>
                  <a:pt x="14227" y="0"/>
                  <a:pt x="31750" y="0"/>
                </a:cubicBezTo>
                <a:close/>
              </a:path>
            </a:pathLst>
          </a:custGeom>
          <a:solidFill>
            <a:srgbClr val="8B0000"/>
          </a:solidFill>
        </p:spPr>
      </p:sp>
      <p:sp>
        <p:nvSpPr>
          <p:cNvPr id="20" name="Shape 18"/>
          <p:cNvSpPr/>
          <p:nvPr/>
        </p:nvSpPr>
        <p:spPr>
          <a:xfrm>
            <a:off x="455414" y="4754563"/>
            <a:ext cx="160734" cy="142875"/>
          </a:xfrm>
          <a:custGeom>
            <a:avLst/>
            <a:gdLst/>
            <a:ahLst/>
            <a:cxnLst/>
            <a:rect l="l" t="t" r="r" b="b"/>
            <a:pathLst>
              <a:path w="160734" h="142875">
                <a:moveTo>
                  <a:pt x="86367" y="-5274"/>
                </a:moveTo>
                <a:cubicBezTo>
                  <a:pt x="85223" y="-7507"/>
                  <a:pt x="82907" y="-8930"/>
                  <a:pt x="80395" y="-8930"/>
                </a:cubicBezTo>
                <a:cubicBezTo>
                  <a:pt x="77884" y="-8930"/>
                  <a:pt x="75567" y="-7507"/>
                  <a:pt x="74423" y="-5274"/>
                </a:cubicBezTo>
                <a:lnTo>
                  <a:pt x="53885" y="34965"/>
                </a:lnTo>
                <a:lnTo>
                  <a:pt x="9265" y="42053"/>
                </a:lnTo>
                <a:cubicBezTo>
                  <a:pt x="6781" y="42444"/>
                  <a:pt x="4716" y="44202"/>
                  <a:pt x="3935" y="46602"/>
                </a:cubicBezTo>
                <a:cubicBezTo>
                  <a:pt x="3153" y="49002"/>
                  <a:pt x="3795" y="51625"/>
                  <a:pt x="5553" y="53411"/>
                </a:cubicBezTo>
                <a:lnTo>
                  <a:pt x="37477" y="85362"/>
                </a:lnTo>
                <a:lnTo>
                  <a:pt x="30445" y="129983"/>
                </a:lnTo>
                <a:cubicBezTo>
                  <a:pt x="30054" y="132466"/>
                  <a:pt x="31086" y="134978"/>
                  <a:pt x="33124" y="136457"/>
                </a:cubicBezTo>
                <a:cubicBezTo>
                  <a:pt x="35161" y="137936"/>
                  <a:pt x="37840" y="138159"/>
                  <a:pt x="40100" y="137015"/>
                </a:cubicBezTo>
                <a:lnTo>
                  <a:pt x="80395" y="116532"/>
                </a:lnTo>
                <a:lnTo>
                  <a:pt x="120662" y="137015"/>
                </a:lnTo>
                <a:cubicBezTo>
                  <a:pt x="122895" y="138159"/>
                  <a:pt x="125602" y="137936"/>
                  <a:pt x="127639" y="136457"/>
                </a:cubicBezTo>
                <a:cubicBezTo>
                  <a:pt x="129676" y="134978"/>
                  <a:pt x="130708" y="132494"/>
                  <a:pt x="130318" y="129983"/>
                </a:cubicBezTo>
                <a:lnTo>
                  <a:pt x="123258" y="85362"/>
                </a:lnTo>
                <a:lnTo>
                  <a:pt x="155181" y="53411"/>
                </a:lnTo>
                <a:cubicBezTo>
                  <a:pt x="156967" y="51625"/>
                  <a:pt x="157581" y="49002"/>
                  <a:pt x="156800" y="46602"/>
                </a:cubicBezTo>
                <a:cubicBezTo>
                  <a:pt x="156018" y="44202"/>
                  <a:pt x="153981" y="42444"/>
                  <a:pt x="151470" y="42053"/>
                </a:cubicBezTo>
                <a:lnTo>
                  <a:pt x="106877" y="34965"/>
                </a:lnTo>
                <a:lnTo>
                  <a:pt x="86367" y="-5274"/>
                </a:lnTo>
                <a:close/>
              </a:path>
            </a:pathLst>
          </a:custGeom>
          <a:solidFill>
            <a:srgbClr val="8B0000"/>
          </a:solidFill>
        </p:spPr>
      </p:sp>
      <p:sp>
        <p:nvSpPr>
          <p:cNvPr id="21" name="Text 19"/>
          <p:cNvSpPr/>
          <p:nvPr/>
        </p:nvSpPr>
        <p:spPr>
          <a:xfrm>
            <a:off x="627063" y="4714875"/>
            <a:ext cx="5334000" cy="222250"/>
          </a:xfrm>
          <a:prstGeom prst="rect">
            <a:avLst/>
          </a:prstGeom>
          <a:noFill/>
        </p:spPr>
        <p:txBody>
          <a:bodyPr wrap="square" lIns="0" tIns="0" rIns="0" bIns="0" rtlCol="0" anchor="ctr"/>
          <a:lstStyle/>
          <a:p>
            <a:pPr>
              <a:lnSpc>
                <a:spcPct val="130000"/>
              </a:lnSpc>
            </a:pPr>
            <a:r>
              <a:rPr lang="en-US" sz="11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Contributions</a:t>
            </a:r>
            <a:endParaRPr lang="en-US" sz="1600" dirty="0"/>
          </a:p>
        </p:txBody>
      </p:sp>
      <p:sp>
        <p:nvSpPr>
          <p:cNvPr id="22" name="Shape 20"/>
          <p:cNvSpPr/>
          <p:nvPr/>
        </p:nvSpPr>
        <p:spPr>
          <a:xfrm>
            <a:off x="467320" y="5048250"/>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8B0000"/>
          </a:solidFill>
        </p:spPr>
      </p:sp>
      <p:sp>
        <p:nvSpPr>
          <p:cNvPr id="23" name="Text 21"/>
          <p:cNvSpPr/>
          <p:nvPr/>
        </p:nvSpPr>
        <p:spPr>
          <a:xfrm>
            <a:off x="627063" y="5032375"/>
            <a:ext cx="531812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First study linking AI exposure to mutual fund flows using quasi-natural experiment</a:t>
            </a:r>
            <a:endParaRPr lang="en-US" sz="1600" dirty="0"/>
          </a:p>
        </p:txBody>
      </p:sp>
      <p:sp>
        <p:nvSpPr>
          <p:cNvPr id="24" name="Shape 22"/>
          <p:cNvSpPr/>
          <p:nvPr/>
        </p:nvSpPr>
        <p:spPr>
          <a:xfrm>
            <a:off x="467320" y="5270500"/>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8B0000"/>
          </a:solidFill>
        </p:spPr>
      </p:sp>
      <p:sp>
        <p:nvSpPr>
          <p:cNvPr id="25" name="Text 23"/>
          <p:cNvSpPr/>
          <p:nvPr/>
        </p:nvSpPr>
        <p:spPr>
          <a:xfrm>
            <a:off x="627063" y="5254625"/>
            <a:ext cx="531812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Provides fund-level evidence on technology narrative effects in capital allocation</a:t>
            </a:r>
            <a:endParaRPr lang="en-US" sz="1600" dirty="0"/>
          </a:p>
        </p:txBody>
      </p:sp>
      <p:sp>
        <p:nvSpPr>
          <p:cNvPr id="26" name="Shape 24"/>
          <p:cNvSpPr/>
          <p:nvPr/>
        </p:nvSpPr>
        <p:spPr>
          <a:xfrm>
            <a:off x="467320" y="5492750"/>
            <a:ext cx="97234" cy="111125"/>
          </a:xfrm>
          <a:custGeom>
            <a:avLst/>
            <a:gdLst/>
            <a:ahLst/>
            <a:cxnLst/>
            <a:rect l="l" t="t" r="r" b="b"/>
            <a:pathLst>
              <a:path w="97234" h="111125">
                <a:moveTo>
                  <a:pt x="94369" y="15215"/>
                </a:moveTo>
                <a:cubicBezTo>
                  <a:pt x="97473" y="17472"/>
                  <a:pt x="98168" y="21813"/>
                  <a:pt x="95910" y="24916"/>
                </a:cubicBezTo>
                <a:lnTo>
                  <a:pt x="40348" y="101315"/>
                </a:lnTo>
                <a:cubicBezTo>
                  <a:pt x="39154" y="102964"/>
                  <a:pt x="37309" y="103984"/>
                  <a:pt x="35269" y="104158"/>
                </a:cubicBezTo>
                <a:cubicBezTo>
                  <a:pt x="33229" y="104332"/>
                  <a:pt x="31254" y="103572"/>
                  <a:pt x="29821" y="102140"/>
                </a:cubicBezTo>
                <a:lnTo>
                  <a:pt x="2040" y="74358"/>
                </a:lnTo>
                <a:cubicBezTo>
                  <a:pt x="-673" y="71645"/>
                  <a:pt x="-673" y="67239"/>
                  <a:pt x="2040" y="64526"/>
                </a:cubicBezTo>
                <a:cubicBezTo>
                  <a:pt x="4753" y="61813"/>
                  <a:pt x="9159" y="61813"/>
                  <a:pt x="11872" y="64526"/>
                </a:cubicBezTo>
                <a:lnTo>
                  <a:pt x="33902" y="86556"/>
                </a:lnTo>
                <a:lnTo>
                  <a:pt x="84689" y="16734"/>
                </a:lnTo>
                <a:cubicBezTo>
                  <a:pt x="86947" y="13630"/>
                  <a:pt x="91287" y="12936"/>
                  <a:pt x="94391" y="15193"/>
                </a:cubicBezTo>
                <a:close/>
              </a:path>
            </a:pathLst>
          </a:custGeom>
          <a:solidFill>
            <a:srgbClr val="8B0000"/>
          </a:solidFill>
        </p:spPr>
      </p:sp>
      <p:sp>
        <p:nvSpPr>
          <p:cNvPr id="27" name="Text 25"/>
          <p:cNvSpPr/>
          <p:nvPr/>
        </p:nvSpPr>
        <p:spPr>
          <a:xfrm>
            <a:off x="627063" y="5476875"/>
            <a:ext cx="531812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Extends understanding of investor attention in thematic investment contexts</a:t>
            </a:r>
            <a:endParaRPr lang="en-US" sz="1600" dirty="0"/>
          </a:p>
        </p:txBody>
      </p:sp>
      <p:sp>
        <p:nvSpPr>
          <p:cNvPr id="28" name="Shape 26"/>
          <p:cNvSpPr/>
          <p:nvPr/>
        </p:nvSpPr>
        <p:spPr>
          <a:xfrm>
            <a:off x="333375" y="5889625"/>
            <a:ext cx="5683250" cy="1111250"/>
          </a:xfrm>
          <a:custGeom>
            <a:avLst/>
            <a:gdLst/>
            <a:ahLst/>
            <a:cxnLst/>
            <a:rect l="l" t="t" r="r" b="b"/>
            <a:pathLst>
              <a:path w="5683250" h="1111250">
                <a:moveTo>
                  <a:pt x="31750" y="0"/>
                </a:moveTo>
                <a:lnTo>
                  <a:pt x="5619753" y="0"/>
                </a:lnTo>
                <a:cubicBezTo>
                  <a:pt x="5654822" y="0"/>
                  <a:pt x="5683250" y="28428"/>
                  <a:pt x="5683250" y="63497"/>
                </a:cubicBezTo>
                <a:lnTo>
                  <a:pt x="5683250" y="1047753"/>
                </a:lnTo>
                <a:cubicBezTo>
                  <a:pt x="5683250" y="1082822"/>
                  <a:pt x="5654822" y="1111250"/>
                  <a:pt x="5619753" y="1111250"/>
                </a:cubicBezTo>
                <a:lnTo>
                  <a:pt x="31750" y="1111250"/>
                </a:lnTo>
                <a:cubicBezTo>
                  <a:pt x="14215" y="1111250"/>
                  <a:pt x="0" y="1097035"/>
                  <a:pt x="0" y="1079500"/>
                </a:cubicBezTo>
                <a:lnTo>
                  <a:pt x="0" y="31750"/>
                </a:lnTo>
                <a:cubicBezTo>
                  <a:pt x="0" y="14227"/>
                  <a:pt x="14227" y="0"/>
                  <a:pt x="31750" y="0"/>
                </a:cubicBezTo>
                <a:close/>
              </a:path>
            </a:pathLst>
          </a:custGeom>
          <a:solidFill>
            <a:srgbClr val="F9FAFB"/>
          </a:solidFill>
        </p:spPr>
        <p:txBody>
          <a:bodyPr/>
          <a:p>
            <a:endParaRPr lang="zh-CN" altLang="en-US"/>
          </a:p>
        </p:txBody>
      </p:sp>
      <p:sp>
        <p:nvSpPr>
          <p:cNvPr id="29" name="Shape 27"/>
          <p:cNvSpPr/>
          <p:nvPr/>
        </p:nvSpPr>
        <p:spPr>
          <a:xfrm>
            <a:off x="333375" y="5889625"/>
            <a:ext cx="31750" cy="1111250"/>
          </a:xfrm>
          <a:custGeom>
            <a:avLst/>
            <a:gdLst/>
            <a:ahLst/>
            <a:cxnLst/>
            <a:rect l="l" t="t" r="r" b="b"/>
            <a:pathLst>
              <a:path w="31750" h="1111250">
                <a:moveTo>
                  <a:pt x="31750" y="0"/>
                </a:moveTo>
                <a:lnTo>
                  <a:pt x="31750" y="0"/>
                </a:lnTo>
                <a:lnTo>
                  <a:pt x="31750" y="1111250"/>
                </a:lnTo>
                <a:lnTo>
                  <a:pt x="31750" y="1111250"/>
                </a:lnTo>
                <a:cubicBezTo>
                  <a:pt x="14227" y="1111250"/>
                  <a:pt x="0" y="1097023"/>
                  <a:pt x="0" y="1079500"/>
                </a:cubicBezTo>
                <a:lnTo>
                  <a:pt x="0" y="31750"/>
                </a:lnTo>
                <a:cubicBezTo>
                  <a:pt x="0" y="14227"/>
                  <a:pt x="14227" y="0"/>
                  <a:pt x="31750" y="0"/>
                </a:cubicBezTo>
                <a:close/>
              </a:path>
            </a:pathLst>
          </a:custGeom>
          <a:solidFill>
            <a:srgbClr val="8B0000"/>
          </a:solidFill>
        </p:spPr>
      </p:sp>
      <p:sp>
        <p:nvSpPr>
          <p:cNvPr id="30" name="Shape 28"/>
          <p:cNvSpPr/>
          <p:nvPr/>
        </p:nvSpPr>
        <p:spPr>
          <a:xfrm>
            <a:off x="496094" y="6056313"/>
            <a:ext cx="142875" cy="142875"/>
          </a:xfrm>
          <a:custGeom>
            <a:avLst/>
            <a:gdLst/>
            <a:ahLst/>
            <a:cxnLst/>
            <a:rect l="l" t="t" r="r" b="b"/>
            <a:pathLst>
              <a:path w="142875" h="142875">
                <a:moveTo>
                  <a:pt x="71438" y="142875"/>
                </a:moveTo>
                <a:cubicBezTo>
                  <a:pt x="110865" y="142875"/>
                  <a:pt x="142875" y="110865"/>
                  <a:pt x="142875" y="71438"/>
                </a:cubicBezTo>
                <a:cubicBezTo>
                  <a:pt x="142875" y="32010"/>
                  <a:pt x="110865" y="0"/>
                  <a:pt x="71438" y="0"/>
                </a:cubicBezTo>
                <a:cubicBezTo>
                  <a:pt x="32010" y="0"/>
                  <a:pt x="0" y="32010"/>
                  <a:pt x="0" y="71438"/>
                </a:cubicBezTo>
                <a:cubicBezTo>
                  <a:pt x="0" y="110865"/>
                  <a:pt x="32010" y="142875"/>
                  <a:pt x="71437" y="142875"/>
                </a:cubicBezTo>
                <a:close/>
                <a:moveTo>
                  <a:pt x="71438" y="37951"/>
                </a:moveTo>
                <a:cubicBezTo>
                  <a:pt x="75149" y="37951"/>
                  <a:pt x="78135" y="40937"/>
                  <a:pt x="78135" y="44648"/>
                </a:cubicBezTo>
                <a:lnTo>
                  <a:pt x="78135" y="75902"/>
                </a:lnTo>
                <a:cubicBezTo>
                  <a:pt x="78135" y="79614"/>
                  <a:pt x="75149" y="82600"/>
                  <a:pt x="71438" y="82600"/>
                </a:cubicBezTo>
                <a:cubicBezTo>
                  <a:pt x="67726" y="82600"/>
                  <a:pt x="64740" y="79614"/>
                  <a:pt x="64740" y="75902"/>
                </a:cubicBezTo>
                <a:lnTo>
                  <a:pt x="64740" y="44648"/>
                </a:lnTo>
                <a:cubicBezTo>
                  <a:pt x="64740" y="40937"/>
                  <a:pt x="67726" y="37951"/>
                  <a:pt x="71438" y="37951"/>
                </a:cubicBezTo>
                <a:close/>
                <a:moveTo>
                  <a:pt x="63987" y="98227"/>
                </a:moveTo>
                <a:cubicBezTo>
                  <a:pt x="63817" y="95461"/>
                  <a:pt x="65197" y="92830"/>
                  <a:pt x="67567" y="91396"/>
                </a:cubicBezTo>
                <a:cubicBezTo>
                  <a:pt x="69938" y="89962"/>
                  <a:pt x="72909" y="89962"/>
                  <a:pt x="75280" y="91396"/>
                </a:cubicBezTo>
                <a:cubicBezTo>
                  <a:pt x="77651" y="92830"/>
                  <a:pt x="79030" y="95461"/>
                  <a:pt x="78860" y="98227"/>
                </a:cubicBezTo>
                <a:cubicBezTo>
                  <a:pt x="79030" y="100992"/>
                  <a:pt x="77651" y="103623"/>
                  <a:pt x="75280" y="105057"/>
                </a:cubicBezTo>
                <a:cubicBezTo>
                  <a:pt x="72909" y="106492"/>
                  <a:pt x="69938" y="106492"/>
                  <a:pt x="67567" y="105057"/>
                </a:cubicBezTo>
                <a:cubicBezTo>
                  <a:pt x="65197" y="103623"/>
                  <a:pt x="63817" y="100992"/>
                  <a:pt x="63987" y="98227"/>
                </a:cubicBezTo>
                <a:close/>
              </a:path>
            </a:pathLst>
          </a:custGeom>
          <a:solidFill>
            <a:srgbClr val="8B0000"/>
          </a:solidFill>
        </p:spPr>
      </p:sp>
      <p:sp>
        <p:nvSpPr>
          <p:cNvPr id="31" name="Text 29"/>
          <p:cNvSpPr/>
          <p:nvPr/>
        </p:nvSpPr>
        <p:spPr>
          <a:xfrm>
            <a:off x="658813" y="6016625"/>
            <a:ext cx="5302250" cy="222250"/>
          </a:xfrm>
          <a:prstGeom prst="rect">
            <a:avLst/>
          </a:prstGeom>
          <a:noFill/>
        </p:spPr>
        <p:txBody>
          <a:bodyPr wrap="square" lIns="0" tIns="0" rIns="0" bIns="0" rtlCol="0" anchor="ctr"/>
          <a:lstStyle/>
          <a:p>
            <a:pPr>
              <a:lnSpc>
                <a:spcPct val="130000"/>
              </a:lnSpc>
            </a:pPr>
            <a:r>
              <a:rPr lang="en-US" sz="1125"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Limitations &amp; Future Research</a:t>
            </a:r>
            <a:endParaRPr lang="en-US" sz="1600" dirty="0"/>
          </a:p>
        </p:txBody>
      </p:sp>
      <p:sp>
        <p:nvSpPr>
          <p:cNvPr id="32" name="Shape 30"/>
          <p:cNvSpPr/>
          <p:nvPr/>
        </p:nvSpPr>
        <p:spPr>
          <a:xfrm>
            <a:off x="492125" y="6350000"/>
            <a:ext cx="111125" cy="111125"/>
          </a:xfrm>
          <a:custGeom>
            <a:avLst/>
            <a:gdLst/>
            <a:ahLst/>
            <a:cxnLst/>
            <a:rect l="l" t="t" r="r" b="b"/>
            <a:pathLst>
              <a:path w="111125" h="111125">
                <a:moveTo>
                  <a:pt x="109085" y="60468"/>
                </a:moveTo>
                <a:cubicBezTo>
                  <a:pt x="111798" y="57755"/>
                  <a:pt x="111798" y="53349"/>
                  <a:pt x="109085" y="50636"/>
                </a:cubicBezTo>
                <a:lnTo>
                  <a:pt x="74358" y="15909"/>
                </a:lnTo>
                <a:cubicBezTo>
                  <a:pt x="71645" y="13196"/>
                  <a:pt x="67239" y="13196"/>
                  <a:pt x="64526" y="15909"/>
                </a:cubicBezTo>
                <a:cubicBezTo>
                  <a:pt x="61813" y="18622"/>
                  <a:pt x="61813" y="23028"/>
                  <a:pt x="64526" y="25741"/>
                </a:cubicBezTo>
                <a:lnTo>
                  <a:pt x="87402" y="48617"/>
                </a:lnTo>
                <a:lnTo>
                  <a:pt x="6945" y="48617"/>
                </a:lnTo>
                <a:cubicBezTo>
                  <a:pt x="3104" y="48617"/>
                  <a:pt x="0" y="51721"/>
                  <a:pt x="0" y="55563"/>
                </a:cubicBezTo>
                <a:cubicBezTo>
                  <a:pt x="0" y="59404"/>
                  <a:pt x="3104" y="62508"/>
                  <a:pt x="6945" y="62508"/>
                </a:cubicBezTo>
                <a:lnTo>
                  <a:pt x="87402" y="62508"/>
                </a:lnTo>
                <a:lnTo>
                  <a:pt x="64526" y="85384"/>
                </a:lnTo>
                <a:cubicBezTo>
                  <a:pt x="61813" y="88097"/>
                  <a:pt x="61813" y="92503"/>
                  <a:pt x="64526" y="95216"/>
                </a:cubicBezTo>
                <a:cubicBezTo>
                  <a:pt x="67239" y="97929"/>
                  <a:pt x="71645" y="97929"/>
                  <a:pt x="74358" y="95216"/>
                </a:cubicBezTo>
                <a:lnTo>
                  <a:pt x="109085" y="60489"/>
                </a:lnTo>
                <a:close/>
              </a:path>
            </a:pathLst>
          </a:custGeom>
          <a:solidFill>
            <a:srgbClr val="8B0000"/>
          </a:solidFill>
        </p:spPr>
      </p:sp>
      <p:sp>
        <p:nvSpPr>
          <p:cNvPr id="33" name="Text 31"/>
          <p:cNvSpPr/>
          <p:nvPr/>
        </p:nvSpPr>
        <p:spPr>
          <a:xfrm>
            <a:off x="658813" y="6334125"/>
            <a:ext cx="528637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Longer time horizon needed for managerial adaptation analysis</a:t>
            </a:r>
            <a:endParaRPr lang="en-US" sz="1600" dirty="0"/>
          </a:p>
        </p:txBody>
      </p:sp>
      <p:sp>
        <p:nvSpPr>
          <p:cNvPr id="34" name="Shape 32"/>
          <p:cNvSpPr/>
          <p:nvPr/>
        </p:nvSpPr>
        <p:spPr>
          <a:xfrm>
            <a:off x="492125" y="6540500"/>
            <a:ext cx="111125" cy="111125"/>
          </a:xfrm>
          <a:custGeom>
            <a:avLst/>
            <a:gdLst/>
            <a:ahLst/>
            <a:cxnLst/>
            <a:rect l="l" t="t" r="r" b="b"/>
            <a:pathLst>
              <a:path w="111125" h="111125">
                <a:moveTo>
                  <a:pt x="109085" y="60468"/>
                </a:moveTo>
                <a:cubicBezTo>
                  <a:pt x="111798" y="57755"/>
                  <a:pt x="111798" y="53349"/>
                  <a:pt x="109085" y="50636"/>
                </a:cubicBezTo>
                <a:lnTo>
                  <a:pt x="74358" y="15909"/>
                </a:lnTo>
                <a:cubicBezTo>
                  <a:pt x="71645" y="13196"/>
                  <a:pt x="67239" y="13196"/>
                  <a:pt x="64526" y="15909"/>
                </a:cubicBezTo>
                <a:cubicBezTo>
                  <a:pt x="61813" y="18622"/>
                  <a:pt x="61813" y="23028"/>
                  <a:pt x="64526" y="25741"/>
                </a:cubicBezTo>
                <a:lnTo>
                  <a:pt x="87402" y="48617"/>
                </a:lnTo>
                <a:lnTo>
                  <a:pt x="6945" y="48617"/>
                </a:lnTo>
                <a:cubicBezTo>
                  <a:pt x="3104" y="48617"/>
                  <a:pt x="0" y="51721"/>
                  <a:pt x="0" y="55563"/>
                </a:cubicBezTo>
                <a:cubicBezTo>
                  <a:pt x="0" y="59404"/>
                  <a:pt x="3104" y="62508"/>
                  <a:pt x="6945" y="62508"/>
                </a:cubicBezTo>
                <a:lnTo>
                  <a:pt x="87402" y="62508"/>
                </a:lnTo>
                <a:lnTo>
                  <a:pt x="64526" y="85384"/>
                </a:lnTo>
                <a:cubicBezTo>
                  <a:pt x="61813" y="88097"/>
                  <a:pt x="61813" y="92503"/>
                  <a:pt x="64526" y="95216"/>
                </a:cubicBezTo>
                <a:cubicBezTo>
                  <a:pt x="67239" y="97929"/>
                  <a:pt x="71645" y="97929"/>
                  <a:pt x="74358" y="95216"/>
                </a:cubicBezTo>
                <a:lnTo>
                  <a:pt x="109085" y="60489"/>
                </a:lnTo>
                <a:close/>
              </a:path>
            </a:pathLst>
          </a:custGeom>
          <a:solidFill>
            <a:srgbClr val="8B0000"/>
          </a:solidFill>
        </p:spPr>
      </p:sp>
      <p:sp>
        <p:nvSpPr>
          <p:cNvPr id="35" name="Text 33"/>
          <p:cNvSpPr/>
          <p:nvPr/>
        </p:nvSpPr>
        <p:spPr>
          <a:xfrm>
            <a:off x="658813" y="6524625"/>
            <a:ext cx="528637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Investor-level data could reveal heterogeneous responses</a:t>
            </a:r>
            <a:endParaRPr lang="en-US" sz="1600" dirty="0"/>
          </a:p>
        </p:txBody>
      </p:sp>
      <p:sp>
        <p:nvSpPr>
          <p:cNvPr id="36" name="Shape 34"/>
          <p:cNvSpPr/>
          <p:nvPr/>
        </p:nvSpPr>
        <p:spPr>
          <a:xfrm>
            <a:off x="492125" y="6731000"/>
            <a:ext cx="111125" cy="111125"/>
          </a:xfrm>
          <a:custGeom>
            <a:avLst/>
            <a:gdLst/>
            <a:ahLst/>
            <a:cxnLst/>
            <a:rect l="l" t="t" r="r" b="b"/>
            <a:pathLst>
              <a:path w="111125" h="111125">
                <a:moveTo>
                  <a:pt x="109085" y="60468"/>
                </a:moveTo>
                <a:cubicBezTo>
                  <a:pt x="111798" y="57755"/>
                  <a:pt x="111798" y="53349"/>
                  <a:pt x="109085" y="50636"/>
                </a:cubicBezTo>
                <a:lnTo>
                  <a:pt x="74358" y="15909"/>
                </a:lnTo>
                <a:cubicBezTo>
                  <a:pt x="71645" y="13196"/>
                  <a:pt x="67239" y="13196"/>
                  <a:pt x="64526" y="15909"/>
                </a:cubicBezTo>
                <a:cubicBezTo>
                  <a:pt x="61813" y="18622"/>
                  <a:pt x="61813" y="23028"/>
                  <a:pt x="64526" y="25741"/>
                </a:cubicBezTo>
                <a:lnTo>
                  <a:pt x="87402" y="48617"/>
                </a:lnTo>
                <a:lnTo>
                  <a:pt x="6945" y="48617"/>
                </a:lnTo>
                <a:cubicBezTo>
                  <a:pt x="3104" y="48617"/>
                  <a:pt x="0" y="51721"/>
                  <a:pt x="0" y="55563"/>
                </a:cubicBezTo>
                <a:cubicBezTo>
                  <a:pt x="0" y="59404"/>
                  <a:pt x="3104" y="62508"/>
                  <a:pt x="6945" y="62508"/>
                </a:cubicBezTo>
                <a:lnTo>
                  <a:pt x="87402" y="62508"/>
                </a:lnTo>
                <a:lnTo>
                  <a:pt x="64526" y="85384"/>
                </a:lnTo>
                <a:cubicBezTo>
                  <a:pt x="61813" y="88097"/>
                  <a:pt x="61813" y="92503"/>
                  <a:pt x="64526" y="95216"/>
                </a:cubicBezTo>
                <a:cubicBezTo>
                  <a:pt x="67239" y="97929"/>
                  <a:pt x="71645" y="97929"/>
                  <a:pt x="74358" y="95216"/>
                </a:cubicBezTo>
                <a:lnTo>
                  <a:pt x="109085" y="60489"/>
                </a:lnTo>
                <a:close/>
              </a:path>
            </a:pathLst>
          </a:custGeom>
          <a:solidFill>
            <a:srgbClr val="8B0000"/>
          </a:solidFill>
        </p:spPr>
      </p:sp>
      <p:sp>
        <p:nvSpPr>
          <p:cNvPr id="37" name="Text 35"/>
          <p:cNvSpPr/>
          <p:nvPr/>
        </p:nvSpPr>
        <p:spPr>
          <a:xfrm>
            <a:off x="658813" y="6715125"/>
            <a:ext cx="5286375" cy="158750"/>
          </a:xfrm>
          <a:prstGeom prst="rect">
            <a:avLst/>
          </a:prstGeom>
          <a:noFill/>
        </p:spPr>
        <p:txBody>
          <a:bodyPr wrap="square" lIns="0" tIns="0" rIns="0" bIns="0" rtlCol="0" anchor="ctr"/>
          <a:lstStyle/>
          <a:p>
            <a:pPr>
              <a:lnSpc>
                <a:spcPct val="120000"/>
              </a:lnSpc>
            </a:pPr>
            <a:r>
              <a:rPr lang="en-US" sz="875"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Cross-country comparison of AI shock effects</a:t>
            </a:r>
            <a:endParaRPr lang="en-US" sz="1600" dirty="0"/>
          </a:p>
        </p:txBody>
      </p:sp>
      <p:sp>
        <p:nvSpPr>
          <p:cNvPr id="38" name="Shape 36"/>
          <p:cNvSpPr/>
          <p:nvPr/>
        </p:nvSpPr>
        <p:spPr>
          <a:xfrm>
            <a:off x="6175375" y="1158875"/>
            <a:ext cx="5699125" cy="5842000"/>
          </a:xfrm>
          <a:custGeom>
            <a:avLst/>
            <a:gdLst/>
            <a:ahLst/>
            <a:cxnLst/>
            <a:rect l="l" t="t" r="r" b="b"/>
            <a:pathLst>
              <a:path w="5699125" h="5842000">
                <a:moveTo>
                  <a:pt x="31750" y="0"/>
                </a:moveTo>
                <a:lnTo>
                  <a:pt x="5667375" y="0"/>
                </a:lnTo>
                <a:cubicBezTo>
                  <a:pt x="5684910" y="0"/>
                  <a:pt x="5699125" y="14215"/>
                  <a:pt x="5699125" y="31750"/>
                </a:cubicBezTo>
                <a:lnTo>
                  <a:pt x="5699125" y="5778512"/>
                </a:lnTo>
                <a:cubicBezTo>
                  <a:pt x="5699125" y="5813575"/>
                  <a:pt x="5670700" y="5842000"/>
                  <a:pt x="5635637" y="5842000"/>
                </a:cubicBezTo>
                <a:lnTo>
                  <a:pt x="63488" y="5842000"/>
                </a:lnTo>
                <a:cubicBezTo>
                  <a:pt x="28425" y="5842000"/>
                  <a:pt x="0" y="5813575"/>
                  <a:pt x="0" y="5778512"/>
                </a:cubicBezTo>
                <a:lnTo>
                  <a:pt x="0" y="31750"/>
                </a:lnTo>
                <a:cubicBezTo>
                  <a:pt x="0" y="14227"/>
                  <a:pt x="14227" y="0"/>
                  <a:pt x="31750" y="0"/>
                </a:cubicBezTo>
                <a:close/>
              </a:path>
            </a:pathLst>
          </a:custGeom>
          <a:solidFill>
            <a:srgbClr val="F9FAFB"/>
          </a:solidFill>
        </p:spPr>
      </p:sp>
      <p:sp>
        <p:nvSpPr>
          <p:cNvPr id="39" name="Shape 37"/>
          <p:cNvSpPr/>
          <p:nvPr/>
        </p:nvSpPr>
        <p:spPr>
          <a:xfrm>
            <a:off x="6175375" y="1158875"/>
            <a:ext cx="5699125" cy="31750"/>
          </a:xfrm>
          <a:custGeom>
            <a:avLst/>
            <a:gdLst/>
            <a:ahLst/>
            <a:cxnLst/>
            <a:rect l="l" t="t" r="r" b="b"/>
            <a:pathLst>
              <a:path w="5699125" h="31750">
                <a:moveTo>
                  <a:pt x="31750" y="0"/>
                </a:moveTo>
                <a:lnTo>
                  <a:pt x="5667375" y="0"/>
                </a:lnTo>
                <a:cubicBezTo>
                  <a:pt x="5684898" y="0"/>
                  <a:pt x="5699125" y="14227"/>
                  <a:pt x="5699125" y="31750"/>
                </a:cubicBezTo>
                <a:lnTo>
                  <a:pt x="5699125" y="31750"/>
                </a:lnTo>
                <a:lnTo>
                  <a:pt x="0" y="31750"/>
                </a:lnTo>
                <a:lnTo>
                  <a:pt x="0" y="31750"/>
                </a:lnTo>
                <a:cubicBezTo>
                  <a:pt x="0" y="14227"/>
                  <a:pt x="14227" y="0"/>
                  <a:pt x="31750" y="0"/>
                </a:cubicBezTo>
                <a:close/>
              </a:path>
            </a:pathLst>
          </a:custGeom>
          <a:solidFill>
            <a:srgbClr val="8B0000"/>
          </a:solidFill>
        </p:spPr>
      </p:sp>
      <p:sp>
        <p:nvSpPr>
          <p:cNvPr id="40" name="Shape 38"/>
          <p:cNvSpPr/>
          <p:nvPr/>
        </p:nvSpPr>
        <p:spPr>
          <a:xfrm>
            <a:off x="6363891" y="1365250"/>
            <a:ext cx="138906" cy="158750"/>
          </a:xfrm>
          <a:custGeom>
            <a:avLst/>
            <a:gdLst/>
            <a:ahLst/>
            <a:cxnLst/>
            <a:rect l="l" t="t" r="r" b="b"/>
            <a:pathLst>
              <a:path w="138906" h="158750">
                <a:moveTo>
                  <a:pt x="119062" y="158750"/>
                </a:moveTo>
                <a:lnTo>
                  <a:pt x="29766" y="158750"/>
                </a:lnTo>
                <a:cubicBezTo>
                  <a:pt x="13333" y="158750"/>
                  <a:pt x="0" y="145417"/>
                  <a:pt x="0" y="128984"/>
                </a:cubicBezTo>
                <a:lnTo>
                  <a:pt x="0" y="29766"/>
                </a:lnTo>
                <a:cubicBezTo>
                  <a:pt x="0" y="13333"/>
                  <a:pt x="13333" y="0"/>
                  <a:pt x="29766" y="0"/>
                </a:cubicBezTo>
                <a:lnTo>
                  <a:pt x="124023" y="0"/>
                </a:lnTo>
                <a:cubicBezTo>
                  <a:pt x="132240" y="0"/>
                  <a:pt x="138906" y="6666"/>
                  <a:pt x="138906" y="14883"/>
                </a:cubicBezTo>
                <a:lnTo>
                  <a:pt x="138906" y="104180"/>
                </a:lnTo>
                <a:cubicBezTo>
                  <a:pt x="138906" y="110660"/>
                  <a:pt x="134751" y="116179"/>
                  <a:pt x="128984" y="118225"/>
                </a:cubicBezTo>
                <a:lnTo>
                  <a:pt x="128984" y="138906"/>
                </a:lnTo>
                <a:cubicBezTo>
                  <a:pt x="134472" y="138906"/>
                  <a:pt x="138906" y="143340"/>
                  <a:pt x="138906" y="148828"/>
                </a:cubicBezTo>
                <a:cubicBezTo>
                  <a:pt x="138906" y="154316"/>
                  <a:pt x="134472" y="158750"/>
                  <a:pt x="128984" y="158750"/>
                </a:cubicBezTo>
                <a:lnTo>
                  <a:pt x="119062" y="158750"/>
                </a:lnTo>
                <a:close/>
                <a:moveTo>
                  <a:pt x="29766" y="119062"/>
                </a:moveTo>
                <a:cubicBezTo>
                  <a:pt x="24278" y="119062"/>
                  <a:pt x="19844" y="123496"/>
                  <a:pt x="19844" y="128984"/>
                </a:cubicBezTo>
                <a:cubicBezTo>
                  <a:pt x="19844" y="134472"/>
                  <a:pt x="24278" y="138906"/>
                  <a:pt x="29766" y="138906"/>
                </a:cubicBezTo>
                <a:lnTo>
                  <a:pt x="109141" y="138906"/>
                </a:lnTo>
                <a:lnTo>
                  <a:pt x="109141" y="119062"/>
                </a:lnTo>
                <a:lnTo>
                  <a:pt x="29766" y="119062"/>
                </a:lnTo>
                <a:close/>
                <a:moveTo>
                  <a:pt x="39688" y="47129"/>
                </a:moveTo>
                <a:cubicBezTo>
                  <a:pt x="39688" y="51253"/>
                  <a:pt x="43005" y="54570"/>
                  <a:pt x="47129" y="54570"/>
                </a:cubicBezTo>
                <a:lnTo>
                  <a:pt x="101699" y="54570"/>
                </a:lnTo>
                <a:cubicBezTo>
                  <a:pt x="105823" y="54570"/>
                  <a:pt x="109141" y="51253"/>
                  <a:pt x="109141" y="47129"/>
                </a:cubicBezTo>
                <a:cubicBezTo>
                  <a:pt x="109141" y="43005"/>
                  <a:pt x="105823" y="39688"/>
                  <a:pt x="101699" y="39688"/>
                </a:cubicBezTo>
                <a:lnTo>
                  <a:pt x="47129" y="39688"/>
                </a:lnTo>
                <a:cubicBezTo>
                  <a:pt x="43005" y="39688"/>
                  <a:pt x="39688" y="43005"/>
                  <a:pt x="39688" y="47129"/>
                </a:cubicBezTo>
                <a:close/>
                <a:moveTo>
                  <a:pt x="47129" y="69453"/>
                </a:moveTo>
                <a:cubicBezTo>
                  <a:pt x="43005" y="69453"/>
                  <a:pt x="39688" y="72771"/>
                  <a:pt x="39688" y="76895"/>
                </a:cubicBezTo>
                <a:cubicBezTo>
                  <a:pt x="39688" y="81018"/>
                  <a:pt x="43005" y="84336"/>
                  <a:pt x="47129" y="84336"/>
                </a:cubicBezTo>
                <a:lnTo>
                  <a:pt x="101699" y="84336"/>
                </a:lnTo>
                <a:cubicBezTo>
                  <a:pt x="105823" y="84336"/>
                  <a:pt x="109141" y="81018"/>
                  <a:pt x="109141" y="76895"/>
                </a:cubicBezTo>
                <a:cubicBezTo>
                  <a:pt x="109141" y="72771"/>
                  <a:pt x="105823" y="69453"/>
                  <a:pt x="101699" y="69453"/>
                </a:cubicBezTo>
                <a:lnTo>
                  <a:pt x="47129" y="69453"/>
                </a:lnTo>
                <a:close/>
              </a:path>
            </a:pathLst>
          </a:custGeom>
          <a:solidFill>
            <a:srgbClr val="8B0000"/>
          </a:solidFill>
        </p:spPr>
      </p:sp>
      <p:sp>
        <p:nvSpPr>
          <p:cNvPr id="42" name="Text 40"/>
          <p:cNvSpPr/>
          <p:nvPr/>
        </p:nvSpPr>
        <p:spPr>
          <a:xfrm>
            <a:off x="6334125" y="168275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Babina, T., Fedyk, A., He, A. and Hodson, J. (2024) 'Artificial intelligence, firm growth, and product innovation', Journal of Financial Economics, 151, 103745.</a:t>
            </a:r>
            <a:endParaRPr lang="en-US" sz="1600" dirty="0"/>
          </a:p>
        </p:txBody>
      </p:sp>
      <p:sp>
        <p:nvSpPr>
          <p:cNvPr id="43" name="Text 41"/>
          <p:cNvSpPr/>
          <p:nvPr/>
        </p:nvSpPr>
        <p:spPr>
          <a:xfrm>
            <a:off x="6334125" y="203200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Barber, B.M. and Odean, T. (2008) 'All that glitters: The effect of attention and news on the buying behavior of individual and institutional investors', Review of Financial Studies, 21(2), pp. 785-818.</a:t>
            </a:r>
            <a:endParaRPr lang="en-US" sz="1600" dirty="0"/>
          </a:p>
        </p:txBody>
      </p:sp>
      <p:sp>
        <p:nvSpPr>
          <p:cNvPr id="44" name="Text 42"/>
          <p:cNvSpPr/>
          <p:nvPr/>
        </p:nvSpPr>
        <p:spPr>
          <a:xfrm>
            <a:off x="6334125" y="238125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Cabrera, J.F. (2017) 'Market making, liquidity provision, and attention constraints: An experimental study', Unpublished manuscript.</a:t>
            </a:r>
            <a:endParaRPr lang="en-US" sz="1600" dirty="0"/>
          </a:p>
        </p:txBody>
      </p:sp>
      <p:sp>
        <p:nvSpPr>
          <p:cNvPr id="45" name="Text 43"/>
          <p:cNvSpPr/>
          <p:nvPr/>
        </p:nvSpPr>
        <p:spPr>
          <a:xfrm>
            <a:off x="6334125" y="273050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Chen, Y., Hu, J., Chen, H., Chu, Z. and Hu, M. (2025) 'Public attention, big data technology, and green innovation efficiency', Journal of Environmental Planning and Management, 68(8), pp. 1807-1833.</a:t>
            </a:r>
            <a:endParaRPr lang="en-US" sz="1600" dirty="0"/>
          </a:p>
        </p:txBody>
      </p:sp>
      <p:sp>
        <p:nvSpPr>
          <p:cNvPr id="46" name="Text 44"/>
          <p:cNvSpPr/>
          <p:nvPr/>
        </p:nvSpPr>
        <p:spPr>
          <a:xfrm>
            <a:off x="6334125" y="3079750"/>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Chevalier, J. and Ellison, G. (1997) 'Risk taking by mutual funds as a response to incentives', Journal of Political Economy, 105(6), pp. 1167-1200.</a:t>
            </a:r>
            <a:endParaRPr lang="en-US" sz="1600" dirty="0"/>
          </a:p>
        </p:txBody>
      </p:sp>
      <p:sp>
        <p:nvSpPr>
          <p:cNvPr id="47" name="Text 45"/>
          <p:cNvSpPr/>
          <p:nvPr/>
        </p:nvSpPr>
        <p:spPr>
          <a:xfrm>
            <a:off x="6334125" y="3429000"/>
            <a:ext cx="5429250" cy="150813"/>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Da, Z., Engelberg, J. and Gao, P. (2011) 'In search of attention', The Journal of Finance, 66(5), pp. 1461-1499.</a:t>
            </a:r>
            <a:endParaRPr lang="en-US" sz="1600" dirty="0"/>
          </a:p>
        </p:txBody>
      </p:sp>
      <p:sp>
        <p:nvSpPr>
          <p:cNvPr id="48" name="Text 46"/>
          <p:cNvSpPr/>
          <p:nvPr/>
        </p:nvSpPr>
        <p:spPr>
          <a:xfrm>
            <a:off x="6334125" y="3627438"/>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DeMiguel, V., Gil-Bazo, J., Nogales, F. and Santos, A.A. (2023) 'Machine learning and fund characteristics help to select mutual funds with positive alpha', Journalf Financial Economics, 150(3), 103737.</a:t>
            </a:r>
            <a:endParaRPr lang="en-US" sz="1600" dirty="0"/>
          </a:p>
        </p:txBody>
      </p:sp>
      <p:sp>
        <p:nvSpPr>
          <p:cNvPr id="49" name="Text 47"/>
          <p:cNvSpPr/>
          <p:nvPr/>
        </p:nvSpPr>
        <p:spPr>
          <a:xfrm>
            <a:off x="6334125" y="3976687"/>
            <a:ext cx="5429250" cy="150813"/>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Harb, E. (2025) 'Artificial intelligence and its role in increasing companies' profitability', JAIET Journal, 2(4), pp. 16-24.</a:t>
            </a:r>
            <a:endParaRPr lang="en-US" sz="1600" dirty="0"/>
          </a:p>
        </p:txBody>
      </p:sp>
      <p:sp>
        <p:nvSpPr>
          <p:cNvPr id="50" name="Text 48"/>
          <p:cNvSpPr/>
          <p:nvPr/>
        </p:nvSpPr>
        <p:spPr>
          <a:xfrm>
            <a:off x="6334125" y="417512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Huang, S., Lu, X., Song, Y. and Xiang, H. (2025) 'Remeasuring scale in active management', Review of Financial Studies, forthcoming.</a:t>
            </a:r>
            <a:endParaRPr lang="en-US" sz="1600" dirty="0"/>
          </a:p>
        </p:txBody>
      </p:sp>
      <p:sp>
        <p:nvSpPr>
          <p:cNvPr id="51" name="Text 49"/>
          <p:cNvSpPr/>
          <p:nvPr/>
        </p:nvSpPr>
        <p:spPr>
          <a:xfrm>
            <a:off x="6334125" y="452437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Jain, P.C. and Wu, J.S. (2000) 'Truth in mutual fund advertising: Evidence on future performance and fund flows', The Journal of Finance, 55(2), pp. 937-958.</a:t>
            </a:r>
            <a:endParaRPr lang="en-US" sz="1600" dirty="0"/>
          </a:p>
        </p:txBody>
      </p:sp>
      <p:sp>
        <p:nvSpPr>
          <p:cNvPr id="52" name="Text 50"/>
          <p:cNvSpPr/>
          <p:nvPr/>
        </p:nvSpPr>
        <p:spPr>
          <a:xfrm>
            <a:off x="6334125" y="487362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Kaniel, R., Starks, L.T. and Vasudevan, V. (2007) 'Headlines and bottom lines: Attention and learning effects from media coverage of mutual funds', SSRN Working Paper.</a:t>
            </a:r>
            <a:endParaRPr lang="en-US" sz="1600" dirty="0"/>
          </a:p>
        </p:txBody>
      </p:sp>
      <p:sp>
        <p:nvSpPr>
          <p:cNvPr id="53" name="Text 51"/>
          <p:cNvSpPr/>
          <p:nvPr/>
        </p:nvSpPr>
        <p:spPr>
          <a:xfrm>
            <a:off x="6334125" y="522287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Liu, S., Zhao, H. and Kong, G. (2023) 'Enterprise digital transformation, breadth of ownership and stock price volatility', International Review of Financial Analysis, 89, 102713.</a:t>
            </a:r>
            <a:endParaRPr lang="en-US" sz="1600" dirty="0"/>
          </a:p>
        </p:txBody>
      </p:sp>
      <p:sp>
        <p:nvSpPr>
          <p:cNvPr id="54" name="Text 52"/>
          <p:cNvSpPr/>
          <p:nvPr/>
        </p:nvSpPr>
        <p:spPr>
          <a:xfrm>
            <a:off x="6334125" y="5572125"/>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Lopez-Lira, A. and Tang, Y. (2024) 'Can ChatGPT forecast stock price movements? Return predictability and large language models', SSRN Working Paper.</a:t>
            </a:r>
            <a:endParaRPr lang="en-US" sz="1600" dirty="0"/>
          </a:p>
        </p:txBody>
      </p:sp>
      <p:sp>
        <p:nvSpPr>
          <p:cNvPr id="55" name="Text 53"/>
          <p:cNvSpPr/>
          <p:nvPr/>
        </p:nvSpPr>
        <p:spPr>
          <a:xfrm>
            <a:off x="6334125" y="5921375"/>
            <a:ext cx="5429250" cy="150813"/>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Lou, D. (2014) 'Attracting investor attention through advertising', Review of Financial Studies, 27(6), pp. 1797-1829.</a:t>
            </a:r>
            <a:endParaRPr lang="en-US" sz="1600" dirty="0"/>
          </a:p>
        </p:txBody>
      </p:sp>
      <p:sp>
        <p:nvSpPr>
          <p:cNvPr id="56" name="Text 54"/>
          <p:cNvSpPr/>
          <p:nvPr/>
        </p:nvSpPr>
        <p:spPr>
          <a:xfrm>
            <a:off x="6334125" y="6119813"/>
            <a:ext cx="5429250" cy="301625"/>
          </a:xfrm>
          <a:prstGeom prst="rect">
            <a:avLst/>
          </a:prstGeom>
          <a:noFill/>
        </p:spPr>
        <p:txBody>
          <a:bodyPr wrap="square" lIns="0" tIns="0" rIns="0" bIns="0" rtlCol="0" anchor="ctr"/>
          <a:lstStyle/>
          <a:p>
            <a:pPr>
              <a:lnSpc>
                <a:spcPct val="140000"/>
              </a:lnSpc>
            </a:pPr>
            <a:r>
              <a:rPr lang="en-US" sz="75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Prange, C. and Schlegelmilch, B.B. (2009) 'The role of ambidexterity in marketing strategy implementation', Business Research, 2(2), pp. 215-240.</a:t>
            </a:r>
            <a:endParaRPr lang="en-US" sz="1600" dirty="0"/>
          </a:p>
        </p:txBody>
      </p:sp>
      <p:sp>
        <p:nvSpPr>
          <p:cNvPr id="57" name="Text 55"/>
          <p:cNvSpPr/>
          <p:nvPr/>
        </p:nvSpPr>
        <p:spPr>
          <a:xfrm>
            <a:off x="6334125" y="6469063"/>
            <a:ext cx="5429250" cy="301625"/>
          </a:xfrm>
          <a:prstGeom prst="rect">
            <a:avLst/>
          </a:prstGeom>
          <a:noFill/>
        </p:spPr>
        <p:txBody>
          <a:bodyPr wrap="square" lIns="0" tIns="0" rIns="0" bIns="0" rtlCol="0" anchor="ctr"/>
          <a:lstStyle/>
          <a:p>
            <a:pPr>
              <a:lnSpc>
                <a:spcPct val="140000"/>
              </a:lnSpc>
            </a:pPr>
            <a:endParaRPr lang="en-US" sz="1600" dirty="0"/>
          </a:p>
        </p:txBody>
      </p:sp>
      <p:sp>
        <p:nvSpPr>
          <p:cNvPr id="58" name="Text 56"/>
          <p:cNvSpPr/>
          <p:nvPr/>
        </p:nvSpPr>
        <p:spPr>
          <a:xfrm>
            <a:off x="6334125" y="6818313"/>
            <a:ext cx="5429250" cy="301625"/>
          </a:xfrm>
          <a:prstGeom prst="rect">
            <a:avLst/>
          </a:prstGeom>
          <a:noFill/>
        </p:spPr>
        <p:txBody>
          <a:bodyPr wrap="square" lIns="0" tIns="0" rIns="0" bIns="0" rtlCol="0" anchor="ctr"/>
          <a:lstStyle/>
          <a:p>
            <a:pPr>
              <a:lnSpc>
                <a:spcPct val="140000"/>
              </a:lnSpc>
            </a:pPr>
            <a:endParaRPr lang="en-US" sz="1600" dirty="0"/>
          </a:p>
        </p:txBody>
      </p:sp>
      <p:sp>
        <p:nvSpPr>
          <p:cNvPr id="59" name="Text 57"/>
          <p:cNvSpPr/>
          <p:nvPr/>
        </p:nvSpPr>
        <p:spPr>
          <a:xfrm>
            <a:off x="6334125" y="7167563"/>
            <a:ext cx="5429250" cy="150813"/>
          </a:xfrm>
          <a:prstGeom prst="rect">
            <a:avLst/>
          </a:prstGeom>
          <a:noFill/>
        </p:spPr>
        <p:txBody>
          <a:bodyPr wrap="square" lIns="0" tIns="0" rIns="0" bIns="0" rtlCol="0" anchor="ctr"/>
          <a:lstStyle/>
          <a:p>
            <a:pPr>
              <a:lnSpc>
                <a:spcPct val="140000"/>
              </a:lnSpc>
            </a:pPr>
            <a:endParaRPr lang="en-US" sz="1600" dirty="0"/>
          </a:p>
        </p:txBody>
      </p:sp>
      <p:sp>
        <p:nvSpPr>
          <p:cNvPr id="60" name="Text 58"/>
          <p:cNvSpPr/>
          <p:nvPr/>
        </p:nvSpPr>
        <p:spPr>
          <a:xfrm>
            <a:off x="6334125" y="7366000"/>
            <a:ext cx="5429250" cy="301625"/>
          </a:xfrm>
          <a:prstGeom prst="rect">
            <a:avLst/>
          </a:prstGeom>
          <a:noFill/>
        </p:spPr>
        <p:txBody>
          <a:bodyPr wrap="square" lIns="0" tIns="0" rIns="0" bIns="0" rtlCol="0" anchor="ctr"/>
          <a:lstStyle/>
          <a:p>
            <a:pPr>
              <a:lnSpc>
                <a:spcPct val="140000"/>
              </a:lnSpc>
            </a:pPr>
            <a:endParaRPr lang="en-US" sz="1600" dirty="0"/>
          </a:p>
        </p:txBody>
      </p:sp>
      <p:sp>
        <p:nvSpPr>
          <p:cNvPr id="61" name="Text 59"/>
          <p:cNvSpPr/>
          <p:nvPr/>
        </p:nvSpPr>
        <p:spPr>
          <a:xfrm>
            <a:off x="6334125" y="7715250"/>
            <a:ext cx="5429250" cy="301625"/>
          </a:xfrm>
          <a:prstGeom prst="rect">
            <a:avLst/>
          </a:prstGeom>
          <a:noFill/>
        </p:spPr>
        <p:txBody>
          <a:bodyPr wrap="square" lIns="0" tIns="0" rIns="0" bIns="0" rtlCol="0" anchor="ctr"/>
          <a:lstStyle/>
          <a:p>
            <a:pPr>
              <a:lnSpc>
                <a:spcPct val="140000"/>
              </a:lnSpc>
            </a:pPr>
            <a:endParaRPr lang="en-US" sz="1600" dirty="0"/>
          </a:p>
        </p:txBody>
      </p:sp>
      <p:sp>
        <p:nvSpPr>
          <p:cNvPr id="62" name="Text 60"/>
          <p:cNvSpPr/>
          <p:nvPr/>
        </p:nvSpPr>
        <p:spPr>
          <a:xfrm>
            <a:off x="6334125" y="8064500"/>
            <a:ext cx="5429250" cy="301625"/>
          </a:xfrm>
          <a:prstGeom prst="rect">
            <a:avLst/>
          </a:prstGeom>
          <a:noFill/>
        </p:spPr>
        <p:txBody>
          <a:bodyPr wrap="square" lIns="0" tIns="0" rIns="0" bIns="0" rtlCol="0" anchor="ctr"/>
          <a:lstStyle/>
          <a:p>
            <a:pPr>
              <a:lnSpc>
                <a:spcPct val="140000"/>
              </a:lnSpc>
            </a:pP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55452" y="355452"/>
            <a:ext cx="11543300" cy="177726"/>
          </a:xfrm>
          <a:prstGeom prst="rect">
            <a:avLst/>
          </a:prstGeom>
          <a:noFill/>
        </p:spPr>
        <p:txBody>
          <a:bodyPr wrap="square" lIns="0" tIns="0" rIns="0" bIns="0" rtlCol="0" anchor="ctr"/>
          <a:lstStyle/>
          <a:p>
            <a:pPr>
              <a:lnSpc>
                <a:spcPct val="120000"/>
              </a:lnSpc>
            </a:pPr>
            <a:r>
              <a:rPr lang="en-US" sz="980" b="1" kern="0" spc="49" dirty="0">
                <a:solidFill>
                  <a:srgbClr val="8B0000"/>
                </a:solidFill>
                <a:latin typeface="Sorts Mill Goudy" panose="02000503000000000000" pitchFamily="34" charset="0"/>
                <a:ea typeface="Sorts Mill Goudy" panose="02000503000000000000" pitchFamily="34" charset="-122"/>
                <a:cs typeface="Sorts Mill Goudy" panose="02000503000000000000" pitchFamily="34" charset="-120"/>
              </a:rPr>
              <a:t>REFERENCES</a:t>
            </a:r>
            <a:endParaRPr lang="en-US" sz="1600" dirty="0"/>
          </a:p>
        </p:txBody>
      </p:sp>
      <p:sp>
        <p:nvSpPr>
          <p:cNvPr id="3" name="Text 1"/>
          <p:cNvSpPr/>
          <p:nvPr/>
        </p:nvSpPr>
        <p:spPr>
          <a:xfrm>
            <a:off x="355452" y="604268"/>
            <a:ext cx="11614391" cy="319907"/>
          </a:xfrm>
          <a:prstGeom prst="rect">
            <a:avLst/>
          </a:prstGeom>
          <a:noFill/>
        </p:spPr>
        <p:txBody>
          <a:bodyPr wrap="square" lIns="0" tIns="0" rIns="0" bIns="0" rtlCol="0" anchor="ctr"/>
          <a:lstStyle/>
          <a:p>
            <a:pPr>
              <a:lnSpc>
                <a:spcPct val="100000"/>
              </a:lnSpc>
            </a:pPr>
            <a:r>
              <a:rPr lang="en-US" sz="2100" b="1"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Academic References</a:t>
            </a:r>
            <a:endParaRPr lang="en-US" sz="1600" dirty="0"/>
          </a:p>
        </p:txBody>
      </p:sp>
      <p:sp>
        <p:nvSpPr>
          <p:cNvPr id="4" name="Shape 2"/>
          <p:cNvSpPr/>
          <p:nvPr/>
        </p:nvSpPr>
        <p:spPr>
          <a:xfrm>
            <a:off x="355452" y="1030810"/>
            <a:ext cx="568723" cy="35545"/>
          </a:xfrm>
          <a:custGeom>
            <a:avLst/>
            <a:gdLst/>
            <a:ahLst/>
            <a:cxnLst/>
            <a:rect l="l" t="t" r="r" b="b"/>
            <a:pathLst>
              <a:path w="568723" h="35545">
                <a:moveTo>
                  <a:pt x="0" y="0"/>
                </a:moveTo>
                <a:lnTo>
                  <a:pt x="568723" y="0"/>
                </a:lnTo>
                <a:lnTo>
                  <a:pt x="568723" y="35545"/>
                </a:lnTo>
                <a:lnTo>
                  <a:pt x="0" y="35545"/>
                </a:lnTo>
                <a:lnTo>
                  <a:pt x="0" y="0"/>
                </a:lnTo>
                <a:close/>
              </a:path>
            </a:pathLst>
          </a:custGeom>
          <a:solidFill>
            <a:srgbClr val="8B0000"/>
          </a:solidFill>
        </p:spPr>
      </p:sp>
      <p:sp>
        <p:nvSpPr>
          <p:cNvPr id="5" name="Text 3"/>
          <p:cNvSpPr/>
          <p:nvPr/>
        </p:nvSpPr>
        <p:spPr>
          <a:xfrm>
            <a:off x="355452" y="1208536"/>
            <a:ext cx="5696117" cy="390997"/>
          </a:xfrm>
          <a:prstGeom prst="rect">
            <a:avLst/>
          </a:prstGeom>
          <a:noFill/>
        </p:spPr>
        <p:txBody>
          <a:bodyPr wrap="square" lIns="0" tIns="0" rIns="0" bIns="0" rtlCol="0" anchor="ctr"/>
          <a:lstStyle/>
          <a:p>
            <a:pPr>
              <a:lnSpc>
                <a:spcPct val="140000"/>
              </a:lnSpc>
            </a:pPr>
            <a:endParaRPr lang="en-US" sz="1600" dirty="0"/>
          </a:p>
        </p:txBody>
      </p:sp>
      <p:sp>
        <p:nvSpPr>
          <p:cNvPr id="6" name="Text 4"/>
          <p:cNvSpPr/>
          <p:nvPr/>
        </p:nvSpPr>
        <p:spPr>
          <a:xfrm>
            <a:off x="355452" y="1635079"/>
            <a:ext cx="5696117" cy="390997"/>
          </a:xfrm>
          <a:prstGeom prst="rect">
            <a:avLst/>
          </a:prstGeom>
          <a:noFill/>
        </p:spPr>
        <p:txBody>
          <a:bodyPr wrap="square" lIns="0" tIns="0" rIns="0" bIns="0" rtlCol="0" anchor="ctr"/>
          <a:lstStyle/>
          <a:p>
            <a:pPr>
              <a:lnSpc>
                <a:spcPct val="140000"/>
              </a:lnSpc>
            </a:pPr>
            <a:endParaRPr lang="en-US" sz="1600" dirty="0"/>
          </a:p>
        </p:txBody>
      </p:sp>
      <p:sp>
        <p:nvSpPr>
          <p:cNvPr id="7" name="Text 5"/>
          <p:cNvSpPr/>
          <p:nvPr/>
        </p:nvSpPr>
        <p:spPr>
          <a:xfrm>
            <a:off x="355452" y="2061621"/>
            <a:ext cx="5696117" cy="390997"/>
          </a:xfrm>
          <a:prstGeom prst="rect">
            <a:avLst/>
          </a:prstGeom>
          <a:noFill/>
        </p:spPr>
        <p:txBody>
          <a:bodyPr wrap="square" lIns="0" tIns="0" rIns="0" bIns="0" rtlCol="0" anchor="ctr"/>
          <a:lstStyle/>
          <a:p>
            <a:pPr>
              <a:lnSpc>
                <a:spcPct val="140000"/>
              </a:lnSpc>
            </a:pPr>
            <a:endParaRPr lang="en-US" sz="1600" dirty="0"/>
          </a:p>
        </p:txBody>
      </p:sp>
      <p:sp>
        <p:nvSpPr>
          <p:cNvPr id="8" name="Text 6"/>
          <p:cNvSpPr/>
          <p:nvPr/>
        </p:nvSpPr>
        <p:spPr>
          <a:xfrm>
            <a:off x="355452" y="2488163"/>
            <a:ext cx="5696117" cy="390997"/>
          </a:xfrm>
          <a:prstGeom prst="rect">
            <a:avLst/>
          </a:prstGeom>
          <a:noFill/>
        </p:spPr>
        <p:txBody>
          <a:bodyPr wrap="square" lIns="0" tIns="0" rIns="0" bIns="0" rtlCol="0" anchor="ctr"/>
          <a:lstStyle/>
          <a:p>
            <a:pPr>
              <a:lnSpc>
                <a:spcPct val="140000"/>
              </a:lnSpc>
            </a:pPr>
            <a:endParaRPr lang="en-US" sz="1600" dirty="0"/>
          </a:p>
        </p:txBody>
      </p:sp>
      <p:sp>
        <p:nvSpPr>
          <p:cNvPr id="9" name="Text 7"/>
          <p:cNvSpPr/>
          <p:nvPr/>
        </p:nvSpPr>
        <p:spPr>
          <a:xfrm>
            <a:off x="355452" y="2914706"/>
            <a:ext cx="5696117" cy="390997"/>
          </a:xfrm>
          <a:prstGeom prst="rect">
            <a:avLst/>
          </a:prstGeom>
          <a:noFill/>
        </p:spPr>
        <p:txBody>
          <a:bodyPr wrap="square" lIns="0" tIns="0" rIns="0" bIns="0" rtlCol="0" anchor="ctr"/>
          <a:lstStyle/>
          <a:p>
            <a:pPr>
              <a:lnSpc>
                <a:spcPct val="140000"/>
              </a:lnSpc>
            </a:pPr>
            <a:endParaRPr lang="en-US" sz="1600" dirty="0"/>
          </a:p>
        </p:txBody>
      </p:sp>
      <p:sp>
        <p:nvSpPr>
          <p:cNvPr id="10" name="Text 8"/>
          <p:cNvSpPr/>
          <p:nvPr/>
        </p:nvSpPr>
        <p:spPr>
          <a:xfrm>
            <a:off x="355452" y="3341248"/>
            <a:ext cx="5696117" cy="390997"/>
          </a:xfrm>
          <a:prstGeom prst="rect">
            <a:avLst/>
          </a:prstGeom>
          <a:noFill/>
        </p:spPr>
        <p:txBody>
          <a:bodyPr wrap="square" lIns="0" tIns="0" rIns="0" bIns="0" rtlCol="0" anchor="ctr"/>
          <a:lstStyle/>
          <a:p>
            <a:pPr>
              <a:lnSpc>
                <a:spcPct val="140000"/>
              </a:lnSpc>
            </a:pPr>
            <a:endParaRPr lang="en-US" sz="1600" dirty="0"/>
          </a:p>
        </p:txBody>
      </p:sp>
      <p:sp>
        <p:nvSpPr>
          <p:cNvPr id="12" name="Text 10"/>
          <p:cNvSpPr/>
          <p:nvPr/>
        </p:nvSpPr>
        <p:spPr>
          <a:xfrm>
            <a:off x="355452" y="4194332"/>
            <a:ext cx="5696117" cy="390997"/>
          </a:xfrm>
          <a:prstGeom prst="rect">
            <a:avLst/>
          </a:prstGeom>
          <a:noFill/>
        </p:spPr>
        <p:txBody>
          <a:bodyPr wrap="square" lIns="0" tIns="0" rIns="0" bIns="0" rtlCol="0" anchor="ctr"/>
          <a:lstStyle/>
          <a:p>
            <a:pPr>
              <a:lnSpc>
                <a:spcPct val="140000"/>
              </a:lnSpc>
            </a:pPr>
            <a:endParaRPr lang="en-US" sz="1600" dirty="0"/>
          </a:p>
        </p:txBody>
      </p:sp>
      <p:sp>
        <p:nvSpPr>
          <p:cNvPr id="13" name="Text 11"/>
          <p:cNvSpPr/>
          <p:nvPr/>
        </p:nvSpPr>
        <p:spPr>
          <a:xfrm>
            <a:off x="355452" y="4620875"/>
            <a:ext cx="5696117" cy="390997"/>
          </a:xfrm>
          <a:prstGeom prst="rect">
            <a:avLst/>
          </a:prstGeom>
          <a:noFill/>
        </p:spPr>
        <p:txBody>
          <a:bodyPr wrap="square" lIns="0" tIns="0" rIns="0" bIns="0" rtlCol="0" anchor="ctr"/>
          <a:lstStyle/>
          <a:p>
            <a:pPr>
              <a:lnSpc>
                <a:spcPct val="140000"/>
              </a:lnSpc>
            </a:pPr>
            <a:endParaRPr lang="en-US" sz="1600" dirty="0"/>
          </a:p>
        </p:txBody>
      </p:sp>
      <p:sp>
        <p:nvSpPr>
          <p:cNvPr id="14" name="Text 12"/>
          <p:cNvSpPr/>
          <p:nvPr/>
        </p:nvSpPr>
        <p:spPr>
          <a:xfrm>
            <a:off x="355452" y="5047417"/>
            <a:ext cx="5696117" cy="390997"/>
          </a:xfrm>
          <a:prstGeom prst="rect">
            <a:avLst/>
          </a:prstGeom>
          <a:noFill/>
        </p:spPr>
        <p:txBody>
          <a:bodyPr wrap="square" lIns="0" tIns="0" rIns="0" bIns="0" rtlCol="0" anchor="ctr"/>
          <a:lstStyle/>
          <a:p>
            <a:pPr>
              <a:lnSpc>
                <a:spcPct val="140000"/>
              </a:lnSpc>
            </a:pPr>
            <a:endParaRPr lang="en-US" sz="1600" dirty="0"/>
          </a:p>
        </p:txBody>
      </p:sp>
      <p:sp>
        <p:nvSpPr>
          <p:cNvPr id="15" name="Text 13"/>
          <p:cNvSpPr/>
          <p:nvPr/>
        </p:nvSpPr>
        <p:spPr>
          <a:xfrm>
            <a:off x="6204579" y="1208536"/>
            <a:ext cx="5696117" cy="390997"/>
          </a:xfrm>
          <a:prstGeom prst="rect">
            <a:avLst/>
          </a:prstGeom>
          <a:noFill/>
        </p:spPr>
        <p:txBody>
          <a:bodyPr wrap="square" lIns="0" tIns="0" rIns="0" bIns="0" rtlCol="0" anchor="ctr"/>
          <a:lstStyle/>
          <a:p>
            <a:pPr>
              <a:lnSpc>
                <a:spcPct val="140000"/>
              </a:lnSpc>
            </a:pPr>
            <a:endParaRPr lang="en-US" sz="1600" dirty="0"/>
          </a:p>
        </p:txBody>
      </p:sp>
      <p:sp>
        <p:nvSpPr>
          <p:cNvPr id="16" name="Text 14"/>
          <p:cNvSpPr/>
          <p:nvPr/>
        </p:nvSpPr>
        <p:spPr>
          <a:xfrm>
            <a:off x="6204579" y="1635079"/>
            <a:ext cx="5696117" cy="390997"/>
          </a:xfrm>
          <a:prstGeom prst="rect">
            <a:avLst/>
          </a:prstGeom>
          <a:noFill/>
        </p:spPr>
        <p:txBody>
          <a:bodyPr wrap="square" lIns="0" tIns="0" rIns="0" bIns="0" rtlCol="0" anchor="ctr"/>
          <a:lstStyle/>
          <a:p>
            <a:pPr>
              <a:lnSpc>
                <a:spcPct val="140000"/>
              </a:lnSpc>
            </a:pPr>
            <a:endParaRPr lang="en-US" sz="1600" dirty="0"/>
          </a:p>
        </p:txBody>
      </p:sp>
      <p:sp>
        <p:nvSpPr>
          <p:cNvPr id="17" name="Text 15"/>
          <p:cNvSpPr/>
          <p:nvPr/>
        </p:nvSpPr>
        <p:spPr>
          <a:xfrm>
            <a:off x="6204579" y="2061621"/>
            <a:ext cx="5696117" cy="390997"/>
          </a:xfrm>
          <a:prstGeom prst="rect">
            <a:avLst/>
          </a:prstGeom>
          <a:noFill/>
        </p:spPr>
        <p:txBody>
          <a:bodyPr wrap="square" lIns="0" tIns="0" rIns="0" bIns="0" rtlCol="0" anchor="ctr"/>
          <a:lstStyle/>
          <a:p>
            <a:pPr>
              <a:lnSpc>
                <a:spcPct val="140000"/>
              </a:lnSpc>
            </a:pPr>
            <a:endParaRPr lang="en-US" sz="1600" dirty="0"/>
          </a:p>
        </p:txBody>
      </p:sp>
      <p:sp>
        <p:nvSpPr>
          <p:cNvPr id="18" name="Text 16"/>
          <p:cNvSpPr/>
          <p:nvPr/>
        </p:nvSpPr>
        <p:spPr>
          <a:xfrm>
            <a:off x="355594" y="1420093"/>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Qu, W. and Su, Z. (2024) 'The role of ESG ratings in shaping Chinese investors' decision-making behavior', Sustainability, 16(12), 4934.</a:t>
            </a:r>
            <a:endParaRPr lang="en-US" sz="1600" dirty="0"/>
          </a:p>
        </p:txBody>
      </p:sp>
      <p:sp>
        <p:nvSpPr>
          <p:cNvPr id="19" name="Text 17"/>
          <p:cNvSpPr/>
          <p:nvPr/>
        </p:nvSpPr>
        <p:spPr>
          <a:xfrm>
            <a:off x="355594" y="1953951"/>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Scholten, K., Sharkey Scott, P. and Fynes, B. (2019) 'Building routines for non-routine events', Supply Chain Management: An International Journal, 24(3), pp. 430-442.</a:t>
            </a:r>
            <a:endParaRPr lang="en-US" sz="1600" dirty="0"/>
          </a:p>
        </p:txBody>
      </p:sp>
      <p:sp>
        <p:nvSpPr>
          <p:cNvPr id="20" name="Text 18"/>
          <p:cNvSpPr/>
          <p:nvPr/>
        </p:nvSpPr>
        <p:spPr>
          <a:xfrm>
            <a:off x="355594" y="2527178"/>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Sirri, E.R. and Tufano, P. (1998) 'Costly search and mutual fund flows', The Journal of Finance, 53(5), pp. 1589-1622.</a:t>
            </a:r>
            <a:endParaRPr lang="en-US" sz="1600" dirty="0"/>
          </a:p>
        </p:txBody>
      </p:sp>
      <p:sp>
        <p:nvSpPr>
          <p:cNvPr id="21" name="Text 19"/>
          <p:cNvSpPr/>
          <p:nvPr/>
        </p:nvSpPr>
        <p:spPr>
          <a:xfrm>
            <a:off x="355594" y="3155650"/>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Vilas, P., Andreu, L. and Serrano-Cinca, C. (2024) 'The limited role of sustainability in mutual fund investor decisions', Expert Systems with Applications, 247, 123288.</a:t>
            </a:r>
            <a:endParaRPr lang="en-US" sz="1600" dirty="0"/>
          </a:p>
        </p:txBody>
      </p:sp>
      <p:sp>
        <p:nvSpPr>
          <p:cNvPr id="22" name="Text 20"/>
          <p:cNvSpPr/>
          <p:nvPr/>
        </p:nvSpPr>
        <p:spPr>
          <a:xfrm>
            <a:off x="355594" y="3734592"/>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Wardlaw, M. (2020) 'Measuring mutual fund flow pressure as shock to stock returns', The Journal of Finance, 75(6), pp. 3221-3243.</a:t>
            </a:r>
            <a:endParaRPr lang="en-US" sz="1600" dirty="0"/>
          </a:p>
        </p:txBody>
      </p:sp>
      <p:sp>
        <p:nvSpPr>
          <p:cNvPr id="23" name="Text 21"/>
          <p:cNvSpPr/>
          <p:nvPr/>
        </p:nvSpPr>
        <p:spPr>
          <a:xfrm>
            <a:off x="355594" y="4251940"/>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Xiao, Y.J., Cen, J. and Soberg, P. (2021) 'The impact of disruption on the relationship between exploitation, exploration, and organizational adaptation', Frontiers in Sociology, 6, 757160.</a:t>
            </a:r>
            <a:endParaRPr lang="en-US" sz="1600" dirty="0"/>
          </a:p>
        </p:txBody>
      </p:sp>
      <p:sp>
        <p:nvSpPr>
          <p:cNvPr id="24" name="Text 22"/>
          <p:cNvSpPr/>
          <p:nvPr/>
        </p:nvSpPr>
        <p:spPr>
          <a:xfrm>
            <a:off x="355594" y="4891207"/>
            <a:ext cx="5696117" cy="390997"/>
          </a:xfrm>
          <a:prstGeom prst="rect">
            <a:avLst/>
          </a:prstGeom>
          <a:noFill/>
        </p:spPr>
        <p:txBody>
          <a:bodyPr wrap="square" lIns="0" tIns="0" rIns="0" bIns="0" rtlCol="0" anchor="ctr"/>
          <a:lstStyle/>
          <a:p>
            <a:pPr>
              <a:lnSpc>
                <a:spcPct val="140000"/>
              </a:lnSpc>
            </a:pPr>
            <a:r>
              <a:rPr lang="en-US" sz="980" dirty="0">
                <a:solidFill>
                  <a:srgbClr val="1F2937"/>
                </a:solidFill>
                <a:latin typeface="Sorts Mill Goudy" panose="02000503000000000000" pitchFamily="34" charset="0"/>
                <a:ea typeface="Sorts Mill Goudy" panose="02000503000000000000" pitchFamily="34" charset="-122"/>
                <a:cs typeface="Sorts Mill Goudy" panose="02000503000000000000" pitchFamily="34" charset="-120"/>
              </a:rPr>
              <a:t>Zheng, L. (1999) 'Is money smart? A study of mutual fund investors' fund selection ability', The Journal of Finance, 54(3), pp. 901-933.</a:t>
            </a:r>
            <a:endParaRPr lang="en-US" sz="1600" dirty="0"/>
          </a:p>
        </p:txBody>
      </p:sp>
      <p:sp>
        <p:nvSpPr>
          <p:cNvPr id="25" name="Shape 23"/>
          <p:cNvSpPr/>
          <p:nvPr/>
        </p:nvSpPr>
        <p:spPr>
          <a:xfrm>
            <a:off x="355452" y="5589481"/>
            <a:ext cx="11481096" cy="17773"/>
          </a:xfrm>
          <a:custGeom>
            <a:avLst/>
            <a:gdLst/>
            <a:ahLst/>
            <a:cxnLst/>
            <a:rect l="l" t="t" r="r" b="b"/>
            <a:pathLst>
              <a:path w="11481096" h="17773">
                <a:moveTo>
                  <a:pt x="0" y="0"/>
                </a:moveTo>
                <a:lnTo>
                  <a:pt x="11481096" y="0"/>
                </a:lnTo>
                <a:lnTo>
                  <a:pt x="11481096" y="17773"/>
                </a:lnTo>
                <a:lnTo>
                  <a:pt x="0" y="17773"/>
                </a:lnTo>
                <a:lnTo>
                  <a:pt x="0" y="0"/>
                </a:lnTo>
                <a:close/>
              </a:path>
            </a:pathLst>
          </a:custGeom>
          <a:solidFill>
            <a:srgbClr val="8B0000"/>
          </a:solidFill>
        </p:spPr>
      </p:sp>
      <p:sp>
        <p:nvSpPr>
          <p:cNvPr id="26" name="Text 24"/>
          <p:cNvSpPr/>
          <p:nvPr/>
        </p:nvSpPr>
        <p:spPr>
          <a:xfrm>
            <a:off x="3948313" y="5705003"/>
            <a:ext cx="4299262" cy="204385"/>
          </a:xfrm>
          <a:prstGeom prst="rect">
            <a:avLst/>
          </a:prstGeom>
          <a:noFill/>
        </p:spPr>
        <p:txBody>
          <a:bodyPr wrap="square" lIns="0" tIns="0" rIns="0" bIns="0" rtlCol="0" anchor="ctr"/>
          <a:lstStyle/>
          <a:p>
            <a:pPr algn="ctr">
              <a:lnSpc>
                <a:spcPct val="130000"/>
              </a:lnSpc>
            </a:pPr>
            <a:r>
              <a:rPr lang="en-US" sz="1120" dirty="0">
                <a:solidFill>
                  <a:srgbClr val="6B7280"/>
                </a:solidFill>
                <a:latin typeface="Sorts Mill Goudy" panose="02000503000000000000" pitchFamily="34" charset="0"/>
                <a:ea typeface="Sorts Mill Goudy" panose="02000503000000000000" pitchFamily="34" charset="-122"/>
                <a:cs typeface="Sorts Mill Goudy" panose="02000503000000000000" pitchFamily="34" charset="-120"/>
              </a:rPr>
              <a:t>Thank you for your attention. Questions and comments are welcome.</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25802</Words>
  <Application>WPS 文字</Application>
  <PresentationFormat>On-screen Show (16:9)</PresentationFormat>
  <Paragraphs>1301</Paragraphs>
  <Slides>21</Slides>
  <Notes>20</Notes>
  <HiddenSlides>0</HiddenSlides>
  <MMClips>0</MMClips>
  <ScaleCrop>false</ScaleCrop>
  <HeadingPairs>
    <vt:vector size="6" baseType="variant">
      <vt:variant>
        <vt:lpstr>已用的字体</vt:lpstr>
      </vt:variant>
      <vt:variant>
        <vt:i4>20</vt:i4>
      </vt:variant>
      <vt:variant>
        <vt:lpstr>主题</vt:lpstr>
      </vt:variant>
      <vt:variant>
        <vt:i4>1</vt:i4>
      </vt:variant>
      <vt:variant>
        <vt:lpstr>幻灯片标题</vt:lpstr>
      </vt:variant>
      <vt:variant>
        <vt:i4>21</vt:i4>
      </vt:variant>
    </vt:vector>
  </HeadingPairs>
  <TitlesOfParts>
    <vt:vector size="42" baseType="lpstr">
      <vt:lpstr>Arial</vt:lpstr>
      <vt:lpstr>宋体</vt:lpstr>
      <vt:lpstr>Wingdings</vt:lpstr>
      <vt:lpstr>Sorts Mill Goudy</vt:lpstr>
      <vt:lpstr>Sorts Mill Goudy</vt:lpstr>
      <vt:lpstr>Sorts Mill Goudy</vt:lpstr>
      <vt:lpstr>MiSans</vt:lpstr>
      <vt:lpstr>MiSans</vt:lpstr>
      <vt:lpstr>微软雅黑</vt:lpstr>
      <vt:lpstr>汉仪旗黑</vt:lpstr>
      <vt:lpstr>微软雅黑</vt:lpstr>
      <vt:lpstr>微软雅黑</vt:lpstr>
      <vt:lpstr>Calibri</vt:lpstr>
      <vt:lpstr>Helvetica Neue</vt:lpstr>
      <vt:lpstr>宋体</vt:lpstr>
      <vt:lpstr>Arial Unicode MS</vt:lpstr>
      <vt:lpstr>等线</vt:lpstr>
      <vt:lpstr>汉仪中等线KW</vt:lpstr>
      <vt:lpstr>汉仪书宋二KW</vt:lpstr>
      <vt:lpstr>宋体-简</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Exposure and Capital Flows: The Role of Investor Attention after the ChatGPT Shock</dc:title>
  <dc:creator>Kimi</dc:creator>
  <dc:subject>AI Exposure and Capital Flows: The Role of Investor Attention after the ChatGPT Shock</dc:subject>
  <cp:lastModifiedBy>果果</cp:lastModifiedBy>
  <cp:revision>4</cp:revision>
  <dcterms:created xsi:type="dcterms:W3CDTF">2026-04-16T04:44:49Z</dcterms:created>
  <dcterms:modified xsi:type="dcterms:W3CDTF">2026-04-16T04:44:49Z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{"Label":"AI Exposure and Capital Flows: The Role of Investor Attention after the ChatGPT Shock","ContentProducer":"001191110108MACG2KBH8F10000","ProduceID":"19d83639-7a82-8abf-8000-000006f9fec3","ReservedCode1":"","ContentPropagator":"001191110108MACG2KBH8F20000","PropagateID":"19d83639-7a82-8abf-8000-000006f9fec3","ReservedCode2":""}</vt:lpwstr>
  </property>
  <property fmtid="{D5CDD505-2E9C-101B-9397-08002B2CF9AE}" pid="3" name="ICV">
    <vt:lpwstr>6AA8181BD3D446157205DC699D1FCAF9_42</vt:lpwstr>
  </property>
  <property fmtid="{D5CDD505-2E9C-101B-9397-08002B2CF9AE}" pid="4" name="KSOProductBuildVer">
    <vt:lpwstr>2052-12.1.24031.24031</vt:lpwstr>
  </property>
</Properties>
</file>